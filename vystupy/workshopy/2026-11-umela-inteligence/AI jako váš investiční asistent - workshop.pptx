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3"/>
    <p:sldId id="278" r:id="rId24"/>
    <p:sldId id="270" r:id="rId16"/>
    <p:sldId id="274" r:id="rId20"/>
    <p:sldId id="268" r:id="rId14"/>
    <p:sldId id="269" r:id="rId15"/>
    <p:sldId id="275" r:id="rId21"/>
    <p:sldId id="279" r:id="rId25"/>
    <p:sldId id="311" r:id="rId61"/>
    <p:sldId id="290" r:id="rId36"/>
    <p:sldId id="277" r:id="rId23"/>
    <p:sldId id="280" r:id="rId26"/>
    <p:sldId id="312" r:id="rId62"/>
    <p:sldId id="299" r:id="rId45"/>
    <p:sldId id="300" r:id="rId46"/>
    <p:sldId id="303" r:id="rId49"/>
    <p:sldId id="307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8FFEF8ED-EC69-42F7-2D29-896DB47796B9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ředěly sekcí" id="{9707279B-7E1E-44E0-5047-7BEC663482ED}">
          <p14:sldIdLst>
            <p14:sldId id="266"/>
            <p14:sldId id="267"/>
            <p14:sldId id="268"/>
            <p14:sldId id="269"/>
          </p14:sldIdLst>
        </p14:section>
        <p14:section name="Obsah" id="{A856EC81-6F37-D6C5-4801-D5205AE7B949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Závěr" id="{039BF9F4-6637-6B9F-C9A5-04B6FABDC3D9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Podklady" id="{EE178791-21A2-C20A-AA02-FC6BEBE3E1C4}">
          <p14:sldIdLst>
            <p14:sldId id="308"/>
            <p14:sldId id="309"/>
            <p14:sldId id="31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A2CDBF48F0}">
  <a:tblStyle styleId="{6E25E649-3F16-4E02-A733-19A2CDBF48F0}" styleName="Portu">
    <a:wholeTbl>
      <a:tcTxStyle>
        <a:font>
          <a:latin typeface="Rethink Sans"/>
          <a:ea typeface="Rethink Sans"/>
          <a:cs typeface="Rethink Sans"/>
        </a:font>
        <a:schemeClr val="tx1"/>
      </a:tcTxStyle>
      <a:tcStyle>
        <a:tcBdr>
          <a:left>
            <a:ln w="9525">
              <a:solidFill>
                <a:srgbClr val="E1E3E8"/>
              </a:solidFill>
            </a:ln>
          </a:left>
          <a:right>
            <a:ln w="9525">
              <a:solidFill>
                <a:srgbClr val="E1E3E8"/>
              </a:solidFill>
            </a:ln>
          </a:right>
          <a:top>
            <a:ln w="9525">
              <a:solidFill>
                <a:srgbClr val="E1E3E8"/>
              </a:solidFill>
            </a:ln>
          </a:top>
          <a:bottom>
            <a:ln w="9525">
              <a:solidFill>
                <a:srgbClr val="E1E3E8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/>
          </a:solidFill>
        </a:fill>
      </a:tcStyle>
    </a:wholeTbl>
    <a:band2H>
      <a:tcStyle>
        <a:tcBdr/>
        <a:fill>
          <a:solidFill>
            <a:schemeClr val="bg2"/>
          </a:solidFill>
        </a:fill>
      </a:tcStyle>
    </a:band2H>
    <a:firstRow>
      <a:tcTxStyle>
        <a:font>
          <a:latin typeface="Rethink Sans SemiBold"/>
          <a:ea typeface="Rethink Sans SemiBold"/>
          <a:cs typeface="Rethink Sans SemiBold"/>
        </a:font>
        <a:schemeClr val="bg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9" d="100"/>
          <a:sy n="79" d="100"/>
        </p:scale>
        <p:origin x="164" y="-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7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1.xml"/><Relationship Id="rId24" Type="http://schemas.openxmlformats.org/officeDocument/2006/relationships/slide" Target="slides/slide2.xml"/><Relationship Id="rId25" Type="http://schemas.openxmlformats.org/officeDocument/2006/relationships/slide" Target="slides/slide8.xml"/><Relationship Id="rId26" Type="http://schemas.openxmlformats.org/officeDocument/2006/relationships/slide" Target="slides/slide12.xml"/><Relationship Id="rId36" Type="http://schemas.openxmlformats.org/officeDocument/2006/relationships/slide" Target="slides/slide10.xml"/><Relationship Id="rId45" Type="http://schemas.openxmlformats.org/officeDocument/2006/relationships/slide" Target="slides/slide14.xml"/><Relationship Id="rId46" Type="http://schemas.openxmlformats.org/officeDocument/2006/relationships/slide" Target="slides/slide15.xml"/><Relationship Id="rId49" Type="http://schemas.openxmlformats.org/officeDocument/2006/relationships/slide" Target="slides/slide16.xml"/><Relationship Id="rId53" Type="http://schemas.openxmlformats.org/officeDocument/2006/relationships/slide" Target="slides/slide17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9.xml"/><Relationship Id="rId62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Každý řečník jedna věta o sobě: „Já AI používám hlavně na…“ (do 30 sekund). Moderátor napíše do chatu: dotazy jsou vítané kdykoli, pište je do chatu.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Nejdřív anketa v Teams: „Ptali jste se už AI na něco kolem peněz? Ano / ne / pravidelně.“ Pak odhalit čísla. Ústně: 18 % lidí ve světě používá AI na rozpočet a domácí finance (EY 2026). Přechod: „Dnes vám ukážeme, jak AI na peníze využít, s prompty, které si zkopírujete.“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 tipu 2: AI ráda přitakává, proto chtějte i protiargumenty. Tipy 3 a 4: AI umí napsat přesvědčivé číslo, které neplatí. Proto předpoklady a zdroj s datem.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Řekněte na rovinu, co sami používáte nejčastěji. Přechod: „A teď to ukážeme naživo.“ Přepnout na sdílení obrazovky. Před workshopem ověřit, co je zdarma (Projekty v Claude a ChatGPT, NotebookLM) a jestli Google Finance s AI funguje česky.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Každá další ukázka: prompt je na slajdu, ukážeme ho naživo. Záložní screenshot je připravený, kdyby nástroj nefungoval.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Živá ukázka na anglickém dokumentu k fondu (KID nebo měsíční přehled). Jedno číslo ze shrnutí ukázat přímo v dokumentu (tip 4 v praxi). Vpravo vložit záložní screenshot shrnutí. Češtinu podcastu v NotebookLM ověřit.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Vlevo: starý prompt ze slajdu 9, česky. Vpravo: Projekt „Moje investice“ s trvalými instrukcemi, pak doplňující otázky: Stihnu svůj cíl? Co když přidám 1 000 Kč měsíčně? Co když trh 2 roky klesá? Vysvětlit, co je Projekt („AI si pamatuje vaše cíle, nemusíte je psát znovu“). Výraz „system prompt“ nepoužívat. Klient je vymyšlený. Celé znění instrukce: Je mi 40, mám 300 000 Kč a investuju 5 000 Kč měsíčně. Cíl: 3 mil. Kč do 60 let. Propad o 30 % bych ustál, ale nerad. Počítej s inflací a daněmi, piš předpoklady a zeptej se, když ti něco chybí. Nedoporučuj mi konkrétní akcie.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30vteřinová ukázka: „Je moje portfolio dobré?“ (AI pochválí) vs. „Kde je moje portfolio nejvíc zranitelné?“ (užitečná odpověď). Číslo 40 % ověřit těsně před workshopem (podíl 10 největších firem v S&amp;P 500). Rentgen hodnotí fakta, ne poradce.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Vpravo vložit záložní screenshot odpovědi se zdroji. Pokud tlačí čas, projít rychle.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Živá ukázka promptu. Příklad s čipy navrhl odborník na AI. Zdůraznit: seznam od AI není tip na nákup.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Nejdřív anketa: „Které akcie AI podle vás jmenuje?“ Pak odhalení. Zeleně: akcie, které se opakují (TSMC, Broadcom). Ústně: v pokusu Alpha Arena (Seznam Zprávy, květen 2026) obchodovalo 8 velkých AI modelů dva týdny a v zisku skončilo jen 6 z 32 výsledků. Přechod: „Ukážeme vám, jak se ptáme my.“ PŘED WORKSHOPEM: odpovědi vygenerovat znovu (tyto jsou z léta 2026), místo „Odpověď 1–3“ napsat názvy nástrojů a doplnit datum.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Krok 4 doplněn: čísla od AI ověřujeme v originále (tip 4). Mluvit za sebe („my dva“), ne za Portu. Celé naživo na jedné firmě, ideálně té, ke které jsme naposledy psali komentář k výsledkům. Přepis hovoru z veřejného webu firmy pro investory. Prompty: 1) „Tady je přepis hovoru k výsledkům. Shrň česky: co se firmě dařilo, co ne, co řekl management o výhledu a na co se ptali analytici.“ 2) „Posuď tuto firmu, jak by ji posuzovali Warren Buffett a Charlie Munger: rozumím byznysu? Má trvalou konkurenční výhodu? Je management poctivý a schopný? Je cena rozumná? Nepřisuzuj jim žádné citáty.“ 3) „Napiš optimistický, střední a pesimistický scénář pro tuto firmu na 3 roky. Ke každému napiš, co by se muselo stát, a jaké jsou hlavní předpoklady.“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Osobní postup odborníka na AI, kterého jsme se ptali. Citlivé údaje ve smlouvách a výpisech začernit nebo smazat.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 webináři poslat e-mailem tahák na jednu stranu A4 se všemi prompty ze slajdů 3, 6, 7, 8, 9, 10 a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Odpověď na otázku o účtu: „V USA už ano: ChatGPT umí číst bankovní účty a u brokera Robinhood můžete napojit AI agenta, který obchoduje. V Česku zatím ne, a my bychom AI peníze do ruky zatím nedávali.“ Placená verze: na většinu ukázaných věcí stačí verze zdarma, placená má víc dotazů a silnější modely.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Jedna věta: „Za investiční rozhodnutí odpovídáte vy. Rádi vám s ním pomůžeme. Ozvěte se, když budete chtít výstup z AI probrat s člověkem.“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7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www.portu.cz" TargetMode="External"/><Relationship Id="rId3" Type="http://schemas.openxmlformats.org/officeDocument/2006/relationships/image" Target="../media/image7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7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7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7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7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15.png"/><Relationship Id="rId4" Type="http://schemas.openxmlformats.org/officeDocument/2006/relationships/image" Target="../media/image2.sv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Relationship Id="rId3" Type="http://schemas.openxmlformats.org/officeDocument/2006/relationships/image" Target="../media/image2.sv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7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7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7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tmavá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260600"/>
            <a:ext cx="2819718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WEBINÁŘ · INVESTIČNÍ KONZULTACE</a:t>
            </a:r>
          </a:p>
        </p:txBody>
      </p:sp>
      <p:sp>
        <p:nvSpPr>
          <p:cNvPr id="5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755900"/>
            <a:ext cx="753046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prezentace, klidně i na dva řádky</a:t>
            </a:r>
          </a:p>
        </p:txBody>
      </p:sp>
      <p:sp>
        <p:nvSpPr>
          <p:cNvPr id="6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4321366"/>
            <a:ext cx="77927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Podtitul – jednou větou, o čem dnes budeme mluvit</a:t>
            </a:r>
          </a:p>
        </p:txBody>
      </p:sp>
      <p:sp>
        <p:nvSpPr>
          <p:cNvPr id="7" name="Fotka"/>
          <p:cNvSpPr>
            <a:spLocks noGrp="1"/>
          </p:cNvSpPr>
          <p:nvPr>
            <p:ph type="pic" idx="20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9" name="Fotka"/>
          <p:cNvSpPr>
            <a:spLocks noGrp="1"/>
          </p:cNvSpPr>
          <p:nvPr>
            <p:ph type="pic" idx="21"/>
          </p:nvPr>
        </p:nvSpPr>
        <p:spPr>
          <a:xfrm>
            <a:off x="27622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33464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1" name="Fotka"/>
          <p:cNvSpPr>
            <a:spLocks noGrp="1"/>
          </p:cNvSpPr>
          <p:nvPr>
            <p:ph type="pic" idx="22"/>
          </p:nvPr>
        </p:nvSpPr>
        <p:spPr>
          <a:xfrm>
            <a:off x="50165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56007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3" name="Datum"/>
          <p:cNvSpPr>
            <a:spLocks noGrp="1"/>
          </p:cNvSpPr>
          <p:nvPr>
            <p:ph type="body" idx="103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4D6DB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tmavá, kocou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260600"/>
            <a:ext cx="2819718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WEBINÁŘ · INVESTIČNÍ KONZULTACE</a:t>
            </a:r>
          </a:p>
        </p:txBody>
      </p:sp>
      <p:sp>
        <p:nvSpPr>
          <p:cNvPr id="5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755900"/>
            <a:ext cx="7530465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prezentace, klidně i na dva řádky</a:t>
            </a:r>
          </a:p>
        </p:txBody>
      </p:sp>
      <p:sp>
        <p:nvSpPr>
          <p:cNvPr id="6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4321366"/>
            <a:ext cx="77927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Podtitul – jednou větou, o čem dnes budeme mluvit</a:t>
            </a:r>
          </a:p>
        </p:txBody>
      </p:sp>
      <p:sp>
        <p:nvSpPr>
          <p:cNvPr id="7" name="Fotka"/>
          <p:cNvSpPr>
            <a:spLocks noGrp="1"/>
          </p:cNvSpPr>
          <p:nvPr>
            <p:ph type="pic" idx="20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9" name="Fotka"/>
          <p:cNvSpPr>
            <a:spLocks noGrp="1"/>
          </p:cNvSpPr>
          <p:nvPr>
            <p:ph type="pic" idx="21"/>
          </p:nvPr>
        </p:nvSpPr>
        <p:spPr>
          <a:xfrm>
            <a:off x="27622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33464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1" name="Fotka"/>
          <p:cNvSpPr>
            <a:spLocks noGrp="1"/>
          </p:cNvSpPr>
          <p:nvPr>
            <p:ph type="pic" idx="22"/>
          </p:nvPr>
        </p:nvSpPr>
        <p:spPr>
          <a:xfrm>
            <a:off x="50165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56007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3" name="Datum"/>
          <p:cNvSpPr>
            <a:spLocks noGrp="1"/>
          </p:cNvSpPr>
          <p:nvPr>
            <p:ph type="body" idx="103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4D6DB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tmavá s obrázkem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552700"/>
            <a:ext cx="213995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KONFERENCE 2026</a:t>
            </a:r>
          </a:p>
        </p:txBody>
      </p:sp>
      <p:sp>
        <p:nvSpPr>
          <p:cNvPr id="5" name="Nadpis"/>
          <p:cNvSpPr>
            <a:spLocks noGrp="1"/>
          </p:cNvSpPr>
          <p:nvPr>
            <p:ph type="title" hasCustomPrompt="1"/>
          </p:nvPr>
        </p:nvSpPr>
        <p:spPr>
          <a:xfrm>
            <a:off x="762000" y="3048000"/>
            <a:ext cx="6604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přednášky</a:t>
            </a:r>
          </a:p>
        </p:txBody>
      </p:sp>
      <p:sp>
        <p:nvSpPr>
          <p:cNvPr id="6" name="Podtitul"/>
          <p:cNvSpPr>
            <a:spLocks noGrp="1"/>
          </p:cNvSpPr>
          <p:nvPr>
            <p:ph type="body" idx="100" hasCustomPrompt="1"/>
          </p:nvPr>
        </p:nvSpPr>
        <p:spPr>
          <a:xfrm>
            <a:off x="762000" y="3937000"/>
            <a:ext cx="66040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Podtitul s jedním </a:t>
            </a:r>
            <a:r>
              <a:rPr lang="cs-CZ" sz="2600" b="0" kern="0" cap="none" spc="-50" dirty="0">
                <a:gradFill rotWithShape="1">
                  <a:gsLst>
                    <a:gs pos="0">
                      <a:srgbClr val="05CB4B"/>
                    </a:gs>
                    <a:gs pos="100000">
                      <a:srgbClr val="D8FF15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zeleným</a:t>
            </a:r>
            <a:r>
              <a:rPr lang="cs-CZ" sz="2600" b="0" kern="0" cap="none" spc="-5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 slovem</a:t>
            </a:r>
          </a:p>
        </p:txBody>
      </p:sp>
      <p:sp>
        <p:nvSpPr>
          <p:cNvPr id="7" name="Obrázek / mockup produktu"/>
          <p:cNvSpPr>
            <a:spLocks noGrp="1"/>
          </p:cNvSpPr>
          <p:nvPr>
            <p:ph type="pic" idx="20" hasCustomPrompt="1"/>
          </p:nvPr>
        </p:nvSpPr>
        <p:spPr>
          <a:xfrm>
            <a:off x="7112000" y="254000"/>
            <a:ext cx="4826000" cy="6350000"/>
          </a:xfrm>
          <a:prstGeom prst="roundRect">
            <a:avLst>
              <a:gd name="adj" fmla="val 4211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8" name="Fotka"/>
          <p:cNvSpPr>
            <a:spLocks noGrp="1"/>
          </p:cNvSpPr>
          <p:nvPr>
            <p:ph type="pic" idx="21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10" name="Fotka"/>
          <p:cNvSpPr>
            <a:spLocks noGrp="1"/>
          </p:cNvSpPr>
          <p:nvPr>
            <p:ph type="pic" idx="22"/>
          </p:nvPr>
        </p:nvSpPr>
        <p:spPr>
          <a:xfrm>
            <a:off x="27622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33464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2" name="Fotka"/>
          <p:cNvSpPr>
            <a:spLocks noGrp="1"/>
          </p:cNvSpPr>
          <p:nvPr>
            <p:ph type="pic" idx="23"/>
          </p:nvPr>
        </p:nvSpPr>
        <p:spPr>
          <a:xfrm>
            <a:off x="50165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Jméno a role"/>
          <p:cNvSpPr>
            <a:spLocks noGrp="1"/>
          </p:cNvSpPr>
          <p:nvPr>
            <p:ph type="body" idx="103" hasCustomPrompt="1"/>
          </p:nvPr>
        </p:nvSpPr>
        <p:spPr>
          <a:xfrm>
            <a:off x="56007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4" name="Datum"/>
          <p:cNvSpPr>
            <a:spLocks noGrp="1"/>
          </p:cNvSpPr>
          <p:nvPr>
            <p:ph type="body" idx="104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4D6DB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světlá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lustrace (zamčená)" descr="dekorace"/>
          <p:cNvPicPr>
            <a:picLocks noGrp="1" noSelect="1" noChangeAspect="1" noMove="1" noResize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112000" y="254000"/>
            <a:ext cx="4826000" cy="6350000"/>
          </a:xfrm>
          <a:prstGeom prst="rect">
            <a:avLst/>
          </a:prstGeom>
        </p:spPr>
      </p:pic>
      <p:pic>
        <p:nvPicPr>
          <p:cNvPr id="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5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603500"/>
            <a:ext cx="2146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PREZENTACE PRO KLIENTY</a:t>
            </a:r>
          </a:p>
        </p:txBody>
      </p:sp>
      <p:sp>
        <p:nvSpPr>
          <p:cNvPr id="6" name="Nadpis"/>
          <p:cNvSpPr>
            <a:spLocks noGrp="1"/>
          </p:cNvSpPr>
          <p:nvPr>
            <p:ph type="title" hasCustomPrompt="1"/>
          </p:nvPr>
        </p:nvSpPr>
        <p:spPr>
          <a:xfrm>
            <a:off x="762000" y="3098800"/>
            <a:ext cx="58115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05CB4B"/>
                    </a:gs>
                    <a:gs pos="100000">
                      <a:srgbClr val="00832E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Název prezentace</a:t>
            </a:r>
          </a:p>
        </p:txBody>
      </p:sp>
      <p:sp>
        <p:nvSpPr>
          <p:cNvPr id="7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3978466"/>
            <a:ext cx="58115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tx1">
                    <a:alpha val="75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Podtitul – jednou větou, o čem dnes budeme mluvit</a:t>
            </a:r>
          </a:p>
        </p:txBody>
      </p:sp>
      <p:sp>
        <p:nvSpPr>
          <p:cNvPr id="8" name="Fotka"/>
          <p:cNvSpPr>
            <a:spLocks noGrp="1"/>
          </p:cNvSpPr>
          <p:nvPr>
            <p:ph type="pic" idx="20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10" name="Fotka"/>
          <p:cNvSpPr>
            <a:spLocks noGrp="1"/>
          </p:cNvSpPr>
          <p:nvPr>
            <p:ph type="pic" idx="21"/>
          </p:nvPr>
        </p:nvSpPr>
        <p:spPr>
          <a:xfrm>
            <a:off x="26098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31940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2" name="Fotka"/>
          <p:cNvSpPr>
            <a:spLocks noGrp="1"/>
          </p:cNvSpPr>
          <p:nvPr>
            <p:ph type="pic" idx="22"/>
          </p:nvPr>
        </p:nvSpPr>
        <p:spPr>
          <a:xfrm>
            <a:off x="47117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52959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4" name="Datum"/>
          <p:cNvSpPr>
            <a:spLocks noGrp="1"/>
          </p:cNvSpPr>
          <p:nvPr>
            <p:ph type="body" idx="103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ní – partnerská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rázek / mockup produktu"/>
          <p:cNvSpPr>
            <a:spLocks noGrp="1"/>
          </p:cNvSpPr>
          <p:nvPr>
            <p:ph type="pic" idx="20" hasCustomPrompt="1"/>
          </p:nvPr>
        </p:nvSpPr>
        <p:spPr>
          <a:xfrm>
            <a:off x="7112000" y="254000"/>
            <a:ext cx="4826000" cy="6350000"/>
          </a:xfrm>
          <a:prstGeom prst="roundRect">
            <a:avLst>
              <a:gd name="adj" fmla="val 4211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4" name="Spojka"/>
          <p:cNvSpPr>
            <a:spLocks noGrp="1"/>
          </p:cNvSpPr>
          <p:nvPr>
            <p:ph type="body" idx="100" hasCustomPrompt="1"/>
          </p:nvPr>
        </p:nvSpPr>
        <p:spPr>
          <a:xfrm>
            <a:off x="2089150" y="641350"/>
            <a:ext cx="215900" cy="368300"/>
          </a:xfrm>
          <a:prstGeom prst="rect">
            <a:avLst/>
          </a:prstGeom>
          <a:noFill/>
          <a:ln>
            <a:noFill/>
          </a:ln>
        </p:spPr>
        <p:txBody>
          <a:bodyPr wrap="none" lIns="0" tIns="30810" rIns="0" bIns="0" rtlCol="0" anchor="t" anchorCtr="0">
            <a:no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rgbClr val="D4D6DB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rgbClr val="D4D6DB"/>
                </a:solidFill>
                <a:latin typeface="Rethink Sans SemiBold"/>
                <a:ea typeface="Rethink Sans SemiBold"/>
                <a:cs typeface="Rethink Sans SemiBold"/>
              </a:rPr>
              <a:t>×</a:t>
            </a:r>
          </a:p>
        </p:txBody>
      </p:sp>
      <p:sp>
        <p:nvSpPr>
          <p:cNvPr id="5" name="Logo partnera"/>
          <p:cNvSpPr>
            <a:spLocks noGrp="1"/>
          </p:cNvSpPr>
          <p:nvPr>
            <p:ph type="pic" idx="21" hasCustomPrompt="1"/>
          </p:nvPr>
        </p:nvSpPr>
        <p:spPr>
          <a:xfrm>
            <a:off x="2501900" y="641350"/>
            <a:ext cx="1111250" cy="368300"/>
          </a:xfrm>
          <a:prstGeom prst="roundRect">
            <a:avLst>
              <a:gd name="adj" fmla="val 18966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6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603500"/>
            <a:ext cx="19240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PARTNERSKÁ SCHŮZKA</a:t>
            </a:r>
          </a:p>
        </p:txBody>
      </p:sp>
      <p:sp>
        <p:nvSpPr>
          <p:cNvPr id="7" name="Nadpis"/>
          <p:cNvSpPr>
            <a:spLocks noGrp="1"/>
          </p:cNvSpPr>
          <p:nvPr>
            <p:ph type="title" hasCustomPrompt="1"/>
          </p:nvPr>
        </p:nvSpPr>
        <p:spPr>
          <a:xfrm>
            <a:off x="762000" y="3098800"/>
            <a:ext cx="581152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rgbClr val="05CB4B"/>
                    </a:gs>
                    <a:gs pos="100000">
                      <a:srgbClr val="00832E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Portu × Partner</a:t>
            </a:r>
          </a:p>
        </p:txBody>
      </p:sp>
      <p:sp>
        <p:nvSpPr>
          <p:cNvPr id="8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3978466"/>
            <a:ext cx="58115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tx1">
                    <a:alpha val="75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Podtitul – jednou větou, o čem dnes budeme mluvit</a:t>
            </a:r>
          </a:p>
        </p:txBody>
      </p:sp>
      <p:sp>
        <p:nvSpPr>
          <p:cNvPr id="9" name="Fotka"/>
          <p:cNvSpPr>
            <a:spLocks noGrp="1"/>
          </p:cNvSpPr>
          <p:nvPr>
            <p:ph type="pic" idx="22"/>
          </p:nvPr>
        </p:nvSpPr>
        <p:spPr>
          <a:xfrm>
            <a:off x="7620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1346200" y="5818645"/>
            <a:ext cx="11134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Head of Product</a:t>
            </a:r>
          </a:p>
        </p:txBody>
      </p:sp>
      <p:sp>
        <p:nvSpPr>
          <p:cNvPr id="11" name="Fotka"/>
          <p:cNvSpPr>
            <a:spLocks noGrp="1"/>
          </p:cNvSpPr>
          <p:nvPr>
            <p:ph type="pic" idx="23"/>
          </p:nvPr>
        </p:nvSpPr>
        <p:spPr>
          <a:xfrm>
            <a:off x="260985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3194050" y="5818645"/>
            <a:ext cx="138017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Investiční konzultant</a:t>
            </a:r>
          </a:p>
        </p:txBody>
      </p:sp>
      <p:sp>
        <p:nvSpPr>
          <p:cNvPr id="13" name="Fotka"/>
          <p:cNvSpPr>
            <a:spLocks noGrp="1"/>
          </p:cNvSpPr>
          <p:nvPr>
            <p:ph type="pic" idx="24"/>
          </p:nvPr>
        </p:nvSpPr>
        <p:spPr>
          <a:xfrm>
            <a:off x="4711700" y="5803900"/>
            <a:ext cx="457200" cy="457200"/>
          </a:xfrm>
          <a:prstGeom prst="roundRect">
            <a:avLst>
              <a:gd name="adj" fmla="val 50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Jméno a role"/>
          <p:cNvSpPr>
            <a:spLocks noGrp="1"/>
          </p:cNvSpPr>
          <p:nvPr>
            <p:ph type="body" idx="103" hasCustomPrompt="1"/>
          </p:nvPr>
        </p:nvSpPr>
        <p:spPr>
          <a:xfrm>
            <a:off x="5295900" y="5818645"/>
            <a:ext cx="103346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Analytik</a:t>
            </a:r>
          </a:p>
        </p:txBody>
      </p:sp>
      <p:sp>
        <p:nvSpPr>
          <p:cNvPr id="15" name="Datum"/>
          <p:cNvSpPr>
            <a:spLocks noGrp="1"/>
          </p:cNvSpPr>
          <p:nvPr>
            <p:ph type="body" idx="104" hasCustomPrompt="1"/>
          </p:nvPr>
        </p:nvSpPr>
        <p:spPr>
          <a:xfrm>
            <a:off x="762000" y="5463045"/>
            <a:ext cx="76676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leden 2026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do vás dnes prove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2827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PŘEDSTAVENÍ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Kdo vás dnes provede</a:t>
            </a:r>
          </a:p>
        </p:txBody>
      </p:sp>
      <p:sp>
        <p:nvSpPr>
          <p:cNvPr id="5" name="Fotka"/>
          <p:cNvSpPr>
            <a:spLocks noGrp="1"/>
          </p:cNvSpPr>
          <p:nvPr>
            <p:ph type="pic" idx="20"/>
          </p:nvPr>
        </p:nvSpPr>
        <p:spPr>
          <a:xfrm>
            <a:off x="1066800" y="2590800"/>
            <a:ext cx="812800" cy="8128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066800" y="3530600"/>
            <a:ext cx="292339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Investiční konzultant</a:t>
            </a:r>
          </a:p>
        </p:txBody>
      </p:sp>
      <p:sp>
        <p:nvSpPr>
          <p:cNvPr id="7" name="Medailonek"/>
          <p:cNvSpPr>
            <a:spLocks noGrp="1"/>
          </p:cNvSpPr>
          <p:nvPr>
            <p:ph type="body" idx="101" hasCustomPrompt="1"/>
          </p:nvPr>
        </p:nvSpPr>
        <p:spPr>
          <a:xfrm>
            <a:off x="1066800" y="4129545"/>
            <a:ext cx="282500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Dvě až tři věty o zkušenostech a o tom, čemu se v Portu věnuje. Ideálně něco osobního.</a:t>
            </a:r>
          </a:p>
        </p:txBody>
      </p:sp>
      <p:sp>
        <p:nvSpPr>
          <p:cNvPr id="8" name="Fotka"/>
          <p:cNvSpPr>
            <a:spLocks noGrp="1"/>
          </p:cNvSpPr>
          <p:nvPr>
            <p:ph type="pic" idx="21"/>
          </p:nvPr>
        </p:nvSpPr>
        <p:spPr>
          <a:xfrm>
            <a:off x="4690554" y="2590800"/>
            <a:ext cx="812800" cy="8128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Jméno a role"/>
          <p:cNvSpPr>
            <a:spLocks noGrp="1"/>
          </p:cNvSpPr>
          <p:nvPr>
            <p:ph type="body" idx="102" hasCustomPrompt="1"/>
          </p:nvPr>
        </p:nvSpPr>
        <p:spPr>
          <a:xfrm>
            <a:off x="4690554" y="3530600"/>
            <a:ext cx="292339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Analytik</a:t>
            </a:r>
          </a:p>
        </p:txBody>
      </p:sp>
      <p:sp>
        <p:nvSpPr>
          <p:cNvPr id="10" name="Medailonek"/>
          <p:cNvSpPr>
            <a:spLocks noGrp="1"/>
          </p:cNvSpPr>
          <p:nvPr>
            <p:ph type="body" idx="103" hasCustomPrompt="1"/>
          </p:nvPr>
        </p:nvSpPr>
        <p:spPr>
          <a:xfrm>
            <a:off x="4690554" y="4129545"/>
            <a:ext cx="282500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Dvě až tři věty o zkušenostech a o tom, čemu se v Portu věnuje. Ideálně něco osobního.</a:t>
            </a:r>
          </a:p>
        </p:txBody>
      </p:sp>
      <p:sp>
        <p:nvSpPr>
          <p:cNvPr id="11" name="Fotka"/>
          <p:cNvSpPr>
            <a:spLocks noGrp="1"/>
          </p:cNvSpPr>
          <p:nvPr>
            <p:ph type="body" idx="104" hasCustomPrompt="1"/>
          </p:nvPr>
        </p:nvSpPr>
        <p:spPr>
          <a:xfrm>
            <a:off x="8314246" y="2590800"/>
            <a:ext cx="812800" cy="8128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JP</a:t>
            </a:r>
          </a:p>
        </p:txBody>
      </p:sp>
      <p:sp>
        <p:nvSpPr>
          <p:cNvPr id="12" name="Jméno a role"/>
          <p:cNvSpPr>
            <a:spLocks noGrp="1"/>
          </p:cNvSpPr>
          <p:nvPr>
            <p:ph type="body" idx="105" hasCustomPrompt="1"/>
          </p:nvPr>
        </p:nvSpPr>
        <p:spPr>
          <a:xfrm>
            <a:off x="8314246" y="3530600"/>
            <a:ext cx="2923393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Produktový manažer</a:t>
            </a:r>
          </a:p>
        </p:txBody>
      </p:sp>
      <p:sp>
        <p:nvSpPr>
          <p:cNvPr id="13" name="Medailonek"/>
          <p:cNvSpPr>
            <a:spLocks noGrp="1"/>
          </p:cNvSpPr>
          <p:nvPr>
            <p:ph type="body" idx="106" hasCustomPrompt="1"/>
          </p:nvPr>
        </p:nvSpPr>
        <p:spPr>
          <a:xfrm>
            <a:off x="8314246" y="4129545"/>
            <a:ext cx="2825009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Dvě až tři věty o zkušenostech a o tom, čemu se v Portu věnuje. Ideálně něco osobního.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chnické problémy? Ozvěte se!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3208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NEŽ ZAČNEME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Technické problémy? Ozvěte se!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1701330"/>
            <a:ext cx="79248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Nemůžete se připojit, nejde zvuk nebo nevidíte prezentaci? Napište nám nebo zavolejte.</a:t>
            </a:r>
          </a:p>
        </p:txBody>
      </p:sp>
      <p:sp>
        <p:nvSpPr>
          <p:cNvPr id="6" name="Karta – Nejde zvuk nebo obraz?"/>
          <p:cNvSpPr>
            <a:spLocks noGrp="1"/>
          </p:cNvSpPr>
          <p:nvPr>
            <p:ph type="body" idx="100" hasCustomPrompt="1"/>
          </p:nvPr>
        </p:nvSpPr>
        <p:spPr>
          <a:xfrm>
            <a:off x="762000" y="2857500"/>
            <a:ext cx="3416300" cy="1358900"/>
          </a:xfrm>
          <a:prstGeom prst="roundRect">
            <a:avLst>
              <a:gd name="adj" fmla="val 11215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12001" rIns="290766" bIns="3048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Nejde zvuk nebo obraz?</a:t>
            </a:r>
          </a:p>
          <a:p>
            <a:pPr marL="0" indent="0" algn="l">
              <a:lnSpc>
                <a:spcPts val="1600"/>
              </a:lnSpc>
              <a:spcBef>
                <a:spcPts val="4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Zkuste se odpojit a znovu připojit – ve většině případů to pomůže.</a:t>
            </a:r>
          </a:p>
        </p:txBody>
      </p:sp>
      <p:sp>
        <p:nvSpPr>
          <p:cNvPr id="7" name="Karta – Prezentaci vám pošleme"/>
          <p:cNvSpPr>
            <a:spLocks noGrp="1"/>
          </p:cNvSpPr>
          <p:nvPr>
            <p:ph type="body" idx="101" hasCustomPrompt="1"/>
          </p:nvPr>
        </p:nvSpPr>
        <p:spPr>
          <a:xfrm>
            <a:off x="4381500" y="2857500"/>
            <a:ext cx="3416300" cy="1358900"/>
          </a:xfrm>
          <a:prstGeom prst="roundRect">
            <a:avLst>
              <a:gd name="adj" fmla="val 11215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12001" rIns="290766" bIns="3048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Prezentaci vám pošleme</a:t>
            </a:r>
          </a:p>
          <a:p>
            <a:pPr marL="0" indent="0" algn="l">
              <a:lnSpc>
                <a:spcPts val="1600"/>
              </a:lnSpc>
              <a:spcBef>
                <a:spcPts val="4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Materiály dostanete po skončení e-mailem, nemusíte si nic zapisovat.</a:t>
            </a:r>
          </a:p>
        </p:txBody>
      </p:sp>
      <p:sp>
        <p:nvSpPr>
          <p:cNvPr id="8" name="Karta – Máte dotaz?"/>
          <p:cNvSpPr>
            <a:spLocks noGrp="1"/>
          </p:cNvSpPr>
          <p:nvPr>
            <p:ph type="body" idx="102" hasCustomPrompt="1"/>
          </p:nvPr>
        </p:nvSpPr>
        <p:spPr>
          <a:xfrm>
            <a:off x="8001000" y="2857500"/>
            <a:ext cx="3416300" cy="1358900"/>
          </a:xfrm>
          <a:prstGeom prst="roundRect">
            <a:avLst>
              <a:gd name="adj" fmla="val 11215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12001" rIns="290766" bIns="3048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Máte dotaz?</a:t>
            </a:r>
          </a:p>
          <a:p>
            <a:pPr marL="0" indent="0" algn="l">
              <a:lnSpc>
                <a:spcPts val="1600"/>
              </a:lnSpc>
              <a:spcBef>
                <a:spcPts val="4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Napište ho do chatu. Vrátíme se k němu v části Otázky a odpovědi.</a:t>
            </a:r>
          </a:p>
        </p:txBody>
      </p:sp>
      <p:sp>
        <p:nvSpPr>
          <p:cNvPr id="9" name="E-mail"/>
          <p:cNvSpPr>
            <a:spLocks noGrp="1"/>
          </p:cNvSpPr>
          <p:nvPr>
            <p:ph type="body" idx="103" hasCustomPrompt="1"/>
          </p:nvPr>
        </p:nvSpPr>
        <p:spPr>
          <a:xfrm>
            <a:off x="762000" y="4953000"/>
            <a:ext cx="2233612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2100"/>
              </a:lnSpc>
              <a:spcBef>
                <a:spcPts val="2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poradenstvi@portu.cz</a:t>
            </a:r>
          </a:p>
        </p:txBody>
      </p:sp>
      <p:sp>
        <p:nvSpPr>
          <p:cNvPr id="10" name="Telefon"/>
          <p:cNvSpPr>
            <a:spLocks noGrp="1"/>
          </p:cNvSpPr>
          <p:nvPr>
            <p:ph type="body" idx="104" hasCustomPrompt="1"/>
          </p:nvPr>
        </p:nvSpPr>
        <p:spPr>
          <a:xfrm>
            <a:off x="3194050" y="4953000"/>
            <a:ext cx="1853565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2100"/>
              </a:lnSpc>
              <a:spcBef>
                <a:spcPts val="2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+420 222 096 622</a:t>
            </a:r>
          </a:p>
        </p:txBody>
      </p:sp>
      <p:pic>
        <p:nvPicPr>
          <p:cNvPr id="1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 vás dnes čeká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889000"/>
            <a:ext cx="10604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PROGRAM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333500"/>
            <a:ext cx="3962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Co vás dnes čeká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1955330"/>
            <a:ext cx="382905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Krátce uveďte, jak bude prezentace probíhat a kolik zabere času.</a:t>
            </a:r>
          </a:p>
        </p:txBody>
      </p:sp>
      <p:sp>
        <p:nvSpPr>
          <p:cNvPr id="6" name="Číslo"/>
          <p:cNvSpPr>
            <a:spLocks noGrp="1"/>
          </p:cNvSpPr>
          <p:nvPr>
            <p:ph type="body" idx="100" hasCustomPrompt="1"/>
          </p:nvPr>
        </p:nvSpPr>
        <p:spPr>
          <a:xfrm>
            <a:off x="5334000" y="101600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01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1" hasCustomPrompt="1"/>
          </p:nvPr>
        </p:nvSpPr>
        <p:spPr>
          <a:xfrm>
            <a:off x="5994400" y="1016000"/>
            <a:ext cx="5019040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Úvod a představení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Kdo vás provede a jak bude prezentace probíhat</a:t>
            </a:r>
          </a:p>
        </p:txBody>
      </p:sp>
      <p:sp>
        <p:nvSpPr>
          <p:cNvPr id="8" name="Délka"/>
          <p:cNvSpPr>
            <a:spLocks noGrp="1"/>
          </p:cNvSpPr>
          <p:nvPr>
            <p:ph type="body" idx="102" hasCustomPrompt="1"/>
          </p:nvPr>
        </p:nvSpPr>
        <p:spPr>
          <a:xfrm>
            <a:off x="11074400" y="1011695"/>
            <a:ext cx="37338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5 min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3" hasCustomPrompt="1"/>
          </p:nvPr>
        </p:nvSpPr>
        <p:spPr>
          <a:xfrm>
            <a:off x="5334000" y="192405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02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4" hasCustomPrompt="1"/>
          </p:nvPr>
        </p:nvSpPr>
        <p:spPr>
          <a:xfrm>
            <a:off x="5994400" y="1924050"/>
            <a:ext cx="4933188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Kontext a výchozí situace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Proč se tématem zabýváme právě teď</a:t>
            </a:r>
          </a:p>
        </p:txBody>
      </p:sp>
      <p:sp>
        <p:nvSpPr>
          <p:cNvPr id="11" name="Délka"/>
          <p:cNvSpPr>
            <a:spLocks noGrp="1"/>
          </p:cNvSpPr>
          <p:nvPr>
            <p:ph type="body" idx="105" hasCustomPrompt="1"/>
          </p:nvPr>
        </p:nvSpPr>
        <p:spPr>
          <a:xfrm>
            <a:off x="10991850" y="1919745"/>
            <a:ext cx="460058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10 min</a:t>
            </a:r>
          </a:p>
        </p:txBody>
      </p:sp>
      <p:sp>
        <p:nvSpPr>
          <p:cNvPr id="12" name="Číslo"/>
          <p:cNvSpPr>
            <a:spLocks noGrp="1"/>
          </p:cNvSpPr>
          <p:nvPr>
            <p:ph type="body" idx="106" hasCustomPrompt="1"/>
          </p:nvPr>
        </p:nvSpPr>
        <p:spPr>
          <a:xfrm>
            <a:off x="5334000" y="283210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03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7" hasCustomPrompt="1"/>
          </p:nvPr>
        </p:nvSpPr>
        <p:spPr>
          <a:xfrm>
            <a:off x="5994400" y="2832100"/>
            <a:ext cx="4933188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Hlavní část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Klíčová zjištění, data a příklady z praxe</a:t>
            </a:r>
          </a:p>
        </p:txBody>
      </p:sp>
      <p:sp>
        <p:nvSpPr>
          <p:cNvPr id="14" name="Délka"/>
          <p:cNvSpPr>
            <a:spLocks noGrp="1"/>
          </p:cNvSpPr>
          <p:nvPr>
            <p:ph type="body" idx="108" hasCustomPrompt="1"/>
          </p:nvPr>
        </p:nvSpPr>
        <p:spPr>
          <a:xfrm>
            <a:off x="10991850" y="2827795"/>
            <a:ext cx="460058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20 min</a:t>
            </a:r>
          </a:p>
        </p:txBody>
      </p:sp>
      <p:sp>
        <p:nvSpPr>
          <p:cNvPr id="15" name="Číslo"/>
          <p:cNvSpPr>
            <a:spLocks noGrp="1"/>
          </p:cNvSpPr>
          <p:nvPr>
            <p:ph type="body" idx="109" hasCustomPrompt="1"/>
          </p:nvPr>
        </p:nvSpPr>
        <p:spPr>
          <a:xfrm>
            <a:off x="5334000" y="374015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04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0" hasCustomPrompt="1"/>
          </p:nvPr>
        </p:nvSpPr>
        <p:spPr>
          <a:xfrm>
            <a:off x="5994400" y="3740150"/>
            <a:ext cx="4933188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Doporučení a další kroky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Co si odnést a jak postupovat dál</a:t>
            </a:r>
          </a:p>
        </p:txBody>
      </p:sp>
      <p:sp>
        <p:nvSpPr>
          <p:cNvPr id="17" name="Délka"/>
          <p:cNvSpPr>
            <a:spLocks noGrp="1"/>
          </p:cNvSpPr>
          <p:nvPr>
            <p:ph type="body" idx="111" hasCustomPrompt="1"/>
          </p:nvPr>
        </p:nvSpPr>
        <p:spPr>
          <a:xfrm>
            <a:off x="10991850" y="3735845"/>
            <a:ext cx="460058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10 min</a:t>
            </a:r>
          </a:p>
        </p:txBody>
      </p:sp>
      <p:sp>
        <p:nvSpPr>
          <p:cNvPr id="18" name="Číslo"/>
          <p:cNvSpPr>
            <a:spLocks noGrp="1"/>
          </p:cNvSpPr>
          <p:nvPr>
            <p:ph type="body" idx="112" hasCustomPrompt="1"/>
          </p:nvPr>
        </p:nvSpPr>
        <p:spPr>
          <a:xfrm>
            <a:off x="5334000" y="4648200"/>
            <a:ext cx="422656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05</a:t>
            </a:r>
          </a:p>
        </p:txBody>
      </p:sp>
      <p:sp>
        <p:nvSpPr>
          <p:cNvPr id="19" name="Text"/>
          <p:cNvSpPr>
            <a:spLocks noGrp="1"/>
          </p:cNvSpPr>
          <p:nvPr>
            <p:ph type="body" idx="113" hasCustomPrompt="1"/>
          </p:nvPr>
        </p:nvSpPr>
        <p:spPr>
          <a:xfrm>
            <a:off x="5994400" y="4648200"/>
            <a:ext cx="4933188" cy="520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Otázky a odpovědi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Prostor pro vaše dotazy</a:t>
            </a:r>
          </a:p>
        </p:txBody>
      </p:sp>
      <p:sp>
        <p:nvSpPr>
          <p:cNvPr id="20" name="Délka"/>
          <p:cNvSpPr>
            <a:spLocks noGrp="1"/>
          </p:cNvSpPr>
          <p:nvPr>
            <p:ph type="body" idx="114" hasCustomPrompt="1"/>
          </p:nvPr>
        </p:nvSpPr>
        <p:spPr>
          <a:xfrm>
            <a:off x="10991850" y="4643895"/>
            <a:ext cx="460058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15 min</a:t>
            </a:r>
          </a:p>
        </p:txBody>
      </p:sp>
      <p:pic>
        <p:nvPicPr>
          <p:cNvPr id="2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sah prezentac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8509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OBSAH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Obsah prezentace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 hasCustomPrompt="1"/>
          </p:nvPr>
        </p:nvSpPr>
        <p:spPr>
          <a:xfrm>
            <a:off x="762000" y="23241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01</a:t>
            </a:r>
          </a:p>
        </p:txBody>
      </p:sp>
      <p:sp>
        <p:nvSpPr>
          <p:cNvPr id="6" name="Kapitola"/>
          <p:cNvSpPr>
            <a:spLocks noGrp="1"/>
          </p:cNvSpPr>
          <p:nvPr>
            <p:ph type="body" idx="101" hasCustomPrompt="1"/>
          </p:nvPr>
        </p:nvSpPr>
        <p:spPr>
          <a:xfrm>
            <a:off x="1270000" y="2324100"/>
            <a:ext cx="451053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Úvod a kontext</a:t>
            </a:r>
          </a:p>
        </p:txBody>
      </p:sp>
      <p:sp>
        <p:nvSpPr>
          <p:cNvPr id="7" name="Strana"/>
          <p:cNvSpPr>
            <a:spLocks noGrp="1"/>
          </p:cNvSpPr>
          <p:nvPr>
            <p:ph type="body" idx="102" hasCustomPrompt="1"/>
          </p:nvPr>
        </p:nvSpPr>
        <p:spPr>
          <a:xfrm>
            <a:off x="5759450" y="23578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8" name="Číslo"/>
          <p:cNvSpPr>
            <a:spLocks noGrp="1"/>
          </p:cNvSpPr>
          <p:nvPr>
            <p:ph type="body" idx="103" hasCustomPrompt="1"/>
          </p:nvPr>
        </p:nvSpPr>
        <p:spPr>
          <a:xfrm>
            <a:off x="762000" y="292735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02</a:t>
            </a:r>
          </a:p>
        </p:txBody>
      </p:sp>
      <p:sp>
        <p:nvSpPr>
          <p:cNvPr id="9" name="Kapitola"/>
          <p:cNvSpPr>
            <a:spLocks noGrp="1"/>
          </p:cNvSpPr>
          <p:nvPr>
            <p:ph type="body" idx="104" hasCustomPrompt="1"/>
          </p:nvPr>
        </p:nvSpPr>
        <p:spPr>
          <a:xfrm>
            <a:off x="1270000" y="2927350"/>
            <a:ext cx="451053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Výsledky za 3. čtvrtletí</a:t>
            </a:r>
          </a:p>
        </p:txBody>
      </p:sp>
      <p:sp>
        <p:nvSpPr>
          <p:cNvPr id="10" name="Strana"/>
          <p:cNvSpPr>
            <a:spLocks noGrp="1"/>
          </p:cNvSpPr>
          <p:nvPr>
            <p:ph type="body" idx="105" hasCustomPrompt="1"/>
          </p:nvPr>
        </p:nvSpPr>
        <p:spPr>
          <a:xfrm>
            <a:off x="5759450" y="296114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6</a:t>
            </a:r>
          </a:p>
        </p:txBody>
      </p:sp>
      <p:sp>
        <p:nvSpPr>
          <p:cNvPr id="11" name="Číslo"/>
          <p:cNvSpPr>
            <a:spLocks noGrp="1"/>
          </p:cNvSpPr>
          <p:nvPr>
            <p:ph type="body" idx="106" hasCustomPrompt="1"/>
          </p:nvPr>
        </p:nvSpPr>
        <p:spPr>
          <a:xfrm>
            <a:off x="762000" y="35306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03</a:t>
            </a:r>
          </a:p>
        </p:txBody>
      </p:sp>
      <p:sp>
        <p:nvSpPr>
          <p:cNvPr id="12" name="Kapitola"/>
          <p:cNvSpPr>
            <a:spLocks noGrp="1"/>
          </p:cNvSpPr>
          <p:nvPr>
            <p:ph type="body" idx="107" hasCustomPrompt="1"/>
          </p:nvPr>
        </p:nvSpPr>
        <p:spPr>
          <a:xfrm>
            <a:off x="1270000" y="3530600"/>
            <a:ext cx="451053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Klienti a akvizice</a:t>
            </a:r>
          </a:p>
        </p:txBody>
      </p:sp>
      <p:sp>
        <p:nvSpPr>
          <p:cNvPr id="13" name="Strana"/>
          <p:cNvSpPr>
            <a:spLocks noGrp="1"/>
          </p:cNvSpPr>
          <p:nvPr>
            <p:ph type="body" idx="108" hasCustomPrompt="1"/>
          </p:nvPr>
        </p:nvSpPr>
        <p:spPr>
          <a:xfrm>
            <a:off x="5759450" y="35643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9</a:t>
            </a:r>
          </a:p>
        </p:txBody>
      </p:sp>
      <p:sp>
        <p:nvSpPr>
          <p:cNvPr id="14" name="Číslo"/>
          <p:cNvSpPr>
            <a:spLocks noGrp="1"/>
          </p:cNvSpPr>
          <p:nvPr>
            <p:ph type="body" idx="109" hasCustomPrompt="1"/>
          </p:nvPr>
        </p:nvSpPr>
        <p:spPr>
          <a:xfrm>
            <a:off x="762000" y="413385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04</a:t>
            </a:r>
          </a:p>
        </p:txBody>
      </p:sp>
      <p:sp>
        <p:nvSpPr>
          <p:cNvPr id="15" name="Kapitola"/>
          <p:cNvSpPr>
            <a:spLocks noGrp="1"/>
          </p:cNvSpPr>
          <p:nvPr>
            <p:ph type="body" idx="110" hasCustomPrompt="1"/>
          </p:nvPr>
        </p:nvSpPr>
        <p:spPr>
          <a:xfrm>
            <a:off x="1270000" y="413385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Produkty a nabídka</a:t>
            </a:r>
          </a:p>
        </p:txBody>
      </p:sp>
      <p:sp>
        <p:nvSpPr>
          <p:cNvPr id="16" name="Strana"/>
          <p:cNvSpPr>
            <a:spLocks noGrp="1"/>
          </p:cNvSpPr>
          <p:nvPr>
            <p:ph type="body" idx="111" hasCustomPrompt="1"/>
          </p:nvPr>
        </p:nvSpPr>
        <p:spPr>
          <a:xfrm>
            <a:off x="5676900" y="416764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12</a:t>
            </a:r>
          </a:p>
        </p:txBody>
      </p:sp>
      <p:sp>
        <p:nvSpPr>
          <p:cNvPr id="17" name="Číslo"/>
          <p:cNvSpPr>
            <a:spLocks noGrp="1"/>
          </p:cNvSpPr>
          <p:nvPr>
            <p:ph type="body" idx="112" hasCustomPrompt="1"/>
          </p:nvPr>
        </p:nvSpPr>
        <p:spPr>
          <a:xfrm>
            <a:off x="762000" y="47371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05</a:t>
            </a:r>
          </a:p>
        </p:txBody>
      </p:sp>
      <p:sp>
        <p:nvSpPr>
          <p:cNvPr id="18" name="Kapitola"/>
          <p:cNvSpPr>
            <a:spLocks noGrp="1"/>
          </p:cNvSpPr>
          <p:nvPr>
            <p:ph type="body" idx="113" hasCustomPrompt="1"/>
          </p:nvPr>
        </p:nvSpPr>
        <p:spPr>
          <a:xfrm>
            <a:off x="1270000" y="473710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Ceny a konkurence</a:t>
            </a:r>
          </a:p>
        </p:txBody>
      </p:sp>
      <p:sp>
        <p:nvSpPr>
          <p:cNvPr id="19" name="Strana"/>
          <p:cNvSpPr>
            <a:spLocks noGrp="1"/>
          </p:cNvSpPr>
          <p:nvPr>
            <p:ph type="body" idx="114" hasCustomPrompt="1"/>
          </p:nvPr>
        </p:nvSpPr>
        <p:spPr>
          <a:xfrm>
            <a:off x="5676900" y="477089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15</a:t>
            </a:r>
          </a:p>
        </p:txBody>
      </p:sp>
      <p:sp>
        <p:nvSpPr>
          <p:cNvPr id="20" name="Číslo"/>
          <p:cNvSpPr>
            <a:spLocks noGrp="1"/>
          </p:cNvSpPr>
          <p:nvPr>
            <p:ph type="body" idx="115" hasCustomPrompt="1"/>
          </p:nvPr>
        </p:nvSpPr>
        <p:spPr>
          <a:xfrm>
            <a:off x="6350000" y="23241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06</a:t>
            </a:r>
          </a:p>
        </p:txBody>
      </p:sp>
      <p:sp>
        <p:nvSpPr>
          <p:cNvPr id="21" name="Kapitola"/>
          <p:cNvSpPr>
            <a:spLocks noGrp="1"/>
          </p:cNvSpPr>
          <p:nvPr>
            <p:ph type="body" idx="116" hasCustomPrompt="1"/>
          </p:nvPr>
        </p:nvSpPr>
        <p:spPr>
          <a:xfrm>
            <a:off x="6858000" y="232410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Partnerství</a:t>
            </a:r>
          </a:p>
        </p:txBody>
      </p:sp>
      <p:sp>
        <p:nvSpPr>
          <p:cNvPr id="22" name="Strana"/>
          <p:cNvSpPr>
            <a:spLocks noGrp="1"/>
          </p:cNvSpPr>
          <p:nvPr>
            <p:ph type="body" idx="117" hasCustomPrompt="1"/>
          </p:nvPr>
        </p:nvSpPr>
        <p:spPr>
          <a:xfrm>
            <a:off x="11264900" y="235789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18</a:t>
            </a:r>
          </a:p>
        </p:txBody>
      </p:sp>
      <p:sp>
        <p:nvSpPr>
          <p:cNvPr id="23" name="Číslo"/>
          <p:cNvSpPr>
            <a:spLocks noGrp="1"/>
          </p:cNvSpPr>
          <p:nvPr>
            <p:ph type="body" idx="118" hasCustomPrompt="1"/>
          </p:nvPr>
        </p:nvSpPr>
        <p:spPr>
          <a:xfrm>
            <a:off x="6350000" y="292735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07</a:t>
            </a:r>
          </a:p>
        </p:txBody>
      </p:sp>
      <p:sp>
        <p:nvSpPr>
          <p:cNvPr id="24" name="Kapitola"/>
          <p:cNvSpPr>
            <a:spLocks noGrp="1"/>
          </p:cNvSpPr>
          <p:nvPr>
            <p:ph type="body" idx="119" hasCustomPrompt="1"/>
          </p:nvPr>
        </p:nvSpPr>
        <p:spPr>
          <a:xfrm>
            <a:off x="6858000" y="292735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Plán na příští rok</a:t>
            </a:r>
          </a:p>
        </p:txBody>
      </p:sp>
      <p:sp>
        <p:nvSpPr>
          <p:cNvPr id="25" name="Strana"/>
          <p:cNvSpPr>
            <a:spLocks noGrp="1"/>
          </p:cNvSpPr>
          <p:nvPr>
            <p:ph type="body" idx="120" hasCustomPrompt="1"/>
          </p:nvPr>
        </p:nvSpPr>
        <p:spPr>
          <a:xfrm>
            <a:off x="11264900" y="296114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21</a:t>
            </a:r>
          </a:p>
        </p:txBody>
      </p:sp>
      <p:sp>
        <p:nvSpPr>
          <p:cNvPr id="26" name="Číslo"/>
          <p:cNvSpPr>
            <a:spLocks noGrp="1"/>
          </p:cNvSpPr>
          <p:nvPr>
            <p:ph type="body" idx="121" hasCustomPrompt="1"/>
          </p:nvPr>
        </p:nvSpPr>
        <p:spPr>
          <a:xfrm>
            <a:off x="6350000" y="35306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08</a:t>
            </a:r>
          </a:p>
        </p:txBody>
      </p:sp>
      <p:sp>
        <p:nvSpPr>
          <p:cNvPr id="27" name="Kapitola"/>
          <p:cNvSpPr>
            <a:spLocks noGrp="1"/>
          </p:cNvSpPr>
          <p:nvPr>
            <p:ph type="body" idx="122" hasCustomPrompt="1"/>
          </p:nvPr>
        </p:nvSpPr>
        <p:spPr>
          <a:xfrm>
            <a:off x="6858000" y="353060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Rizika a příležitosti</a:t>
            </a:r>
          </a:p>
        </p:txBody>
      </p:sp>
      <p:sp>
        <p:nvSpPr>
          <p:cNvPr id="28" name="Strana"/>
          <p:cNvSpPr>
            <a:spLocks noGrp="1"/>
          </p:cNvSpPr>
          <p:nvPr>
            <p:ph type="body" idx="123" hasCustomPrompt="1"/>
          </p:nvPr>
        </p:nvSpPr>
        <p:spPr>
          <a:xfrm>
            <a:off x="11264900" y="356439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24</a:t>
            </a:r>
          </a:p>
        </p:txBody>
      </p:sp>
      <p:sp>
        <p:nvSpPr>
          <p:cNvPr id="29" name="Číslo"/>
          <p:cNvSpPr>
            <a:spLocks noGrp="1"/>
          </p:cNvSpPr>
          <p:nvPr>
            <p:ph type="body" idx="124" hasCustomPrompt="1"/>
          </p:nvPr>
        </p:nvSpPr>
        <p:spPr>
          <a:xfrm>
            <a:off x="6350000" y="413385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09</a:t>
            </a:r>
          </a:p>
        </p:txBody>
      </p:sp>
      <p:sp>
        <p:nvSpPr>
          <p:cNvPr id="30" name="Kapitola"/>
          <p:cNvSpPr>
            <a:spLocks noGrp="1"/>
          </p:cNvSpPr>
          <p:nvPr>
            <p:ph type="body" idx="125" hasCustomPrompt="1"/>
          </p:nvPr>
        </p:nvSpPr>
        <p:spPr>
          <a:xfrm>
            <a:off x="6858000" y="413385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Shrnutí a další kroky</a:t>
            </a:r>
          </a:p>
        </p:txBody>
      </p:sp>
      <p:sp>
        <p:nvSpPr>
          <p:cNvPr id="31" name="Strana"/>
          <p:cNvSpPr>
            <a:spLocks noGrp="1"/>
          </p:cNvSpPr>
          <p:nvPr>
            <p:ph type="body" idx="126" hasCustomPrompt="1"/>
          </p:nvPr>
        </p:nvSpPr>
        <p:spPr>
          <a:xfrm>
            <a:off x="11264900" y="416764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27</a:t>
            </a:r>
          </a:p>
        </p:txBody>
      </p:sp>
      <p:sp>
        <p:nvSpPr>
          <p:cNvPr id="32" name="Číslo"/>
          <p:cNvSpPr>
            <a:spLocks noGrp="1"/>
          </p:cNvSpPr>
          <p:nvPr>
            <p:ph type="body" idx="127" hasCustomPrompt="1"/>
          </p:nvPr>
        </p:nvSpPr>
        <p:spPr>
          <a:xfrm>
            <a:off x="6350000" y="4737100"/>
            <a:ext cx="369824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10</a:t>
            </a:r>
          </a:p>
        </p:txBody>
      </p:sp>
      <p:sp>
        <p:nvSpPr>
          <p:cNvPr id="33" name="Kapitola"/>
          <p:cNvSpPr>
            <a:spLocks noGrp="1"/>
          </p:cNvSpPr>
          <p:nvPr>
            <p:ph type="body" idx="128" hasCustomPrompt="1"/>
          </p:nvPr>
        </p:nvSpPr>
        <p:spPr>
          <a:xfrm>
            <a:off x="6858000" y="4737100"/>
            <a:ext cx="442468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Příloha</a:t>
            </a:r>
          </a:p>
        </p:txBody>
      </p:sp>
      <p:sp>
        <p:nvSpPr>
          <p:cNvPr id="34" name="Strana"/>
          <p:cNvSpPr>
            <a:spLocks noGrp="1"/>
          </p:cNvSpPr>
          <p:nvPr>
            <p:ph type="body" idx="129" hasCustomPrompt="1"/>
          </p:nvPr>
        </p:nvSpPr>
        <p:spPr>
          <a:xfrm>
            <a:off x="11264900" y="4770895"/>
            <a:ext cx="1778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noFill/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noFill/>
                <a:latin typeface="Rethink Sans SemiBold"/>
                <a:ea typeface="Rethink Sans SemiBold"/>
                <a:cs typeface="Rethink Sans SemiBold"/>
              </a:rPr>
              <a:t>30</a:t>
            </a:r>
          </a:p>
        </p:txBody>
      </p:sp>
      <p:pic>
        <p:nvPicPr>
          <p:cNvPr id="35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36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ár vět o Port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333500"/>
            <a:ext cx="8064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O NÁS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78000"/>
            <a:ext cx="501904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Pár vět o Portu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2399830"/>
            <a:ext cx="485013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Portu vzniklo v roce 2017 jako první robo-advisor ve střední Evropě. Pomáhá lidem jednoduše a bez stresu investovat do nízkonákladových ETF a dalších produktů.</a:t>
            </a:r>
          </a:p>
        </p:txBody>
      </p:sp>
      <p:sp>
        <p:nvSpPr>
          <p:cNvPr id="6" name="Číslo"/>
          <p:cNvSpPr>
            <a:spLocks noGrp="1"/>
          </p:cNvSpPr>
          <p:nvPr>
            <p:ph type="body" idx="100" hasCustomPrompt="1"/>
          </p:nvPr>
        </p:nvSpPr>
        <p:spPr>
          <a:xfrm>
            <a:off x="6096000" y="1333500"/>
            <a:ext cx="2590800" cy="111760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115824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74 mld. Kč</a:t>
            </a:r>
          </a:p>
          <a:p>
            <a:pPr marL="0" indent="0" algn="l">
              <a:lnSpc>
                <a:spcPts val="1600"/>
              </a:lnSpc>
              <a:spcBef>
                <a:spcPts val="133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majetku pod správou</a:t>
            </a:r>
          </a:p>
        </p:txBody>
      </p:sp>
      <p:sp>
        <p:nvSpPr>
          <p:cNvPr id="7" name="Číslo"/>
          <p:cNvSpPr>
            <a:spLocks noGrp="1"/>
          </p:cNvSpPr>
          <p:nvPr>
            <p:ph type="body" idx="101" hasCustomPrompt="1"/>
          </p:nvPr>
        </p:nvSpPr>
        <p:spPr>
          <a:xfrm>
            <a:off x="8839200" y="1333500"/>
            <a:ext cx="2590800" cy="111760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115824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340 000+</a:t>
            </a:r>
          </a:p>
          <a:p>
            <a:pPr marL="0" indent="0" algn="l">
              <a:lnSpc>
                <a:spcPts val="1600"/>
              </a:lnSpc>
              <a:spcBef>
                <a:spcPts val="133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zainvestovaných klientů</a:t>
            </a:r>
          </a:p>
        </p:txBody>
      </p:sp>
      <p:sp>
        <p:nvSpPr>
          <p:cNvPr id="8" name="Číslo"/>
          <p:cNvSpPr>
            <a:spLocks noGrp="1"/>
          </p:cNvSpPr>
          <p:nvPr>
            <p:ph type="body" idx="102" hasCustomPrompt="1"/>
          </p:nvPr>
        </p:nvSpPr>
        <p:spPr>
          <a:xfrm>
            <a:off x="6096000" y="2603500"/>
            <a:ext cx="2590800" cy="1320800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192278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10,34 % p.a</a:t>
            </a:r>
          </a:p>
          <a:p>
            <a:pPr marL="0" indent="0" algn="l">
              <a:lnSpc>
                <a:spcPts val="1600"/>
              </a:lnSpc>
              <a:spcBef>
                <a:spcPts val="133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průměrný výnos akciového portfolia za 10 let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3" hasCustomPrompt="1"/>
          </p:nvPr>
        </p:nvSpPr>
        <p:spPr>
          <a:xfrm>
            <a:off x="8839200" y="2603500"/>
            <a:ext cx="2590800" cy="1320800"/>
          </a:xfrm>
          <a:prstGeom prst="roundRect">
            <a:avLst>
              <a:gd name="adj" fmla="val 11538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192278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CZ · SK · PL</a:t>
            </a:r>
          </a:p>
          <a:p>
            <a:pPr marL="0" indent="0" algn="l">
              <a:lnSpc>
                <a:spcPts val="1600"/>
              </a:lnSpc>
              <a:spcBef>
                <a:spcPts val="133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největší robo platforma v regionu CEE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4" hasCustomPrompt="1"/>
          </p:nvPr>
        </p:nvSpPr>
        <p:spPr>
          <a:xfrm>
            <a:off x="8769350" y="4602620"/>
            <a:ext cx="1206818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Zlatá koruna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Fintech roku 2025</a:t>
            </a:r>
          </a:p>
        </p:txBody>
      </p:sp>
      <p:sp>
        <p:nvSpPr>
          <p:cNvPr id="11" name="Zdroj"/>
          <p:cNvSpPr>
            <a:spLocks noGrp="1"/>
          </p:cNvSpPr>
          <p:nvPr>
            <p:ph type="body" idx="105" hasCustomPrompt="1"/>
          </p:nvPr>
        </p:nvSpPr>
        <p:spPr>
          <a:xfrm>
            <a:off x="6096000" y="5660492"/>
            <a:ext cx="554736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Údaje k datu DD. MM. RRRR – před použitím ověřte aktuální čísla. Minulé výnosy nejsou zárukou budoucích.</a:t>
            </a:r>
          </a:p>
        </p:txBody>
      </p:sp>
      <p:pic>
        <p:nvPicPr>
          <p:cNvPr id="12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3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 – tmavý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508250"/>
            <a:ext cx="7264400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01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Název sekce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Jedna až dvě věty o tom, co v této části prezentace probereme.</a:t>
            </a:r>
          </a:p>
        </p:txBody>
      </p:sp>
      <p:pic>
        <p:nvPicPr>
          <p:cNvPr id="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 – světlý">
    <p:bg>
      <p:bgPr>
        <a:solidFill>
          <a:srgbClr val="ECE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lustrace (zamčená)" descr="dekorace"/>
          <p:cNvPicPr>
            <a:picLocks noGrp="1" noSelect="1" noChangeAspect="1" noMove="1" noResize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565900" y="0"/>
            <a:ext cx="5626100" cy="6858000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508250"/>
            <a:ext cx="5943600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02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rgbClr val="4F46D5"/>
                    </a:gs>
                    <a:gs pos="100000">
                      <a:schemeClr val="tx1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Název sekce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Jedna až dvě věty o tom, co v této části prezentace probereme.</a:t>
            </a:r>
          </a:p>
        </p:txBody>
      </p:sp>
      <p:pic>
        <p:nvPicPr>
          <p:cNvPr id="5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6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eděl – tmavý, kocou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508250"/>
            <a:ext cx="7264400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03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Název sekce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Jedna až dvě věty o tom, co v této části prezentace probereme.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 obráze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825500"/>
            <a:ext cx="11811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TÉMA SLIDU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270000"/>
            <a:ext cx="4977765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Nadpis slidu na jeden až dva řádky</a:t>
            </a:r>
          </a:p>
        </p:txBody>
      </p:sp>
      <p:sp>
        <p:nvSpPr>
          <p:cNvPr id="5" name="Perex"/>
          <p:cNvSpPr>
            <a:spLocks noGrp="1"/>
          </p:cNvSpPr>
          <p:nvPr>
            <p:ph type="body" idx="14" hasCustomPrompt="1"/>
          </p:nvPr>
        </p:nvSpPr>
        <p:spPr>
          <a:xfrm>
            <a:off x="762000" y="2378266"/>
            <a:ext cx="51511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tx1"/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Perex – hlavní myšlenka slidu v jedné nebo dvou větách.</a:t>
            </a:r>
          </a:p>
        </p:txBody>
      </p:sp>
      <p:sp>
        <p:nvSpPr>
          <p:cNvPr id="6" name="Odstavec"/>
          <p:cNvSpPr>
            <a:spLocks noGrp="1"/>
          </p:cNvSpPr>
          <p:nvPr>
            <p:ph type="body" idx="100" hasCustomPrompt="1"/>
          </p:nvPr>
        </p:nvSpPr>
        <p:spPr>
          <a:xfrm>
            <a:off x="762000" y="2796045"/>
            <a:ext cx="4977765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odstavec textu. Držte se krátkých vět a jedné myšlenky na slide. Detaily patří do poznámek řečníka, ne na plátno.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1" hasCustomPrompt="1"/>
          </p:nvPr>
        </p:nvSpPr>
        <p:spPr>
          <a:xfrm>
            <a:off x="1143000" y="33586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První výhoda nebo argument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2" hasCustomPrompt="1"/>
          </p:nvPr>
        </p:nvSpPr>
        <p:spPr>
          <a:xfrm>
            <a:off x="1143000" y="37142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Druhá výhoda nebo argument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3" hasCustomPrompt="1"/>
          </p:nvPr>
        </p:nvSpPr>
        <p:spPr>
          <a:xfrm>
            <a:off x="1143000" y="40698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Třetí výhoda nebo argument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4" hasCustomPrompt="1"/>
          </p:nvPr>
        </p:nvSpPr>
        <p:spPr>
          <a:xfrm>
            <a:off x="1143000" y="44254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Čtvrtá výhoda nebo argument</a:t>
            </a:r>
          </a:p>
        </p:txBody>
      </p:sp>
      <p:sp>
        <p:nvSpPr>
          <p:cNvPr id="11" name="Text"/>
          <p:cNvSpPr>
            <a:spLocks noGrp="1"/>
          </p:cNvSpPr>
          <p:nvPr>
            <p:ph type="body" idx="105" hasCustomPrompt="1"/>
          </p:nvPr>
        </p:nvSpPr>
        <p:spPr>
          <a:xfrm>
            <a:off x="1143000" y="47810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Pátá výhoda nebo argument</a:t>
            </a:r>
          </a:p>
        </p:txBody>
      </p:sp>
      <p:sp>
        <p:nvSpPr>
          <p:cNvPr id="12" name="Text"/>
          <p:cNvSpPr>
            <a:spLocks noGrp="1"/>
          </p:cNvSpPr>
          <p:nvPr>
            <p:ph type="body" idx="106" hasCustomPrompt="1"/>
          </p:nvPr>
        </p:nvSpPr>
        <p:spPr>
          <a:xfrm>
            <a:off x="1143000" y="5136680"/>
            <a:ext cx="47548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Šestá výhoda nebo argument</a:t>
            </a:r>
          </a:p>
        </p:txBody>
      </p:sp>
      <p:sp>
        <p:nvSpPr>
          <p:cNvPr id="13" name="Obrázek"/>
          <p:cNvSpPr>
            <a:spLocks noGrp="1"/>
          </p:cNvSpPr>
          <p:nvPr>
            <p:ph type="pic" idx="20" hasCustomPrompt="1"/>
          </p:nvPr>
        </p:nvSpPr>
        <p:spPr>
          <a:xfrm>
            <a:off x="6350000" y="762000"/>
            <a:ext cx="5080000" cy="5207000"/>
          </a:xfrm>
          <a:prstGeom prst="roundRect">
            <a:avLst>
              <a:gd name="adj" fmla="val 3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ě skupiny bodů vedle seb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8351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EXECUTIVE SUMMARY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Dvě skupiny bodů vedle sebe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 hasCustomPrompt="1"/>
          </p:nvPr>
        </p:nvSpPr>
        <p:spPr>
          <a:xfrm>
            <a:off x="762000" y="18244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6" name="Text"/>
          <p:cNvSpPr>
            <a:spLocks noGrp="1"/>
          </p:cNvSpPr>
          <p:nvPr>
            <p:ph type="body" idx="101" hasCustomPrompt="1"/>
          </p:nvPr>
        </p:nvSpPr>
        <p:spPr>
          <a:xfrm>
            <a:off x="1143000" y="18156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Klientů přibývá rychleji než loni.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Za 3. čtvrtletí +10 100 nových klientů (+18 % meziročně), tahounem je mobilní aplikace.</a:t>
            </a:r>
          </a:p>
        </p:txBody>
      </p:sp>
      <p:sp>
        <p:nvSpPr>
          <p:cNvPr id="7" name="Číslo"/>
          <p:cNvSpPr>
            <a:spLocks noGrp="1"/>
          </p:cNvSpPr>
          <p:nvPr>
            <p:ph type="body" idx="102" hasCustomPrompt="1"/>
          </p:nvPr>
        </p:nvSpPr>
        <p:spPr>
          <a:xfrm>
            <a:off x="762000" y="24467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3" hasCustomPrompt="1"/>
          </p:nvPr>
        </p:nvSpPr>
        <p:spPr>
          <a:xfrm>
            <a:off x="1143000" y="24379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DIP je nejrychleji rostoucí produkt.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Podíl DIP na nových investicích vzrostl na 31 %, průměrný vklad 2 400 Kč měsíčně.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4" hasCustomPrompt="1"/>
          </p:nvPr>
        </p:nvSpPr>
        <p:spPr>
          <a:xfrm>
            <a:off x="762000" y="30690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5" hasCustomPrompt="1"/>
          </p:nvPr>
        </p:nvSpPr>
        <p:spPr>
          <a:xfrm>
            <a:off x="1143000" y="30602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Náklady na akvizici klesají.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CAC se snížil o 12 % díky výkonnostnímu marketingu a doporučením.</a:t>
            </a:r>
          </a:p>
        </p:txBody>
      </p:sp>
      <p:sp>
        <p:nvSpPr>
          <p:cNvPr id="11" name="Číslo"/>
          <p:cNvSpPr>
            <a:spLocks noGrp="1"/>
          </p:cNvSpPr>
          <p:nvPr>
            <p:ph type="body" idx="106" hasCustomPrompt="1"/>
          </p:nvPr>
        </p:nvSpPr>
        <p:spPr>
          <a:xfrm>
            <a:off x="762000" y="36913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2" name="Text"/>
          <p:cNvSpPr>
            <a:spLocks noGrp="1"/>
          </p:cNvSpPr>
          <p:nvPr>
            <p:ph type="body" idx="107" hasCustomPrompt="1"/>
          </p:nvPr>
        </p:nvSpPr>
        <p:spPr>
          <a:xfrm>
            <a:off x="1143000" y="36825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Riziko: konkurence snižuje poplatky.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Dva velcí hráči zlevnili ETF investice, tlak na naši headline sazbu poroste.</a:t>
            </a:r>
          </a:p>
        </p:txBody>
      </p:sp>
      <p:sp>
        <p:nvSpPr>
          <p:cNvPr id="13" name="Číslo"/>
          <p:cNvSpPr>
            <a:spLocks noGrp="1"/>
          </p:cNvSpPr>
          <p:nvPr>
            <p:ph type="body" idx="108" hasCustomPrompt="1"/>
          </p:nvPr>
        </p:nvSpPr>
        <p:spPr>
          <a:xfrm>
            <a:off x="762000" y="43136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5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9" hasCustomPrompt="1"/>
          </p:nvPr>
        </p:nvSpPr>
        <p:spPr>
          <a:xfrm>
            <a:off x="1143000" y="43048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Příležitost: partnerská distribuce.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Pilot s partnerskou bankou může přinést až 20 000 klientů ročně.</a:t>
            </a:r>
          </a:p>
        </p:txBody>
      </p:sp>
      <p:sp>
        <p:nvSpPr>
          <p:cNvPr id="15" name="Číslo"/>
          <p:cNvSpPr>
            <a:spLocks noGrp="1"/>
          </p:cNvSpPr>
          <p:nvPr>
            <p:ph type="body" idx="110" hasCustomPrompt="1"/>
          </p:nvPr>
        </p:nvSpPr>
        <p:spPr>
          <a:xfrm>
            <a:off x="762000" y="4935995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6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1" hasCustomPrompt="1"/>
          </p:nvPr>
        </p:nvSpPr>
        <p:spPr>
          <a:xfrm>
            <a:off x="1143000" y="4927130"/>
            <a:ext cx="7264400" cy="46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Příležitost: partnerská distribuce.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Pilot s partnerskou bankou může přinést až 20 000 klientů ročně.</a:t>
            </a:r>
          </a:p>
        </p:txBody>
      </p:sp>
      <p:sp>
        <p:nvSpPr>
          <p:cNvPr id="17" name="Štítek"/>
          <p:cNvSpPr>
            <a:spLocks noGrp="1"/>
          </p:cNvSpPr>
          <p:nvPr>
            <p:ph type="body" idx="112" hasCustomPrompt="1"/>
          </p:nvPr>
        </p:nvSpPr>
        <p:spPr>
          <a:xfrm>
            <a:off x="8940800" y="939800"/>
            <a:ext cx="2271776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DOPORUČUJEME</a:t>
            </a:r>
          </a:p>
        </p:txBody>
      </p:sp>
      <p:sp>
        <p:nvSpPr>
          <p:cNvPr id="18" name="Doporučení"/>
          <p:cNvSpPr>
            <a:spLocks noGrp="1"/>
          </p:cNvSpPr>
          <p:nvPr>
            <p:ph type="body" idx="113" hasCustomPrompt="1"/>
          </p:nvPr>
        </p:nvSpPr>
        <p:spPr>
          <a:xfrm>
            <a:off x="8940800" y="1202195"/>
            <a:ext cx="2195322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Navýšit rozpočet na kampaň DIP o 20 %</a:t>
            </a:r>
          </a:p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Spustit pilot s partnerskou bankou v Q1</a:t>
            </a:r>
          </a:p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Připravit revizi ceníku do konce roku</a:t>
            </a:r>
          </a:p>
        </p:txBody>
      </p:sp>
      <p:sp>
        <p:nvSpPr>
          <p:cNvPr id="19" name="Rozhodnutí"/>
          <p:cNvSpPr>
            <a:spLocks noGrp="1"/>
          </p:cNvSpPr>
          <p:nvPr>
            <p:ph type="body" idx="114" hasCustomPrompt="1"/>
          </p:nvPr>
        </p:nvSpPr>
        <p:spPr>
          <a:xfrm>
            <a:off x="8940800" y="2451100"/>
            <a:ext cx="2271776" cy="577850"/>
          </a:xfrm>
          <a:prstGeom prst="rect">
            <a:avLst/>
          </a:prstGeom>
          <a:noFill/>
          <a:ln>
            <a:noFill/>
          </a:ln>
        </p:spPr>
        <p:txBody>
          <a:bodyPr wrap="square" lIns="0" tIns="116942" rIns="0" bIns="0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Rozhodnutí potřebujeme do</a:t>
            </a:r>
          </a:p>
          <a:p>
            <a:pPr marL="0" indent="0" algn="l">
              <a:lnSpc>
                <a:spcPts val="2100"/>
              </a:lnSpc>
              <a:spcBef>
                <a:spcPts val="33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DD. MM. RRRR</a:t>
            </a:r>
          </a:p>
        </p:txBody>
      </p:sp>
      <p:sp>
        <p:nvSpPr>
          <p:cNvPr id="20" name="Zdroj"/>
          <p:cNvSpPr>
            <a:spLocks noGrp="1"/>
          </p:cNvSpPr>
          <p:nvPr>
            <p:ph type="body" idx="115" hasCustomPrompt="1"/>
          </p:nvPr>
        </p:nvSpPr>
        <p:spPr>
          <a:xfrm>
            <a:off x="762000" y="5831942"/>
            <a:ext cx="766064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 – nahraďte skutečnými čísly a uveďte zdroj.</a:t>
            </a:r>
          </a:p>
        </p:txBody>
      </p:sp>
      <p:pic>
        <p:nvPicPr>
          <p:cNvPr id="2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rnutí podle oblastí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8351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EXECUTIVE SUMMARY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Shrnutí podle oblastí</a:t>
            </a:r>
          </a:p>
        </p:txBody>
      </p:sp>
      <p:sp>
        <p:nvSpPr>
          <p:cNvPr id="5" name="Tabulka"/>
          <p:cNvSpPr>
            <a:spLocks noGrp="1"/>
          </p:cNvSpPr>
          <p:nvPr>
            <p:ph type="tbl" idx="100" hasCustomPrompt="1"/>
          </p:nvPr>
        </p:nvSpPr>
        <p:spPr>
          <a:xfrm>
            <a:off x="762000" y="1752600"/>
            <a:ext cx="10668000" cy="408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tabulku</a:t>
            </a:r>
          </a:p>
        </p:txBody>
      </p:sp>
      <p:sp>
        <p:nvSpPr>
          <p:cNvPr id="6" name="Zdroj"/>
          <p:cNvSpPr>
            <a:spLocks noGrp="1"/>
          </p:cNvSpPr>
          <p:nvPr>
            <p:ph type="body" idx="101" hasCustomPrompt="1"/>
          </p:nvPr>
        </p:nvSpPr>
        <p:spPr>
          <a:xfrm>
            <a:off x="762000" y="598434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 – nahraďte skutečnými čísly a uveďte zdroj.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dyž je potřeba víc vysvětli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130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PODROBNĚ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Když je potřeba víc vysvětlit</a:t>
            </a:r>
          </a:p>
        </p:txBody>
      </p:sp>
      <p:sp>
        <p:nvSpPr>
          <p:cNvPr id="5" name="Odstavec – Výchozí situace"/>
          <p:cNvSpPr>
            <a:spLocks noGrp="1"/>
          </p:cNvSpPr>
          <p:nvPr>
            <p:ph type="body" idx="100" hasCustomPrompt="1"/>
          </p:nvPr>
        </p:nvSpPr>
        <p:spPr>
          <a:xfrm>
            <a:off x="762000" y="1748295"/>
            <a:ext cx="3586543" cy="1282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Výchozí situace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Portu dnes spravuje majetek stovek tisíc klientů. Většina z nich investuje pravidelně a dlouhodobě, ale roste i skupina, která chce mít část peněz dostupnou během několika let. Pro ně hledáme řešení, které spojí rozumné zhodnocení s dobrou likviditou.</a:t>
            </a:r>
          </a:p>
        </p:txBody>
      </p:sp>
      <p:sp>
        <p:nvSpPr>
          <p:cNvPr id="6" name="Odstavec – Co jsme zjistili"/>
          <p:cNvSpPr>
            <a:spLocks noGrp="1"/>
          </p:cNvSpPr>
          <p:nvPr>
            <p:ph type="body" idx="101" hasCustomPrompt="1"/>
          </p:nvPr>
        </p:nvSpPr>
        <p:spPr>
          <a:xfrm>
            <a:off x="762000" y="3234195"/>
            <a:ext cx="3586543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jsme zjistili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 rozhovorů s klienty vyplývá, že nejčastěji srovnávají investice se spořicím účtem. Rozhoduje pro ně jednoduchost, jistota a to, jak rychle se k penězům dostanou. Výnos je až na třetím místě.</a:t>
            </a:r>
          </a:p>
        </p:txBody>
      </p:sp>
      <p:sp>
        <p:nvSpPr>
          <p:cNvPr id="7" name="Odstavec – Rizika"/>
          <p:cNvSpPr>
            <a:spLocks noGrp="1"/>
          </p:cNvSpPr>
          <p:nvPr>
            <p:ph type="body" idx="102" hasCustomPrompt="1"/>
          </p:nvPr>
        </p:nvSpPr>
        <p:spPr>
          <a:xfrm>
            <a:off x="762000" y="4516895"/>
            <a:ext cx="3586543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Rizika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Hlavním rizikem je, že klienti zamění krátkodobé výkyvy za skutečné riziko a investici předčasně ukončí. Proto chceme horizont komunikovat hned na začátku a připomínat ho i v aplikaci.</a:t>
            </a:r>
          </a:p>
        </p:txBody>
      </p:sp>
      <p:sp>
        <p:nvSpPr>
          <p:cNvPr id="8" name="Odstavec – Navrhované řešení"/>
          <p:cNvSpPr>
            <a:spLocks noGrp="1"/>
          </p:cNvSpPr>
          <p:nvPr>
            <p:ph type="body" idx="103" hasCustomPrompt="1"/>
          </p:nvPr>
        </p:nvSpPr>
        <p:spPr>
          <a:xfrm>
            <a:off x="4686300" y="1748295"/>
            <a:ext cx="3586543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Navrhované řešení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Doporučujeme komunikovat produkty podle investičního horizontu, ne podle typu aktiva. Klient si zvolí, kdy bude peníze potřebovat, a my mu nabídneme vhodnou kombinaci rezervy, dluhopisů a akcií.</a:t>
            </a:r>
          </a:p>
        </p:txBody>
      </p:sp>
      <p:sp>
        <p:nvSpPr>
          <p:cNvPr id="9" name="Odstavec – Další kroky"/>
          <p:cNvSpPr>
            <a:spLocks noGrp="1"/>
          </p:cNvSpPr>
          <p:nvPr>
            <p:ph type="body" idx="104" hasCustomPrompt="1"/>
          </p:nvPr>
        </p:nvSpPr>
        <p:spPr>
          <a:xfrm>
            <a:off x="4686300" y="3030995"/>
            <a:ext cx="3586543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Další kroky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 konce kvartálu připravíme úpravu webu a registrační cesty, otestujeme nové texty na vybraném vzorku klientů a výsledky vyhodnotíme společně s produktovým týmem.</a:t>
            </a:r>
          </a:p>
        </p:txBody>
      </p:sp>
      <p:sp>
        <p:nvSpPr>
          <p:cNvPr id="10" name="Odstavec – Co od vás potřebujeme"/>
          <p:cNvSpPr>
            <a:spLocks noGrp="1"/>
          </p:cNvSpPr>
          <p:nvPr>
            <p:ph type="body" idx="105" hasCustomPrompt="1"/>
          </p:nvPr>
        </p:nvSpPr>
        <p:spPr>
          <a:xfrm>
            <a:off x="4686300" y="4313695"/>
            <a:ext cx="3586543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od vás potřebujeme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Zpětnou vazbu na navržené texty do konce měsíce, kapacitu vývoje na úpravu registrace a souhlas compliance s novou podobou produktových stránek.</a:t>
            </a:r>
          </a:p>
        </p:txBody>
      </p:sp>
      <p:sp>
        <p:nvSpPr>
          <p:cNvPr id="11" name="Štítek"/>
          <p:cNvSpPr>
            <a:spLocks noGrp="1"/>
          </p:cNvSpPr>
          <p:nvPr>
            <p:ph type="body" idx="106" hasCustomPrompt="1"/>
          </p:nvPr>
        </p:nvSpPr>
        <p:spPr>
          <a:xfrm>
            <a:off x="8940800" y="939800"/>
            <a:ext cx="2271776" cy="1651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VE ZKRATCE</a:t>
            </a:r>
          </a:p>
        </p:txBody>
      </p:sp>
      <p:sp>
        <p:nvSpPr>
          <p:cNvPr id="12" name="Číslo"/>
          <p:cNvSpPr>
            <a:spLocks noGrp="1"/>
          </p:cNvSpPr>
          <p:nvPr>
            <p:ph type="body" idx="107" hasCustomPrompt="1"/>
          </p:nvPr>
        </p:nvSpPr>
        <p:spPr>
          <a:xfrm>
            <a:off x="8940800" y="12275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8" hasCustomPrompt="1"/>
          </p:nvPr>
        </p:nvSpPr>
        <p:spPr>
          <a:xfrm>
            <a:off x="9124950" y="1227595"/>
            <a:ext cx="2010251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Klienti srovnávají se spořicím účtem</a:t>
            </a:r>
          </a:p>
        </p:txBody>
      </p:sp>
      <p:sp>
        <p:nvSpPr>
          <p:cNvPr id="14" name="Číslo"/>
          <p:cNvSpPr>
            <a:spLocks noGrp="1"/>
          </p:cNvSpPr>
          <p:nvPr>
            <p:ph type="body" idx="109" hasCustomPrompt="1"/>
          </p:nvPr>
        </p:nvSpPr>
        <p:spPr>
          <a:xfrm>
            <a:off x="8940800" y="17355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10" hasCustomPrompt="1"/>
          </p:nvPr>
        </p:nvSpPr>
        <p:spPr>
          <a:xfrm>
            <a:off x="9124950" y="1735595"/>
            <a:ext cx="2010251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Rozhoduje jednoduchost a likvidita</a:t>
            </a:r>
          </a:p>
        </p:txBody>
      </p:sp>
      <p:sp>
        <p:nvSpPr>
          <p:cNvPr id="16" name="Číslo"/>
          <p:cNvSpPr>
            <a:spLocks noGrp="1"/>
          </p:cNvSpPr>
          <p:nvPr>
            <p:ph type="body" idx="111" hasCustomPrompt="1"/>
          </p:nvPr>
        </p:nvSpPr>
        <p:spPr>
          <a:xfrm>
            <a:off x="8940800" y="22435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7" name="Text"/>
          <p:cNvSpPr>
            <a:spLocks noGrp="1"/>
          </p:cNvSpPr>
          <p:nvPr>
            <p:ph type="body" idx="112" hasCustomPrompt="1"/>
          </p:nvPr>
        </p:nvSpPr>
        <p:spPr>
          <a:xfrm>
            <a:off x="9124950" y="2243595"/>
            <a:ext cx="2010251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Nabídku stavíme podle horizontu</a:t>
            </a:r>
          </a:p>
        </p:txBody>
      </p:sp>
      <p:sp>
        <p:nvSpPr>
          <p:cNvPr id="18" name="Číslo"/>
          <p:cNvSpPr>
            <a:spLocks noGrp="1"/>
          </p:cNvSpPr>
          <p:nvPr>
            <p:ph type="body" idx="113" hasCustomPrompt="1"/>
          </p:nvPr>
        </p:nvSpPr>
        <p:spPr>
          <a:xfrm>
            <a:off x="8940800" y="2751595"/>
            <a:ext cx="9525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9" name="Text"/>
          <p:cNvSpPr>
            <a:spLocks noGrp="1"/>
          </p:cNvSpPr>
          <p:nvPr>
            <p:ph type="body" idx="114" hasCustomPrompt="1"/>
          </p:nvPr>
        </p:nvSpPr>
        <p:spPr>
          <a:xfrm>
            <a:off x="9124950" y="2751595"/>
            <a:ext cx="2010251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Výsledky testu do konce kvartálu</a:t>
            </a:r>
          </a:p>
        </p:txBody>
      </p:sp>
      <p:sp>
        <p:nvSpPr>
          <p:cNvPr id="20" name="Zdroj"/>
          <p:cNvSpPr>
            <a:spLocks noGrp="1"/>
          </p:cNvSpPr>
          <p:nvPr>
            <p:ph type="body" idx="115" hasCustomPrompt="1"/>
          </p:nvPr>
        </p:nvSpPr>
        <p:spPr>
          <a:xfrm>
            <a:off x="762000" y="5692242"/>
            <a:ext cx="7792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Zdroj: interní data Portu, klientský výzkum (MM/RRRR). Detailní čísla najdete v příloze. Více na </a:t>
            </a:r>
            <a:r>
              <a:rPr lang="cs-CZ" sz="800" b="0" u="sng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  <a:hlinkClick r:id="rId2"/>
              </a:rPr>
              <a:t>portu.cz</a:t>
            </a:r>
            <a:endParaRPr lang="cs-CZ" sz="800" b="0" kern="0" cap="none" spc="0" dirty="0">
              <a:solidFill>
                <a:schemeClr val="accent6"/>
              </a:solidFill>
              <a:latin typeface="Rethink Sans"/>
              <a:ea typeface="Rethink Sans"/>
              <a:cs typeface="Rethink Sans"/>
            </a:endParaRPr>
          </a:p>
        </p:txBody>
      </p:sp>
      <p:pic>
        <p:nvPicPr>
          <p:cNvPr id="2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dyž je potřeba víc vysvětlit (2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130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PODROBNĚ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Když je potřeba víc vysvětlit</a:t>
            </a:r>
          </a:p>
        </p:txBody>
      </p:sp>
      <p:sp>
        <p:nvSpPr>
          <p:cNvPr id="5" name="Odrážky"/>
          <p:cNvSpPr>
            <a:spLocks noGrp="1"/>
          </p:cNvSpPr>
          <p:nvPr>
            <p:ph type="body" idx="100" hasCustomPrompt="1"/>
          </p:nvPr>
        </p:nvSpPr>
        <p:spPr>
          <a:xfrm>
            <a:off x="762000" y="1790230"/>
            <a:ext cx="5009674" cy="337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První hlavní bod – jedna myšlenka na jeden řádek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Druhý hlavní bod, klidně o něco delší, když je potřeba něco vysvětlit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Třetí hlavní bod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Čtvrtý hlavní bod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 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 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</p:txBody>
      </p:sp>
      <p:sp>
        <p:nvSpPr>
          <p:cNvPr id="6" name="Odrážky"/>
          <p:cNvSpPr>
            <a:spLocks noGrp="1"/>
          </p:cNvSpPr>
          <p:nvPr>
            <p:ph type="body" idx="101" hasCustomPrompt="1"/>
          </p:nvPr>
        </p:nvSpPr>
        <p:spPr>
          <a:xfrm>
            <a:off x="6254750" y="1790230"/>
            <a:ext cx="5009674" cy="337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První hlavní bod – jedna myšlenka na jeden řádek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Druhý hlavní bod, klidně o něco delší, když je potřeba něco vysvětlit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Třetí hlavní bod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Čtvrtý hlavní bod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 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 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Pátý hlavní bod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Doplňující detail k druhému bodu (Tab = odsazení)</a:t>
            </a:r>
          </a:p>
          <a:p>
            <a:pPr marL="412750" lvl="1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detail ke stejnému bodu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tyři skupiny bodů v mřížc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1811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TÉMA SLIDU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792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Čtyři skupiny bodů v mřížce</a:t>
            </a:r>
          </a:p>
        </p:txBody>
      </p:sp>
      <p:sp>
        <p:nvSpPr>
          <p:cNvPr id="5" name="Sloupec – Co funguje"/>
          <p:cNvSpPr>
            <a:spLocks noGrp="1"/>
          </p:cNvSpPr>
          <p:nvPr>
            <p:ph type="body" idx="100" hasCustomPrompt="1"/>
          </p:nvPr>
        </p:nvSpPr>
        <p:spPr>
          <a:xfrm>
            <a:off x="762000" y="1689100"/>
            <a:ext cx="510540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Co funguje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Klienti oceňují jednoduchost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Rostoucí počet pravidelných vkladů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Silná pozice v mobilní aplikaci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Nízká míra odchodů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Dobré hodnocení na storech</a:t>
            </a:r>
          </a:p>
        </p:txBody>
      </p:sp>
      <p:sp>
        <p:nvSpPr>
          <p:cNvPr id="6" name="Sloupec – Co zlepšit"/>
          <p:cNvSpPr>
            <a:spLocks noGrp="1"/>
          </p:cNvSpPr>
          <p:nvPr>
            <p:ph type="body" idx="101" hasCustomPrompt="1"/>
          </p:nvPr>
        </p:nvSpPr>
        <p:spPr>
          <a:xfrm>
            <a:off x="6350000" y="1689100"/>
            <a:ext cx="5105400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Co zlepšit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Delší registrace u nových klientů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Nízké povědomí o DIP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Komunikace poplatků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Onboarding firemních klientů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Propojení s partnery</a:t>
            </a:r>
          </a:p>
        </p:txBody>
      </p:sp>
      <p:sp>
        <p:nvSpPr>
          <p:cNvPr id="7" name="Sloupec – Příležitosti"/>
          <p:cNvSpPr>
            <a:spLocks noGrp="1"/>
          </p:cNvSpPr>
          <p:nvPr>
            <p:ph type="body" idx="102" hasCustomPrompt="1"/>
          </p:nvPr>
        </p:nvSpPr>
        <p:spPr>
          <a:xfrm>
            <a:off x="762000" y="3695700"/>
            <a:ext cx="5105400" cy="13589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Příležitosti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Firemní klienti a zaměstnanecké benefity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Spolupráce s bankami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Nové investiční strategie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Vzdělávací obsah</a:t>
            </a:r>
          </a:p>
        </p:txBody>
      </p:sp>
      <p:sp>
        <p:nvSpPr>
          <p:cNvPr id="8" name="Sloupec – Rizika"/>
          <p:cNvSpPr>
            <a:spLocks noGrp="1"/>
          </p:cNvSpPr>
          <p:nvPr>
            <p:ph type="body" idx="103" hasCustomPrompt="1"/>
          </p:nvPr>
        </p:nvSpPr>
        <p:spPr>
          <a:xfrm>
            <a:off x="6350000" y="3695700"/>
            <a:ext cx="5105400" cy="13589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Rizika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Volatilita trhů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Regulatorní změny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Tlak konkurence na poplatky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Závislost na partnerech</a:t>
            </a:r>
          </a:p>
        </p:txBody>
      </p:sp>
      <p:pic>
        <p:nvPicPr>
          <p:cNvPr id="9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0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ě varianty vedle seb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5556250" y="635000"/>
            <a:ext cx="10795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SROVNÁNÍ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54864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Dvě varianty vedle sebe</a:t>
            </a:r>
          </a:p>
        </p:txBody>
      </p:sp>
      <p:sp>
        <p:nvSpPr>
          <p:cNvPr id="5" name="Nadpis karty"/>
          <p:cNvSpPr>
            <a:spLocks noGrp="1"/>
          </p:cNvSpPr>
          <p:nvPr>
            <p:ph type="body" idx="100" hasCustomPrompt="1"/>
          </p:nvPr>
        </p:nvSpPr>
        <p:spPr>
          <a:xfrm>
            <a:off x="1066800" y="2199145"/>
            <a:ext cx="4807712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Pro většinu z vás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Varianta A</a:t>
            </a:r>
          </a:p>
        </p:txBody>
      </p:sp>
      <p:sp>
        <p:nvSpPr>
          <p:cNvPr id="6" name="Popis"/>
          <p:cNvSpPr>
            <a:spLocks noGrp="1"/>
          </p:cNvSpPr>
          <p:nvPr>
            <p:ph type="body" idx="101" hasCustomPrompt="1"/>
          </p:nvPr>
        </p:nvSpPr>
        <p:spPr>
          <a:xfrm>
            <a:off x="1066800" y="2973845"/>
            <a:ext cx="480771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Krátký popis varianty – pro koho je a proč ji zvolit.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2" hasCustomPrompt="1"/>
          </p:nvPr>
        </p:nvSpPr>
        <p:spPr>
          <a:xfrm>
            <a:off x="1447800" y="33332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První výhoda varianty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3" hasCustomPrompt="1"/>
          </p:nvPr>
        </p:nvSpPr>
        <p:spPr>
          <a:xfrm>
            <a:off x="1447800" y="36888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Druhá výhoda varianty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4" hasCustomPrompt="1"/>
          </p:nvPr>
        </p:nvSpPr>
        <p:spPr>
          <a:xfrm>
            <a:off x="1447800" y="40444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Třetí výhoda varianty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5" hasCustomPrompt="1"/>
          </p:nvPr>
        </p:nvSpPr>
        <p:spPr>
          <a:xfrm>
            <a:off x="1447800" y="44000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Čtvrtá výhoda varianty</a:t>
            </a:r>
          </a:p>
        </p:txBody>
      </p:sp>
      <p:sp>
        <p:nvSpPr>
          <p:cNvPr id="11" name="Nadpis karty"/>
          <p:cNvSpPr>
            <a:spLocks noGrp="1"/>
          </p:cNvSpPr>
          <p:nvPr>
            <p:ph type="body" idx="106" hasCustomPrompt="1"/>
          </p:nvPr>
        </p:nvSpPr>
        <p:spPr>
          <a:xfrm>
            <a:off x="6515100" y="2211845"/>
            <a:ext cx="4781296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 zkušenější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Varianta B</a:t>
            </a:r>
          </a:p>
        </p:txBody>
      </p:sp>
      <p:sp>
        <p:nvSpPr>
          <p:cNvPr id="12" name="Popis"/>
          <p:cNvSpPr>
            <a:spLocks noGrp="1"/>
          </p:cNvSpPr>
          <p:nvPr>
            <p:ph type="body" idx="107" hasCustomPrompt="1"/>
          </p:nvPr>
        </p:nvSpPr>
        <p:spPr>
          <a:xfrm>
            <a:off x="6515100" y="2986545"/>
            <a:ext cx="4781296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Krátký popis varianty – pro koho je a proč ji zvolit.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8" hasCustomPrompt="1"/>
          </p:nvPr>
        </p:nvSpPr>
        <p:spPr>
          <a:xfrm>
            <a:off x="6896100" y="33459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První výhoda varianty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9" hasCustomPrompt="1"/>
          </p:nvPr>
        </p:nvSpPr>
        <p:spPr>
          <a:xfrm>
            <a:off x="6896100" y="37015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Druhá výhoda varianty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10" hasCustomPrompt="1"/>
          </p:nvPr>
        </p:nvSpPr>
        <p:spPr>
          <a:xfrm>
            <a:off x="6896100" y="40571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Třetí výhoda varianty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1" hasCustomPrompt="1"/>
          </p:nvPr>
        </p:nvSpPr>
        <p:spPr>
          <a:xfrm>
            <a:off x="6896100" y="44127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Čtvrtá výhoda varianty</a:t>
            </a:r>
          </a:p>
        </p:txBody>
      </p:sp>
      <p:pic>
        <p:nvPicPr>
          <p:cNvPr id="1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arianta A, nebo varianta B?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5556250" y="635000"/>
            <a:ext cx="10795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SROVNÁNÍ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54864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Varianta A, nebo varianta B?</a:t>
            </a:r>
          </a:p>
        </p:txBody>
      </p:sp>
      <p:sp>
        <p:nvSpPr>
          <p:cNvPr id="5" name="Obrázek – Varianta A"/>
          <p:cNvSpPr>
            <a:spLocks noGrp="1"/>
          </p:cNvSpPr>
          <p:nvPr>
            <p:ph type="pic" idx="20" hasCustomPrompt="1"/>
          </p:nvPr>
        </p:nvSpPr>
        <p:spPr>
          <a:xfrm>
            <a:off x="762000" y="1905000"/>
            <a:ext cx="5181600" cy="3048000"/>
          </a:xfrm>
          <a:prstGeom prst="roundRect">
            <a:avLst>
              <a:gd name="adj" fmla="val 5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6" name="Štítek"/>
          <p:cNvSpPr>
            <a:spLocks noGrp="1"/>
          </p:cNvSpPr>
          <p:nvPr>
            <p:ph type="body" idx="100" hasCustomPrompt="1"/>
          </p:nvPr>
        </p:nvSpPr>
        <p:spPr>
          <a:xfrm>
            <a:off x="762000" y="5080000"/>
            <a:ext cx="469900" cy="2921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A</a:t>
            </a:r>
          </a:p>
        </p:txBody>
      </p:sp>
      <p:sp>
        <p:nvSpPr>
          <p:cNvPr id="7" name="Název varianty"/>
          <p:cNvSpPr>
            <a:spLocks noGrp="1"/>
          </p:cNvSpPr>
          <p:nvPr>
            <p:ph type="body" idx="101" hasCustomPrompt="1"/>
          </p:nvPr>
        </p:nvSpPr>
        <p:spPr>
          <a:xfrm>
            <a:off x="1231900" y="5092700"/>
            <a:ext cx="1040130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Varianta A</a:t>
            </a:r>
          </a:p>
        </p:txBody>
      </p:sp>
      <p:sp>
        <p:nvSpPr>
          <p:cNvPr id="8" name="Popis"/>
          <p:cNvSpPr>
            <a:spLocks noGrp="1"/>
          </p:cNvSpPr>
          <p:nvPr>
            <p:ph type="body" idx="102" hasCustomPrompt="1"/>
          </p:nvPr>
        </p:nvSpPr>
        <p:spPr>
          <a:xfrm>
            <a:off x="762000" y="5412245"/>
            <a:ext cx="5388864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Krátký popis první varianty – co je na obrázku a v čem je jiná.</a:t>
            </a:r>
          </a:p>
        </p:txBody>
      </p:sp>
      <p:sp>
        <p:nvSpPr>
          <p:cNvPr id="9" name="Obrázek – Varianta B"/>
          <p:cNvSpPr>
            <a:spLocks noGrp="1"/>
          </p:cNvSpPr>
          <p:nvPr>
            <p:ph type="pic" idx="21" hasCustomPrompt="1"/>
          </p:nvPr>
        </p:nvSpPr>
        <p:spPr>
          <a:xfrm>
            <a:off x="6248400" y="1905000"/>
            <a:ext cx="5181600" cy="3048000"/>
          </a:xfrm>
          <a:prstGeom prst="roundRect">
            <a:avLst>
              <a:gd name="adj" fmla="val 5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10" name="Štítek"/>
          <p:cNvSpPr>
            <a:spLocks noGrp="1"/>
          </p:cNvSpPr>
          <p:nvPr>
            <p:ph type="body" idx="103" hasCustomPrompt="1"/>
          </p:nvPr>
        </p:nvSpPr>
        <p:spPr>
          <a:xfrm>
            <a:off x="6248400" y="5080000"/>
            <a:ext cx="4635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B</a:t>
            </a:r>
          </a:p>
        </p:txBody>
      </p:sp>
      <p:sp>
        <p:nvSpPr>
          <p:cNvPr id="11" name="Název varianty"/>
          <p:cNvSpPr>
            <a:spLocks noGrp="1"/>
          </p:cNvSpPr>
          <p:nvPr>
            <p:ph type="body" idx="104" hasCustomPrompt="1"/>
          </p:nvPr>
        </p:nvSpPr>
        <p:spPr>
          <a:xfrm>
            <a:off x="6711950" y="5092700"/>
            <a:ext cx="1026795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Varianta B</a:t>
            </a:r>
          </a:p>
        </p:txBody>
      </p:sp>
      <p:sp>
        <p:nvSpPr>
          <p:cNvPr id="12" name="Popis"/>
          <p:cNvSpPr>
            <a:spLocks noGrp="1"/>
          </p:cNvSpPr>
          <p:nvPr>
            <p:ph type="body" idx="105" hasCustomPrompt="1"/>
          </p:nvPr>
        </p:nvSpPr>
        <p:spPr>
          <a:xfrm>
            <a:off x="6248400" y="5412245"/>
            <a:ext cx="5388864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Krátký popis druhé varianty – co je na obrázku a v čem je jiná.</a:t>
            </a:r>
          </a:p>
        </p:txBody>
      </p:sp>
      <p:sp>
        <p:nvSpPr>
          <p:cNvPr id="13" name="VS"/>
          <p:cNvSpPr>
            <a:spLocks noGrp="1"/>
          </p:cNvSpPr>
          <p:nvPr>
            <p:ph type="body" idx="106" hasCustomPrompt="1"/>
          </p:nvPr>
        </p:nvSpPr>
        <p:spPr>
          <a:xfrm>
            <a:off x="5842000" y="3170695"/>
            <a:ext cx="508000" cy="5080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50800">
            <a:solidFill>
              <a:schemeClr val="bg1"/>
            </a:solidFill>
            <a:round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vs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ři karty vedle seb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5049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NAŠE PRODUKTY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Tři karty vedle sebe</a:t>
            </a:r>
          </a:p>
        </p:txBody>
      </p:sp>
      <p:sp>
        <p:nvSpPr>
          <p:cNvPr id="5" name="Nadtitulek"/>
          <p:cNvSpPr>
            <a:spLocks noGrp="1"/>
          </p:cNvSpPr>
          <p:nvPr>
            <p:ph type="body" idx="100" hasCustomPrompt="1"/>
          </p:nvPr>
        </p:nvSpPr>
        <p:spPr>
          <a:xfrm>
            <a:off x="1079500" y="2656345"/>
            <a:ext cx="28925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První volba klientů</a:t>
            </a:r>
          </a:p>
        </p:txBody>
      </p:sp>
      <p:sp>
        <p:nvSpPr>
          <p:cNvPr id="6" name="Název"/>
          <p:cNvSpPr>
            <a:spLocks noGrp="1"/>
          </p:cNvSpPr>
          <p:nvPr>
            <p:ph type="body" idx="101" hasCustomPrompt="1"/>
          </p:nvPr>
        </p:nvSpPr>
        <p:spPr>
          <a:xfrm>
            <a:off x="1079500" y="2946400"/>
            <a:ext cx="2892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Portfolio od Portu</a:t>
            </a:r>
          </a:p>
        </p:txBody>
      </p:sp>
      <p:sp>
        <p:nvSpPr>
          <p:cNvPr id="7" name="Popis"/>
          <p:cNvSpPr>
            <a:spLocks noGrp="1"/>
          </p:cNvSpPr>
          <p:nvPr>
            <p:ph type="body" idx="102" hasCustomPrompt="1"/>
          </p:nvPr>
        </p:nvSpPr>
        <p:spPr>
          <a:xfrm>
            <a:off x="1079500" y="3456445"/>
            <a:ext cx="2795206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Portfolio vám poskládáme a hlídáme automaticky – vy jen zvolíte cíl a toleranci k riziku.</a:t>
            </a:r>
          </a:p>
        </p:txBody>
      </p:sp>
      <p:sp>
        <p:nvSpPr>
          <p:cNvPr id="8" name="Nadtitulek"/>
          <p:cNvSpPr>
            <a:spLocks noGrp="1"/>
          </p:cNvSpPr>
          <p:nvPr>
            <p:ph type="body" idx="103" hasCustomPrompt="1"/>
          </p:nvPr>
        </p:nvSpPr>
        <p:spPr>
          <a:xfrm>
            <a:off x="4699000" y="2656345"/>
            <a:ext cx="28925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Finanční polštář</a:t>
            </a:r>
          </a:p>
        </p:txBody>
      </p:sp>
      <p:sp>
        <p:nvSpPr>
          <p:cNvPr id="9" name="Název"/>
          <p:cNvSpPr>
            <a:spLocks noGrp="1"/>
          </p:cNvSpPr>
          <p:nvPr>
            <p:ph type="body" idx="104" hasCustomPrompt="1"/>
          </p:nvPr>
        </p:nvSpPr>
        <p:spPr>
          <a:xfrm>
            <a:off x="4699000" y="2946400"/>
            <a:ext cx="2892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Investiční rezerva</a:t>
            </a:r>
          </a:p>
        </p:txBody>
      </p:sp>
      <p:sp>
        <p:nvSpPr>
          <p:cNvPr id="10" name="Popis"/>
          <p:cNvSpPr>
            <a:spLocks noGrp="1"/>
          </p:cNvSpPr>
          <p:nvPr>
            <p:ph type="body" idx="105" hasCustomPrompt="1"/>
          </p:nvPr>
        </p:nvSpPr>
        <p:spPr>
          <a:xfrm>
            <a:off x="4699000" y="3456445"/>
            <a:ext cx="2795206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Alternativa spořicího účtu. Peníze se zhodnocují a máte je kdykoli k dispozici.</a:t>
            </a:r>
          </a:p>
        </p:txBody>
      </p:sp>
      <p:sp>
        <p:nvSpPr>
          <p:cNvPr id="11" name="Nadtitulek"/>
          <p:cNvSpPr>
            <a:spLocks noGrp="1"/>
          </p:cNvSpPr>
          <p:nvPr>
            <p:ph type="body" idx="106" hasCustomPrompt="1"/>
          </p:nvPr>
        </p:nvSpPr>
        <p:spPr>
          <a:xfrm>
            <a:off x="8318500" y="2656345"/>
            <a:ext cx="28925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Stabilní nemovitosti</a:t>
            </a:r>
          </a:p>
        </p:txBody>
      </p:sp>
      <p:sp>
        <p:nvSpPr>
          <p:cNvPr id="12" name="Název"/>
          <p:cNvSpPr>
            <a:spLocks noGrp="1"/>
          </p:cNvSpPr>
          <p:nvPr>
            <p:ph type="body" idx="107" hasCustomPrompt="1"/>
          </p:nvPr>
        </p:nvSpPr>
        <p:spPr>
          <a:xfrm>
            <a:off x="8318500" y="2946400"/>
            <a:ext cx="2892552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Investice do realit</a:t>
            </a:r>
          </a:p>
        </p:txBody>
      </p:sp>
      <p:sp>
        <p:nvSpPr>
          <p:cNvPr id="13" name="Popis"/>
          <p:cNvSpPr>
            <a:spLocks noGrp="1"/>
          </p:cNvSpPr>
          <p:nvPr>
            <p:ph type="body" idx="108" hasCustomPrompt="1"/>
          </p:nvPr>
        </p:nvSpPr>
        <p:spPr>
          <a:xfrm>
            <a:off x="8318500" y="3456445"/>
            <a:ext cx="2795206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Podílejte se na nájmu z nemovitostí bez starostí o nájemníky a správu budov.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líčová čísla na jednom místě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58750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PORTU V ČÍSLECH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Klíčová čísla na jednom místě</a:t>
            </a:r>
          </a:p>
        </p:txBody>
      </p:sp>
      <p:sp>
        <p:nvSpPr>
          <p:cNvPr id="5" name="Číslo 1"/>
          <p:cNvSpPr>
            <a:spLocks noGrp="1"/>
          </p:cNvSpPr>
          <p:nvPr>
            <p:ph type="body" idx="100" hasCustomPrompt="1"/>
          </p:nvPr>
        </p:nvSpPr>
        <p:spPr>
          <a:xfrm>
            <a:off x="762000" y="2857500"/>
            <a:ext cx="3447288" cy="1054100"/>
          </a:xfrm>
          <a:prstGeom prst="rect">
            <a:avLst/>
          </a:prstGeom>
          <a:noFill/>
          <a:ln>
            <a:noFill/>
          </a:ln>
        </p:spPr>
        <p:txBody>
          <a:bodyPr wrap="square" lIns="0" tIns="142850" rIns="304800" bIns="5080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340 000+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klientů svěřilo Portu své peníze</a:t>
            </a:r>
          </a:p>
        </p:txBody>
      </p:sp>
      <p:sp>
        <p:nvSpPr>
          <p:cNvPr id="6" name="Číslo 2"/>
          <p:cNvSpPr>
            <a:spLocks noGrp="1"/>
          </p:cNvSpPr>
          <p:nvPr>
            <p:ph type="body" idx="101" hasCustomPrompt="1"/>
          </p:nvPr>
        </p:nvSpPr>
        <p:spPr>
          <a:xfrm>
            <a:off x="4076700" y="2857500"/>
            <a:ext cx="3823716" cy="1054100"/>
          </a:xfrm>
          <a:prstGeom prst="rect">
            <a:avLst/>
          </a:prstGeom>
          <a:noFill/>
          <a:ln>
            <a:noFill/>
          </a:ln>
        </p:spPr>
        <p:txBody>
          <a:bodyPr wrap="square" lIns="355600" tIns="142850" rIns="304800" bIns="5080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73 mld. Kč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spravovaného majetku klientů</a:t>
            </a:r>
          </a:p>
        </p:txBody>
      </p:sp>
      <p:sp>
        <p:nvSpPr>
          <p:cNvPr id="7" name="Číslo 3"/>
          <p:cNvSpPr>
            <a:spLocks noGrp="1"/>
          </p:cNvSpPr>
          <p:nvPr>
            <p:ph type="body" idx="102" hasCustomPrompt="1"/>
          </p:nvPr>
        </p:nvSpPr>
        <p:spPr>
          <a:xfrm>
            <a:off x="7753350" y="2857500"/>
            <a:ext cx="3695033" cy="1295400"/>
          </a:xfrm>
          <a:prstGeom prst="rect">
            <a:avLst/>
          </a:prstGeom>
          <a:noFill/>
          <a:ln>
            <a:noFill/>
          </a:ln>
        </p:spPr>
        <p:txBody>
          <a:bodyPr wrap="square" lIns="355600" tIns="142850" rIns="304800" bIns="50800" rtlCol="0" anchor="t" anchorCtr="0">
            <a:noAutofit/>
          </a:bodyPr>
          <a:lstStyle>
            <a:lvl1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  <a:defRPr sz="4800" b="1" kern="0" cap="none" spc="-1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10,04 %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průměrný roční výnos růstového portfolia za 10 let</a:t>
            </a:r>
          </a:p>
        </p:txBody>
      </p:sp>
      <p:sp>
        <p:nvSpPr>
          <p:cNvPr id="8" name="Zdroj a upozornění"/>
          <p:cNvSpPr>
            <a:spLocks noGrp="1"/>
          </p:cNvSpPr>
          <p:nvPr>
            <p:ph type="body" idx="103" hasCustomPrompt="1"/>
          </p:nvPr>
        </p:nvSpPr>
        <p:spPr>
          <a:xfrm>
            <a:off x="762000" y="5577942"/>
            <a:ext cx="79248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Údaje k datu DD. MM. RRRR – před použitím ověřte aktuální čísla. Minulé výnosy nejsou zárukou budoucích výnosů.</a:t>
            </a:r>
          </a:p>
        </p:txBody>
      </p:sp>
      <p:pic>
        <p:nvPicPr>
          <p:cNvPr id="9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0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dno číslo, které si publikum zapamatuj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524000"/>
            <a:ext cx="14732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HLAVNÍ SDĚLENÍ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968500"/>
            <a:ext cx="4977765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Jedno číslo, které si publikum zapamatuje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3072930"/>
            <a:ext cx="4977765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Vysvětlete, co číslo znamená, odkud pochází a proč je pro posluchače důležité.</a:t>
            </a:r>
          </a:p>
        </p:txBody>
      </p:sp>
      <p:sp>
        <p:nvSpPr>
          <p:cNvPr id="6" name="Číslo a popis"/>
          <p:cNvSpPr>
            <a:spLocks noGrp="1"/>
          </p:cNvSpPr>
          <p:nvPr>
            <p:ph type="body" idx="100" hasCustomPrompt="1"/>
          </p:nvPr>
        </p:nvSpPr>
        <p:spPr>
          <a:xfrm>
            <a:off x="6807200" y="3467100"/>
            <a:ext cx="4186428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217170" rIns="0" bIns="0" rtlCol="0" anchor="t" anchorCtr="0">
            <a:noAutofit/>
          </a:bodyPr>
          <a:lstStyle>
            <a:lvl1pPr marL="0" indent="0"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None/>
              <a:defRPr sz="10000" b="1" kern="0" cap="none" spc="-30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0" b="1" kern="0" cap="none" spc="-3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10,04 </a:t>
            </a: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%</a:t>
            </a:r>
            <a:endParaRPr lang="cs-CZ" sz="10000" b="1" kern="0" cap="none" spc="-300" dirty="0">
              <a:gradFill rotWithShape="1">
                <a:gsLst>
                  <a:gs pos="0">
                    <a:srgbClr val="D8FF15"/>
                  </a:gs>
                  <a:gs pos="100000">
                    <a:srgbClr val="05CB4B"/>
                  </a:gs>
                </a:gsLst>
                <a:lin ang="0" scaled="0"/>
              </a:gradFill>
              <a:latin typeface="Rethink Sans"/>
              <a:ea typeface="Rethink Sans"/>
              <a:cs typeface="Rethink Sans"/>
            </a:endParaRP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Průměrný roční výnos růstového portfolia za posledních 10 let včetně poplatků</a:t>
            </a:r>
          </a:p>
          <a:p>
            <a:pPr marL="0" indent="0" algn="l">
              <a:lnSpc>
                <a:spcPts val="1200"/>
              </a:lnSpc>
              <a:spcBef>
                <a:spcPts val="824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Minulé výnosy nejsou zárukou budoucích výnosů.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ak začít během pár minu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5638800" y="1358900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POSTUP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548640" y="18034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Jak začít během pár minut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 hasCustomPrompt="1"/>
          </p:nvPr>
        </p:nvSpPr>
        <p:spPr>
          <a:xfrm>
            <a:off x="1866900" y="30353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6" name="Název kroku"/>
          <p:cNvSpPr>
            <a:spLocks noGrp="1"/>
          </p:cNvSpPr>
          <p:nvPr>
            <p:ph type="body" idx="101" hasCustomPrompt="1"/>
          </p:nvPr>
        </p:nvSpPr>
        <p:spPr>
          <a:xfrm>
            <a:off x="867156" y="3619500"/>
            <a:ext cx="24566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Registrace</a:t>
            </a:r>
          </a:p>
        </p:txBody>
      </p:sp>
      <p:sp>
        <p:nvSpPr>
          <p:cNvPr id="7" name="Popis kroku"/>
          <p:cNvSpPr>
            <a:spLocks noGrp="1"/>
          </p:cNvSpPr>
          <p:nvPr>
            <p:ph type="body" idx="102" hasCustomPrompt="1"/>
          </p:nvPr>
        </p:nvSpPr>
        <p:spPr>
          <a:xfrm>
            <a:off x="908494" y="4002545"/>
            <a:ext cx="2374011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Účet založíte online během pár minut.</a:t>
            </a:r>
          </a:p>
        </p:txBody>
      </p:sp>
      <p:sp>
        <p:nvSpPr>
          <p:cNvPr id="8" name="Číslo"/>
          <p:cNvSpPr>
            <a:spLocks noGrp="1"/>
          </p:cNvSpPr>
          <p:nvPr>
            <p:ph type="body" idx="103" hasCustomPrompt="1"/>
          </p:nvPr>
        </p:nvSpPr>
        <p:spPr>
          <a:xfrm>
            <a:off x="4533900" y="30353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9" name="Název kroku"/>
          <p:cNvSpPr>
            <a:spLocks noGrp="1"/>
          </p:cNvSpPr>
          <p:nvPr>
            <p:ph type="body" idx="104" hasCustomPrompt="1"/>
          </p:nvPr>
        </p:nvSpPr>
        <p:spPr>
          <a:xfrm>
            <a:off x="3534156" y="3619500"/>
            <a:ext cx="24566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Ověření totožnosti</a:t>
            </a:r>
          </a:p>
        </p:txBody>
      </p:sp>
      <p:sp>
        <p:nvSpPr>
          <p:cNvPr id="10" name="Popis kroku"/>
          <p:cNvSpPr>
            <a:spLocks noGrp="1"/>
          </p:cNvSpPr>
          <p:nvPr>
            <p:ph type="body" idx="105" hasCustomPrompt="1"/>
          </p:nvPr>
        </p:nvSpPr>
        <p:spPr>
          <a:xfrm>
            <a:off x="3575495" y="4002545"/>
            <a:ext cx="2374011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Přes bankovní identitu nebo doklady.</a:t>
            </a:r>
          </a:p>
        </p:txBody>
      </p:sp>
      <p:sp>
        <p:nvSpPr>
          <p:cNvPr id="11" name="Číslo"/>
          <p:cNvSpPr>
            <a:spLocks noGrp="1"/>
          </p:cNvSpPr>
          <p:nvPr>
            <p:ph type="body" idx="106" hasCustomPrompt="1"/>
          </p:nvPr>
        </p:nvSpPr>
        <p:spPr>
          <a:xfrm>
            <a:off x="7200900" y="30353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2" name="Název kroku"/>
          <p:cNvSpPr>
            <a:spLocks noGrp="1"/>
          </p:cNvSpPr>
          <p:nvPr>
            <p:ph type="body" idx="107" hasCustomPrompt="1"/>
          </p:nvPr>
        </p:nvSpPr>
        <p:spPr>
          <a:xfrm>
            <a:off x="6201156" y="3619500"/>
            <a:ext cx="24566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Nastavení strategie</a:t>
            </a:r>
          </a:p>
        </p:txBody>
      </p:sp>
      <p:sp>
        <p:nvSpPr>
          <p:cNvPr id="13" name="Popis kroku"/>
          <p:cNvSpPr>
            <a:spLocks noGrp="1"/>
          </p:cNvSpPr>
          <p:nvPr>
            <p:ph type="body" idx="108" hasCustomPrompt="1"/>
          </p:nvPr>
        </p:nvSpPr>
        <p:spPr>
          <a:xfrm>
            <a:off x="6242494" y="4002545"/>
            <a:ext cx="2374011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Zvolíte cíl, horizont a toleranci k riziku.</a:t>
            </a:r>
          </a:p>
        </p:txBody>
      </p:sp>
      <p:sp>
        <p:nvSpPr>
          <p:cNvPr id="14" name="Číslo"/>
          <p:cNvSpPr>
            <a:spLocks noGrp="1"/>
          </p:cNvSpPr>
          <p:nvPr>
            <p:ph type="body" idx="109" hasCustomPrompt="1"/>
          </p:nvPr>
        </p:nvSpPr>
        <p:spPr>
          <a:xfrm>
            <a:off x="9867900" y="3035300"/>
            <a:ext cx="45720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5" name="Název kroku"/>
          <p:cNvSpPr>
            <a:spLocks noGrp="1"/>
          </p:cNvSpPr>
          <p:nvPr>
            <p:ph type="body" idx="110" hasCustomPrompt="1"/>
          </p:nvPr>
        </p:nvSpPr>
        <p:spPr>
          <a:xfrm>
            <a:off x="8868156" y="3619500"/>
            <a:ext cx="24566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První vklad</a:t>
            </a:r>
          </a:p>
        </p:txBody>
      </p:sp>
      <p:sp>
        <p:nvSpPr>
          <p:cNvPr id="16" name="Popis kroku"/>
          <p:cNvSpPr>
            <a:spLocks noGrp="1"/>
          </p:cNvSpPr>
          <p:nvPr>
            <p:ph type="body" idx="111" hasCustomPrompt="1"/>
          </p:nvPr>
        </p:nvSpPr>
        <p:spPr>
          <a:xfrm>
            <a:off x="8909494" y="4002545"/>
            <a:ext cx="2374011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Pošlete peníze a o zbytek se postaráme.</a:t>
            </a:r>
          </a:p>
        </p:txBody>
      </p:sp>
      <p:pic>
        <p:nvPicPr>
          <p:cNvPr id="1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m s penězi na 3 až 8 l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8605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SROVNÁNÍ PRODUKTŮ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Kam s penězi na 3 až 8 let</a:t>
            </a:r>
          </a:p>
        </p:txBody>
      </p:sp>
      <p:sp>
        <p:nvSpPr>
          <p:cNvPr id="5" name="Tabulka"/>
          <p:cNvSpPr>
            <a:spLocks noGrp="1"/>
          </p:cNvSpPr>
          <p:nvPr>
            <p:ph type="tbl" idx="100" hasCustomPrompt="1"/>
          </p:nvPr>
        </p:nvSpPr>
        <p:spPr>
          <a:xfrm>
            <a:off x="762000" y="2032000"/>
            <a:ext cx="10668000" cy="30289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tabulku</a:t>
            </a:r>
          </a:p>
        </p:txBody>
      </p:sp>
      <p:sp>
        <p:nvSpPr>
          <p:cNvPr id="6" name="Poznámka pod tabulkou"/>
          <p:cNvSpPr>
            <a:spLocks noGrp="1"/>
          </p:cNvSpPr>
          <p:nvPr>
            <p:ph type="body" idx="101" hasCustomPrompt="1"/>
          </p:nvPr>
        </p:nvSpPr>
        <p:spPr>
          <a:xfrm>
            <a:off x="762000" y="520329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údaje. Očekávané výnosy nejsou zaručené, minulé výnosy nejsou zárukou budoucích.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as je největší přítel investor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270000"/>
            <a:ext cx="7239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DATA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14500"/>
            <a:ext cx="3956685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Čas je největší přítel investora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2590330"/>
            <a:ext cx="3956685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Při zhodnocení 6 % ročně vyroste 100 000 Kč za 8 let na 159 385 Kč. Výnosy se dál zhodnocují – to je složené úročení.</a:t>
            </a:r>
          </a:p>
        </p:txBody>
      </p:sp>
      <p:sp>
        <p:nvSpPr>
          <p:cNvPr id="6" name="Graf"/>
          <p:cNvSpPr>
            <a:spLocks noGrp="1"/>
          </p:cNvSpPr>
          <p:nvPr>
            <p:ph type="chart" idx="100" hasCustomPrompt="1"/>
          </p:nvPr>
        </p:nvSpPr>
        <p:spPr>
          <a:xfrm>
            <a:off x="5384800" y="1460500"/>
            <a:ext cx="5740400" cy="3632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7" name="Poznámka"/>
          <p:cNvSpPr>
            <a:spLocks noGrp="1"/>
          </p:cNvSpPr>
          <p:nvPr>
            <p:ph type="body" idx="101" hasCustomPrompt="1"/>
          </p:nvPr>
        </p:nvSpPr>
        <p:spPr>
          <a:xfrm>
            <a:off x="762000" y="5577942"/>
            <a:ext cx="409448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výpočet, nezohledňuje poplatky ani daně.</a:t>
            </a:r>
          </a:p>
        </p:txBody>
      </p:sp>
      <p:pic>
        <p:nvPicPr>
          <p:cNvPr id="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ví klienti a nové DIP úč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270000"/>
            <a:ext cx="16129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SLOUPCOVÝ GRAF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14500"/>
            <a:ext cx="331851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Noví klienti a nové DIP účty</a:t>
            </a:r>
          </a:p>
        </p:txBody>
      </p:sp>
      <p:sp>
        <p:nvSpPr>
          <p:cNvPr id="5" name="Hlavní sdělení"/>
          <p:cNvSpPr>
            <a:spLocks noGrp="1"/>
          </p:cNvSpPr>
          <p:nvPr>
            <p:ph type="body" idx="14" hasCustomPrompt="1"/>
          </p:nvPr>
        </p:nvSpPr>
        <p:spPr>
          <a:xfrm>
            <a:off x="762000" y="2590330"/>
            <a:ext cx="331851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Oba ukazatele rostou, nejsilnější bylo 4. čtvrtletí díky daňové motivaci na konci roku.</a:t>
            </a:r>
          </a:p>
        </p:txBody>
      </p:sp>
      <p:sp>
        <p:nvSpPr>
          <p:cNvPr id="6" name="Graf"/>
          <p:cNvSpPr>
            <a:spLocks noGrp="1"/>
          </p:cNvSpPr>
          <p:nvPr>
            <p:ph type="chart" idx="100" hasCustomPrompt="1"/>
          </p:nvPr>
        </p:nvSpPr>
        <p:spPr>
          <a:xfrm>
            <a:off x="4876800" y="1727200"/>
            <a:ext cx="6248400" cy="3009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7" name="Poznámka"/>
          <p:cNvSpPr>
            <a:spLocks noGrp="1"/>
          </p:cNvSpPr>
          <p:nvPr>
            <p:ph type="body" idx="101" hasCustomPrompt="1"/>
          </p:nvPr>
        </p:nvSpPr>
        <p:spPr>
          <a:xfrm>
            <a:off x="762000" y="5577942"/>
            <a:ext cx="343408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 – nahraďte skutečnými čísly a uveďte zdroj.</a:t>
            </a:r>
          </a:p>
        </p:txBody>
      </p:sp>
      <p:pic>
        <p:nvPicPr>
          <p:cNvPr id="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ůměrný roční výnos podle typu investic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4351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PRUHOVÝ GRAF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Průměrný roční výnos podle typu investice</a:t>
            </a:r>
          </a:p>
        </p:txBody>
      </p:sp>
      <p:sp>
        <p:nvSpPr>
          <p:cNvPr id="5" name="Graf"/>
          <p:cNvSpPr>
            <a:spLocks noGrp="1"/>
          </p:cNvSpPr>
          <p:nvPr>
            <p:ph type="chart" idx="100" hasCustomPrompt="1"/>
          </p:nvPr>
        </p:nvSpPr>
        <p:spPr>
          <a:xfrm>
            <a:off x="762000" y="2095500"/>
            <a:ext cx="10668000" cy="335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6" name="Poznámka"/>
          <p:cNvSpPr>
            <a:spLocks noGrp="1"/>
          </p:cNvSpPr>
          <p:nvPr>
            <p:ph type="body" idx="101" hasCustomPrompt="1"/>
          </p:nvPr>
        </p:nvSpPr>
        <p:spPr>
          <a:xfrm>
            <a:off x="762000" y="575574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 za posledních 10 let. Zvýrazněte vždy jen jeden pruh, ke kterému se vztahuje sdělení. Minulé výnosy nejsou zárukou budoucích.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ožení ukázkového portfol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5367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KOLÁČOVÝ GRAF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Složení ukázkového portfolia</a:t>
            </a:r>
          </a:p>
        </p:txBody>
      </p:sp>
      <p:sp>
        <p:nvSpPr>
          <p:cNvPr id="5" name="Graf"/>
          <p:cNvSpPr>
            <a:spLocks noGrp="1"/>
          </p:cNvSpPr>
          <p:nvPr>
            <p:ph type="chart" idx="100" hasCustomPrompt="1"/>
          </p:nvPr>
        </p:nvSpPr>
        <p:spPr>
          <a:xfrm>
            <a:off x="1143000" y="2032000"/>
            <a:ext cx="3556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6" name="Střed"/>
          <p:cNvSpPr>
            <a:spLocks noGrp="1"/>
          </p:cNvSpPr>
          <p:nvPr>
            <p:ph type="body" idx="101" hasCustomPrompt="1"/>
          </p:nvPr>
        </p:nvSpPr>
        <p:spPr>
          <a:xfrm>
            <a:off x="1968500" y="3467100"/>
            <a:ext cx="2000250" cy="635000"/>
          </a:xfrm>
          <a:prstGeom prst="rect">
            <a:avLst/>
          </a:prstGeom>
          <a:noFill/>
          <a:ln>
            <a:noFill/>
          </a:ln>
        </p:spPr>
        <p:txBody>
          <a:bodyPr wrap="none" lIns="0" tIns="48666" rIns="0" bIns="0" rtlCol="0" anchor="t" anchorCtr="0">
            <a:noAutofit/>
          </a:bodyPr>
          <a:lstStyle>
            <a:lvl1pPr marL="0" indent="0" algn="ctr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60 %</a:t>
            </a:r>
          </a:p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akcie</a:t>
            </a:r>
          </a:p>
        </p:txBody>
      </p:sp>
      <p:sp>
        <p:nvSpPr>
          <p:cNvPr id="7" name="Poznámka"/>
          <p:cNvSpPr>
            <a:spLocks noGrp="1"/>
          </p:cNvSpPr>
          <p:nvPr>
            <p:ph type="body" idx="102" hasCustomPrompt="1"/>
          </p:nvPr>
        </p:nvSpPr>
        <p:spPr>
          <a:xfrm>
            <a:off x="6604000" y="5247742"/>
            <a:ext cx="501904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Ukázková data. Barvy používejte v tomto pořadí; víc než 6 položek slučte do „Ostatní“.</a:t>
            </a:r>
          </a:p>
        </p:txBody>
      </p:sp>
      <p:pic>
        <p:nvPicPr>
          <p:cNvPr id="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vestice vs. spořicí úč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270000"/>
            <a:ext cx="16637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SPOJNICOVÝ GRAF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14500"/>
            <a:ext cx="331851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Investice vs. spořicí účet</a:t>
            </a:r>
          </a:p>
        </p:txBody>
      </p:sp>
      <p:sp>
        <p:nvSpPr>
          <p:cNvPr id="5" name="Hlavní sdělení"/>
          <p:cNvSpPr>
            <a:spLocks noGrp="1"/>
          </p:cNvSpPr>
          <p:nvPr>
            <p:ph type="body" idx="14" hasCustomPrompt="1"/>
          </p:nvPr>
        </p:nvSpPr>
        <p:spPr>
          <a:xfrm>
            <a:off x="762000" y="2590330"/>
            <a:ext cx="331851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Za 10 let vyrostlo 100 000 Kč v akciovém portfoliu na 196 000 Kč, na spořicím účtu na 118 000 Kč.</a:t>
            </a:r>
          </a:p>
        </p:txBody>
      </p:sp>
      <p:sp>
        <p:nvSpPr>
          <p:cNvPr id="6" name="Graf"/>
          <p:cNvSpPr>
            <a:spLocks noGrp="1"/>
          </p:cNvSpPr>
          <p:nvPr>
            <p:ph type="chart" idx="100" hasCustomPrompt="1"/>
          </p:nvPr>
        </p:nvSpPr>
        <p:spPr>
          <a:xfrm>
            <a:off x="5461000" y="1803400"/>
            <a:ext cx="4953000" cy="330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cs-CZ"/>
              <a:t>Klikněte na ikonu a vložte graf</a:t>
            </a:r>
          </a:p>
        </p:txBody>
      </p:sp>
      <p:sp>
        <p:nvSpPr>
          <p:cNvPr id="7" name="Popisek – Spořicí účet"/>
          <p:cNvSpPr>
            <a:spLocks noGrp="1"/>
          </p:cNvSpPr>
          <p:nvPr>
            <p:ph type="body" idx="101" hasCustomPrompt="1"/>
          </p:nvPr>
        </p:nvSpPr>
        <p:spPr>
          <a:xfrm>
            <a:off x="10553700" y="2987815"/>
            <a:ext cx="593408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118 tis.</a:t>
            </a:r>
          </a:p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Spořicí účet</a:t>
            </a:r>
          </a:p>
        </p:txBody>
      </p:sp>
      <p:sp>
        <p:nvSpPr>
          <p:cNvPr id="8" name="Popisek – Akciové portfolio"/>
          <p:cNvSpPr>
            <a:spLocks noGrp="1"/>
          </p:cNvSpPr>
          <p:nvPr>
            <p:ph type="body" idx="102" hasCustomPrompt="1"/>
          </p:nvPr>
        </p:nvSpPr>
        <p:spPr>
          <a:xfrm>
            <a:off x="10553700" y="1700035"/>
            <a:ext cx="833438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196 tis.</a:t>
            </a:r>
          </a:p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Akciové portfolio</a:t>
            </a:r>
          </a:p>
        </p:txBody>
      </p:sp>
      <p:sp>
        <p:nvSpPr>
          <p:cNvPr id="9" name="Upozornění"/>
          <p:cNvSpPr>
            <a:spLocks noGrp="1"/>
          </p:cNvSpPr>
          <p:nvPr>
            <p:ph type="body" idx="103" hasCustomPrompt="1"/>
          </p:nvPr>
        </p:nvSpPr>
        <p:spPr>
          <a:xfrm>
            <a:off x="762000" y="5577942"/>
            <a:ext cx="343408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data. Minulé výnosy nejsou zárukou budoucích výnosů.</a:t>
            </a:r>
          </a:p>
        </p:txBody>
      </p:sp>
      <p:pic>
        <p:nvPicPr>
          <p:cNvPr id="10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1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á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lustrace (zamčená)" descr="dekorace"/>
          <p:cNvPicPr>
            <a:picLocks noGrp="1" noSelect="1" noChangeAspect="1" noMove="1" noResize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747000" y="0"/>
            <a:ext cx="4445000" cy="6858000"/>
          </a:xfrm>
          <a:prstGeom prst="rect">
            <a:avLst/>
          </a:prstGeom>
        </p:spPr>
      </p:pic>
      <p:sp>
        <p:nvSpPr>
          <p:cNvPr id="4" name="Text citace"/>
          <p:cNvSpPr>
            <a:spLocks noGrp="1"/>
          </p:cNvSpPr>
          <p:nvPr>
            <p:ph type="title" hasCustomPrompt="1"/>
          </p:nvPr>
        </p:nvSpPr>
        <p:spPr>
          <a:xfrm>
            <a:off x="762000" y="2832100"/>
            <a:ext cx="8296275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Citace klienta nebo odborníka – jedna silná věta, která shrne hlavní myšlenku.</a:t>
            </a:r>
          </a:p>
        </p:txBody>
      </p:sp>
      <p:sp>
        <p:nvSpPr>
          <p:cNvPr id="5" name="Fotka"/>
          <p:cNvSpPr>
            <a:spLocks noGrp="1"/>
          </p:cNvSpPr>
          <p:nvPr>
            <p:ph type="body" idx="100" hasCustomPrompt="1"/>
          </p:nvPr>
        </p:nvSpPr>
        <p:spPr>
          <a:xfrm>
            <a:off x="762000" y="4021595"/>
            <a:ext cx="508000" cy="508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JP</a:t>
            </a:r>
          </a:p>
        </p:txBody>
      </p:sp>
      <p:sp>
        <p:nvSpPr>
          <p:cNvPr id="6" name="Jméno a role"/>
          <p:cNvSpPr>
            <a:spLocks noGrp="1"/>
          </p:cNvSpPr>
          <p:nvPr>
            <p:ph type="body" idx="101" hasCustomPrompt="1"/>
          </p:nvPr>
        </p:nvSpPr>
        <p:spPr>
          <a:xfrm>
            <a:off x="1397000" y="4066045"/>
            <a:ext cx="1726882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Klient Portu od roku 2019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ak jsme se vyvíjel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9906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HISTORIE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Jak jsme se vyvíjeli</a:t>
            </a:r>
          </a:p>
        </p:txBody>
      </p:sp>
      <p:sp>
        <p:nvSpPr>
          <p:cNvPr id="5" name="Rok"/>
          <p:cNvSpPr>
            <a:spLocks noGrp="1"/>
          </p:cNvSpPr>
          <p:nvPr>
            <p:ph type="body" idx="100" hasCustomPrompt="1"/>
          </p:nvPr>
        </p:nvSpPr>
        <p:spPr>
          <a:xfrm>
            <a:off x="1400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2018</a:t>
            </a:r>
          </a:p>
        </p:txBody>
      </p:sp>
      <p:sp>
        <p:nvSpPr>
          <p:cNvPr id="6" name="Název"/>
          <p:cNvSpPr>
            <a:spLocks noGrp="1"/>
          </p:cNvSpPr>
          <p:nvPr>
            <p:ph type="body" idx="101" hasCustomPrompt="1"/>
          </p:nvPr>
        </p:nvSpPr>
        <p:spPr>
          <a:xfrm>
            <a:off x="832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Veřejné spuštění</a:t>
            </a:r>
          </a:p>
        </p:txBody>
      </p:sp>
      <p:sp>
        <p:nvSpPr>
          <p:cNvPr id="7" name="Popis"/>
          <p:cNvSpPr>
            <a:spLocks noGrp="1"/>
          </p:cNvSpPr>
          <p:nvPr>
            <p:ph type="body" idx="102" hasCustomPrompt="1"/>
          </p:nvPr>
        </p:nvSpPr>
        <p:spPr>
          <a:xfrm>
            <a:off x="859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Spravovaná ETF portfolia pro každého</a:t>
            </a:r>
          </a:p>
        </p:txBody>
      </p:sp>
      <p:sp>
        <p:nvSpPr>
          <p:cNvPr id="8" name="Rok"/>
          <p:cNvSpPr>
            <a:spLocks noGrp="1"/>
          </p:cNvSpPr>
          <p:nvPr>
            <p:ph type="body" idx="103" hasCustomPrompt="1"/>
          </p:nvPr>
        </p:nvSpPr>
        <p:spPr>
          <a:xfrm>
            <a:off x="3178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2019</a:t>
            </a:r>
          </a:p>
        </p:txBody>
      </p:sp>
      <p:sp>
        <p:nvSpPr>
          <p:cNvPr id="9" name="Název"/>
          <p:cNvSpPr>
            <a:spLocks noGrp="1"/>
          </p:cNvSpPr>
          <p:nvPr>
            <p:ph type="body" idx="104" hasCustomPrompt="1"/>
          </p:nvPr>
        </p:nvSpPr>
        <p:spPr>
          <a:xfrm>
            <a:off x="2610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Dětské účty</a:t>
            </a:r>
          </a:p>
        </p:txBody>
      </p:sp>
      <p:sp>
        <p:nvSpPr>
          <p:cNvPr id="10" name="Popis"/>
          <p:cNvSpPr>
            <a:spLocks noGrp="1"/>
          </p:cNvSpPr>
          <p:nvPr>
            <p:ph type="body" idx="105" hasCustomPrompt="1"/>
          </p:nvPr>
        </p:nvSpPr>
        <p:spPr>
          <a:xfrm>
            <a:off x="2637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Investice pro děti a jejich rodiče</a:t>
            </a:r>
          </a:p>
        </p:txBody>
      </p:sp>
      <p:sp>
        <p:nvSpPr>
          <p:cNvPr id="11" name="Rok"/>
          <p:cNvSpPr>
            <a:spLocks noGrp="1"/>
          </p:cNvSpPr>
          <p:nvPr>
            <p:ph type="body" idx="106" hasCustomPrompt="1"/>
          </p:nvPr>
        </p:nvSpPr>
        <p:spPr>
          <a:xfrm>
            <a:off x="4956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2021</a:t>
            </a:r>
          </a:p>
        </p:txBody>
      </p:sp>
      <p:sp>
        <p:nvSpPr>
          <p:cNvPr id="12" name="Název"/>
          <p:cNvSpPr>
            <a:spLocks noGrp="1"/>
          </p:cNvSpPr>
          <p:nvPr>
            <p:ph type="body" idx="107" hasCustomPrompt="1"/>
          </p:nvPr>
        </p:nvSpPr>
        <p:spPr>
          <a:xfrm>
            <a:off x="4388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Tematické investice</a:t>
            </a:r>
          </a:p>
        </p:txBody>
      </p:sp>
      <p:sp>
        <p:nvSpPr>
          <p:cNvPr id="13" name="Popis"/>
          <p:cNvSpPr>
            <a:spLocks noGrp="1"/>
          </p:cNvSpPr>
          <p:nvPr>
            <p:ph type="body" idx="108" hasCustomPrompt="1"/>
          </p:nvPr>
        </p:nvSpPr>
        <p:spPr>
          <a:xfrm>
            <a:off x="4415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Sestavte si portfolio podle sebe</a:t>
            </a:r>
          </a:p>
        </p:txBody>
      </p:sp>
      <p:sp>
        <p:nvSpPr>
          <p:cNvPr id="14" name="Rok"/>
          <p:cNvSpPr>
            <a:spLocks noGrp="1"/>
          </p:cNvSpPr>
          <p:nvPr>
            <p:ph type="body" idx="109" hasCustomPrompt="1"/>
          </p:nvPr>
        </p:nvSpPr>
        <p:spPr>
          <a:xfrm>
            <a:off x="6734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2022</a:t>
            </a:r>
          </a:p>
        </p:txBody>
      </p:sp>
      <p:sp>
        <p:nvSpPr>
          <p:cNvPr id="15" name="Název"/>
          <p:cNvSpPr>
            <a:spLocks noGrp="1"/>
          </p:cNvSpPr>
          <p:nvPr>
            <p:ph type="body" idx="110" hasCustomPrompt="1"/>
          </p:nvPr>
        </p:nvSpPr>
        <p:spPr>
          <a:xfrm>
            <a:off x="6166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Investiční rezerva</a:t>
            </a:r>
          </a:p>
        </p:txBody>
      </p:sp>
      <p:sp>
        <p:nvSpPr>
          <p:cNvPr id="16" name="Popis"/>
          <p:cNvSpPr>
            <a:spLocks noGrp="1"/>
          </p:cNvSpPr>
          <p:nvPr>
            <p:ph type="body" idx="111" hasCustomPrompt="1"/>
          </p:nvPr>
        </p:nvSpPr>
        <p:spPr>
          <a:xfrm>
            <a:off x="6193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Alternativa spořicího účtu</a:t>
            </a:r>
          </a:p>
        </p:txBody>
      </p:sp>
      <p:sp>
        <p:nvSpPr>
          <p:cNvPr id="17" name="Rok"/>
          <p:cNvSpPr>
            <a:spLocks noGrp="1"/>
          </p:cNvSpPr>
          <p:nvPr>
            <p:ph type="body" idx="112" hasCustomPrompt="1"/>
          </p:nvPr>
        </p:nvSpPr>
        <p:spPr>
          <a:xfrm>
            <a:off x="8512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2024</a:t>
            </a:r>
          </a:p>
        </p:txBody>
      </p:sp>
      <p:sp>
        <p:nvSpPr>
          <p:cNvPr id="18" name="Název"/>
          <p:cNvSpPr>
            <a:spLocks noGrp="1"/>
          </p:cNvSpPr>
          <p:nvPr>
            <p:ph type="body" idx="113" hasCustomPrompt="1"/>
          </p:nvPr>
        </p:nvSpPr>
        <p:spPr>
          <a:xfrm>
            <a:off x="7944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DIP</a:t>
            </a:r>
          </a:p>
        </p:txBody>
      </p:sp>
      <p:sp>
        <p:nvSpPr>
          <p:cNvPr id="19" name="Popis"/>
          <p:cNvSpPr>
            <a:spLocks noGrp="1"/>
          </p:cNvSpPr>
          <p:nvPr>
            <p:ph type="body" idx="114" hasCustomPrompt="1"/>
          </p:nvPr>
        </p:nvSpPr>
        <p:spPr>
          <a:xfrm>
            <a:off x="7971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Dlouhodobý investiční produkt</a:t>
            </a:r>
          </a:p>
        </p:txBody>
      </p:sp>
      <p:sp>
        <p:nvSpPr>
          <p:cNvPr id="20" name="Rok"/>
          <p:cNvSpPr>
            <a:spLocks noGrp="1"/>
          </p:cNvSpPr>
          <p:nvPr>
            <p:ph type="body" idx="115" hasCustomPrompt="1"/>
          </p:nvPr>
        </p:nvSpPr>
        <p:spPr>
          <a:xfrm>
            <a:off x="10290175" y="3175000"/>
            <a:ext cx="52673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1"/>
                </a:solidFill>
                <a:latin typeface="Rethink Sans SemiBold"/>
                <a:ea typeface="Rethink Sans SemiBold"/>
                <a:cs typeface="Rethink Sans SemiBold"/>
              </a:rPr>
              <a:t>2026</a:t>
            </a:r>
          </a:p>
        </p:txBody>
      </p:sp>
      <p:sp>
        <p:nvSpPr>
          <p:cNvPr id="21" name="Název"/>
          <p:cNvSpPr>
            <a:spLocks noGrp="1"/>
          </p:cNvSpPr>
          <p:nvPr>
            <p:ph type="body" idx="116" hasCustomPrompt="1"/>
          </p:nvPr>
        </p:nvSpPr>
        <p:spPr>
          <a:xfrm>
            <a:off x="9722104" y="3792995"/>
            <a:ext cx="1637792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Brokerage</a:t>
            </a:r>
          </a:p>
        </p:txBody>
      </p:sp>
      <p:sp>
        <p:nvSpPr>
          <p:cNvPr id="22" name="Popis"/>
          <p:cNvSpPr>
            <a:spLocks noGrp="1"/>
          </p:cNvSpPr>
          <p:nvPr>
            <p:ph type="body" idx="117" hasCustomPrompt="1"/>
          </p:nvPr>
        </p:nvSpPr>
        <p:spPr>
          <a:xfrm>
            <a:off x="9749663" y="4078745"/>
            <a:ext cx="1582674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Nákup jednotlivých akcií a ETF</a:t>
            </a:r>
          </a:p>
        </p:txBody>
      </p:sp>
      <p:pic>
        <p:nvPicPr>
          <p:cNvPr id="2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4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 nás čeká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1430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ROADMAPA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Co nás čeká</a:t>
            </a:r>
          </a:p>
        </p:txBody>
      </p:sp>
      <p:sp>
        <p:nvSpPr>
          <p:cNvPr id="5" name="Fáze"/>
          <p:cNvSpPr>
            <a:spLocks noGrp="1"/>
          </p:cNvSpPr>
          <p:nvPr>
            <p:ph type="body" idx="100" hasCustomPrompt="1"/>
          </p:nvPr>
        </p:nvSpPr>
        <p:spPr>
          <a:xfrm>
            <a:off x="1219200" y="2336800"/>
            <a:ext cx="993457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TEĎ · Q1 2026</a:t>
            </a:r>
          </a:p>
        </p:txBody>
      </p:sp>
      <p:sp>
        <p:nvSpPr>
          <p:cNvPr id="6" name="Položka"/>
          <p:cNvSpPr>
            <a:spLocks noGrp="1"/>
          </p:cNvSpPr>
          <p:nvPr>
            <p:ph type="body" idx="101" hasCustomPrompt="1"/>
          </p:nvPr>
        </p:nvSpPr>
        <p:spPr>
          <a:xfrm>
            <a:off x="1066800" y="2628900"/>
            <a:ext cx="2820734" cy="10096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Nový produkt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Krátký popis toho, na čem právě pracujeme.</a:t>
            </a:r>
          </a:p>
        </p:txBody>
      </p:sp>
      <p:sp>
        <p:nvSpPr>
          <p:cNvPr id="7" name="Položka"/>
          <p:cNvSpPr>
            <a:spLocks noGrp="1"/>
          </p:cNvSpPr>
          <p:nvPr>
            <p:ph type="body" idx="102" hasCustomPrompt="1"/>
          </p:nvPr>
        </p:nvSpPr>
        <p:spPr>
          <a:xfrm>
            <a:off x="1066800" y="3638550"/>
            <a:ext cx="2918968" cy="8064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Integrace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Dokončení propojení se stávajícím řešením.</a:t>
            </a:r>
          </a:p>
        </p:txBody>
      </p:sp>
      <p:sp>
        <p:nvSpPr>
          <p:cNvPr id="8" name="Fáze"/>
          <p:cNvSpPr>
            <a:spLocks noGrp="1"/>
          </p:cNvSpPr>
          <p:nvPr>
            <p:ph type="body" idx="103" hasCustomPrompt="1"/>
          </p:nvPr>
        </p:nvSpPr>
        <p:spPr>
          <a:xfrm>
            <a:off x="4838700" y="2336800"/>
            <a:ext cx="1500188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PŘÍŠTĚ · Q2–Q3 2026</a:t>
            </a:r>
          </a:p>
        </p:txBody>
      </p:sp>
      <p:sp>
        <p:nvSpPr>
          <p:cNvPr id="9" name="Položka"/>
          <p:cNvSpPr>
            <a:spLocks noGrp="1"/>
          </p:cNvSpPr>
          <p:nvPr>
            <p:ph type="body" idx="104" hasCustomPrompt="1"/>
          </p:nvPr>
        </p:nvSpPr>
        <p:spPr>
          <a:xfrm>
            <a:off x="4686300" y="2628900"/>
            <a:ext cx="2918968" cy="8064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Rodinné účty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Výhody podle majetku celé rodiny.</a:t>
            </a:r>
          </a:p>
        </p:txBody>
      </p:sp>
      <p:sp>
        <p:nvSpPr>
          <p:cNvPr id="10" name="Položka"/>
          <p:cNvSpPr>
            <a:spLocks noGrp="1"/>
          </p:cNvSpPr>
          <p:nvPr>
            <p:ph type="body" idx="105" hasCustomPrompt="1"/>
          </p:nvPr>
        </p:nvSpPr>
        <p:spPr>
          <a:xfrm>
            <a:off x="4686300" y="3435350"/>
            <a:ext cx="2918968" cy="8064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Rozšíření nabídky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Další investice pro pokročilé klienty.</a:t>
            </a:r>
          </a:p>
        </p:txBody>
      </p:sp>
      <p:sp>
        <p:nvSpPr>
          <p:cNvPr id="11" name="Fáze"/>
          <p:cNvSpPr>
            <a:spLocks noGrp="1"/>
          </p:cNvSpPr>
          <p:nvPr>
            <p:ph type="body" idx="106" hasCustomPrompt="1"/>
          </p:nvPr>
        </p:nvSpPr>
        <p:spPr>
          <a:xfrm>
            <a:off x="8458200" y="2336800"/>
            <a:ext cx="106680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POZDĚJI · 2027</a:t>
            </a:r>
          </a:p>
        </p:txBody>
      </p:sp>
      <p:sp>
        <p:nvSpPr>
          <p:cNvPr id="12" name="Položka"/>
          <p:cNvSpPr>
            <a:spLocks noGrp="1"/>
          </p:cNvSpPr>
          <p:nvPr>
            <p:ph type="body" idx="107" hasCustomPrompt="1"/>
          </p:nvPr>
        </p:nvSpPr>
        <p:spPr>
          <a:xfrm>
            <a:off x="8305800" y="2628900"/>
            <a:ext cx="2820734" cy="10096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AI v poradenství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Personalizace a automatizovaná doporučení.</a:t>
            </a:r>
          </a:p>
        </p:txBody>
      </p:sp>
      <p:sp>
        <p:nvSpPr>
          <p:cNvPr id="13" name="Položka"/>
          <p:cNvSpPr>
            <a:spLocks noGrp="1"/>
          </p:cNvSpPr>
          <p:nvPr>
            <p:ph type="body" idx="108" hasCustomPrompt="1"/>
          </p:nvPr>
        </p:nvSpPr>
        <p:spPr>
          <a:xfrm>
            <a:off x="8305800" y="3638550"/>
            <a:ext cx="2820734" cy="1009650"/>
          </a:xfrm>
          <a:prstGeom prst="rect">
            <a:avLst/>
          </a:prstGeom>
          <a:noFill/>
          <a:ln>
            <a:noFill/>
          </a:ln>
        </p:spPr>
        <p:txBody>
          <a:bodyPr wrap="square" lIns="0" tIns="146901" rIns="0" bIns="13970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Výběry v penzi</a:t>
            </a:r>
          </a:p>
          <a:p>
            <a:pPr marL="0" indent="0" algn="l">
              <a:lnSpc>
                <a:spcPts val="16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Postupné snižování rizika a pravidelné výběry.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tuace, problém a řešení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003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KONTEXT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Situace, problém a řešení</a:t>
            </a:r>
          </a:p>
        </p:txBody>
      </p:sp>
      <p:sp>
        <p:nvSpPr>
          <p:cNvPr id="5" name="Karta – Situace"/>
          <p:cNvSpPr>
            <a:spLocks noGrp="1"/>
          </p:cNvSpPr>
          <p:nvPr>
            <p:ph type="body" idx="100" hasCustomPrompt="1"/>
          </p:nvPr>
        </p:nvSpPr>
        <p:spPr>
          <a:xfrm>
            <a:off x="762000" y="2159000"/>
            <a:ext cx="3183446" cy="1854200"/>
          </a:xfrm>
          <a:prstGeom prst="roundRect">
            <a:avLst>
              <a:gd name="adj" fmla="val 8219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SITUACE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se děje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Popište výchozí stav – fakta, čísla, kontext. Např. produkt je mezi klienty oblíbený.</a:t>
            </a:r>
          </a:p>
        </p:txBody>
      </p:sp>
      <p:sp>
        <p:nvSpPr>
          <p:cNvPr id="6" name="Karta – Problém"/>
          <p:cNvSpPr>
            <a:spLocks noGrp="1"/>
          </p:cNvSpPr>
          <p:nvPr>
            <p:ph type="body" idx="101" hasCustomPrompt="1"/>
          </p:nvPr>
        </p:nvSpPr>
        <p:spPr>
          <a:xfrm>
            <a:off x="4504246" y="2159000"/>
            <a:ext cx="3183446" cy="1854200"/>
          </a:xfrm>
          <a:prstGeom prst="roundRect">
            <a:avLst>
              <a:gd name="adj" fmla="val 8219"/>
            </a:avLst>
          </a:prstGeom>
          <a:solidFill>
            <a:srgbClr val="FBE7F0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rPr>
              <a:t>PROBLÉM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nefunguje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Co brání růstu nebo co klienty trápí. Např. klienti produkt v aplikaci nevidí.</a:t>
            </a:r>
          </a:p>
        </p:txBody>
      </p:sp>
      <p:sp>
        <p:nvSpPr>
          <p:cNvPr id="7" name="Karta – Řešení"/>
          <p:cNvSpPr>
            <a:spLocks noGrp="1"/>
          </p:cNvSpPr>
          <p:nvPr>
            <p:ph type="body" idx="102" hasCustomPrompt="1"/>
          </p:nvPr>
        </p:nvSpPr>
        <p:spPr>
          <a:xfrm>
            <a:off x="8246554" y="2159000"/>
            <a:ext cx="3183446" cy="1854200"/>
          </a:xfrm>
          <a:prstGeom prst="roundRect">
            <a:avLst>
              <a:gd name="adj" fmla="val 8219"/>
            </a:avLst>
          </a:prstGeom>
          <a:solidFill>
            <a:srgbClr val="E6F7EC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ŘEŠENÍ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navrhujeme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Konkrétní návrh a jeho přínos. Např. pár nových obrazovek, spuštění do měsíce.</a:t>
            </a:r>
          </a:p>
        </p:txBody>
      </p:sp>
      <p:sp>
        <p:nvSpPr>
          <p:cNvPr id="8" name="Výzva"/>
          <p:cNvSpPr>
            <a:spLocks noGrp="1"/>
          </p:cNvSpPr>
          <p:nvPr>
            <p:ph type="body" idx="103" hasCustomPrompt="1"/>
          </p:nvPr>
        </p:nvSpPr>
        <p:spPr>
          <a:xfrm>
            <a:off x="762000" y="4597400"/>
            <a:ext cx="10668000" cy="876300"/>
          </a:xfrm>
          <a:prstGeom prst="roundRect">
            <a:avLst>
              <a:gd name="adj" fmla="val 14493"/>
            </a:avLst>
          </a:prstGeom>
          <a:solidFill>
            <a:srgbClr val="ECEBF8"/>
          </a:solidFill>
          <a:ln>
            <a:noFill/>
          </a:ln>
        </p:spPr>
        <p:txBody>
          <a:bodyPr wrap="square" lIns="304800" tIns="312001" rIns="0" bIns="297599" rtlCol="0" anchor="ctr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Jdete do toho s námi? Navrhujeme spustit pilot do konce Q1.</a:t>
            </a:r>
          </a:p>
        </p:txBody>
      </p:sp>
      <p:pic>
        <p:nvPicPr>
          <p:cNvPr id="9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0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 umíme a co ještě 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451100"/>
            <a:ext cx="7112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STAV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895600"/>
            <a:ext cx="369824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Co umíme a co ještě ne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3403130"/>
            <a:ext cx="357378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Přehled funkcí, výhod a nevýhod nebo plusů a mínusů jednoho řešení.</a:t>
            </a:r>
          </a:p>
        </p:txBody>
      </p:sp>
      <p:sp>
        <p:nvSpPr>
          <p:cNvPr id="6" name="Nadpis seznamu"/>
          <p:cNvSpPr>
            <a:spLocks noGrp="1"/>
          </p:cNvSpPr>
          <p:nvPr>
            <p:ph type="body" idx="100" hasCustomPrompt="1"/>
          </p:nvPr>
        </p:nvSpPr>
        <p:spPr>
          <a:xfrm>
            <a:off x="5003800" y="2171700"/>
            <a:ext cx="27868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Umíme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1" hasCustomPrompt="1"/>
          </p:nvPr>
        </p:nvSpPr>
        <p:spPr>
          <a:xfrm>
            <a:off x="5334000" y="25522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Kontrola zůstatku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2" hasCustomPrompt="1"/>
          </p:nvPr>
        </p:nvSpPr>
        <p:spPr>
          <a:xfrm>
            <a:off x="5334000" y="29205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Vklad peněz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3" hasCustomPrompt="1"/>
          </p:nvPr>
        </p:nvSpPr>
        <p:spPr>
          <a:xfrm>
            <a:off x="5334000" y="32888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Registrace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4" hasCustomPrompt="1"/>
          </p:nvPr>
        </p:nvSpPr>
        <p:spPr>
          <a:xfrm>
            <a:off x="5334000" y="36571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Založení investice</a:t>
            </a:r>
          </a:p>
        </p:txBody>
      </p:sp>
      <p:sp>
        <p:nvSpPr>
          <p:cNvPr id="11" name="Text"/>
          <p:cNvSpPr>
            <a:spLocks noGrp="1"/>
          </p:cNvSpPr>
          <p:nvPr>
            <p:ph type="body" idx="105" hasCustomPrompt="1"/>
          </p:nvPr>
        </p:nvSpPr>
        <p:spPr>
          <a:xfrm>
            <a:off x="5334000" y="40254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Převody a výběry</a:t>
            </a:r>
          </a:p>
        </p:txBody>
      </p:sp>
      <p:sp>
        <p:nvSpPr>
          <p:cNvPr id="12" name="Nadpis seznamu"/>
          <p:cNvSpPr>
            <a:spLocks noGrp="1"/>
          </p:cNvSpPr>
          <p:nvPr>
            <p:ph type="body" idx="106" hasCustomPrompt="1"/>
          </p:nvPr>
        </p:nvSpPr>
        <p:spPr>
          <a:xfrm>
            <a:off x="8445500" y="2171700"/>
            <a:ext cx="278688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rPr>
              <a:t>Zatím neumíme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7" hasCustomPrompt="1"/>
          </p:nvPr>
        </p:nvSpPr>
        <p:spPr>
          <a:xfrm>
            <a:off x="8775700" y="25522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Hybridní poradenství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8" hasCustomPrompt="1"/>
          </p:nvPr>
        </p:nvSpPr>
        <p:spPr>
          <a:xfrm>
            <a:off x="8775700" y="29205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Zakládání firemních účtů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09" hasCustomPrompt="1"/>
          </p:nvPr>
        </p:nvSpPr>
        <p:spPr>
          <a:xfrm>
            <a:off x="8775700" y="3288830"/>
            <a:ext cx="24434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Výpověď účtu</a:t>
            </a:r>
          </a:p>
        </p:txBody>
      </p:sp>
      <p:pic>
        <p:nvPicPr>
          <p:cNvPr id="16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7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likace hraje klíčovou roli v získávání i …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6446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MOBILNÍ APLIKACE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6764655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Aplikace hraje klíčovou roli v získávání i udržení klientů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 hasCustomPrompt="1"/>
          </p:nvPr>
        </p:nvSpPr>
        <p:spPr>
          <a:xfrm>
            <a:off x="762000" y="1968500"/>
            <a:ext cx="3302000" cy="133350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87376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42 %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přímých registrací</a:t>
            </a:r>
          </a:p>
          <a:p>
            <a:pPr marL="0" indent="0" algn="l">
              <a:lnSpc>
                <a:spcPts val="16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začíná rovnou v aplikaci</a:t>
            </a:r>
          </a:p>
        </p:txBody>
      </p:sp>
      <p:sp>
        <p:nvSpPr>
          <p:cNvPr id="6" name="Číslo"/>
          <p:cNvSpPr>
            <a:spLocks noGrp="1"/>
          </p:cNvSpPr>
          <p:nvPr>
            <p:ph type="body" idx="101" hasCustomPrompt="1"/>
          </p:nvPr>
        </p:nvSpPr>
        <p:spPr>
          <a:xfrm>
            <a:off x="4191000" y="1968500"/>
            <a:ext cx="3302000" cy="133350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87376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300 000+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stažení</a:t>
            </a:r>
          </a:p>
          <a:p>
            <a:pPr marL="0" indent="0" algn="l">
              <a:lnSpc>
                <a:spcPts val="16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celkem iOS a Android</a:t>
            </a:r>
          </a:p>
        </p:txBody>
      </p:sp>
      <p:sp>
        <p:nvSpPr>
          <p:cNvPr id="7" name="Číslo"/>
          <p:cNvSpPr>
            <a:spLocks noGrp="1"/>
          </p:cNvSpPr>
          <p:nvPr>
            <p:ph type="body" idx="102" hasCustomPrompt="1"/>
          </p:nvPr>
        </p:nvSpPr>
        <p:spPr>
          <a:xfrm>
            <a:off x="762000" y="3429000"/>
            <a:ext cx="3302000" cy="133350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87376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70 000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aktivních uživatelů</a:t>
            </a:r>
          </a:p>
          <a:p>
            <a:pPr marL="0" indent="0" algn="l">
              <a:lnSpc>
                <a:spcPts val="16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každý měsíc</a:t>
            </a:r>
          </a:p>
        </p:txBody>
      </p:sp>
      <p:sp>
        <p:nvSpPr>
          <p:cNvPr id="8" name="Číslo"/>
          <p:cNvSpPr>
            <a:spLocks noGrp="1"/>
          </p:cNvSpPr>
          <p:nvPr>
            <p:ph type="body" idx="103" hasCustomPrompt="1"/>
          </p:nvPr>
        </p:nvSpPr>
        <p:spPr>
          <a:xfrm>
            <a:off x="4191000" y="3429000"/>
            <a:ext cx="3302000" cy="133350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251866" rIns="87376" bIns="20320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4,4 / 5</a:t>
            </a:r>
          </a:p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hodnocení v App Store</a:t>
            </a:r>
          </a:p>
          <a:p>
            <a:pPr marL="0" indent="0" algn="l">
              <a:lnSpc>
                <a:spcPts val="1600"/>
              </a:lnSpc>
              <a:spcBef>
                <a:spcPts val="3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dlouhodobě vysoká spokojenost</a:t>
            </a:r>
          </a:p>
        </p:txBody>
      </p:sp>
      <p:sp>
        <p:nvSpPr>
          <p:cNvPr id="9" name="Zdroj"/>
          <p:cNvSpPr>
            <a:spLocks noGrp="1"/>
          </p:cNvSpPr>
          <p:nvPr>
            <p:ph type="body" idx="104" hasCustomPrompt="1"/>
          </p:nvPr>
        </p:nvSpPr>
        <p:spPr>
          <a:xfrm>
            <a:off x="762000" y="4904842"/>
            <a:ext cx="700024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Údaje k datu DD. MM. RRRR – před použitím ověřte aktuální čísla.</a:t>
            </a:r>
          </a:p>
        </p:txBody>
      </p:sp>
      <p:sp>
        <p:nvSpPr>
          <p:cNvPr id="10" name="Obrazovka (Fill → Image)"/>
          <p:cNvSpPr>
            <a:spLocks noGrp="1"/>
          </p:cNvSpPr>
          <p:nvPr>
            <p:ph type="pic" idx="20" hasCustomPrompt="1"/>
          </p:nvPr>
        </p:nvSpPr>
        <p:spPr>
          <a:xfrm>
            <a:off x="8680450" y="996950"/>
            <a:ext cx="2197100" cy="4743450"/>
          </a:xfrm>
          <a:prstGeom prst="roundRect">
            <a:avLst>
              <a:gd name="adj" fmla="val 15318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pic>
        <p:nvPicPr>
          <p:cNvPr id="1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ak to vypadá v aplikaci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UKÁZKA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Jak to vypadá v aplikaci</a:t>
            </a:r>
          </a:p>
        </p:txBody>
      </p:sp>
      <p:sp>
        <p:nvSpPr>
          <p:cNvPr id="5" name="Obrazovka (Fill → Image)"/>
          <p:cNvSpPr>
            <a:spLocks noGrp="1"/>
          </p:cNvSpPr>
          <p:nvPr>
            <p:ph type="pic" idx="20"/>
          </p:nvPr>
        </p:nvSpPr>
        <p:spPr>
          <a:xfrm>
            <a:off x="838200" y="1981200"/>
            <a:ext cx="1498600" cy="3238500"/>
          </a:xfrm>
          <a:prstGeom prst="roundRect">
            <a:avLst>
              <a:gd name="adj" fmla="val 15254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Popisek"/>
          <p:cNvSpPr>
            <a:spLocks noGrp="1"/>
          </p:cNvSpPr>
          <p:nvPr>
            <p:ph type="body" idx="100" hasCustomPrompt="1"/>
          </p:nvPr>
        </p:nvSpPr>
        <p:spPr>
          <a:xfrm>
            <a:off x="885825" y="5418595"/>
            <a:ext cx="1473518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1. Přehled</a:t>
            </a:r>
          </a:p>
          <a:p>
            <a:pPr marL="0" indent="0" algn="ctr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Souhrn všech investic</a:t>
            </a:r>
          </a:p>
        </p:txBody>
      </p:sp>
      <p:sp>
        <p:nvSpPr>
          <p:cNvPr id="7" name="Obrazovka (Fill → Image)"/>
          <p:cNvSpPr>
            <a:spLocks noGrp="1"/>
          </p:cNvSpPr>
          <p:nvPr>
            <p:ph type="pic" idx="21"/>
          </p:nvPr>
        </p:nvSpPr>
        <p:spPr>
          <a:xfrm>
            <a:off x="3843846" y="1981200"/>
            <a:ext cx="1498600" cy="3238500"/>
          </a:xfrm>
          <a:prstGeom prst="roundRect">
            <a:avLst>
              <a:gd name="adj" fmla="val 15254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Popisek"/>
          <p:cNvSpPr>
            <a:spLocks noGrp="1"/>
          </p:cNvSpPr>
          <p:nvPr>
            <p:ph type="body" idx="101" hasCustomPrompt="1"/>
          </p:nvPr>
        </p:nvSpPr>
        <p:spPr>
          <a:xfrm>
            <a:off x="4027996" y="5418595"/>
            <a:ext cx="1186815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2. Detail produktu</a:t>
            </a:r>
          </a:p>
          <a:p>
            <a:pPr marL="0" indent="0" algn="ctr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Výnos a složení</a:t>
            </a:r>
          </a:p>
        </p:txBody>
      </p:sp>
      <p:sp>
        <p:nvSpPr>
          <p:cNvPr id="9" name="Obrazovka (Fill → Image)"/>
          <p:cNvSpPr>
            <a:spLocks noGrp="1"/>
          </p:cNvSpPr>
          <p:nvPr>
            <p:ph type="pic" idx="22"/>
          </p:nvPr>
        </p:nvSpPr>
        <p:spPr>
          <a:xfrm>
            <a:off x="6849554" y="1981200"/>
            <a:ext cx="1498600" cy="3238500"/>
          </a:xfrm>
          <a:prstGeom prst="roundRect">
            <a:avLst>
              <a:gd name="adj" fmla="val 15254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Popisek"/>
          <p:cNvSpPr>
            <a:spLocks noGrp="1"/>
          </p:cNvSpPr>
          <p:nvPr>
            <p:ph type="body" idx="102" hasCustomPrompt="1"/>
          </p:nvPr>
        </p:nvSpPr>
        <p:spPr>
          <a:xfrm>
            <a:off x="6817804" y="5418595"/>
            <a:ext cx="1640205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3. Vklad</a:t>
            </a:r>
          </a:p>
          <a:p>
            <a:pPr marL="0" indent="0" algn="ctr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Platba během pár vteřin</a:t>
            </a:r>
          </a:p>
        </p:txBody>
      </p:sp>
      <p:sp>
        <p:nvSpPr>
          <p:cNvPr id="11" name="Obrazovka (Fill → Image)"/>
          <p:cNvSpPr>
            <a:spLocks noGrp="1"/>
          </p:cNvSpPr>
          <p:nvPr>
            <p:ph type="pic" idx="23"/>
          </p:nvPr>
        </p:nvSpPr>
        <p:spPr>
          <a:xfrm>
            <a:off x="9855200" y="1981200"/>
            <a:ext cx="1498600" cy="3238500"/>
          </a:xfrm>
          <a:prstGeom prst="roundRect">
            <a:avLst>
              <a:gd name="adj" fmla="val 15254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Popisek"/>
          <p:cNvSpPr>
            <a:spLocks noGrp="1"/>
          </p:cNvSpPr>
          <p:nvPr>
            <p:ph type="body" idx="103" hasCustomPrompt="1"/>
          </p:nvPr>
        </p:nvSpPr>
        <p:spPr>
          <a:xfrm>
            <a:off x="9988550" y="5418595"/>
            <a:ext cx="1293495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4. Potvrzení</a:t>
            </a:r>
          </a:p>
          <a:p>
            <a:pPr marL="0" indent="0" algn="ctr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Hotovo, investujete</a:t>
            </a:r>
          </a:p>
        </p:txBody>
      </p:sp>
      <p:pic>
        <p:nvPicPr>
          <p:cNvPr id="1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4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 koho je produkt a kam chceme růs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5049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CÍLOVÁ SKUPINA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Pro koho je produkt a kam chceme růst</a:t>
            </a:r>
          </a:p>
        </p:txBody>
      </p:sp>
      <p:sp>
        <p:nvSpPr>
          <p:cNvPr id="5" name="Dnes"/>
          <p:cNvSpPr>
            <a:spLocks noGrp="1"/>
          </p:cNvSpPr>
          <p:nvPr>
            <p:ph type="body" idx="100" hasCustomPrompt="1"/>
          </p:nvPr>
        </p:nvSpPr>
        <p:spPr>
          <a:xfrm>
            <a:off x="762000" y="1968500"/>
            <a:ext cx="3556000" cy="3187700"/>
          </a:xfrm>
          <a:prstGeom prst="roundRect">
            <a:avLst>
              <a:gd name="adj" fmla="val 4781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04927" rIns="290068" bIns="30480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DNES</a:t>
            </a:r>
          </a:p>
          <a:p>
            <a:pPr marL="0" indent="0" algn="l">
              <a:lnSpc>
                <a:spcPts val="2100"/>
              </a:lnSpc>
              <a:spcBef>
                <a:spcPts val="10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Naši současní klienti</a:t>
            </a:r>
          </a:p>
          <a:p>
            <a:pPr marL="0" indent="0" algn="l">
              <a:lnSpc>
                <a:spcPts val="1600"/>
              </a:lnSpc>
              <a:spcBef>
                <a:spcPts val="8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• Vzdělanější a finančně jistější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• Žijí ve větších městech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• Digitálně zdatní early adopteři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• Zkušení investoři, kteří si Portu našli sami</a:t>
            </a:r>
          </a:p>
        </p:txBody>
      </p:sp>
      <p:sp>
        <p:nvSpPr>
          <p:cNvPr id="6" name="Štítek"/>
          <p:cNvSpPr>
            <a:spLocks noGrp="1"/>
          </p:cNvSpPr>
          <p:nvPr>
            <p:ph type="body" idx="101" hasCustomPrompt="1"/>
          </p:nvPr>
        </p:nvSpPr>
        <p:spPr>
          <a:xfrm>
            <a:off x="4826000" y="2273300"/>
            <a:ext cx="1360170" cy="1651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KAM CHCEME RŮST</a:t>
            </a:r>
          </a:p>
        </p:txBody>
      </p:sp>
      <p:sp>
        <p:nvSpPr>
          <p:cNvPr id="7" name="Název"/>
          <p:cNvSpPr>
            <a:spLocks noGrp="1"/>
          </p:cNvSpPr>
          <p:nvPr>
            <p:ph type="body" idx="102" hasCustomPrompt="1"/>
          </p:nvPr>
        </p:nvSpPr>
        <p:spPr>
          <a:xfrm>
            <a:off x="4826000" y="2590800"/>
            <a:ext cx="65511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Širší a běžnější populace</a:t>
            </a:r>
          </a:p>
        </p:txBody>
      </p:sp>
      <p:sp>
        <p:nvSpPr>
          <p:cNvPr id="8" name="Popis"/>
          <p:cNvSpPr>
            <a:spLocks noGrp="1"/>
          </p:cNvSpPr>
          <p:nvPr>
            <p:ph type="body" idx="103" hasCustomPrompt="1"/>
          </p:nvPr>
        </p:nvSpPr>
        <p:spPr>
          <a:xfrm>
            <a:off x="4826000" y="2999245"/>
            <a:ext cx="6551168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Méně zkušení klienti s nižší finanční jistotou, více žen a rodin s konkrétními potřebami.</a:t>
            </a:r>
          </a:p>
        </p:txBody>
      </p:sp>
      <p:sp>
        <p:nvSpPr>
          <p:cNvPr id="9" name="Co chtějí"/>
          <p:cNvSpPr>
            <a:spLocks noGrp="1"/>
          </p:cNvSpPr>
          <p:nvPr>
            <p:ph type="body" idx="104" hasCustomPrompt="1"/>
          </p:nvPr>
        </p:nvSpPr>
        <p:spPr>
          <a:xfrm>
            <a:off x="4826000" y="3365500"/>
            <a:ext cx="3086100" cy="1485900"/>
          </a:xfrm>
          <a:prstGeom prst="roundRect">
            <a:avLst>
              <a:gd name="adj" fmla="val 683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 wrap="square" lIns="203200" tIns="198895" rIns="189802" bIns="203200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Co chtějí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Důvěryhodného dlouhodobého partnera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Klid, bezpečí a srozumitelnost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Nemuset nic sledovat</a:t>
            </a:r>
          </a:p>
        </p:txBody>
      </p:sp>
      <p:sp>
        <p:nvSpPr>
          <p:cNvPr id="10" name="Čeho se bojí"/>
          <p:cNvSpPr>
            <a:spLocks noGrp="1"/>
          </p:cNvSpPr>
          <p:nvPr>
            <p:ph type="body" idx="105" hasCustomPrompt="1"/>
          </p:nvPr>
        </p:nvSpPr>
        <p:spPr>
          <a:xfrm>
            <a:off x="8039100" y="3365500"/>
            <a:ext cx="3086100" cy="1485900"/>
          </a:xfrm>
          <a:prstGeom prst="roundRect">
            <a:avLst>
              <a:gd name="adj" fmla="val 683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 wrap="square" lIns="203200" tIns="198895" rIns="189802" bIns="203200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Čeho se bojí</a:t>
            </a:r>
          </a:p>
          <a:p>
            <a:pPr marL="0" indent="0" algn="l">
              <a:lnSpc>
                <a:spcPts val="1600"/>
              </a:lnSpc>
              <a:spcBef>
                <a:spcPts val="5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Že udělají chybu nebo naletí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Skrytých poplatků a pastí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• Že na to nemají znalosti</a:t>
            </a:r>
          </a:p>
        </p:txBody>
      </p:sp>
      <p:pic>
        <p:nvPicPr>
          <p:cNvPr id="1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 si navzájem přináší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2763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PARTNERSTVÍ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Co si navzájem přinášíme</a:t>
            </a:r>
          </a:p>
        </p:txBody>
      </p:sp>
      <p:sp>
        <p:nvSpPr>
          <p:cNvPr id="5" name="Název"/>
          <p:cNvSpPr>
            <a:spLocks noGrp="1"/>
          </p:cNvSpPr>
          <p:nvPr>
            <p:ph type="body" idx="100" hasCustomPrompt="1"/>
          </p:nvPr>
        </p:nvSpPr>
        <p:spPr>
          <a:xfrm>
            <a:off x="1066800" y="2667000"/>
            <a:ext cx="45699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přináší Portu</a:t>
            </a:r>
          </a:p>
        </p:txBody>
      </p:sp>
      <p:sp>
        <p:nvSpPr>
          <p:cNvPr id="6" name="Text"/>
          <p:cNvSpPr>
            <a:spLocks noGrp="1"/>
          </p:cNvSpPr>
          <p:nvPr>
            <p:ph type="body" idx="101" hasCustomPrompt="1"/>
          </p:nvPr>
        </p:nvSpPr>
        <p:spPr>
          <a:xfrm>
            <a:off x="1447800" y="30792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340 000 aktivních retailových klientů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2" hasCustomPrompt="1"/>
          </p:nvPr>
        </p:nvSpPr>
        <p:spPr>
          <a:xfrm>
            <a:off x="1447800" y="34348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Silná a důvěryhodná spotřebitelská značka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3" hasCustomPrompt="1"/>
          </p:nvPr>
        </p:nvSpPr>
        <p:spPr>
          <a:xfrm>
            <a:off x="1447800" y="37904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Digitální distribuce a data o chování klientů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4" hasCustomPrompt="1"/>
          </p:nvPr>
        </p:nvSpPr>
        <p:spPr>
          <a:xfrm>
            <a:off x="1447800" y="41460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Schopnost vysvětlit produkt ve správnou chvíli</a:t>
            </a:r>
          </a:p>
        </p:txBody>
      </p:sp>
      <p:sp>
        <p:nvSpPr>
          <p:cNvPr id="10" name="Plus"/>
          <p:cNvSpPr>
            <a:spLocks noGrp="1"/>
          </p:cNvSpPr>
          <p:nvPr>
            <p:ph type="body" idx="105" hasCustomPrompt="1"/>
          </p:nvPr>
        </p:nvSpPr>
        <p:spPr>
          <a:xfrm>
            <a:off x="5918200" y="3130550"/>
            <a:ext cx="355600" cy="3556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</a:t>
            </a:r>
          </a:p>
        </p:txBody>
      </p:sp>
      <p:sp>
        <p:nvSpPr>
          <p:cNvPr id="11" name="Logo partnera"/>
          <p:cNvSpPr>
            <a:spLocks noGrp="1"/>
          </p:cNvSpPr>
          <p:nvPr>
            <p:ph type="pic" idx="20" hasCustomPrompt="1"/>
          </p:nvPr>
        </p:nvSpPr>
        <p:spPr>
          <a:xfrm>
            <a:off x="6737350" y="2216150"/>
            <a:ext cx="889000" cy="292100"/>
          </a:xfrm>
          <a:prstGeom prst="roundRect">
            <a:avLst>
              <a:gd name="adj" fmla="val 2391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2" name="Název"/>
          <p:cNvSpPr>
            <a:spLocks noGrp="1"/>
          </p:cNvSpPr>
          <p:nvPr>
            <p:ph type="body" idx="106" hasCustomPrompt="1"/>
          </p:nvPr>
        </p:nvSpPr>
        <p:spPr>
          <a:xfrm>
            <a:off x="6731000" y="2667000"/>
            <a:ext cx="4569968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přináší partner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7" hasCustomPrompt="1"/>
          </p:nvPr>
        </p:nvSpPr>
        <p:spPr>
          <a:xfrm>
            <a:off x="7112000" y="30792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Know-how a hluboká znalost produktu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8" hasCustomPrompt="1"/>
          </p:nvPr>
        </p:nvSpPr>
        <p:spPr>
          <a:xfrm>
            <a:off x="7112000" y="34348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Důvěryhodnost a silné institucionální zázemí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09" hasCustomPrompt="1"/>
          </p:nvPr>
        </p:nvSpPr>
        <p:spPr>
          <a:xfrm>
            <a:off x="7112000" y="37904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Unikátní produkty a investiční příležitosti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0" hasCustomPrompt="1"/>
          </p:nvPr>
        </p:nvSpPr>
        <p:spPr>
          <a:xfrm>
            <a:off x="7112000" y="4146080"/>
            <a:ext cx="4173728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Řešení pro náročnější klienty</a:t>
            </a:r>
          </a:p>
        </p:txBody>
      </p:sp>
      <p:sp>
        <p:nvSpPr>
          <p:cNvPr id="17" name="Shrnutí"/>
          <p:cNvSpPr>
            <a:spLocks noGrp="1"/>
          </p:cNvSpPr>
          <p:nvPr>
            <p:ph type="body" idx="111" hasCustomPrompt="1"/>
          </p:nvPr>
        </p:nvSpPr>
        <p:spPr>
          <a:xfrm>
            <a:off x="762000" y="5207000"/>
            <a:ext cx="10668000" cy="647700"/>
          </a:xfrm>
          <a:prstGeom prst="roundRect">
            <a:avLst>
              <a:gd name="adj" fmla="val 19608"/>
            </a:avLst>
          </a:prstGeom>
          <a:solidFill>
            <a:srgbClr val="ECEBF8"/>
          </a:solidFill>
          <a:ln>
            <a:noFill/>
          </a:ln>
        </p:spPr>
        <p:txBody>
          <a:bodyPr wrap="square" lIns="203200" tIns="190030" rIns="0" bIns="216370" rtlCol="0" anchor="ctr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Společně nabídneme klientům relevantní řešení ve chvíli, kdy ho potřebují – v prostředí, kterému důvěřují.</a:t>
            </a:r>
          </a:p>
        </p:txBody>
      </p:sp>
      <p:pic>
        <p:nvPicPr>
          <p:cNvPr id="1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ím víc investujete, tím méně platí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0731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POPLATKY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Čím víc investujete, tím méně platíte</a:t>
            </a:r>
          </a:p>
        </p:txBody>
      </p:sp>
      <p:sp>
        <p:nvSpPr>
          <p:cNvPr id="5" name="Záhlaví"/>
          <p:cNvSpPr>
            <a:spLocks noGrp="1"/>
          </p:cNvSpPr>
          <p:nvPr>
            <p:ph type="body" idx="100" hasCustomPrompt="1"/>
          </p:nvPr>
        </p:nvSpPr>
        <p:spPr>
          <a:xfrm>
            <a:off x="965200" y="2235200"/>
            <a:ext cx="2253615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Start</a:t>
            </a:r>
          </a:p>
        </p:txBody>
      </p:sp>
      <p:sp>
        <p:nvSpPr>
          <p:cNvPr id="6" name="Rozsah"/>
          <p:cNvSpPr>
            <a:spLocks noGrp="1"/>
          </p:cNvSpPr>
          <p:nvPr>
            <p:ph type="body" idx="101" hasCustomPrompt="1"/>
          </p:nvPr>
        </p:nvSpPr>
        <p:spPr>
          <a:xfrm>
            <a:off x="965200" y="25928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do 500 000 Kč</a:t>
            </a:r>
          </a:p>
        </p:txBody>
      </p:sp>
      <p:sp>
        <p:nvSpPr>
          <p:cNvPr id="7" name="Poplatek"/>
          <p:cNvSpPr>
            <a:spLocks noGrp="1"/>
          </p:cNvSpPr>
          <p:nvPr>
            <p:ph type="body" idx="102" hasCustomPrompt="1"/>
          </p:nvPr>
        </p:nvSpPr>
        <p:spPr>
          <a:xfrm>
            <a:off x="965200" y="2908300"/>
            <a:ext cx="223215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48666" rIns="0" bIns="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1,0 %</a:t>
            </a:r>
          </a:p>
        </p:txBody>
      </p:sp>
      <p:sp>
        <p:nvSpPr>
          <p:cNvPr id="8" name="Jednotka"/>
          <p:cNvSpPr>
            <a:spLocks noGrp="1"/>
          </p:cNvSpPr>
          <p:nvPr>
            <p:ph type="body" idx="103" hasCustomPrompt="1"/>
          </p:nvPr>
        </p:nvSpPr>
        <p:spPr>
          <a:xfrm>
            <a:off x="965200" y="34310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ročně z objemu majetku</a:t>
            </a:r>
          </a:p>
        </p:txBody>
      </p:sp>
      <p:sp>
        <p:nvSpPr>
          <p:cNvPr id="9" name="Text"/>
          <p:cNvSpPr>
            <a:spLocks noGrp="1"/>
          </p:cNvSpPr>
          <p:nvPr>
            <p:ph type="body" idx="104" hasCustomPrompt="1"/>
          </p:nvPr>
        </p:nvSpPr>
        <p:spPr>
          <a:xfrm>
            <a:off x="1346200" y="38158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Výhoda úrovně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5" hasCustomPrompt="1"/>
          </p:nvPr>
        </p:nvSpPr>
        <p:spPr>
          <a:xfrm>
            <a:off x="1346200" y="41460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Další výhoda</a:t>
            </a:r>
          </a:p>
        </p:txBody>
      </p:sp>
      <p:sp>
        <p:nvSpPr>
          <p:cNvPr id="11" name="Název úrovně"/>
          <p:cNvSpPr>
            <a:spLocks noGrp="1"/>
          </p:cNvSpPr>
          <p:nvPr>
            <p:ph type="body" idx="106" hasCustomPrompt="1"/>
          </p:nvPr>
        </p:nvSpPr>
        <p:spPr>
          <a:xfrm>
            <a:off x="3670300" y="2247900"/>
            <a:ext cx="926782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Standard</a:t>
            </a:r>
          </a:p>
        </p:txBody>
      </p:sp>
      <p:sp>
        <p:nvSpPr>
          <p:cNvPr id="12" name="Štítek"/>
          <p:cNvSpPr>
            <a:spLocks noGrp="1"/>
          </p:cNvSpPr>
          <p:nvPr>
            <p:ph type="body" idx="107" hasCustomPrompt="1"/>
          </p:nvPr>
        </p:nvSpPr>
        <p:spPr>
          <a:xfrm>
            <a:off x="4648200" y="2235200"/>
            <a:ext cx="1270000" cy="2921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NEJČASTĚJŠÍ</a:t>
            </a:r>
          </a:p>
        </p:txBody>
      </p:sp>
      <p:sp>
        <p:nvSpPr>
          <p:cNvPr id="13" name="Rozsah"/>
          <p:cNvSpPr>
            <a:spLocks noGrp="1"/>
          </p:cNvSpPr>
          <p:nvPr>
            <p:ph type="body" idx="108" hasCustomPrompt="1"/>
          </p:nvPr>
        </p:nvSpPr>
        <p:spPr>
          <a:xfrm>
            <a:off x="3670300" y="26182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500 000 – 2 mil. Kč</a:t>
            </a:r>
          </a:p>
        </p:txBody>
      </p:sp>
      <p:sp>
        <p:nvSpPr>
          <p:cNvPr id="14" name="Poplatek"/>
          <p:cNvSpPr>
            <a:spLocks noGrp="1"/>
          </p:cNvSpPr>
          <p:nvPr>
            <p:ph type="body" idx="109" hasCustomPrompt="1"/>
          </p:nvPr>
        </p:nvSpPr>
        <p:spPr>
          <a:xfrm>
            <a:off x="3670300" y="2933700"/>
            <a:ext cx="223215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48666" rIns="0" bIns="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0,9 %</a:t>
            </a:r>
          </a:p>
        </p:txBody>
      </p:sp>
      <p:sp>
        <p:nvSpPr>
          <p:cNvPr id="15" name="Jednotka"/>
          <p:cNvSpPr>
            <a:spLocks noGrp="1"/>
          </p:cNvSpPr>
          <p:nvPr>
            <p:ph type="body" idx="110" hasCustomPrompt="1"/>
          </p:nvPr>
        </p:nvSpPr>
        <p:spPr>
          <a:xfrm>
            <a:off x="3670300" y="34564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ročně z objemu majetku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1" hasCustomPrompt="1"/>
          </p:nvPr>
        </p:nvSpPr>
        <p:spPr>
          <a:xfrm>
            <a:off x="4051300" y="38412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Výhoda úrovně</a:t>
            </a:r>
          </a:p>
        </p:txBody>
      </p:sp>
      <p:sp>
        <p:nvSpPr>
          <p:cNvPr id="17" name="Text"/>
          <p:cNvSpPr>
            <a:spLocks noGrp="1"/>
          </p:cNvSpPr>
          <p:nvPr>
            <p:ph type="body" idx="112" hasCustomPrompt="1"/>
          </p:nvPr>
        </p:nvSpPr>
        <p:spPr>
          <a:xfrm>
            <a:off x="4051300" y="41714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Další výhoda</a:t>
            </a:r>
          </a:p>
        </p:txBody>
      </p:sp>
      <p:sp>
        <p:nvSpPr>
          <p:cNvPr id="18" name="Záhlaví"/>
          <p:cNvSpPr>
            <a:spLocks noGrp="1"/>
          </p:cNvSpPr>
          <p:nvPr>
            <p:ph type="body" idx="113" hasCustomPrompt="1"/>
          </p:nvPr>
        </p:nvSpPr>
        <p:spPr>
          <a:xfrm>
            <a:off x="6375400" y="2235200"/>
            <a:ext cx="2253615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Plus</a:t>
            </a:r>
          </a:p>
        </p:txBody>
      </p:sp>
      <p:sp>
        <p:nvSpPr>
          <p:cNvPr id="19" name="Rozsah"/>
          <p:cNvSpPr>
            <a:spLocks noGrp="1"/>
          </p:cNvSpPr>
          <p:nvPr>
            <p:ph type="body" idx="114" hasCustomPrompt="1"/>
          </p:nvPr>
        </p:nvSpPr>
        <p:spPr>
          <a:xfrm>
            <a:off x="6375400" y="25928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2 – 5 mil. Kč</a:t>
            </a:r>
          </a:p>
        </p:txBody>
      </p:sp>
      <p:sp>
        <p:nvSpPr>
          <p:cNvPr id="20" name="Poplatek"/>
          <p:cNvSpPr>
            <a:spLocks noGrp="1"/>
          </p:cNvSpPr>
          <p:nvPr>
            <p:ph type="body" idx="115" hasCustomPrompt="1"/>
          </p:nvPr>
        </p:nvSpPr>
        <p:spPr>
          <a:xfrm>
            <a:off x="6375400" y="2908300"/>
            <a:ext cx="223215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48666" rIns="0" bIns="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0,8 %</a:t>
            </a:r>
          </a:p>
        </p:txBody>
      </p:sp>
      <p:sp>
        <p:nvSpPr>
          <p:cNvPr id="21" name="Jednotka"/>
          <p:cNvSpPr>
            <a:spLocks noGrp="1"/>
          </p:cNvSpPr>
          <p:nvPr>
            <p:ph type="body" idx="116" hasCustomPrompt="1"/>
          </p:nvPr>
        </p:nvSpPr>
        <p:spPr>
          <a:xfrm>
            <a:off x="6375400" y="34310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ročně z objemu majetku</a:t>
            </a:r>
          </a:p>
        </p:txBody>
      </p:sp>
      <p:sp>
        <p:nvSpPr>
          <p:cNvPr id="22" name="Text"/>
          <p:cNvSpPr>
            <a:spLocks noGrp="1"/>
          </p:cNvSpPr>
          <p:nvPr>
            <p:ph type="body" idx="117" hasCustomPrompt="1"/>
          </p:nvPr>
        </p:nvSpPr>
        <p:spPr>
          <a:xfrm>
            <a:off x="6756400" y="38158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Výhoda úrovně</a:t>
            </a:r>
          </a:p>
        </p:txBody>
      </p:sp>
      <p:sp>
        <p:nvSpPr>
          <p:cNvPr id="23" name="Text"/>
          <p:cNvSpPr>
            <a:spLocks noGrp="1"/>
          </p:cNvSpPr>
          <p:nvPr>
            <p:ph type="body" idx="118" hasCustomPrompt="1"/>
          </p:nvPr>
        </p:nvSpPr>
        <p:spPr>
          <a:xfrm>
            <a:off x="6756400" y="41460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Další výhoda</a:t>
            </a:r>
          </a:p>
        </p:txBody>
      </p:sp>
      <p:sp>
        <p:nvSpPr>
          <p:cNvPr id="24" name="Záhlaví"/>
          <p:cNvSpPr>
            <a:spLocks noGrp="1"/>
          </p:cNvSpPr>
          <p:nvPr>
            <p:ph type="body" idx="119" hasCustomPrompt="1"/>
          </p:nvPr>
        </p:nvSpPr>
        <p:spPr>
          <a:xfrm>
            <a:off x="9080500" y="2235200"/>
            <a:ext cx="2253615" cy="266700"/>
          </a:xfrm>
          <a:prstGeom prst="rect">
            <a:avLst/>
          </a:prstGeom>
          <a:noFill/>
          <a:ln>
            <a:noFill/>
          </a:ln>
        </p:spPr>
        <p:txBody>
          <a:bodyPr wrap="none" lIns="0" tIns="7201" rIns="0" bIns="0" rtlCol="0" anchor="ctr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Premium</a:t>
            </a:r>
          </a:p>
        </p:txBody>
      </p:sp>
      <p:sp>
        <p:nvSpPr>
          <p:cNvPr id="25" name="Rozsah"/>
          <p:cNvSpPr>
            <a:spLocks noGrp="1"/>
          </p:cNvSpPr>
          <p:nvPr>
            <p:ph type="body" idx="120" hasCustomPrompt="1"/>
          </p:nvPr>
        </p:nvSpPr>
        <p:spPr>
          <a:xfrm>
            <a:off x="9080500" y="25928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nad 5 mil. Kč</a:t>
            </a:r>
          </a:p>
        </p:txBody>
      </p:sp>
      <p:sp>
        <p:nvSpPr>
          <p:cNvPr id="26" name="Poplatek"/>
          <p:cNvSpPr>
            <a:spLocks noGrp="1"/>
          </p:cNvSpPr>
          <p:nvPr>
            <p:ph type="body" idx="121" hasCustomPrompt="1"/>
          </p:nvPr>
        </p:nvSpPr>
        <p:spPr>
          <a:xfrm>
            <a:off x="9080500" y="2908300"/>
            <a:ext cx="223215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48666" rIns="0" bIns="0" rtlCol="0" anchor="t" anchorCtr="0">
            <a:noAutofit/>
          </a:bodyPr>
          <a:lstStyle>
            <a:lvl1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  <a:defRPr sz="3200" b="1" kern="0" cap="none" spc="-75">
                <a:solidFill>
                  <a:schemeClr val="accent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200" b="1" kern="0" cap="none" spc="-75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0,6 %</a:t>
            </a:r>
          </a:p>
        </p:txBody>
      </p:sp>
      <p:sp>
        <p:nvSpPr>
          <p:cNvPr id="27" name="Jednotka"/>
          <p:cNvSpPr>
            <a:spLocks noGrp="1"/>
          </p:cNvSpPr>
          <p:nvPr>
            <p:ph type="body" idx="122" hasCustomPrompt="1"/>
          </p:nvPr>
        </p:nvSpPr>
        <p:spPr>
          <a:xfrm>
            <a:off x="9080500" y="3431045"/>
            <a:ext cx="2232152" cy="203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ročně z objemu majetku</a:t>
            </a:r>
          </a:p>
        </p:txBody>
      </p:sp>
      <p:sp>
        <p:nvSpPr>
          <p:cNvPr id="28" name="Text"/>
          <p:cNvSpPr>
            <a:spLocks noGrp="1"/>
          </p:cNvSpPr>
          <p:nvPr>
            <p:ph type="body" idx="123" hasCustomPrompt="1"/>
          </p:nvPr>
        </p:nvSpPr>
        <p:spPr>
          <a:xfrm>
            <a:off x="9461500" y="38158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Výhoda úrovně</a:t>
            </a:r>
          </a:p>
        </p:txBody>
      </p:sp>
      <p:sp>
        <p:nvSpPr>
          <p:cNvPr id="29" name="Text"/>
          <p:cNvSpPr>
            <a:spLocks noGrp="1"/>
          </p:cNvSpPr>
          <p:nvPr>
            <p:ph type="body" idx="124" hasCustomPrompt="1"/>
          </p:nvPr>
        </p:nvSpPr>
        <p:spPr>
          <a:xfrm>
            <a:off x="9461500" y="4146080"/>
            <a:ext cx="183591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tx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Další výhoda</a:t>
            </a:r>
          </a:p>
        </p:txBody>
      </p:sp>
      <p:sp>
        <p:nvSpPr>
          <p:cNvPr id="30" name="Poznámka"/>
          <p:cNvSpPr>
            <a:spLocks noGrp="1"/>
          </p:cNvSpPr>
          <p:nvPr>
            <p:ph type="body" idx="125" hasCustomPrompt="1"/>
          </p:nvPr>
        </p:nvSpPr>
        <p:spPr>
          <a:xfrm>
            <a:off x="762000" y="477784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ceník – nahraďte aktuálními hodnotami. Platný ceník najdete na portu.cz.</a:t>
            </a:r>
          </a:p>
        </p:txBody>
      </p:sp>
      <p:pic>
        <p:nvPicPr>
          <p:cNvPr id="31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32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ik můžete mít za 30 let?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8161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MODELOVÝ VÝPOČET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Kolik můžete mít za 30 let?</a:t>
            </a:r>
          </a:p>
        </p:txBody>
      </p:sp>
      <p:sp>
        <p:nvSpPr>
          <p:cNvPr id="5" name="Vstup – Měsíční investice"/>
          <p:cNvSpPr>
            <a:spLocks noGrp="1"/>
          </p:cNvSpPr>
          <p:nvPr>
            <p:ph type="body" idx="100" hasCustomPrompt="1"/>
          </p:nvPr>
        </p:nvSpPr>
        <p:spPr>
          <a:xfrm>
            <a:off x="762000" y="2139950"/>
            <a:ext cx="3556000" cy="1028700"/>
          </a:xfrm>
          <a:prstGeom prst="roundRect">
            <a:avLst>
              <a:gd name="adj" fmla="val 1234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192545" rIns="77216" bIns="203200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Měsíční investice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4 000 Kč</a:t>
            </a:r>
          </a:p>
        </p:txBody>
      </p:sp>
      <p:sp>
        <p:nvSpPr>
          <p:cNvPr id="6" name="Vstup – Investiční horizont"/>
          <p:cNvSpPr>
            <a:spLocks noGrp="1"/>
          </p:cNvSpPr>
          <p:nvPr>
            <p:ph type="body" idx="101" hasCustomPrompt="1"/>
          </p:nvPr>
        </p:nvSpPr>
        <p:spPr>
          <a:xfrm>
            <a:off x="762000" y="3295650"/>
            <a:ext cx="3556000" cy="1028700"/>
          </a:xfrm>
          <a:prstGeom prst="roundRect">
            <a:avLst>
              <a:gd name="adj" fmla="val 1234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192545" rIns="77216" bIns="203200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Investiční horizont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30 let</a:t>
            </a:r>
          </a:p>
        </p:txBody>
      </p:sp>
      <p:sp>
        <p:nvSpPr>
          <p:cNvPr id="7" name="Vstup – Modelové zhodnocení"/>
          <p:cNvSpPr>
            <a:spLocks noGrp="1"/>
          </p:cNvSpPr>
          <p:nvPr>
            <p:ph type="body" idx="102" hasCustomPrompt="1"/>
          </p:nvPr>
        </p:nvSpPr>
        <p:spPr>
          <a:xfrm>
            <a:off x="762000" y="4451350"/>
            <a:ext cx="3556000" cy="1028700"/>
          </a:xfrm>
          <a:prstGeom prst="roundRect">
            <a:avLst>
              <a:gd name="adj" fmla="val 12346"/>
            </a:avLst>
          </a:prstGeom>
          <a:solidFill>
            <a:schemeClr val="bg2"/>
          </a:solidFill>
          <a:ln>
            <a:noFill/>
          </a:ln>
        </p:spPr>
        <p:txBody>
          <a:bodyPr wrap="square" lIns="203200" tIns="192545" rIns="77216" bIns="203200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Modelové zhodnocení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9 % p.a.</a:t>
            </a:r>
          </a:p>
        </p:txBody>
      </p:sp>
      <p:sp>
        <p:nvSpPr>
          <p:cNvPr id="8" name="Obsah výsledku"/>
          <p:cNvSpPr>
            <a:spLocks noGrp="1"/>
          </p:cNvSpPr>
          <p:nvPr>
            <p:ph type="body" idx="103" hasCustomPrompt="1"/>
          </p:nvPr>
        </p:nvSpPr>
        <p:spPr>
          <a:xfrm>
            <a:off x="5537200" y="3054350"/>
            <a:ext cx="5705856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VÝSLEDNÁ HODNOTA</a:t>
            </a:r>
          </a:p>
          <a:p>
            <a:pPr marL="0" indent="0" algn="l">
              <a:lnSpc>
                <a:spcPts val="4800"/>
              </a:lnSpc>
              <a:spcBef>
                <a:spcPts val="1324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7,3 mil. Kč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z toho vaše vklady 1,44 mil. Kč, zbytek je zhodnocení</a:t>
            </a:r>
          </a:p>
        </p:txBody>
      </p:sp>
      <p:sp>
        <p:nvSpPr>
          <p:cNvPr id="9" name="Upozornění"/>
          <p:cNvSpPr>
            <a:spLocks noGrp="1"/>
          </p:cNvSpPr>
          <p:nvPr>
            <p:ph type="body" idx="104" hasCustomPrompt="1"/>
          </p:nvPr>
        </p:nvSpPr>
        <p:spPr>
          <a:xfrm>
            <a:off x="762000" y="5768442"/>
            <a:ext cx="110947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Ilustrativní výpočet s měsíčním připisováním výnosu, nezohledňuje poplatky ani daně. Minulé ani modelové výnosy nejsou zárukou budoucích výnosů.</a:t>
            </a:r>
          </a:p>
        </p:txBody>
      </p:sp>
      <p:pic>
        <p:nvPicPr>
          <p:cNvPr id="10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1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lupracujeme s nejlepším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0223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PARTNEŘI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1109472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Spolupracujeme s nejlepšími</a:t>
            </a:r>
          </a:p>
        </p:txBody>
      </p:sp>
      <p:sp>
        <p:nvSpPr>
          <p:cNvPr id="5" name="Logo partnera"/>
          <p:cNvSpPr>
            <a:spLocks noGrp="1"/>
          </p:cNvSpPr>
          <p:nvPr>
            <p:ph type="pic" idx="20" hasCustomPrompt="1"/>
          </p:nvPr>
        </p:nvSpPr>
        <p:spPr>
          <a:xfrm>
            <a:off x="102489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6" name="Logo partnera"/>
          <p:cNvSpPr>
            <a:spLocks noGrp="1"/>
          </p:cNvSpPr>
          <p:nvPr>
            <p:ph type="pic" idx="21" hasCustomPrompt="1"/>
          </p:nvPr>
        </p:nvSpPr>
        <p:spPr>
          <a:xfrm>
            <a:off x="318897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7" name="Logo partnera"/>
          <p:cNvSpPr>
            <a:spLocks noGrp="1"/>
          </p:cNvSpPr>
          <p:nvPr>
            <p:ph type="pic" idx="22" hasCustomPrompt="1"/>
          </p:nvPr>
        </p:nvSpPr>
        <p:spPr>
          <a:xfrm>
            <a:off x="535305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8" name="Logo partnera"/>
          <p:cNvSpPr>
            <a:spLocks noGrp="1"/>
          </p:cNvSpPr>
          <p:nvPr>
            <p:ph type="pic" idx="23" hasCustomPrompt="1"/>
          </p:nvPr>
        </p:nvSpPr>
        <p:spPr>
          <a:xfrm>
            <a:off x="751713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9" name="Logo partnera"/>
          <p:cNvSpPr>
            <a:spLocks noGrp="1"/>
          </p:cNvSpPr>
          <p:nvPr>
            <p:ph type="pic" idx="24" hasCustomPrompt="1"/>
          </p:nvPr>
        </p:nvSpPr>
        <p:spPr>
          <a:xfrm>
            <a:off x="9681210" y="24193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0" name="Logo partnera"/>
          <p:cNvSpPr>
            <a:spLocks noGrp="1"/>
          </p:cNvSpPr>
          <p:nvPr>
            <p:ph type="pic" idx="25" hasCustomPrompt="1"/>
          </p:nvPr>
        </p:nvSpPr>
        <p:spPr>
          <a:xfrm>
            <a:off x="102489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1" name="Logo partnera"/>
          <p:cNvSpPr>
            <a:spLocks noGrp="1"/>
          </p:cNvSpPr>
          <p:nvPr>
            <p:ph type="pic" idx="26" hasCustomPrompt="1"/>
          </p:nvPr>
        </p:nvSpPr>
        <p:spPr>
          <a:xfrm>
            <a:off x="318897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2" name="Logo partnera"/>
          <p:cNvSpPr>
            <a:spLocks noGrp="1"/>
          </p:cNvSpPr>
          <p:nvPr>
            <p:ph type="pic" idx="27" hasCustomPrompt="1"/>
          </p:nvPr>
        </p:nvSpPr>
        <p:spPr>
          <a:xfrm>
            <a:off x="535305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3" name="Logo partnera"/>
          <p:cNvSpPr>
            <a:spLocks noGrp="1"/>
          </p:cNvSpPr>
          <p:nvPr>
            <p:ph type="pic" idx="28" hasCustomPrompt="1"/>
          </p:nvPr>
        </p:nvSpPr>
        <p:spPr>
          <a:xfrm>
            <a:off x="751713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sp>
        <p:nvSpPr>
          <p:cNvPr id="14" name="Logo partnera"/>
          <p:cNvSpPr>
            <a:spLocks noGrp="1"/>
          </p:cNvSpPr>
          <p:nvPr>
            <p:ph type="pic" idx="29" hasCustomPrompt="1"/>
          </p:nvPr>
        </p:nvSpPr>
        <p:spPr>
          <a:xfrm>
            <a:off x="9681210" y="3714750"/>
            <a:ext cx="1485900" cy="495300"/>
          </a:xfrm>
          <a:prstGeom prst="roundRect">
            <a:avLst>
              <a:gd name="adj" fmla="val 14103"/>
            </a:avLst>
          </a:prstGeom>
          <a:noFill/>
          <a:ln>
            <a:noFill/>
          </a:ln>
        </p:spPr>
        <p:txBody>
          <a:bodyPr wrap="square" lIns="50800" tIns="0" rIns="50800" bIns="0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Logo partnera</a:t>
            </a:r>
          </a:p>
        </p:txBody>
      </p:sp>
      <p:pic>
        <p:nvPicPr>
          <p:cNvPr id="15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6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rnutí a další krok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270000"/>
            <a:ext cx="9588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SHRNUTÍ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714500"/>
            <a:ext cx="3573780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Shrnutí a další kroky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2818930"/>
            <a:ext cx="357378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Na čem jsme se dohodli, kdo co udělá a do kdy.</a:t>
            </a:r>
          </a:p>
        </p:txBody>
      </p:sp>
      <p:sp>
        <p:nvSpPr>
          <p:cNvPr id="6" name="Číslo"/>
          <p:cNvSpPr>
            <a:spLocks noGrp="1"/>
          </p:cNvSpPr>
          <p:nvPr>
            <p:ph type="body" idx="100" hasCustomPrompt="1"/>
          </p:nvPr>
        </p:nvSpPr>
        <p:spPr>
          <a:xfrm>
            <a:off x="4699000" y="180544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1" hasCustomPrompt="1"/>
          </p:nvPr>
        </p:nvSpPr>
        <p:spPr>
          <a:xfrm>
            <a:off x="5156200" y="1714500"/>
            <a:ext cx="472186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Připravit návrh smlouvy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Včetně ceníku a podmínek spolupráce.</a:t>
            </a:r>
          </a:p>
        </p:txBody>
      </p:sp>
      <p:sp>
        <p:nvSpPr>
          <p:cNvPr id="8" name="Odpovídá"/>
          <p:cNvSpPr>
            <a:spLocks noGrp="1"/>
          </p:cNvSpPr>
          <p:nvPr>
            <p:ph type="body" idx="102" hasCustomPrompt="1"/>
          </p:nvPr>
        </p:nvSpPr>
        <p:spPr>
          <a:xfrm>
            <a:off x="9848850" y="1816100"/>
            <a:ext cx="8318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PORTU</a:t>
            </a:r>
          </a:p>
        </p:txBody>
      </p:sp>
      <p:sp>
        <p:nvSpPr>
          <p:cNvPr id="9" name="Termín"/>
          <p:cNvSpPr>
            <a:spLocks noGrp="1"/>
          </p:cNvSpPr>
          <p:nvPr>
            <p:ph type="body" idx="103" hasCustomPrompt="1"/>
          </p:nvPr>
        </p:nvSpPr>
        <p:spPr>
          <a:xfrm>
            <a:off x="10703560" y="1862595"/>
            <a:ext cx="72644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do 15. 2.</a:t>
            </a:r>
          </a:p>
        </p:txBody>
      </p:sp>
      <p:sp>
        <p:nvSpPr>
          <p:cNvPr id="10" name="Číslo"/>
          <p:cNvSpPr>
            <a:spLocks noGrp="1"/>
          </p:cNvSpPr>
          <p:nvPr>
            <p:ph type="body" idx="104" hasCustomPrompt="1"/>
          </p:nvPr>
        </p:nvSpPr>
        <p:spPr>
          <a:xfrm>
            <a:off x="4699000" y="266269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11" name="Text"/>
          <p:cNvSpPr>
            <a:spLocks noGrp="1"/>
          </p:cNvSpPr>
          <p:nvPr>
            <p:ph type="body" idx="105" hasCustomPrompt="1"/>
          </p:nvPr>
        </p:nvSpPr>
        <p:spPr>
          <a:xfrm>
            <a:off x="5156200" y="2571750"/>
            <a:ext cx="456996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Technická analýza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Posoudit rozsah integrace a náročnost vývoje.</a:t>
            </a:r>
          </a:p>
        </p:txBody>
      </p:sp>
      <p:sp>
        <p:nvSpPr>
          <p:cNvPr id="12" name="Odpovídá"/>
          <p:cNvSpPr>
            <a:spLocks noGrp="1"/>
          </p:cNvSpPr>
          <p:nvPr>
            <p:ph type="body" idx="106" hasCustomPrompt="1"/>
          </p:nvPr>
        </p:nvSpPr>
        <p:spPr>
          <a:xfrm>
            <a:off x="9702800" y="2673350"/>
            <a:ext cx="9779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PARTNER</a:t>
            </a:r>
          </a:p>
        </p:txBody>
      </p:sp>
      <p:sp>
        <p:nvSpPr>
          <p:cNvPr id="13" name="Termín"/>
          <p:cNvSpPr>
            <a:spLocks noGrp="1"/>
          </p:cNvSpPr>
          <p:nvPr>
            <p:ph type="body" idx="107" hasCustomPrompt="1"/>
          </p:nvPr>
        </p:nvSpPr>
        <p:spPr>
          <a:xfrm>
            <a:off x="10703560" y="2719845"/>
            <a:ext cx="72644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do 28. 2.</a:t>
            </a:r>
          </a:p>
        </p:txBody>
      </p:sp>
      <p:sp>
        <p:nvSpPr>
          <p:cNvPr id="14" name="Číslo"/>
          <p:cNvSpPr>
            <a:spLocks noGrp="1"/>
          </p:cNvSpPr>
          <p:nvPr>
            <p:ph type="body" idx="108" hasCustomPrompt="1"/>
          </p:nvPr>
        </p:nvSpPr>
        <p:spPr>
          <a:xfrm>
            <a:off x="4699000" y="351994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5" name="Text"/>
          <p:cNvSpPr>
            <a:spLocks noGrp="1"/>
          </p:cNvSpPr>
          <p:nvPr>
            <p:ph type="body" idx="109" hasCustomPrompt="1"/>
          </p:nvPr>
        </p:nvSpPr>
        <p:spPr>
          <a:xfrm>
            <a:off x="5156200" y="3429000"/>
            <a:ext cx="4893564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Pilotní spuštění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Omezený okruh klientů, vyhodnocení po 3 měsících.</a:t>
            </a:r>
          </a:p>
        </p:txBody>
      </p:sp>
      <p:sp>
        <p:nvSpPr>
          <p:cNvPr id="16" name="Odpovídá"/>
          <p:cNvSpPr>
            <a:spLocks noGrp="1"/>
          </p:cNvSpPr>
          <p:nvPr>
            <p:ph type="body" idx="110" hasCustomPrompt="1"/>
          </p:nvPr>
        </p:nvSpPr>
        <p:spPr>
          <a:xfrm>
            <a:off x="10013950" y="3530600"/>
            <a:ext cx="6667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OBA</a:t>
            </a:r>
          </a:p>
        </p:txBody>
      </p:sp>
      <p:sp>
        <p:nvSpPr>
          <p:cNvPr id="17" name="Termín"/>
          <p:cNvSpPr>
            <a:spLocks noGrp="1"/>
          </p:cNvSpPr>
          <p:nvPr>
            <p:ph type="body" idx="111" hasCustomPrompt="1"/>
          </p:nvPr>
        </p:nvSpPr>
        <p:spPr>
          <a:xfrm>
            <a:off x="10703560" y="3577095"/>
            <a:ext cx="72644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Q2 2026</a:t>
            </a:r>
          </a:p>
        </p:txBody>
      </p:sp>
      <p:sp>
        <p:nvSpPr>
          <p:cNvPr id="18" name="Číslo"/>
          <p:cNvSpPr>
            <a:spLocks noGrp="1"/>
          </p:cNvSpPr>
          <p:nvPr>
            <p:ph type="body" idx="112" hasCustomPrompt="1"/>
          </p:nvPr>
        </p:nvSpPr>
        <p:spPr>
          <a:xfrm>
            <a:off x="4699000" y="4377195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>
            <a:lvl1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9" name="Text"/>
          <p:cNvSpPr>
            <a:spLocks noGrp="1"/>
          </p:cNvSpPr>
          <p:nvPr>
            <p:ph type="body" idx="113" hasCustomPrompt="1"/>
          </p:nvPr>
        </p:nvSpPr>
        <p:spPr>
          <a:xfrm>
            <a:off x="5156200" y="4286250"/>
            <a:ext cx="4371848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Společná komunikace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Case study, PR a kampaň v kanálech obou značek.</a:t>
            </a:r>
          </a:p>
        </p:txBody>
      </p:sp>
      <p:sp>
        <p:nvSpPr>
          <p:cNvPr id="20" name="Odpovídá"/>
          <p:cNvSpPr>
            <a:spLocks noGrp="1"/>
          </p:cNvSpPr>
          <p:nvPr>
            <p:ph type="body" idx="114" hasCustomPrompt="1"/>
          </p:nvPr>
        </p:nvSpPr>
        <p:spPr>
          <a:xfrm>
            <a:off x="9512300" y="4387850"/>
            <a:ext cx="11684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MARKETING</a:t>
            </a:r>
          </a:p>
        </p:txBody>
      </p:sp>
      <p:sp>
        <p:nvSpPr>
          <p:cNvPr id="21" name="Termín"/>
          <p:cNvSpPr>
            <a:spLocks noGrp="1"/>
          </p:cNvSpPr>
          <p:nvPr>
            <p:ph type="body" idx="115" hasCustomPrompt="1"/>
          </p:nvPr>
        </p:nvSpPr>
        <p:spPr>
          <a:xfrm>
            <a:off x="10703560" y="4434345"/>
            <a:ext cx="72644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>
            <a:lvl1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Q3 2026</a:t>
            </a:r>
          </a:p>
        </p:txBody>
      </p:sp>
      <p:pic>
        <p:nvPicPr>
          <p:cNvPr id="22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23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tázky a odpovědi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070100"/>
            <a:ext cx="67945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Q&amp;A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565400"/>
            <a:ext cx="485013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Otázky a odpovědi</a:t>
            </a:r>
          </a:p>
        </p:txBody>
      </p:sp>
      <p:sp>
        <p:nvSpPr>
          <p:cNvPr id="5" name="Podtitul"/>
          <p:cNvSpPr>
            <a:spLocks noGrp="1"/>
          </p:cNvSpPr>
          <p:nvPr>
            <p:ph type="body" idx="14" hasCustomPrompt="1"/>
          </p:nvPr>
        </p:nvSpPr>
        <p:spPr>
          <a:xfrm>
            <a:off x="762000" y="4130866"/>
            <a:ext cx="501904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500" b="0" kern="0" cap="none" spc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defRPr>
            </a:lvl1pPr>
          </a:lstStyle>
          <a:p>
            <a:r>
              <a:rPr lang="cs-CZ" dirty="0"/>
              <a:t>Ptejte se na cokoli – i na to, co jsme nestihli.</a:t>
            </a:r>
          </a:p>
        </p:txBody>
      </p:sp>
      <p:sp>
        <p:nvSpPr>
          <p:cNvPr id="6" name="Ikona"/>
          <p:cNvSpPr>
            <a:spLocks noGrp="1"/>
          </p:cNvSpPr>
          <p:nvPr>
            <p:ph type="body" idx="100" hasCustomPrompt="1"/>
          </p:nvPr>
        </p:nvSpPr>
        <p:spPr>
          <a:xfrm>
            <a:off x="6435725" y="1999120"/>
            <a:ext cx="889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7" name="Text otázky"/>
          <p:cNvSpPr>
            <a:spLocks noGrp="1"/>
          </p:cNvSpPr>
          <p:nvPr>
            <p:ph type="body" idx="101" hasCustomPrompt="1"/>
          </p:nvPr>
        </p:nvSpPr>
        <p:spPr>
          <a:xfrm>
            <a:off x="6638925" y="1964855"/>
            <a:ext cx="4761484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Pro koho je tato možnost vhodná?</a:t>
            </a:r>
          </a:p>
        </p:txBody>
      </p:sp>
      <p:sp>
        <p:nvSpPr>
          <p:cNvPr id="8" name="Ikona"/>
          <p:cNvSpPr>
            <a:spLocks noGrp="1"/>
          </p:cNvSpPr>
          <p:nvPr>
            <p:ph type="body" idx="102" hasCustomPrompt="1"/>
          </p:nvPr>
        </p:nvSpPr>
        <p:spPr>
          <a:xfrm>
            <a:off x="6435725" y="2792870"/>
            <a:ext cx="889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9" name="Text otázky"/>
          <p:cNvSpPr>
            <a:spLocks noGrp="1"/>
          </p:cNvSpPr>
          <p:nvPr>
            <p:ph type="body" idx="103" hasCustomPrompt="1"/>
          </p:nvPr>
        </p:nvSpPr>
        <p:spPr>
          <a:xfrm>
            <a:off x="6638925" y="2758605"/>
            <a:ext cx="4761484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Jaký je rozdíl mezi variantou A a B?</a:t>
            </a:r>
          </a:p>
        </p:txBody>
      </p:sp>
      <p:sp>
        <p:nvSpPr>
          <p:cNvPr id="10" name="Ikona"/>
          <p:cNvSpPr>
            <a:spLocks noGrp="1"/>
          </p:cNvSpPr>
          <p:nvPr>
            <p:ph type="body" idx="104" hasCustomPrompt="1"/>
          </p:nvPr>
        </p:nvSpPr>
        <p:spPr>
          <a:xfrm>
            <a:off x="6435725" y="3586620"/>
            <a:ext cx="889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11" name="Text otázky"/>
          <p:cNvSpPr>
            <a:spLocks noGrp="1"/>
          </p:cNvSpPr>
          <p:nvPr>
            <p:ph type="body" idx="105" hasCustomPrompt="1"/>
          </p:nvPr>
        </p:nvSpPr>
        <p:spPr>
          <a:xfrm>
            <a:off x="6638925" y="3552355"/>
            <a:ext cx="4761484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Co přesně znamená střednědobý horizont?</a:t>
            </a:r>
          </a:p>
        </p:txBody>
      </p:sp>
      <p:sp>
        <p:nvSpPr>
          <p:cNvPr id="12" name="Ikona"/>
          <p:cNvSpPr>
            <a:spLocks noGrp="1"/>
          </p:cNvSpPr>
          <p:nvPr>
            <p:ph type="body" idx="106" hasCustomPrompt="1"/>
          </p:nvPr>
        </p:nvSpPr>
        <p:spPr>
          <a:xfrm>
            <a:off x="6435725" y="4380370"/>
            <a:ext cx="8890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13" name="Text otázky"/>
          <p:cNvSpPr>
            <a:spLocks noGrp="1"/>
          </p:cNvSpPr>
          <p:nvPr>
            <p:ph type="body" idx="107" hasCustomPrompt="1"/>
          </p:nvPr>
        </p:nvSpPr>
        <p:spPr>
          <a:xfrm>
            <a:off x="6638925" y="4346105"/>
            <a:ext cx="4761484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Jak rychle se dostanu ke svým penězům?</a:t>
            </a:r>
          </a:p>
        </p:txBody>
      </p:sp>
      <p:pic>
        <p:nvPicPr>
          <p:cNvPr id="14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5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sah – tmavý, nadpis s přechodem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079500"/>
            <a:ext cx="908050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SOUTĚŽ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524000"/>
            <a:ext cx="6254115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Tipněte si a vyhrajte vstupenky na konferenci</a:t>
            </a:r>
          </a:p>
        </p:txBody>
      </p:sp>
      <p:sp>
        <p:nvSpPr>
          <p:cNvPr id="5" name="Text"/>
          <p:cNvSpPr>
            <a:spLocks noGrp="1"/>
          </p:cNvSpPr>
          <p:nvPr>
            <p:ph type="body" idx="100" hasCustomPrompt="1"/>
          </p:nvPr>
        </p:nvSpPr>
        <p:spPr>
          <a:xfrm>
            <a:off x="1143000" y="2634780"/>
            <a:ext cx="60756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Pošlete svůj tip na e-mail soutez@portu.cz</a:t>
            </a:r>
          </a:p>
        </p:txBody>
      </p:sp>
      <p:sp>
        <p:nvSpPr>
          <p:cNvPr id="6" name="Text"/>
          <p:cNvSpPr>
            <a:spLocks noGrp="1"/>
          </p:cNvSpPr>
          <p:nvPr>
            <p:ph type="body" idx="101" hasCustomPrompt="1"/>
          </p:nvPr>
        </p:nvSpPr>
        <p:spPr>
          <a:xfrm>
            <a:off x="1143000" y="2990380"/>
            <a:ext cx="60756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Nejpozději do 30. 8. 2026</a:t>
            </a:r>
          </a:p>
        </p:txBody>
      </p:sp>
      <p:sp>
        <p:nvSpPr>
          <p:cNvPr id="7" name="Text"/>
          <p:cNvSpPr>
            <a:spLocks noGrp="1"/>
          </p:cNvSpPr>
          <p:nvPr>
            <p:ph type="body" idx="102" hasCustomPrompt="1"/>
          </p:nvPr>
        </p:nvSpPr>
        <p:spPr>
          <a:xfrm>
            <a:off x="1143000" y="3345980"/>
            <a:ext cx="607568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bg1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Tři nejbližší tipy vyhrávají</a:t>
            </a:r>
          </a:p>
        </p:txBody>
      </p:sp>
      <p:sp>
        <p:nvSpPr>
          <p:cNvPr id="8" name="Pravidla"/>
          <p:cNvSpPr>
            <a:spLocks noGrp="1"/>
          </p:cNvSpPr>
          <p:nvPr>
            <p:ph type="body" idx="103" hasCustomPrompt="1"/>
          </p:nvPr>
        </p:nvSpPr>
        <p:spPr>
          <a:xfrm>
            <a:off x="762000" y="3749142"/>
            <a:ext cx="647192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Pravidla soutěže najdete na portu.cz/soutez</a:t>
            </a:r>
          </a:p>
        </p:txBody>
      </p:sp>
      <p:sp>
        <p:nvSpPr>
          <p:cNvPr id="9" name="QR kód (Fill → Image)"/>
          <p:cNvSpPr>
            <a:spLocks noGrp="1"/>
          </p:cNvSpPr>
          <p:nvPr>
            <p:ph type="pic" idx="20" hasCustomPrompt="1"/>
          </p:nvPr>
        </p:nvSpPr>
        <p:spPr>
          <a:xfrm>
            <a:off x="8813800" y="1765300"/>
            <a:ext cx="2286000" cy="2286000"/>
          </a:xfrm>
          <a:prstGeom prst="roundRect">
            <a:avLst>
              <a:gd name="adj" fmla="val 3333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 wrap="square" lIns="152400" tIns="152400" rIns="152400" bIns="152400" rtlCol="0" anchor="ctr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Klikněte na ikonu a vložte obrázek</a:t>
            </a:r>
          </a:p>
        </p:txBody>
      </p:sp>
      <p:sp>
        <p:nvSpPr>
          <p:cNvPr id="10" name="Popisek"/>
          <p:cNvSpPr>
            <a:spLocks noGrp="1"/>
          </p:cNvSpPr>
          <p:nvPr>
            <p:ph type="body" idx="104" hasCustomPrompt="1"/>
          </p:nvPr>
        </p:nvSpPr>
        <p:spPr>
          <a:xfrm>
            <a:off x="9207500" y="4173995"/>
            <a:ext cx="1573530" cy="1905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>
            <a:lvl1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Naskenujte a zapojte se</a:t>
            </a:r>
          </a:p>
        </p:txBody>
      </p:sp>
      <p:sp>
        <p:nvSpPr>
          <p:cNvPr id="11" name="Odkaz"/>
          <p:cNvSpPr>
            <a:spLocks noGrp="1"/>
          </p:cNvSpPr>
          <p:nvPr>
            <p:ph type="body" idx="105" hasCustomPrompt="1"/>
          </p:nvPr>
        </p:nvSpPr>
        <p:spPr>
          <a:xfrm>
            <a:off x="9451975" y="4485145"/>
            <a:ext cx="1060132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2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"/>
                <a:ea typeface="Rethink Sans"/>
                <a:cs typeface="Rethink Sans"/>
              </a:rPr>
              <a:t>portu.cz/soutez</a:t>
            </a:r>
          </a:p>
        </p:txBody>
      </p:sp>
      <p:pic>
        <p:nvPicPr>
          <p:cNvPr id="12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3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věr – poděkování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095500"/>
            <a:ext cx="7019925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Děkujeme za pozornost</a:t>
            </a:r>
          </a:p>
          <a:p>
            <a:pPr marL="0" indent="0" algn="l">
              <a:lnSpc>
                <a:spcPts val="2100"/>
              </a:lnSpc>
              <a:spcBef>
                <a:spcPts val="581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S konkrétní situací se ozvěte, rádi ji s vámi probereme.</a:t>
            </a:r>
          </a:p>
        </p:txBody>
      </p:sp>
      <p:sp>
        <p:nvSpPr>
          <p:cNvPr id="5" name="E-mail"/>
          <p:cNvSpPr>
            <a:spLocks noGrp="1"/>
          </p:cNvSpPr>
          <p:nvPr>
            <p:ph type="body" idx="101" hasCustomPrompt="1"/>
          </p:nvPr>
        </p:nvSpPr>
        <p:spPr>
          <a:xfrm>
            <a:off x="762000" y="4826000"/>
            <a:ext cx="2233612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poradenstvi@portu.cz</a:t>
            </a:r>
          </a:p>
        </p:txBody>
      </p:sp>
      <p:sp>
        <p:nvSpPr>
          <p:cNvPr id="6" name="Telefon"/>
          <p:cNvSpPr>
            <a:spLocks noGrp="1"/>
          </p:cNvSpPr>
          <p:nvPr>
            <p:ph type="body" idx="102" hasCustomPrompt="1"/>
          </p:nvPr>
        </p:nvSpPr>
        <p:spPr>
          <a:xfrm>
            <a:off x="3397250" y="4826000"/>
            <a:ext cx="1853565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+420 222 096 622</a:t>
            </a:r>
          </a:p>
        </p:txBody>
      </p:sp>
      <p:sp>
        <p:nvSpPr>
          <p:cNvPr id="7" name="Web"/>
          <p:cNvSpPr>
            <a:spLocks noGrp="1"/>
          </p:cNvSpPr>
          <p:nvPr>
            <p:ph type="body" idx="103" hasCustomPrompt="1"/>
          </p:nvPr>
        </p:nvSpPr>
        <p:spPr>
          <a:xfrm>
            <a:off x="5670550" y="4826000"/>
            <a:ext cx="813435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WEB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portu.cz</a:t>
            </a: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ávěr – poděkování, kocou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35000"/>
            <a:ext cx="1123950" cy="381000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 hasCustomPrompt="1"/>
          </p:nvPr>
        </p:nvSpPr>
        <p:spPr>
          <a:xfrm>
            <a:off x="762000" y="2095500"/>
            <a:ext cx="7019925" cy="1841500"/>
          </a:xfrm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Autofit/>
          </a:bodyPr>
          <a:lstStyle>
            <a:lvl1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  <a:defRPr sz="5600" b="0" kern="0" cap="none" spc="-10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Děkujeme za pozornost</a:t>
            </a:r>
          </a:p>
          <a:p>
            <a:pPr marL="0" indent="0" algn="l">
              <a:lnSpc>
                <a:spcPts val="2100"/>
              </a:lnSpc>
              <a:spcBef>
                <a:spcPts val="581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S konkrétní situací se ozvěte, rádi ji s vámi probereme.</a:t>
            </a:r>
          </a:p>
        </p:txBody>
      </p:sp>
      <p:sp>
        <p:nvSpPr>
          <p:cNvPr id="5" name="E-mail"/>
          <p:cNvSpPr>
            <a:spLocks noGrp="1"/>
          </p:cNvSpPr>
          <p:nvPr>
            <p:ph type="body" idx="101" hasCustomPrompt="1"/>
          </p:nvPr>
        </p:nvSpPr>
        <p:spPr>
          <a:xfrm>
            <a:off x="762000" y="4826000"/>
            <a:ext cx="2233612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poradenstvi@portu.cz</a:t>
            </a:r>
          </a:p>
        </p:txBody>
      </p:sp>
      <p:sp>
        <p:nvSpPr>
          <p:cNvPr id="6" name="Telefon"/>
          <p:cNvSpPr>
            <a:spLocks noGrp="1"/>
          </p:cNvSpPr>
          <p:nvPr>
            <p:ph type="body" idx="102" hasCustomPrompt="1"/>
          </p:nvPr>
        </p:nvSpPr>
        <p:spPr>
          <a:xfrm>
            <a:off x="3397250" y="4826000"/>
            <a:ext cx="1853565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+420 222 096 622</a:t>
            </a:r>
          </a:p>
        </p:txBody>
      </p:sp>
      <p:sp>
        <p:nvSpPr>
          <p:cNvPr id="7" name="Web"/>
          <p:cNvSpPr>
            <a:spLocks noGrp="1"/>
          </p:cNvSpPr>
          <p:nvPr>
            <p:ph type="body" idx="103" hasCustomPrompt="1"/>
          </p:nvPr>
        </p:nvSpPr>
        <p:spPr>
          <a:xfrm>
            <a:off x="5670550" y="4826000"/>
            <a:ext cx="813435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WEB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portu.cz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ěkujeme! Máte dotazy?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1905000"/>
            <a:ext cx="1003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KONTAKT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349500"/>
            <a:ext cx="3733324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Děkujeme!  Máte dotazy?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3453930"/>
            <a:ext cx="386334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Ozvěte se nám – rádi vše probereme osobně.</a:t>
            </a:r>
          </a:p>
        </p:txBody>
      </p:sp>
      <p:sp>
        <p:nvSpPr>
          <p:cNvPr id="6" name="Fotka"/>
          <p:cNvSpPr>
            <a:spLocks noGrp="1"/>
          </p:cNvSpPr>
          <p:nvPr>
            <p:ph type="pic" idx="20"/>
          </p:nvPr>
        </p:nvSpPr>
        <p:spPr>
          <a:xfrm>
            <a:off x="7169150" y="1841500"/>
            <a:ext cx="1016000" cy="10160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7169150" y="3009900"/>
            <a:ext cx="2403856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Head of Product</a:t>
            </a:r>
          </a:p>
        </p:txBody>
      </p:sp>
      <p:sp>
        <p:nvSpPr>
          <p:cNvPr id="8" name="E-mail"/>
          <p:cNvSpPr>
            <a:spLocks noGrp="1"/>
          </p:cNvSpPr>
          <p:nvPr>
            <p:ph type="body" idx="101" hasCustomPrompt="1"/>
          </p:nvPr>
        </p:nvSpPr>
        <p:spPr>
          <a:xfrm>
            <a:off x="7169150" y="3644900"/>
            <a:ext cx="2403856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jmeno.prijmeni@portu.cz</a:t>
            </a:r>
          </a:p>
        </p:txBody>
      </p:sp>
      <p:sp>
        <p:nvSpPr>
          <p:cNvPr id="9" name="Telefon"/>
          <p:cNvSpPr>
            <a:spLocks noGrp="1"/>
          </p:cNvSpPr>
          <p:nvPr>
            <p:ph type="body" idx="102" hasCustomPrompt="1"/>
          </p:nvPr>
        </p:nvSpPr>
        <p:spPr>
          <a:xfrm>
            <a:off x="7169150" y="4229100"/>
            <a:ext cx="2403856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+420 000 000 000</a:t>
            </a:r>
          </a:p>
        </p:txBody>
      </p:sp>
      <p:pic>
        <p:nvPicPr>
          <p:cNvPr id="10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1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ěkujeme! Máte dotazy? (2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635000"/>
            <a:ext cx="10033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KONTAKT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079500"/>
            <a:ext cx="79248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Děkujeme! Máte dotazy?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1701330"/>
            <a:ext cx="79248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Ozvěte se nám – rádi vše probereme osobně.</a:t>
            </a:r>
          </a:p>
        </p:txBody>
      </p:sp>
      <p:sp>
        <p:nvSpPr>
          <p:cNvPr id="6" name="Fotka"/>
          <p:cNvSpPr>
            <a:spLocks noGrp="1"/>
          </p:cNvSpPr>
          <p:nvPr>
            <p:ph type="pic" idx="20"/>
          </p:nvPr>
        </p:nvSpPr>
        <p:spPr>
          <a:xfrm>
            <a:off x="1066800" y="2908300"/>
            <a:ext cx="609600" cy="6096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Jméno a role"/>
          <p:cNvSpPr>
            <a:spLocks noGrp="1"/>
          </p:cNvSpPr>
          <p:nvPr>
            <p:ph type="body" idx="100" hasCustomPrompt="1"/>
          </p:nvPr>
        </p:nvSpPr>
        <p:spPr>
          <a:xfrm>
            <a:off x="1803400" y="2971800"/>
            <a:ext cx="2192528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Head of Product</a:t>
            </a:r>
          </a:p>
        </p:txBody>
      </p:sp>
      <p:sp>
        <p:nvSpPr>
          <p:cNvPr id="8" name="E-mail"/>
          <p:cNvSpPr>
            <a:spLocks noGrp="1"/>
          </p:cNvSpPr>
          <p:nvPr>
            <p:ph type="body" idx="101" hasCustomPrompt="1"/>
          </p:nvPr>
        </p:nvSpPr>
        <p:spPr>
          <a:xfrm>
            <a:off x="1066800" y="36449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jmeno.prijmeni@portu.cz</a:t>
            </a:r>
          </a:p>
        </p:txBody>
      </p:sp>
      <p:sp>
        <p:nvSpPr>
          <p:cNvPr id="9" name="Telefon"/>
          <p:cNvSpPr>
            <a:spLocks noGrp="1"/>
          </p:cNvSpPr>
          <p:nvPr>
            <p:ph type="body" idx="102" hasCustomPrompt="1"/>
          </p:nvPr>
        </p:nvSpPr>
        <p:spPr>
          <a:xfrm>
            <a:off x="1066800" y="42037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+420 000 000 000</a:t>
            </a:r>
          </a:p>
        </p:txBody>
      </p:sp>
      <p:sp>
        <p:nvSpPr>
          <p:cNvPr id="10" name="Fotka"/>
          <p:cNvSpPr>
            <a:spLocks noGrp="1"/>
          </p:cNvSpPr>
          <p:nvPr>
            <p:ph type="pic" idx="21"/>
          </p:nvPr>
        </p:nvSpPr>
        <p:spPr>
          <a:xfrm>
            <a:off x="4673600" y="2908300"/>
            <a:ext cx="609600" cy="6096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Jméno a role"/>
          <p:cNvSpPr>
            <a:spLocks noGrp="1"/>
          </p:cNvSpPr>
          <p:nvPr>
            <p:ph type="body" idx="103" hasCustomPrompt="1"/>
          </p:nvPr>
        </p:nvSpPr>
        <p:spPr>
          <a:xfrm>
            <a:off x="5410200" y="2971800"/>
            <a:ext cx="2192528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Investiční konzultant</a:t>
            </a:r>
          </a:p>
        </p:txBody>
      </p:sp>
      <p:sp>
        <p:nvSpPr>
          <p:cNvPr id="12" name="E-mail"/>
          <p:cNvSpPr>
            <a:spLocks noGrp="1"/>
          </p:cNvSpPr>
          <p:nvPr>
            <p:ph type="body" idx="104" hasCustomPrompt="1"/>
          </p:nvPr>
        </p:nvSpPr>
        <p:spPr>
          <a:xfrm>
            <a:off x="4673600" y="36449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jmeno.prijmeni@portu.cz</a:t>
            </a:r>
          </a:p>
        </p:txBody>
      </p:sp>
      <p:sp>
        <p:nvSpPr>
          <p:cNvPr id="13" name="Telefon"/>
          <p:cNvSpPr>
            <a:spLocks noGrp="1"/>
          </p:cNvSpPr>
          <p:nvPr>
            <p:ph type="body" idx="105" hasCustomPrompt="1"/>
          </p:nvPr>
        </p:nvSpPr>
        <p:spPr>
          <a:xfrm>
            <a:off x="4673600" y="42037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+420 000 000 000</a:t>
            </a:r>
          </a:p>
        </p:txBody>
      </p:sp>
      <p:sp>
        <p:nvSpPr>
          <p:cNvPr id="14" name="Fotka"/>
          <p:cNvSpPr>
            <a:spLocks noGrp="1"/>
          </p:cNvSpPr>
          <p:nvPr>
            <p:ph type="pic" idx="22"/>
          </p:nvPr>
        </p:nvSpPr>
        <p:spPr>
          <a:xfrm>
            <a:off x="8280400" y="2908300"/>
            <a:ext cx="609600" cy="609600"/>
          </a:xfrm>
          <a:prstGeom prst="roundRect">
            <a:avLst>
              <a:gd name="adj" fmla="val 50000"/>
            </a:avLst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Jméno a role"/>
          <p:cNvSpPr>
            <a:spLocks noGrp="1"/>
          </p:cNvSpPr>
          <p:nvPr>
            <p:ph type="body" idx="106" hasCustomPrompt="1"/>
          </p:nvPr>
        </p:nvSpPr>
        <p:spPr>
          <a:xfrm>
            <a:off x="9017000" y="2971800"/>
            <a:ext cx="2192528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sz="1700" b="0" kern="0" cap="none" spc="-2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Jméno Příjmení</a:t>
            </a:r>
          </a:p>
          <a:p>
            <a:pPr marL="0" indent="0" algn="l">
              <a:lnSpc>
                <a:spcPts val="1500"/>
              </a:lnSpc>
              <a:spcBef>
                <a:spcPts val="10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Analytik</a:t>
            </a:r>
          </a:p>
        </p:txBody>
      </p:sp>
      <p:sp>
        <p:nvSpPr>
          <p:cNvPr id="16" name="E-mail"/>
          <p:cNvSpPr>
            <a:spLocks noGrp="1"/>
          </p:cNvSpPr>
          <p:nvPr>
            <p:ph type="body" idx="107" hasCustomPrompt="1"/>
          </p:nvPr>
        </p:nvSpPr>
        <p:spPr>
          <a:xfrm>
            <a:off x="8280400" y="36449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jmeno.prijmeni@portu.cz</a:t>
            </a:r>
          </a:p>
        </p:txBody>
      </p:sp>
      <p:sp>
        <p:nvSpPr>
          <p:cNvPr id="17" name="Telefon"/>
          <p:cNvSpPr>
            <a:spLocks noGrp="1"/>
          </p:cNvSpPr>
          <p:nvPr>
            <p:ph type="body" idx="108" hasCustomPrompt="1"/>
          </p:nvPr>
        </p:nvSpPr>
        <p:spPr>
          <a:xfrm>
            <a:off x="8280400" y="4203700"/>
            <a:ext cx="2958592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1900"/>
              </a:lnSpc>
              <a:spcBef>
                <a:spcPts val="95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+420 000 000 000</a:t>
            </a:r>
          </a:p>
        </p:txBody>
      </p:sp>
      <p:pic>
        <p:nvPicPr>
          <p:cNvPr id="18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19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říloha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lustrace (zamčená)" descr="dekorace"/>
          <p:cNvPicPr>
            <a:picLocks noGrp="1" noSelect="1" noChangeAspect="1" noMove="1" noResize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77000" y="0"/>
            <a:ext cx="5715000" cy="6858000"/>
          </a:xfrm>
          <a:prstGeom prst="rect">
            <a:avLst/>
          </a:prstGeom>
        </p:spPr>
      </p:pic>
      <p:sp>
        <p:nvSpPr>
          <p:cNvPr id="4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2286000"/>
            <a:ext cx="95885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PŘÍLOHA</a:t>
            </a:r>
          </a:p>
        </p:txBody>
      </p:sp>
      <p:sp>
        <p:nvSpPr>
          <p:cNvPr id="5" name="Nadpis"/>
          <p:cNvSpPr>
            <a:spLocks noGrp="1"/>
          </p:cNvSpPr>
          <p:nvPr>
            <p:ph type="title" hasCustomPrompt="1"/>
          </p:nvPr>
        </p:nvSpPr>
        <p:spPr>
          <a:xfrm>
            <a:off x="762000" y="2730500"/>
            <a:ext cx="5943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>
            <a:lvl1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  <a:defRPr sz="3600" b="0" kern="0" cap="none" spc="-75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Příloha</a:t>
            </a:r>
          </a:p>
        </p:txBody>
      </p:sp>
      <p:sp>
        <p:nvSpPr>
          <p:cNvPr id="6" name="Popis"/>
          <p:cNvSpPr>
            <a:spLocks noGrp="1"/>
          </p:cNvSpPr>
          <p:nvPr>
            <p:ph type="body" idx="14" hasCustomPrompt="1"/>
          </p:nvPr>
        </p:nvSpPr>
        <p:spPr>
          <a:xfrm>
            <a:off x="762000" y="3352330"/>
            <a:ext cx="5943600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>
            <a:lvl1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  <a:defRPr sz="13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Doplňující data, podklady a detaily k prezentaci.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ávní upozornění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 hasCustomPrompt="1"/>
          </p:nvPr>
        </p:nvSpPr>
        <p:spPr>
          <a:xfrm>
            <a:off x="762000" y="889000"/>
            <a:ext cx="193040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>
            <a:lvl1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  <a:defRPr sz="1000" b="0" kern="0" cap="all" spc="75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DŮLEŽITÉ UPOZORNĚNÍ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 hasCustomPrompt="1"/>
          </p:nvPr>
        </p:nvSpPr>
        <p:spPr>
          <a:xfrm>
            <a:off x="762000" y="1333500"/>
            <a:ext cx="8585200" cy="36830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Právní upozornění</a:t>
            </a:r>
          </a:p>
        </p:txBody>
      </p:sp>
      <p:sp>
        <p:nvSpPr>
          <p:cNvPr id="5" name="Text upozornění"/>
          <p:cNvSpPr>
            <a:spLocks noGrp="1"/>
          </p:cNvSpPr>
          <p:nvPr>
            <p:ph type="body" idx="100" hasCustomPrompt="1"/>
          </p:nvPr>
        </p:nvSpPr>
        <p:spPr>
          <a:xfrm>
            <a:off x="762000" y="1843545"/>
            <a:ext cx="8296275" cy="162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>
            <a:lvl1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  <a:defRPr sz="11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Tento materiál připravila společnost WOOD Retail Investments a.s. na základě historických finančních a statistických dat, aniž by provedla jejich nezávislé ověření. Dokument má pouze informativní charakter, nepředstavuje daňové ani právní poradenství a nejde o investiční doporučení ani nabídku k nákupu či prodeji cenných papírů. Rozhodnutí učiněná na základě tohoto dokumentu činí příjemce na vlastní riziko. Dokument a veškeré informace v něm obsažené jsou přísně důvěrné a nesmí být bez předchozího písemného souhlasu WOOD &amp; Co. reprodukovány, kopírovány, zveřejňovány ani jinak šířeny.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cs-CZ" sz="1100" b="0" kern="0" cap="none" spc="0" dirty="0">
              <a:solidFill>
                <a:schemeClr val="accent6"/>
              </a:solidFill>
              <a:latin typeface="Rethink Sans"/>
              <a:ea typeface="Rethink Sans"/>
              <a:cs typeface="Rethink Sans"/>
            </a:endParaRP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Investování je spojeno s rizikem. Hodnota investice může kolísat a není zaručena návratnost původně investované částky. Minulé výnosy nejsou zárukou budoucích výnosů.</a:t>
            </a:r>
          </a:p>
        </p:txBody>
      </p:sp>
      <p:sp>
        <p:nvSpPr>
          <p:cNvPr id="6" name="Copyright"/>
          <p:cNvSpPr>
            <a:spLocks noGrp="1"/>
          </p:cNvSpPr>
          <p:nvPr>
            <p:ph type="body" idx="101" hasCustomPrompt="1"/>
          </p:nvPr>
        </p:nvSpPr>
        <p:spPr>
          <a:xfrm>
            <a:off x="762000" y="3622142"/>
            <a:ext cx="858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© 2026 WOOD Retail Investments a.s.</a:t>
            </a:r>
          </a:p>
        </p:txBody>
      </p:sp>
      <p:pic>
        <p:nvPicPr>
          <p:cNvPr id="7" name="Logo Portu" descr="Portu"/>
          <p:cNvPicPr>
            <a:picLocks noGrp="1" noSelect="1" noChangeAspect="1" noMove="1" noResize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6210300"/>
            <a:ext cx="749300" cy="254000"/>
          </a:xfrm>
          <a:prstGeom prst="rect">
            <a:avLst/>
          </a:prstGeom>
        </p:spPr>
      </p:pic>
      <p:sp>
        <p:nvSpPr>
          <p:cNvPr id="8" name="Patička"/>
          <p:cNvSpPr>
            <a:spLocks noGrp="1"/>
          </p:cNvSpPr>
          <p:nvPr>
            <p:ph type="ftr" idx="11" hasCustomPrompt="1"/>
          </p:nvPr>
        </p:nvSpPr>
        <p:spPr>
          <a:xfrm>
            <a:off x="6146800" y="6251042"/>
            <a:ext cx="5283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>
            <a:lvl1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  <a:defRPr sz="800" b="0" kern="0" cap="none" spc="0">
                <a:solidFill>
                  <a:schemeClr val="accent6"/>
                </a:solidFill>
                <a:latin typeface="Rethink Sans"/>
                <a:ea typeface="Rethink Sans"/>
                <a:cs typeface="Rethink Sans"/>
              </a:defRPr>
            </a:lvl1pPr>
          </a:lstStyle>
          <a:p>
            <a:r>
              <a:rPr lang="cs-CZ" dirty="0"/>
              <a:t>Název prezentace  ·  Datum</a:t>
            </a: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dklady – obrázky a ikon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Kocour – varianty podle produk"/>
          <p:cNvSpPr>
            <a:spLocks noGrp="1"/>
          </p:cNvSpPr>
          <p:nvPr>
            <p:ph type="title" hasCustomPrompt="1"/>
          </p:nvPr>
        </p:nvSpPr>
        <p:spPr>
          <a:xfrm>
            <a:off x="508000" y="381000"/>
            <a:ext cx="5080635" cy="368300"/>
          </a:xfrm>
          <a:prstGeom prst="rect">
            <a:avLst/>
          </a:prstGeom>
          <a:noFill/>
          <a:ln>
            <a:noFill/>
          </a:ln>
        </p:spPr>
        <p:txBody>
          <a:bodyPr wrap="none" lIns="0" tIns="30810" rIns="0" bIns="0" rtlCol="0" anchor="t" anchorCtr="0">
            <a:normAutofit/>
          </a:bodyPr>
          <a:lstStyle>
            <a:lvl1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  <a:defRPr sz="2600" b="0" kern="0" cap="none" spc="-5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defRPr>
            </a:lvl1pPr>
          </a:lstStyle>
          <a:p>
            <a:r>
              <a:rPr lang="cs-CZ" dirty="0"/>
              <a:t>Kocour – varianty podle produktu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ortu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2000" y="1079500"/>
            <a:ext cx="10668000" cy="736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2095500"/>
            <a:ext cx="10668000" cy="3556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50000" y="6261100"/>
            <a:ext cx="5080000" cy="152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</p:sldLayoutIdLst>
  <p:txStyles>
    <p:titleStyle>
      <a:lvl1pPr marL="0" indent="0" algn="l" defTabSz="304800" rtl="0" eaLnBrk="1" latinLnBrk="0" hangingPunct="1">
        <a:lnSpc>
          <a:spcPts val="2900"/>
        </a:lnSpc>
        <a:spcBef>
          <a:spcPts val="0"/>
        </a:spcBef>
        <a:buNone/>
        <a:defRPr sz="2600" b="0" kern="0" spc="-50">
          <a:solidFill>
            <a:schemeClr val="accent2"/>
          </a:solidFill>
          <a:latin typeface="+mj-lt"/>
          <a:ea typeface="+mj-lt"/>
          <a:cs typeface="+mj-lt"/>
        </a:defRPr>
      </a:lvl1pPr>
    </p:titleStyle>
    <p:bodyStyle>
      <a:lvl1pPr marL="0" indent="0" algn="l" defTabSz="304800" rtl="0" eaLnBrk="1" latinLnBrk="0" hangingPunct="1">
        <a:lnSpc>
          <a:spcPts val="1900"/>
        </a:lnSpc>
        <a:spcBef>
          <a:spcPts val="600"/>
        </a:spcBef>
        <a:buNone/>
        <a:defRPr sz="1300" b="0" kern="0">
          <a:solidFill>
            <a:schemeClr val="tx1"/>
          </a:solidFill>
          <a:latin typeface="+mn-lt"/>
          <a:ea typeface="+mn-lt"/>
          <a:cs typeface="+mn-lt"/>
        </a:defRPr>
      </a:lvl1pPr>
      <a:lvl2pPr marL="203200" indent="-206375" algn="l" defTabSz="304800" rtl="0" eaLnBrk="1" latinLnBrk="0" hangingPunct="1">
        <a:lnSpc>
          <a:spcPts val="1900"/>
        </a:lnSpc>
        <a:spcBef>
          <a:spcPts val="600"/>
        </a:spcBef>
        <a:buClr>
          <a:schemeClr val="accent2"/>
        </a:buClr>
        <a:buFont typeface="Arial"/>
        <a:buChar char="•"/>
        <a:defRPr sz="1300" b="0" kern="0">
          <a:solidFill>
            <a:schemeClr val="accent6"/>
          </a:solidFill>
          <a:latin typeface="+mn-lt"/>
          <a:ea typeface="+mn-lt"/>
          <a:cs typeface="+mn-lt"/>
        </a:defRPr>
      </a:lvl2pPr>
      <a:lvl3pPr marL="406400" indent="-206375" algn="l" defTabSz="304800" rtl="0" eaLnBrk="1" latinLnBrk="0" hangingPunct="1">
        <a:lnSpc>
          <a:spcPts val="1900"/>
        </a:lnSpc>
        <a:spcBef>
          <a:spcPts val="600"/>
        </a:spcBef>
        <a:buClr>
          <a:schemeClr val="accent2"/>
        </a:buClr>
        <a:buFont typeface="Arial"/>
        <a:buChar char="•"/>
        <a:defRPr sz="1300" b="0" kern="0">
          <a:solidFill>
            <a:schemeClr val="accent6"/>
          </a:solidFill>
          <a:latin typeface="+mn-lt"/>
          <a:ea typeface="+mn-lt"/>
          <a:cs typeface="+mn-lt"/>
        </a:defRPr>
      </a:lvl3pPr>
      <a:lvl4pPr marL="609600" indent="-206375" algn="l" defTabSz="304800" rtl="0" eaLnBrk="1" latinLnBrk="0" hangingPunct="1">
        <a:lnSpc>
          <a:spcPts val="1900"/>
        </a:lnSpc>
        <a:spcBef>
          <a:spcPts val="600"/>
        </a:spcBef>
        <a:buClr>
          <a:schemeClr val="accent2"/>
        </a:buClr>
        <a:buFont typeface="Arial"/>
        <a:buChar char="•"/>
        <a:defRPr sz="1300" b="0" kern="0">
          <a:solidFill>
            <a:schemeClr val="accent6"/>
          </a:solidFill>
          <a:latin typeface="+mn-lt"/>
          <a:ea typeface="+mn-lt"/>
          <a:cs typeface="+mn-lt"/>
        </a:defRPr>
      </a:lvl4pPr>
      <a:lvl5pPr marL="812800" indent="-206375" algn="l" defTabSz="304800" rtl="0" eaLnBrk="1" latinLnBrk="0" hangingPunct="1">
        <a:lnSpc>
          <a:spcPts val="1900"/>
        </a:lnSpc>
        <a:spcBef>
          <a:spcPts val="600"/>
        </a:spcBef>
        <a:buClr>
          <a:schemeClr val="accent2"/>
        </a:buClr>
        <a:buFont typeface="Arial"/>
        <a:buChar char="•"/>
        <a:defRPr sz="1300" b="0" kern="0">
          <a:solidFill>
            <a:schemeClr val="accent6"/>
          </a:solidFill>
          <a:latin typeface="+mn-lt"/>
          <a:ea typeface="+mn-lt"/>
          <a:cs typeface="+mn-lt"/>
        </a:defRPr>
      </a:lvl5pPr>
    </p:bodyStyle>
    <p:otherStyle>
      <a:defPPr>
        <a:defRPr lang="cs-CZ"/>
      </a:defPPr>
      <a:lvl1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1pPr>
      <a:lvl2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2pPr>
      <a:lvl3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3pPr>
      <a:lvl4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4pPr>
      <a:lvl5pPr marL="0" indent="0" algn="l" defTabSz="304800" rtl="0" eaLnBrk="1" latinLnBrk="0" hangingPunct="1">
        <a:lnSpc>
          <a:spcPts val="1600"/>
        </a:lnSpc>
        <a:spcBef>
          <a:spcPts val="0"/>
        </a:spcBef>
        <a:buNone/>
        <a:defRPr sz="1100" b="0" kern="0">
          <a:solidFill>
            <a:schemeClr val="tx1"/>
          </a:solidFill>
          <a:latin typeface="+mn-lt"/>
          <a:ea typeface="+mn-lt"/>
          <a:cs typeface="+mn-lt"/>
        </a:defRPr>
      </a:lvl5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3.sv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4.svg"/><Relationship Id="rId3" Type="http://schemas.openxmlformats.org/officeDocument/2006/relationships/image" Target="../media/image23.sv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image" Target="../media/image28.png"/><Relationship Id="rId3" Type="http://schemas.openxmlformats.org/officeDocument/2006/relationships/image" Target="../media/image29.sv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3.sv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image" Target="../media/image31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5.svg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5.svg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ázev prezentace, klidně i na dva řád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2260600"/>
            <a:ext cx="3438144" cy="292100"/>
          </a:xfrm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WEBINÁŘ · INVESTIČNÍ KONZULTACE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/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AI jako váš investiční asistent</a:t>
            </a:r>
          </a:p>
        </p:txBody>
      </p:sp>
      <p:sp>
        <p:nvSpPr>
          <p:cNvPr id="5" name="Podtitul"/>
          <p:cNvSpPr>
            <a:spLocks noGrp="1"/>
          </p:cNvSpPr>
          <p:nvPr>
            <p:ph type="body" idx="1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Co za vás zvládne a jak se jí ptát. Ukážeme naživo.</a:t>
            </a:r>
          </a:p>
        </p:txBody>
      </p:sp>
      <p:pic>
        <p:nvPicPr>
          <p:cNvPr id="6" name="Fotka" descr="Obrázek_1.png"/>
          <p:cNvPicPr>
            <a:picLocks noGrp="1" noChangeAspect="1"/>
          </p:cNvPicPr>
          <p:nvPr>
            <p:ph type="pic" idx="20"/>
          </p:nvPr>
        </p:nvPicPr>
        <p:blipFill>
          <a:blip r:embed="rId4"/>
          <a:srcRect/>
          <a:stretch>
            <a:fillRect/>
          </a:stretch>
        </p:blipFill>
        <p:spPr>
          <a:xfrm>
            <a:off x="758952" y="5803900"/>
            <a:ext cx="457200" cy="457200"/>
          </a:xfrm>
        </p:spPr>
      </p:pic>
      <p:sp>
        <p:nvSpPr>
          <p:cNvPr id="7" name="Jméno a role"/>
          <p:cNvSpPr>
            <a:spLocks noGrp="1"/>
          </p:cNvSpPr>
          <p:nvPr>
            <p:ph type="body" idx="100"/>
          </p:nvPr>
        </p:nvSpPr>
        <p:spPr>
          <a:xfrm>
            <a:off x="1346200" y="5818645"/>
            <a:ext cx="2240280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Marek Pokorný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 a analytik</a:t>
            </a:r>
          </a:p>
        </p:txBody>
      </p:sp>
      <p:pic>
        <p:nvPicPr>
          <p:cNvPr id="8" name="Fotka" descr="Obrázek_7.png"/>
          <p:cNvPicPr>
            <a:picLocks noGrp="1" noChangeAspect="1"/>
          </p:cNvPicPr>
          <p:nvPr>
            <p:ph type="pic" idx="21"/>
          </p:nvPr>
        </p:nvPicPr>
        <p:blipFill>
          <a:blip r:embed="rId5"/>
          <a:srcRect/>
          <a:stretch>
            <a:fillRect/>
          </a:stretch>
        </p:blipFill>
        <p:spPr>
          <a:xfrm>
            <a:off x="3794760" y="5803900"/>
            <a:ext cx="457200" cy="457200"/>
          </a:xfrm>
        </p:spPr>
      </p:pic>
      <p:sp>
        <p:nvSpPr>
          <p:cNvPr id="9" name="Jméno a role"/>
          <p:cNvSpPr>
            <a:spLocks noGrp="1"/>
          </p:cNvSpPr>
          <p:nvPr>
            <p:ph type="body" idx="101"/>
          </p:nvPr>
        </p:nvSpPr>
        <p:spPr>
          <a:xfrm>
            <a:off x="4379976" y="5818645"/>
            <a:ext cx="2240280" cy="4191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Marek Malina</a:t>
            </a:r>
          </a:p>
          <a:p>
            <a:pPr marL="0" indent="0" algn="l">
              <a:lnSpc>
                <a:spcPts val="1600"/>
              </a:lnSpc>
              <a:spcBef>
                <a:spcPts val="15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Investiční konzultant a analytik</a:t>
            </a:r>
          </a:p>
        </p:txBody>
      </p:sp>
      <p:pic>
        <p:nvPicPr>
          <p:cNvPr id="12" name="Kocour (stojici)"/>
          <p:cNvPicPr>
            <a:picLocks noGrp="1"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010706" y="698500"/>
            <a:ext cx="4330337" cy="6477000"/>
          </a:xfrm>
          <a:prstGeom prst="rect">
            <a:avLst/>
          </a:prstGeom>
        </p:spPr>
      </p:pic>
      <p:sp>
        <p:nvSpPr>
          <p:cNvPr id="13" name="Datum"/>
          <p:cNvSpPr>
            <a:spLocks noGrp="1"/>
          </p:cNvSpPr>
          <p:nvPr>
            <p:ph type="body" idx="103"/>
          </p:nvPr>
        </p:nvSpPr>
        <p:spPr>
          <a:xfrm>
            <a:off x="762000" y="5463045"/>
            <a:ext cx="146304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4D6DB"/>
                </a:solidFill>
                <a:latin typeface="Rethink Sans"/>
                <a:ea typeface="Rethink Sans"/>
                <a:cs typeface="Rethink Sans"/>
              </a:rPr>
              <a:t>listopad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líčová čísla na jednom místě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AI A PENÍZE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xfrm>
            <a:off x="762000" y="1079500"/>
            <a:ext cx="792480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Ve světě se na peníze ptá AI už polovina lidí. V Česku zatím každý pátý.</a:t>
            </a:r>
          </a:p>
        </p:txBody>
      </p:sp>
      <p:sp>
        <p:nvSpPr>
          <p:cNvPr id="5" name="Číslo 1"/>
          <p:cNvSpPr>
            <a:spLocks noGrp="1"/>
          </p:cNvSpPr>
          <p:nvPr>
            <p:ph type="body" idx="100"/>
          </p:nvPr>
        </p:nvSpPr>
        <p:spPr>
          <a:xfrm>
            <a:off x="762000" y="2857500"/>
            <a:ext cx="3447288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142850" rIns="304800" bIns="5080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49 %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lidí ve světě použilo za posledních 6 měsíců AI při rozhodování o spoření a investicích</a:t>
            </a:r>
          </a:p>
        </p:txBody>
      </p:sp>
      <p:sp>
        <p:nvSpPr>
          <p:cNvPr id="6" name="Číslo 2 – linka"/>
          <p:cNvSpPr/>
          <p:nvPr/>
        </p:nvSpPr>
        <p:spPr>
          <a:xfrm>
            <a:off x="4076700" y="2857500"/>
            <a:ext cx="6350" cy="1463040"/>
          </a:xfrm>
          <a:prstGeom prst="rect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Číslo 2"/>
          <p:cNvSpPr>
            <a:spLocks noGrp="1"/>
          </p:cNvSpPr>
          <p:nvPr>
            <p:ph type="body" idx="101"/>
          </p:nvPr>
        </p:nvSpPr>
        <p:spPr>
          <a:xfrm>
            <a:off x="4076700" y="2857500"/>
            <a:ext cx="3823716" cy="1463040"/>
          </a:xfrm>
          <a:prstGeom prst="rect">
            <a:avLst/>
          </a:prstGeom>
          <a:noFill/>
          <a:ln>
            <a:noFill/>
          </a:ln>
        </p:spPr>
        <p:txBody>
          <a:bodyPr wrap="square" lIns="355600" tIns="142850" rIns="304800" bIns="5080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32 %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Čechů používá nástroje AI typu ChatGPT</a:t>
            </a:r>
          </a:p>
        </p:txBody>
      </p:sp>
      <p:sp>
        <p:nvSpPr>
          <p:cNvPr id="8" name="Číslo 3 – linka"/>
          <p:cNvSpPr/>
          <p:nvPr/>
        </p:nvSpPr>
        <p:spPr>
          <a:xfrm>
            <a:off x="7753350" y="2857500"/>
            <a:ext cx="6350" cy="1463040"/>
          </a:xfrm>
          <a:prstGeom prst="rect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Číslo 3"/>
          <p:cNvSpPr>
            <a:spLocks noGrp="1"/>
          </p:cNvSpPr>
          <p:nvPr>
            <p:ph type="body" idx="102"/>
          </p:nvPr>
        </p:nvSpPr>
        <p:spPr>
          <a:xfrm>
            <a:off x="7753350" y="2857500"/>
            <a:ext cx="3695033" cy="1463040"/>
          </a:xfrm>
          <a:prstGeom prst="rect">
            <a:avLst/>
          </a:prstGeom>
          <a:noFill/>
          <a:ln>
            <a:noFill/>
          </a:ln>
        </p:spPr>
        <p:txBody>
          <a:bodyPr wrap="square" lIns="355600" tIns="142850" rIns="304800" bIns="5080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19 %</a:t>
            </a: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Čechů využívá AI při správě svých financí</a:t>
            </a:r>
          </a:p>
        </p:txBody>
      </p:sp>
      <p:sp>
        <p:nvSpPr>
          <p:cNvPr id="10" name="Zdroj a upozornění"/>
          <p:cNvSpPr>
            <a:spLocks noGrp="1"/>
          </p:cNvSpPr>
          <p:nvPr>
            <p:ph type="body" idx="103"/>
          </p:nvPr>
        </p:nvSpPr>
        <p:spPr>
          <a:xfrm>
            <a:off x="762000" y="5577942"/>
            <a:ext cx="10671048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Zdroje: EY Global AI Sentiment Survey, duben 2026 (18 000+ lidí, 23 zemí); ČSÚ, šetření ICT v domácnostech 2025; Ipsos pro Zlatou korunu, Finance a AI 2025.</a:t>
            </a:r>
          </a:p>
        </p:txBody>
      </p:sp>
      <p:sp>
        <p:nvSpPr>
          <p:cNvPr id="11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vě skupiny bodů vedle se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JAK NA TO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6 tipů, jak se AI ptát, aby odpověď stála za to</a:t>
            </a:r>
          </a:p>
        </p:txBody>
      </p:sp>
      <p:sp>
        <p:nvSpPr>
          <p:cNvPr id="5" name="Číslo"/>
          <p:cNvSpPr>
            <a:spLocks noGrp="1"/>
          </p:cNvSpPr>
          <p:nvPr>
            <p:ph type="body" idx="100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6" name="Text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Řekněte, kdo jste.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„Je mi 40, investuju 5 000 Kč měsíčně, peníze budu potřebovat za 20 let.“</a:t>
            </a:r>
          </a:p>
        </p:txBody>
      </p:sp>
      <p:sp>
        <p:nvSpPr>
          <p:cNvPr id="7" name="Číslo"/>
          <p:cNvSpPr>
            <a:spLocks noGrp="1"/>
          </p:cNvSpPr>
          <p:nvPr>
            <p:ph type="body" idx="102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Chtějte možnosti i protiargumenty.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„Dej mi 3 varianty a ke každé, co by se mohlo pokazit.“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4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0" name="Text"/>
          <p:cNvSpPr>
            <a:spLocks noGrp="1"/>
          </p:cNvSpPr>
          <p:nvPr>
            <p:ph type="body" idx="105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Chtějte počty se vším.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„Započítej inflaci a daně a napiš, s jakými předpoklady počítáš.“</a:t>
            </a:r>
          </a:p>
        </p:txBody>
      </p:sp>
      <p:sp>
        <p:nvSpPr>
          <p:cNvPr id="11" name="Číslo"/>
          <p:cNvSpPr>
            <a:spLocks noGrp="1"/>
          </p:cNvSpPr>
          <p:nvPr>
            <p:ph type="body" idx="106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2" name="Text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Chtějte zdroj a datum.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„Ke každému číslu napiš, odkud je a k jakému datu.“</a:t>
            </a:r>
          </a:p>
        </p:txBody>
      </p:sp>
      <p:sp>
        <p:nvSpPr>
          <p:cNvPr id="13" name="Číslo"/>
          <p:cNvSpPr>
            <a:spLocks noGrp="1"/>
          </p:cNvSpPr>
          <p:nvPr>
            <p:ph type="body" idx="108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5</a:t>
            </a:r>
          </a:p>
        </p:txBody>
      </p:sp>
      <p:sp>
        <p:nvSpPr>
          <p:cNvPr id="14" name="Text"/>
          <p:cNvSpPr>
            <a:spLocks noGrp="1"/>
          </p:cNvSpPr>
          <p:nvPr>
            <p:ph type="body" idx="109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Ať se zeptá ona vás.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„Než odpovíš, zeptej se mě na všechno, co potřebuješ vědět.“</a:t>
            </a:r>
          </a:p>
        </p:txBody>
      </p:sp>
      <p:sp>
        <p:nvSpPr>
          <p:cNvPr id="15" name="Číslo"/>
          <p:cNvSpPr>
            <a:spLocks noGrp="1"/>
          </p:cNvSpPr>
          <p:nvPr>
            <p:ph type="body" idx="110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6</a:t>
            </a:r>
          </a:p>
        </p:txBody>
      </p:sp>
      <p:sp>
        <p:nvSpPr>
          <p:cNvPr id="16" name="Text"/>
          <p:cNvSpPr>
            <a:spLocks noGrp="1"/>
          </p:cNvSpPr>
          <p:nvPr>
            <p:ph type="body" idx="1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Ať zkontroluje sama sebe.</a:t>
            </a:r>
          </a:p>
          <a:p>
            <a:pPr marL="0" indent="0" algn="l">
              <a:lnSpc>
                <a:spcPts val="1600"/>
              </a:lnSpc>
              <a:spcBef>
                <a:spcPts val="22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„Projdi svou odpověď a najdi v ní chyby.“</a:t>
            </a:r>
          </a:p>
        </p:txBody>
      </p:sp>
      <p:sp>
        <p:nvSpPr>
          <p:cNvPr id="17" name="Doporučení (boční panel)"/>
          <p:cNvSpPr/>
          <p:nvPr/>
        </p:nvSpPr>
        <p:spPr>
          <a:xfrm>
            <a:off x="8636000" y="635000"/>
            <a:ext cx="2794000" cy="2926080"/>
          </a:xfrm>
          <a:prstGeom prst="roundRect">
            <a:avLst>
              <a:gd name="adj" fmla="val 5647"/>
            </a:avLst>
          </a:prstGeom>
          <a:solidFill>
            <a:srgbClr val="ECEBF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Štítek"/>
          <p:cNvSpPr>
            <a:spLocks noGrp="1"/>
          </p:cNvSpPr>
          <p:nvPr>
            <p:ph type="body" idx="1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127" rIns="0" bIns="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BEZPEČNOST</a:t>
            </a:r>
          </a:p>
        </p:txBody>
      </p:sp>
      <p:sp>
        <p:nvSpPr>
          <p:cNvPr id="19" name="Doporučení"/>
          <p:cNvSpPr>
            <a:spLocks noGrp="1"/>
          </p:cNvSpPr>
          <p:nvPr>
            <p:ph type="body" idx="113"/>
          </p:nvPr>
        </p:nvSpPr>
        <p:spPr>
          <a:xfrm>
            <a:off x="8940800" y="1202195"/>
            <a:ext cx="2195322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4305" rtlCol="0" anchor="t" anchorCtr="0">
            <a:noAutofit/>
          </a:bodyPr>
          <a:lstStyle/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Rodné číslo, čísla účtů a hesla do AI nedávejte</a:t>
            </a:r>
          </a:p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 nastavení vypněte, aby se AI učila na vašich konverzacích</a:t>
            </a:r>
          </a:p>
          <a:p>
            <a:pPr marL="174625" indent="-174625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100" b="0" kern="0" cap="none" spc="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Platí to i pro placené verze</a:t>
            </a:r>
          </a:p>
        </p:txBody>
      </p:sp>
      <p:sp>
        <p:nvSpPr>
          <p:cNvPr id="20" name="Rozhodnutí – linka"/>
          <p:cNvSpPr/>
          <p:nvPr/>
        </p:nvSpPr>
        <p:spPr>
          <a:xfrm>
            <a:off x="8940800" y="2633980"/>
            <a:ext cx="21844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Rozhodnutí"/>
          <p:cNvSpPr>
            <a:spLocks noGrp="1"/>
          </p:cNvSpPr>
          <p:nvPr>
            <p:ph type="body" idx="114"/>
          </p:nvPr>
        </p:nvSpPr>
        <p:spPr>
          <a:xfrm>
            <a:off x="8940800" y="2633980"/>
            <a:ext cx="2271776" cy="577850"/>
          </a:xfrm>
          <a:prstGeom prst="rect">
            <a:avLst/>
          </a:prstGeom>
          <a:noFill/>
          <a:ln>
            <a:noFill/>
          </a:ln>
        </p:spPr>
        <p:txBody>
          <a:bodyPr wrap="square" lIns="0" tIns="116942" rIns="0" bIns="0" rtlCol="0" anchor="t" anchorCtr="0">
            <a:no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Nastavení zabere</a:t>
            </a:r>
          </a:p>
          <a:p>
            <a:pPr marL="0" indent="0" algn="l">
              <a:lnSpc>
                <a:spcPts val="2100"/>
              </a:lnSpc>
              <a:spcBef>
                <a:spcPts val="33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2 minuty</a:t>
            </a:r>
          </a:p>
        </p:txBody>
      </p:sp>
      <p:sp>
        <p:nvSpPr>
          <p:cNvPr id="23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Čtyři skupiny bodů v mříž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NÁSTROJE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Který nástroj na co</a:t>
            </a:r>
          </a:p>
        </p:txBody>
      </p:sp>
      <p:sp>
        <p:nvSpPr>
          <p:cNvPr id="10" name="Hlavní sdělení"/>
          <p:cNvSpPr>
            <a:spLocks noGrp="1"/>
          </p:cNvSpPr>
          <p:nvPr/>
        </p:nvSpPr>
        <p:spPr>
          <a:xfrm>
            <a:off x="758952" y="4709160"/>
            <a:ext cx="10671048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Největší výhoda pro českého investora: AI vám česky vysvětlí cokoli, co je jen v angličtině.</a:t>
            </a:r>
          </a:p>
        </p:txBody>
      </p:sp>
      <p:sp>
        <p:nvSpPr>
          <p:cNvPr id="5" name="Sloupec – Co funguje"/>
          <p:cNvSpPr>
            <a:spLocks noGrp="1"/>
          </p:cNvSpPr>
          <p:nvPr>
            <p:ph type="body" idx="100"/>
          </p:nvPr>
        </p:nvSpPr>
        <p:spPr>
          <a:xfrm>
            <a:off x="762000" y="1689100"/>
            <a:ext cx="5105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ChatGPT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Počítání, tabulky a grafy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Práce s nahranými soubory</a:t>
            </a:r>
          </a:p>
        </p:txBody>
      </p:sp>
      <p:sp>
        <p:nvSpPr>
          <p:cNvPr id="6" name="Sloupec – Co zlepšit"/>
          <p:cNvSpPr>
            <a:spLocks noGrp="1"/>
          </p:cNvSpPr>
          <p:nvPr>
            <p:ph type="body" idx="101"/>
          </p:nvPr>
        </p:nvSpPr>
        <p:spPr>
          <a:xfrm>
            <a:off x="6350000" y="1689100"/>
            <a:ext cx="5105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Claude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Dlouhé dokumenty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Projekty, které si pamatují vaše cíle</a:t>
            </a:r>
          </a:p>
        </p:txBody>
      </p:sp>
      <p:sp>
        <p:nvSpPr>
          <p:cNvPr id="7" name="Sloupec – Příležitosti"/>
          <p:cNvSpPr>
            <a:spLocks noGrp="1"/>
          </p:cNvSpPr>
          <p:nvPr>
            <p:ph type="body" idx="102"/>
          </p:nvPr>
        </p:nvSpPr>
        <p:spPr>
          <a:xfrm>
            <a:off x="762000" y="3154680"/>
            <a:ext cx="5105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NotebookLM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Odpovídá jen z vašich dokumentů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Udělá z nich i podcast</a:t>
            </a:r>
          </a:p>
        </p:txBody>
      </p:sp>
      <p:sp>
        <p:nvSpPr>
          <p:cNvPr id="8" name="Sloupec – Rizika"/>
          <p:cNvSpPr>
            <a:spLocks noGrp="1"/>
          </p:cNvSpPr>
          <p:nvPr>
            <p:ph type="body" idx="103"/>
          </p:nvPr>
        </p:nvSpPr>
        <p:spPr>
          <a:xfrm>
            <a:off x="6350000" y="3154680"/>
            <a:ext cx="5105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Perplexity a Google Finance</a:t>
            </a:r>
          </a:p>
          <a:p>
            <a:pPr marL="206375" indent="-206375" algn="l">
              <a:lnSpc>
                <a:spcPts val="1900"/>
              </a:lnSpc>
              <a:spcBef>
                <a:spcPts val="84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Aktuální dění na trzích</a:t>
            </a:r>
          </a:p>
          <a:p>
            <a:pPr marL="206375" indent="-206375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 typeface="Arial"/>
              <a:buChar char="•"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Odkazy na zdroje</a:t>
            </a:r>
          </a:p>
        </p:txBody>
      </p:sp>
      <p:sp>
        <p:nvSpPr>
          <p:cNvPr id="9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  <p:sp>
        <p:nvSpPr>
          <p:cNvPr id="11" name="Poznámka"/>
          <p:cNvSpPr>
            <a:spLocks noGrp="1"/>
          </p:cNvSpPr>
          <p:nvPr/>
        </p:nvSpPr>
        <p:spPr>
          <a:xfrm>
            <a:off x="758952" y="562356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2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Na většinu věcí stačí verze zdarma.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ázev sek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ocour (lezici)"/>
          <p:cNvPicPr>
            <a:picLocks noGrp="1"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24600" y="2794138"/>
            <a:ext cx="6546850" cy="4063723"/>
          </a:xfrm>
          <a:prstGeom prst="rect">
            <a:avLst/>
          </a:prstGeom>
        </p:spPr>
      </p:pic>
      <p:sp>
        <p:nvSpPr>
          <p:cNvPr id="4" name="Obsah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92050" rIns="0" bIns="0" rtlCol="0" anchor="t" anchorCtr="0">
            <a:noAutofit/>
          </a:bodyPr>
          <a:lstStyle/>
          <a:p>
            <a:pPr marL="0" indent="0"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4800" b="1" kern="0" cap="none" spc="-10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01</a:t>
            </a:r>
          </a:p>
          <a:p>
            <a:pPr marL="0" indent="0" algn="l">
              <a:lnSpc>
                <a:spcPts val="5400"/>
              </a:lnSpc>
              <a:spcBef>
                <a:spcPts val="1421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Praktická část</a:t>
            </a:r>
          </a:p>
          <a:p>
            <a:pPr marL="0" indent="0" algn="l">
              <a:lnSpc>
                <a:spcPts val="1900"/>
              </a:lnSpc>
              <a:spcBef>
                <a:spcPts val="151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Co za vás AI udělá. Ukážeme naživo.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adpis slidu na jeden až dva řád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825500"/>
            <a:ext cx="1627631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1 · DOKUMENTY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Přečte za vás 80 stran za minutu</a:t>
            </a:r>
          </a:p>
        </p:txBody>
      </p:sp>
      <p:sp>
        <p:nvSpPr>
          <p:cNvPr id="5" name="Perex"/>
          <p:cNvSpPr>
            <a:spLocks noGrp="1"/>
          </p:cNvSpPr>
          <p:nvPr>
            <p:ph type="body" idx="14"/>
          </p:nvPr>
        </p:nvSpPr>
        <p:spPr>
          <a:xfrm>
            <a:off x="762000" y="2378266"/>
            <a:ext cx="51511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tx1"/>
                </a:solidFill>
                <a:latin typeface="Rethink Sans Medium"/>
                <a:ea typeface="Rethink Sans Medium"/>
                <a:cs typeface="Rethink Sans Medium"/>
              </a:rPr>
              <a:t>Výroční zprávy a dokumenty k fondům bývají dlouhé a anglicky. AI je shrne česky.</a:t>
            </a:r>
          </a:p>
        </p:txBody>
      </p:sp>
      <p:sp>
        <p:nvSpPr>
          <p:cNvPr id="6" name="Odstavec"/>
          <p:cNvSpPr>
            <a:spLocks noGrp="1"/>
          </p:cNvSpPr>
          <p:nvPr>
            <p:ph type="body" idx="100"/>
          </p:nvPr>
        </p:nvSpPr>
        <p:spPr>
          <a:xfrm>
            <a:off x="762000" y="3063240"/>
            <a:ext cx="4977765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Prompt: „Shrň mi tento dokument česky do 5 bodů pro člověka, který není odborník. Do čeho fond investuje, jak funguje a jaká jsou 3 největší rizika? U každého bodu uveď stranu.“</a:t>
            </a:r>
          </a:p>
        </p:txBody>
      </p:sp>
      <p:pic>
        <p:nvPicPr>
          <p:cNvPr id="7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169663"/>
            <a:ext cx="254000" cy="254000"/>
          </a:xfrm>
          <a:prstGeom prst="rect">
            <a:avLst/>
          </a:prstGeom>
        </p:spPr>
      </p:pic>
      <p:sp>
        <p:nvSpPr>
          <p:cNvPr id="8" name="Text"/>
          <p:cNvSpPr>
            <a:spLocks noGrp="1"/>
          </p:cNvSpPr>
          <p:nvPr>
            <p:ph type="body" idx="101"/>
          </p:nvPr>
        </p:nvSpPr>
        <p:spPr>
          <a:xfrm>
            <a:off x="1143000" y="416052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Doplňující otázka: „Co je P/E? Vysvětli to na pekárně.“</a:t>
            </a:r>
          </a:p>
        </p:txBody>
      </p:sp>
      <p:pic>
        <p:nvPicPr>
          <p:cNvPr id="9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553712"/>
            <a:ext cx="254000" cy="254000"/>
          </a:xfrm>
          <a:prstGeom prst="rect">
            <a:avLst/>
          </a:prstGeom>
        </p:spPr>
      </p:pic>
      <p:sp>
        <p:nvSpPr>
          <p:cNvPr id="10" name="Text"/>
          <p:cNvSpPr>
            <a:spLocks noGrp="1"/>
          </p:cNvSpPr>
          <p:nvPr>
            <p:ph type="body" idx="102"/>
          </p:nvPr>
        </p:nvSpPr>
        <p:spPr>
          <a:xfrm>
            <a:off x="1143000" y="45445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Nástroj: Claude nebo ChatGPT</a:t>
            </a:r>
          </a:p>
        </p:txBody>
      </p:sp>
      <p:pic>
        <p:nvPicPr>
          <p:cNvPr id="11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937759"/>
            <a:ext cx="254000" cy="254000"/>
          </a:xfrm>
          <a:prstGeom prst="rect">
            <a:avLst/>
          </a:prstGeom>
        </p:spPr>
      </p:pic>
      <p:sp>
        <p:nvSpPr>
          <p:cNvPr id="12" name="Text"/>
          <p:cNvSpPr>
            <a:spLocks noGrp="1"/>
          </p:cNvSpPr>
          <p:nvPr>
            <p:ph type="body" idx="103"/>
          </p:nvPr>
        </p:nvSpPr>
        <p:spPr>
          <a:xfrm>
            <a:off x="1143000" y="4928616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Bonus: NotebookLM z dokumentu udělá krátký podcast</a:t>
            </a:r>
          </a:p>
        </p:txBody>
      </p:sp>
      <p:sp>
        <p:nvSpPr>
          <p:cNvPr id="19" name="Obrázek"/>
          <p:cNvSpPr>
            <a:spLocks noGrp="1"/>
          </p:cNvSpPr>
          <p:nvPr>
            <p:ph type="pic" idx="20"/>
          </p:nvPr>
        </p:nvSpPr>
        <p:spPr>
          <a:xfrm>
            <a:off x="6350000" y="762000"/>
            <a:ext cx="5080000" cy="5207000"/>
          </a:xfrm>
          <a:prstGeom prst="roundRect">
            <a:avLst>
              <a:gd name="adj" fmla="val 3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vě varianty vedle se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5556250" y="635000"/>
            <a:ext cx="1527048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 · VÁŠ PLÁN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Stejná otázka, mnohem lepší odpověď</a:t>
            </a:r>
          </a:p>
        </p:txBody>
      </p:sp>
      <p:sp>
        <p:nvSpPr>
          <p:cNvPr id="5" name="Karta – Varianta A"/>
          <p:cNvSpPr/>
          <p:nvPr/>
        </p:nvSpPr>
        <p:spPr>
          <a:xfrm>
            <a:off x="6202680" y="1905000"/>
            <a:ext cx="5232400" cy="3086100"/>
          </a:xfrm>
          <a:prstGeom prst="roundRect">
            <a:avLst>
              <a:gd name="adj" fmla="val 4938"/>
            </a:avLst>
          </a:prstGeom>
          <a:gradFill rotWithShape="1">
            <a:gsLst>
              <a:gs pos="0">
                <a:srgbClr val="3F2485"/>
              </a:gs>
              <a:gs pos="14286">
                <a:srgbClr val="3F2485"/>
              </a:gs>
              <a:gs pos="50000">
                <a:srgbClr val="512DAC"/>
              </a:gs>
              <a:gs pos="85714">
                <a:srgbClr val="7A33C4"/>
              </a:gs>
              <a:gs pos="100000">
                <a:srgbClr val="7A33C4"/>
              </a:gs>
            </a:gsLst>
            <a:lin ang="1831941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Nadpis karty"/>
          <p:cNvSpPr>
            <a:spLocks noGrp="1"/>
          </p:cNvSpPr>
          <p:nvPr>
            <p:ph type="body" idx="100"/>
          </p:nvPr>
        </p:nvSpPr>
        <p:spPr>
          <a:xfrm>
            <a:off x="6507480" y="2199145"/>
            <a:ext cx="4807712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70000"/>
                  </a:schemeClr>
                </a:solidFill>
                <a:latin typeface="Rethink Sans"/>
                <a:ea typeface="Rethink Sans"/>
                <a:cs typeface="Rethink Sans"/>
              </a:rPr>
              <a:t>S trvalými instrukcemi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S Projektem</a:t>
            </a:r>
          </a:p>
        </p:txBody>
      </p:sp>
      <p:sp>
        <p:nvSpPr>
          <p:cNvPr id="7" name="Popis"/>
          <p:cNvSpPr>
            <a:spLocks noGrp="1"/>
          </p:cNvSpPr>
          <p:nvPr>
            <p:ph type="body" idx="101"/>
          </p:nvPr>
        </p:nvSpPr>
        <p:spPr>
          <a:xfrm>
            <a:off x="6507480" y="2973845"/>
            <a:ext cx="480771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Projekt si pamatuje vaše cíle. Pak se jen ptáte: Stihnu to? Co když přidám 1 000 Kč?</a:t>
            </a:r>
          </a:p>
        </p:txBody>
      </p:sp>
      <p:pic>
        <p:nvPicPr>
          <p:cNvPr id="8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6507480" y="3568700"/>
            <a:ext cx="254000" cy="254000"/>
          </a:xfrm>
          <a:prstGeom prst="rect">
            <a:avLst/>
          </a:prstGeom>
        </p:spPr>
      </p:pic>
      <p:sp>
        <p:nvSpPr>
          <p:cNvPr id="9" name="Text"/>
          <p:cNvSpPr>
            <a:spLocks noGrp="1"/>
          </p:cNvSpPr>
          <p:nvPr>
            <p:ph type="body" idx="102"/>
          </p:nvPr>
        </p:nvSpPr>
        <p:spPr>
          <a:xfrm>
            <a:off x="6888480" y="35618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„Je mi 40 a investuju 5 000 Kč měsíčně.“</a:t>
            </a:r>
          </a:p>
        </p:txBody>
      </p:sp>
      <p:pic>
        <p:nvPicPr>
          <p:cNvPr id="10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6507480" y="3924300"/>
            <a:ext cx="254000" cy="254000"/>
          </a:xfrm>
          <a:prstGeom prst="rect">
            <a:avLst/>
          </a:prstGeom>
        </p:spPr>
      </p:pic>
      <p:sp>
        <p:nvSpPr>
          <p:cNvPr id="11" name="Text"/>
          <p:cNvSpPr>
            <a:spLocks noGrp="1"/>
          </p:cNvSpPr>
          <p:nvPr>
            <p:ph type="body" idx="103"/>
          </p:nvPr>
        </p:nvSpPr>
        <p:spPr>
          <a:xfrm>
            <a:off x="6888480" y="39174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„Mám 300 000 Kč, cíl je 3 mil. Kč do 60 let.“</a:t>
            </a:r>
          </a:p>
        </p:txBody>
      </p:sp>
      <p:pic>
        <p:nvPicPr>
          <p:cNvPr id="12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6507480" y="4279900"/>
            <a:ext cx="254000" cy="254000"/>
          </a:xfrm>
          <a:prstGeom prst="rect">
            <a:avLst/>
          </a:prstGeom>
        </p:spPr>
      </p:pic>
      <p:sp>
        <p:nvSpPr>
          <p:cNvPr id="13" name="Text"/>
          <p:cNvSpPr>
            <a:spLocks noGrp="1"/>
          </p:cNvSpPr>
          <p:nvPr>
            <p:ph type="body" idx="104"/>
          </p:nvPr>
        </p:nvSpPr>
        <p:spPr>
          <a:xfrm>
            <a:off x="6888480" y="42730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„Počítej s inflací a daněmi, piš předpoklady.“</a:t>
            </a:r>
          </a:p>
        </p:txBody>
      </p:sp>
      <p:pic>
        <p:nvPicPr>
          <p:cNvPr id="14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6507480" y="4635500"/>
            <a:ext cx="254000" cy="254000"/>
          </a:xfrm>
          <a:prstGeom prst="rect">
            <a:avLst/>
          </a:prstGeom>
        </p:spPr>
      </p:pic>
      <p:sp>
        <p:nvSpPr>
          <p:cNvPr id="15" name="Text"/>
          <p:cNvSpPr>
            <a:spLocks noGrp="1"/>
          </p:cNvSpPr>
          <p:nvPr>
            <p:ph type="body" idx="105"/>
          </p:nvPr>
        </p:nvSpPr>
        <p:spPr>
          <a:xfrm>
            <a:off x="6888480" y="4628680"/>
            <a:ext cx="4411472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„Zeptej se, co ti chybí. Nedoporučuj akcie.“</a:t>
            </a:r>
          </a:p>
        </p:txBody>
      </p:sp>
      <p:sp>
        <p:nvSpPr>
          <p:cNvPr id="16" name="Karta – Varianta B"/>
          <p:cNvSpPr/>
          <p:nvPr/>
        </p:nvSpPr>
        <p:spPr>
          <a:xfrm>
            <a:off x="756920" y="1905000"/>
            <a:ext cx="5232400" cy="3086100"/>
          </a:xfrm>
          <a:prstGeom prst="roundRect">
            <a:avLst>
              <a:gd name="adj" fmla="val 493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Nadpis karty"/>
          <p:cNvSpPr>
            <a:spLocks noGrp="1"/>
          </p:cNvSpPr>
          <p:nvPr>
            <p:ph type="body" idx="106"/>
          </p:nvPr>
        </p:nvSpPr>
        <p:spPr>
          <a:xfrm>
            <a:off x="1074420" y="2211845"/>
            <a:ext cx="4781296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Jedna věta zadání</a:t>
            </a:r>
          </a:p>
          <a:p>
            <a:pPr marL="0" indent="0" algn="l">
              <a:lnSpc>
                <a:spcPts val="2900"/>
              </a:lnSpc>
              <a:spcBef>
                <a:spcPts val="727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Bez kontextu</a:t>
            </a:r>
          </a:p>
        </p:txBody>
      </p:sp>
      <p:sp>
        <p:nvSpPr>
          <p:cNvPr id="18" name="Popis"/>
          <p:cNvSpPr>
            <a:spLocks noGrp="1"/>
          </p:cNvSpPr>
          <p:nvPr>
            <p:ph type="body" idx="107"/>
          </p:nvPr>
        </p:nvSpPr>
        <p:spPr>
          <a:xfrm>
            <a:off x="1074420" y="2986545"/>
            <a:ext cx="4781296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„Navrhni mi investiční portfolio na 10 let a zdůvodni ho.“</a:t>
            </a:r>
          </a:p>
        </p:txBody>
      </p:sp>
      <p:sp>
        <p:nvSpPr>
          <p:cNvPr id="20" name="Text"/>
          <p:cNvSpPr>
            <a:spLocks noGrp="1"/>
          </p:cNvSpPr>
          <p:nvPr>
            <p:ph type="body" idx="108"/>
          </p:nvPr>
        </p:nvSpPr>
        <p:spPr>
          <a:xfrm>
            <a:off x="1069848" y="35745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AI neví, kolik vám je</a:t>
            </a:r>
          </a:p>
        </p:txBody>
      </p:sp>
      <p:sp>
        <p:nvSpPr>
          <p:cNvPr id="22" name="Text"/>
          <p:cNvSpPr>
            <a:spLocks noGrp="1"/>
          </p:cNvSpPr>
          <p:nvPr>
            <p:ph type="body" idx="109"/>
          </p:nvPr>
        </p:nvSpPr>
        <p:spPr>
          <a:xfrm>
            <a:off x="1069848" y="39301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Neví, kolik máte a kdy budete peníze potřebovat</a:t>
            </a:r>
          </a:p>
        </p:txBody>
      </p:sp>
      <p:sp>
        <p:nvSpPr>
          <p:cNvPr id="24" name="Text"/>
          <p:cNvSpPr>
            <a:spLocks noGrp="1"/>
          </p:cNvSpPr>
          <p:nvPr>
            <p:ph type="body" idx="110"/>
          </p:nvPr>
        </p:nvSpPr>
        <p:spPr>
          <a:xfrm>
            <a:off x="1069848" y="42857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Neví, jak snesete propad</a:t>
            </a:r>
          </a:p>
        </p:txBody>
      </p:sp>
      <p:sp>
        <p:nvSpPr>
          <p:cNvPr id="26" name="Text"/>
          <p:cNvSpPr>
            <a:spLocks noGrp="1"/>
          </p:cNvSpPr>
          <p:nvPr>
            <p:ph type="body" idx="111"/>
          </p:nvPr>
        </p:nvSpPr>
        <p:spPr>
          <a:xfrm>
            <a:off x="1069848" y="4641380"/>
            <a:ext cx="4385056" cy="241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Odpověď je proto obecná</a:t>
            </a:r>
          </a:p>
        </p:txBody>
      </p:sp>
      <p:sp>
        <p:nvSpPr>
          <p:cNvPr id="27" name="Karta – Varianta B"/>
          <p:cNvSpPr/>
          <p:nvPr/>
        </p:nvSpPr>
        <p:spPr>
          <a:xfrm>
            <a:off x="763270" y="1911350"/>
            <a:ext cx="5219700" cy="3073400"/>
          </a:xfrm>
          <a:prstGeom prst="roundRect">
            <a:avLst>
              <a:gd name="adj" fmla="val 4752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8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edno číslo, které si publikum zapamatu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1069848"/>
            <a:ext cx="1627631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3 · PORTFOLIO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xfrm>
            <a:off x="762000" y="1508760"/>
            <a:ext cx="4977765" cy="9652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Rentgen vašeho portfolia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/>
          </p:nvPr>
        </p:nvSpPr>
        <p:spPr>
          <a:xfrm>
            <a:off x="762000" y="3017520"/>
            <a:ext cx="4977765" cy="2651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Tři různé fondy můžou být třikrát totéž. AI to odhalí za minutu.</a:t>
            </a:r>
          </a:p>
          <a:p>
            <a:pPr marL="0" indent="0" algn="l">
              <a:lnSpc>
                <a:spcPts val="19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Prompt: „Mám ETF na MSCI World, S&amp;P 500 a Nasdaq 100 a k tomu akcie Nvidie. Jak je moje portfolio rozložené podle regionů, sektorů a měn? Kolik mám celkem v 10 největších firmách? Kde se fondy překrývají?“</a:t>
            </a:r>
          </a:p>
          <a:p>
            <a:pPr marL="0" indent="0" algn="l">
              <a:lnSpc>
                <a:spcPts val="19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Tip: místo „Je moje portfolio dobré?“ se ptejte „Kde je moje portfolio nejvíc zranitelné?“</a:t>
            </a:r>
          </a:p>
        </p:txBody>
      </p:sp>
      <p:pic>
        <p:nvPicPr>
          <p:cNvPr id="6" name="Karta" descr="dekorace"/>
          <p:cNvPicPr>
            <a:picLocks noGrp="1"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50000" y="762000"/>
            <a:ext cx="5080000" cy="5207000"/>
          </a:xfrm>
          <a:prstGeom prst="rect">
            <a:avLst/>
          </a:prstGeom>
        </p:spPr>
      </p:pic>
      <p:sp>
        <p:nvSpPr>
          <p:cNvPr id="7" name="Číslo a popis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217170" rIns="0" bIns="0" rtlCol="0" anchor="t" anchorCtr="0">
            <a:noAutofit/>
          </a:bodyPr>
          <a:lstStyle/>
          <a:p>
            <a:pPr marL="0" indent="0" algn="l">
              <a:lnSpc>
                <a:spcPts val="9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0" b="1" kern="0" cap="none" spc="-3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40 </a:t>
            </a:r>
            <a:r>
              <a:rPr lang="cs-CZ" sz="4800" b="1" kern="0" cap="none" spc="-100" dirty="0">
                <a:gradFill rotWithShape="1">
                  <a:gsLst>
                    <a:gs pos="0">
                      <a:srgbClr val="D8FF15"/>
                    </a:gs>
                    <a:gs pos="100000">
                      <a:srgbClr val="05CB4B"/>
                    </a:gs>
                  </a:gsLst>
                  <a:lin ang="0" scaled="0"/>
                </a:gradFill>
                <a:latin typeface="Rethink Sans"/>
                <a:ea typeface="Rethink Sans"/>
                <a:cs typeface="Rethink Sans"/>
              </a:rPr>
              <a:t>%</a:t>
            </a:r>
            <a:endParaRPr lang="cs-CZ" sz="10000" b="1" kern="0" cap="none" spc="-300" dirty="0">
              <a:gradFill rotWithShape="1">
                <a:gsLst>
                  <a:gs pos="0">
                    <a:srgbClr val="D8FF15"/>
                  </a:gs>
                  <a:gs pos="100000">
                    <a:srgbClr val="05CB4B"/>
                  </a:gs>
                </a:gsLst>
                <a:lin ang="0" scaled="0"/>
              </a:gradFill>
              <a:latin typeface="Rethink Sans"/>
              <a:ea typeface="Rethink Sans"/>
              <a:cs typeface="Rethink Sans"/>
            </a:endParaRPr>
          </a:p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>
                    <a:alpha val="90000"/>
                  </a:schemeClr>
                </a:solidFill>
                <a:latin typeface="Rethink Sans"/>
                <a:ea typeface="Rethink Sans"/>
                <a:cs typeface="Rethink Sans"/>
              </a:rPr>
              <a:t>tvoří 10 největších firem v indexu S&amp;P 500</a:t>
            </a:r>
          </a:p>
          <a:p>
            <a:pPr marL="0" indent="0" algn="l">
              <a:lnSpc>
                <a:spcPts val="1200"/>
              </a:lnSpc>
              <a:spcBef>
                <a:spcPts val="824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Kdo má tři „různé“ fondy, má často třikrát totéž.</a:t>
            </a:r>
          </a:p>
        </p:txBody>
      </p:sp>
      <p:sp>
        <p:nvSpPr>
          <p:cNvPr id="8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  <p:pic>
        <p:nvPicPr>
          <p:cNvPr id="9" name="Portu Outlines" descr="dekorace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8350250" y="0"/>
            <a:ext cx="3365500" cy="3219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adpis slidu na jeden až dva řád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825500"/>
            <a:ext cx="132588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4 · ZPRÁVY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Zprávy z anglických webů česky za 2 minuty</a:t>
            </a:r>
          </a:p>
        </p:txBody>
      </p:sp>
      <p:sp>
        <p:nvSpPr>
          <p:cNvPr id="5" name="Perex"/>
          <p:cNvSpPr>
            <a:spLocks noGrp="1"/>
          </p:cNvSpPr>
          <p:nvPr>
            <p:ph type="body" idx="14"/>
          </p:nvPr>
        </p:nvSpPr>
        <p:spPr>
          <a:xfrm>
            <a:off x="762000" y="2378266"/>
            <a:ext cx="51511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tx1"/>
                </a:solidFill>
                <a:latin typeface="Rethink Sans Medium"/>
                <a:ea typeface="Rethink Sans Medium"/>
                <a:cs typeface="Rethink Sans Medium"/>
              </a:rPr>
              <a:t>Místo hodiny na zpravodajských webech dvě minuty, a s odkazy na zdroje.</a:t>
            </a:r>
          </a:p>
        </p:txBody>
      </p:sp>
      <p:sp>
        <p:nvSpPr>
          <p:cNvPr id="6" name="Odstavec"/>
          <p:cNvSpPr>
            <a:spLocks noGrp="1"/>
          </p:cNvSpPr>
          <p:nvPr>
            <p:ph type="body" idx="100"/>
          </p:nvPr>
        </p:nvSpPr>
        <p:spPr>
          <a:xfrm>
            <a:off x="762000" y="3063240"/>
            <a:ext cx="4977765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Prompt: „Proč akcie X minulý týden klesly o 8 %? Odpověz česky a uveď zdroje.“</a:t>
            </a:r>
          </a:p>
        </p:txBody>
      </p:sp>
      <p:pic>
        <p:nvPicPr>
          <p:cNvPr id="7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169663"/>
            <a:ext cx="254000" cy="254000"/>
          </a:xfrm>
          <a:prstGeom prst="rect">
            <a:avLst/>
          </a:prstGeom>
        </p:spPr>
      </p:pic>
      <p:sp>
        <p:nvSpPr>
          <p:cNvPr id="8" name="Text"/>
          <p:cNvSpPr>
            <a:spLocks noGrp="1"/>
          </p:cNvSpPr>
          <p:nvPr>
            <p:ph type="body" idx="101"/>
          </p:nvPr>
        </p:nvSpPr>
        <p:spPr>
          <a:xfrm>
            <a:off x="1143000" y="416052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Nástroj: Perplexity nebo Google Finance s AI</a:t>
            </a:r>
          </a:p>
        </p:txBody>
      </p:sp>
      <p:pic>
        <p:nvPicPr>
          <p:cNvPr id="9" name="Ikon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62000" y="4553712"/>
            <a:ext cx="254000" cy="254000"/>
          </a:xfrm>
          <a:prstGeom prst="rect">
            <a:avLst/>
          </a:prstGeom>
        </p:spPr>
      </p:pic>
      <p:sp>
        <p:nvSpPr>
          <p:cNvPr id="10" name="Text"/>
          <p:cNvSpPr>
            <a:spLocks noGrp="1"/>
          </p:cNvSpPr>
          <p:nvPr>
            <p:ph type="body" idx="102"/>
          </p:nvPr>
        </p:nvSpPr>
        <p:spPr>
          <a:xfrm>
            <a:off x="1143000" y="45445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tx1"/>
                </a:solidFill>
                <a:latin typeface="Rethink Sans"/>
                <a:ea typeface="Rethink Sans"/>
                <a:cs typeface="Rethink Sans"/>
              </a:rPr>
              <a:t>Každé tvrzení má odkaz, který si můžete ověřit</a:t>
            </a:r>
          </a:p>
        </p:txBody>
      </p:sp>
      <p:sp>
        <p:nvSpPr>
          <p:cNvPr id="19" name="Obrázek"/>
          <p:cNvSpPr>
            <a:spLocks noGrp="1"/>
          </p:cNvSpPr>
          <p:nvPr>
            <p:ph type="pic" idx="20"/>
          </p:nvPr>
        </p:nvSpPr>
        <p:spPr>
          <a:xfrm>
            <a:off x="6350000" y="762000"/>
            <a:ext cx="5080000" cy="5207000"/>
          </a:xfrm>
          <a:prstGeom prst="roundRect">
            <a:avLst>
              <a:gd name="adj" fmla="val 3000"/>
            </a:avLst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ituace, problém a řeše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635000"/>
            <a:ext cx="1325880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5 · TÉMATA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Najde firmy k tématu, kterému věříte</a:t>
            </a:r>
          </a:p>
        </p:txBody>
      </p:sp>
      <p:sp>
        <p:nvSpPr>
          <p:cNvPr id="5" name="Karta – Situace"/>
          <p:cNvSpPr>
            <a:spLocks noGrp="1"/>
          </p:cNvSpPr>
          <p:nvPr>
            <p:ph type="body" idx="100"/>
          </p:nvPr>
        </p:nvSpPr>
        <p:spPr>
          <a:prstGeom prst="roundRect">
            <a:avLst>
              <a:gd name="adj" fmla="val 8219"/>
            </a:avLst>
          </a:prstGeom>
          <a:solidFill>
            <a:schemeClr val="bg2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6"/>
                </a:solidFill>
                <a:latin typeface="Rethink Sans SemiBold"/>
                <a:ea typeface="Rethink Sans SemiBold"/>
                <a:cs typeface="Rethink Sans SemiBold"/>
              </a:rPr>
              <a:t>ZEPTEJTE SE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Kdo vyrábí čipy?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„Jaké firmy na burze vyrábějí čipy? Kolik tržeb z toho mají? A existuje ETF na celé téma?“</a:t>
            </a:r>
          </a:p>
        </p:txBody>
      </p:sp>
      <p:pic>
        <p:nvPicPr>
          <p:cNvPr id="6" name="Šipk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4072446" y="2933700"/>
            <a:ext cx="304800" cy="304800"/>
          </a:xfrm>
          <a:prstGeom prst="rect">
            <a:avLst/>
          </a:prstGeom>
        </p:spPr>
      </p:pic>
      <p:sp>
        <p:nvSpPr>
          <p:cNvPr id="7" name="Karta – Problém"/>
          <p:cNvSpPr>
            <a:spLocks noGrp="1"/>
          </p:cNvSpPr>
          <p:nvPr>
            <p:ph type="body" idx="101"/>
          </p:nvPr>
        </p:nvSpPr>
        <p:spPr>
          <a:prstGeom prst="roundRect">
            <a:avLst>
              <a:gd name="adj" fmla="val 8219"/>
            </a:avLst>
          </a:prstGeom>
          <a:solidFill>
            <a:srgbClr val="FBE7F0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D60F69"/>
                </a:solidFill>
                <a:latin typeface="Rethink Sans SemiBold"/>
                <a:ea typeface="Rethink Sans SemiBold"/>
                <a:cs typeface="Rethink Sans SemiBold"/>
              </a:rPr>
              <a:t>AI NAJDE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Firmy a souvislosti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Přehled firem, čím se liší a kolik vydělávají na čipech. Za minutu místo večera.</a:t>
            </a:r>
          </a:p>
        </p:txBody>
      </p:sp>
      <p:pic>
        <p:nvPicPr>
          <p:cNvPr id="8" name="Šipka"/>
          <p:cNvPicPr>
            <a:picLocks noGrp="1"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p:blipFill>
        <p:spPr>
          <a:xfrm>
            <a:off x="7814754" y="2933700"/>
            <a:ext cx="304800" cy="304800"/>
          </a:xfrm>
          <a:prstGeom prst="rect">
            <a:avLst/>
          </a:prstGeom>
        </p:spPr>
      </p:pic>
      <p:sp>
        <p:nvSpPr>
          <p:cNvPr id="9" name="Karta – Řešení"/>
          <p:cNvSpPr>
            <a:spLocks noGrp="1"/>
          </p:cNvSpPr>
          <p:nvPr>
            <p:ph type="body" idx="102"/>
          </p:nvPr>
        </p:nvSpPr>
        <p:spPr>
          <a:prstGeom prst="roundRect">
            <a:avLst>
              <a:gd name="adj" fmla="val 8219"/>
            </a:avLst>
          </a:prstGeom>
          <a:solidFill>
            <a:srgbClr val="E6F7EC"/>
          </a:solidFill>
          <a:ln>
            <a:noFill/>
          </a:ln>
        </p:spPr>
        <p:txBody>
          <a:bodyPr wrap="square" lIns="304800" tIns="304927" rIns="291931" bIns="30480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VY ROZHODNETE</a:t>
            </a:r>
          </a:p>
          <a:p>
            <a:pPr marL="0" indent="0" algn="l">
              <a:lnSpc>
                <a:spcPts val="2100"/>
              </a:lnSpc>
              <a:spcBef>
                <a:spcPts val="8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Co s tím uděláte</a:t>
            </a:r>
          </a:p>
          <a:p>
            <a:pPr marL="0" indent="0" algn="l">
              <a:lnSpc>
                <a:spcPts val="1600"/>
              </a:lnSpc>
              <a:spcBef>
                <a:spcPts val="6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Seznam je začátek rešerše, ne nákupní seznam. Rozhodnutí je vaše.</a:t>
            </a:r>
          </a:p>
        </p:txBody>
      </p:sp>
      <p:sp>
        <p:nvSpPr>
          <p:cNvPr id="10" name="Výzva"/>
          <p:cNvSpPr>
            <a:spLocks noGrp="1"/>
          </p:cNvSpPr>
          <p:nvPr>
            <p:ph type="body" idx="103"/>
          </p:nvPr>
        </p:nvSpPr>
        <p:spPr>
          <a:prstGeom prst="roundRect">
            <a:avLst>
              <a:gd name="adj" fmla="val 14493"/>
            </a:avLst>
          </a:prstGeom>
          <a:solidFill>
            <a:srgbClr val="ECEBF8"/>
          </a:solidFill>
          <a:ln>
            <a:noFill/>
          </a:ln>
        </p:spPr>
        <p:txBody>
          <a:bodyPr wrap="square" lIns="304800" tIns="312001" rIns="0" bIns="297599" rtlCol="0" anchor="ctr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Často se ukáže, že téma jde koupit šířeji přes ETF.</a:t>
            </a:r>
          </a:p>
        </p:txBody>
      </p:sp>
      <p:sp>
        <p:nvSpPr>
          <p:cNvPr id="11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ři karty vedle se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TAKHLE NE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xfrm>
            <a:off x="762000" y="1079500"/>
            <a:ext cx="10671048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„Na kterých pěti akciích vydělám v příštích 5 letech nejvíc?“</a:t>
            </a:r>
          </a:p>
        </p:txBody>
      </p:sp>
      <p:sp>
        <p:nvSpPr>
          <p:cNvPr id="27" name="Pointa"/>
          <p:cNvSpPr>
            <a:spLocks noGrp="1"/>
          </p:cNvSpPr>
          <p:nvPr/>
        </p:nvSpPr>
        <p:spPr>
          <a:xfrm>
            <a:off x="758952" y="5074920"/>
            <a:ext cx="10671048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8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Tři nástroje, tři různé odpovědi. AI není věštkyně, je to skvělý analytik. Tak se jí tak ptejte.</a:t>
            </a:r>
          </a:p>
        </p:txBody>
      </p:sp>
      <p:sp>
        <p:nvSpPr>
          <p:cNvPr id="5" name="Karta – Portfolio od Portu"/>
          <p:cNvSpPr/>
          <p:nvPr/>
        </p:nvSpPr>
        <p:spPr>
          <a:xfrm>
            <a:off x="7620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Nadtitulek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ODPOVĚĎ 1</a:t>
            </a:r>
          </a:p>
        </p:txBody>
      </p:sp>
      <p:sp>
        <p:nvSpPr>
          <p:cNvPr id="7" name="Název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Sázka na čipy</a:t>
            </a:r>
          </a:p>
        </p:txBody>
      </p:sp>
      <p:sp>
        <p:nvSpPr>
          <p:cNvPr id="8" name="Popis"/>
          <p:cNvSpPr>
            <a:spLocks noGrp="1"/>
          </p:cNvSpPr>
          <p:nvPr>
            <p:ph type="body" idx="102"/>
          </p:nvPr>
        </p:nvSpPr>
        <p:spPr>
          <a:xfrm>
            <a:off x="1079500" y="3456445"/>
            <a:ext cx="2795206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1" kern="0" cap="none" spc="0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TSMC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ASML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1" kern="0" cap="none" spc="0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Broadcom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Vistra / Constellation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Micron</a:t>
            </a:r>
          </a:p>
        </p:txBody>
      </p:sp>
      <p:sp>
        <p:nvSpPr>
          <p:cNvPr id="11" name="Karta – Portfolio od Portu"/>
          <p:cNvSpPr/>
          <p:nvPr/>
        </p:nvSpPr>
        <p:spPr>
          <a:xfrm>
            <a:off x="7683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" name="Karta – Investiční rezerva"/>
          <p:cNvSpPr/>
          <p:nvPr/>
        </p:nvSpPr>
        <p:spPr>
          <a:xfrm>
            <a:off x="43815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Nadtitulek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ODPOVĚĎ 2</a:t>
            </a:r>
          </a:p>
        </p:txBody>
      </p:sp>
      <p:sp>
        <p:nvSpPr>
          <p:cNvPr id="14" name="Název"/>
          <p:cNvSpPr>
            <a:spLocks noGrp="1"/>
          </p:cNvSpPr>
          <p:nvPr>
            <p:ph type="body" idx="10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Obranné jistoty</a:t>
            </a:r>
          </a:p>
        </p:txBody>
      </p:sp>
      <p:sp>
        <p:nvSpPr>
          <p:cNvPr id="15" name="Popis"/>
          <p:cNvSpPr>
            <a:spLocks noGrp="1"/>
          </p:cNvSpPr>
          <p:nvPr>
            <p:ph type="body" idx="105"/>
          </p:nvPr>
        </p:nvSpPr>
        <p:spPr>
          <a:xfrm>
            <a:off x="4699000" y="3456445"/>
            <a:ext cx="2795206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Microsoft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Berkshire Hathaway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Alphabet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JPMorgan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Johnson &amp; Johnson</a:t>
            </a:r>
          </a:p>
        </p:txBody>
      </p:sp>
      <p:sp>
        <p:nvSpPr>
          <p:cNvPr id="18" name="Karta – Investiční rezerva"/>
          <p:cNvSpPr/>
          <p:nvPr/>
        </p:nvSpPr>
        <p:spPr>
          <a:xfrm>
            <a:off x="43878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" name="Karta – Investice do realit"/>
          <p:cNvSpPr/>
          <p:nvPr/>
        </p:nvSpPr>
        <p:spPr>
          <a:xfrm>
            <a:off x="80010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Nadtitulek"/>
          <p:cNvSpPr>
            <a:spLocks noGrp="1"/>
          </p:cNvSpPr>
          <p:nvPr>
            <p:ph type="body" idx="106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ODPOVĚĎ 3</a:t>
            </a:r>
          </a:p>
        </p:txBody>
      </p:sp>
      <p:sp>
        <p:nvSpPr>
          <p:cNvPr id="21" name="Název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Všechno do AI</a:t>
            </a:r>
          </a:p>
        </p:txBody>
      </p:sp>
      <p:sp>
        <p:nvSpPr>
          <p:cNvPr id="22" name="Popis"/>
          <p:cNvSpPr>
            <a:spLocks noGrp="1"/>
          </p:cNvSpPr>
          <p:nvPr>
            <p:ph type="body" idx="108"/>
          </p:nvPr>
        </p:nvSpPr>
        <p:spPr>
          <a:xfrm>
            <a:off x="8318500" y="3456445"/>
            <a:ext cx="2795206" cy="12344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Nvidia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1" kern="0" cap="none" spc="0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TSMC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1" kern="0" cap="none" spc="0" dirty="0">
                <a:solidFill>
                  <a:schemeClr val="accent1"/>
                </a:solidFill>
                <a:latin typeface="Rethink Sans"/>
                <a:ea typeface="Rethink Sans"/>
                <a:cs typeface="Rethink Sans"/>
              </a:rPr>
              <a:t>Broadcom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Meta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SK Hynix</a:t>
            </a:r>
          </a:p>
        </p:txBody>
      </p:sp>
      <p:sp>
        <p:nvSpPr>
          <p:cNvPr id="25" name="Karta – Investice do realit"/>
          <p:cNvSpPr/>
          <p:nvPr/>
        </p:nvSpPr>
        <p:spPr>
          <a:xfrm>
            <a:off x="80073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Jak začít během pár m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5120640" y="1358900"/>
            <a:ext cx="1947672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ctr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JAK TO DĚLÁME MY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ctr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Analýza firmy ve čtyřech krocích</a:t>
            </a:r>
          </a:p>
        </p:txBody>
      </p:sp>
      <p:sp>
        <p:nvSpPr>
          <p:cNvPr id="5" name="Spojnice"/>
          <p:cNvSpPr/>
          <p:nvPr/>
        </p:nvSpPr>
        <p:spPr>
          <a:xfrm>
            <a:off x="2095500" y="3251200"/>
            <a:ext cx="8001000" cy="19050"/>
          </a:xfrm>
          <a:prstGeom prst="rect">
            <a:avLst/>
          </a:prstGeom>
          <a:gradFill rotWithShape="1"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Číslo"/>
          <p:cNvSpPr>
            <a:spLocks noGrp="1"/>
          </p:cNvSpPr>
          <p:nvPr>
            <p:ph type="body" idx="100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7" name="Název kroku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Výsledky česky</a:t>
            </a:r>
          </a:p>
        </p:txBody>
      </p:sp>
      <p:sp>
        <p:nvSpPr>
          <p:cNvPr id="8" name="Popis kroku"/>
          <p:cNvSpPr>
            <a:spLocks noGrp="1"/>
          </p:cNvSpPr>
          <p:nvPr>
            <p:ph type="body" idx="102"/>
          </p:nvPr>
        </p:nvSpPr>
        <p:spPr>
          <a:xfrm>
            <a:off x="908494" y="4002545"/>
            <a:ext cx="237401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Hodinový anglický hovor k výsledkům shrne AI za minutu česky.</a:t>
            </a:r>
          </a:p>
        </p:txBody>
      </p:sp>
      <p:sp>
        <p:nvSpPr>
          <p:cNvPr id="19" name="Perex"/>
          <p:cNvSpPr>
            <a:spLocks noGrp="1"/>
          </p:cNvSpPr>
          <p:nvPr/>
        </p:nvSpPr>
        <p:spPr>
          <a:xfrm>
            <a:off x="548640" y="2286000"/>
            <a:ext cx="1109167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4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Náš osobní postup, když se chceme rychle zorientovat ve firmě.</a:t>
            </a:r>
          </a:p>
        </p:txBody>
      </p:sp>
      <p:sp>
        <p:nvSpPr>
          <p:cNvPr id="9" name="Číslo"/>
          <p:cNvSpPr>
            <a:spLocks noGrp="1"/>
          </p:cNvSpPr>
          <p:nvPr>
            <p:ph type="body" idx="103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10" name="Název kroku"/>
          <p:cNvSpPr>
            <a:spLocks noGrp="1"/>
          </p:cNvSpPr>
          <p:nvPr>
            <p:ph type="body" idx="10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Očima Buffetta</a:t>
            </a:r>
          </a:p>
        </p:txBody>
      </p:sp>
      <p:sp>
        <p:nvSpPr>
          <p:cNvPr id="11" name="Popis kroku"/>
          <p:cNvSpPr>
            <a:spLocks noGrp="1"/>
          </p:cNvSpPr>
          <p:nvPr>
            <p:ph type="body" idx="105"/>
          </p:nvPr>
        </p:nvSpPr>
        <p:spPr>
          <a:xfrm>
            <a:off x="3575495" y="4002545"/>
            <a:ext cx="237401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Rozumím byznysu? Má firma trvalou výhodu? Je cena rozumná?</a:t>
            </a:r>
          </a:p>
        </p:txBody>
      </p:sp>
      <p:sp>
        <p:nvSpPr>
          <p:cNvPr id="12" name="Číslo"/>
          <p:cNvSpPr>
            <a:spLocks noGrp="1"/>
          </p:cNvSpPr>
          <p:nvPr>
            <p:ph type="body" idx="106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2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3" name="Název kroku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Tři scénáře</a:t>
            </a:r>
          </a:p>
        </p:txBody>
      </p:sp>
      <p:sp>
        <p:nvSpPr>
          <p:cNvPr id="14" name="Popis kroku"/>
          <p:cNvSpPr>
            <a:spLocks noGrp="1"/>
          </p:cNvSpPr>
          <p:nvPr>
            <p:ph type="body" idx="108"/>
          </p:nvPr>
        </p:nvSpPr>
        <p:spPr>
          <a:xfrm>
            <a:off x="6242494" y="4002545"/>
            <a:ext cx="237401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Optimistický, střední a pesimistický. A co by se muselo stát.</a:t>
            </a:r>
          </a:p>
        </p:txBody>
      </p:sp>
      <p:sp>
        <p:nvSpPr>
          <p:cNvPr id="15" name="Číslo"/>
          <p:cNvSpPr>
            <a:spLocks noGrp="1"/>
          </p:cNvSpPr>
          <p:nvPr>
            <p:ph type="body" idx="109"/>
          </p:nvPr>
        </p:nvSpPr>
        <p:spPr>
          <a:prstGeom prst="roundRect">
            <a:avLst>
              <a:gd name="adj" fmla="val 50000"/>
            </a:avLst>
          </a:prstGeom>
          <a:solidFill>
            <a:schemeClr val="accent1"/>
          </a:solidFill>
          <a:ln w="50800">
            <a:solidFill>
              <a:schemeClr val="bg2"/>
            </a:solidFill>
            <a:round/>
          </a:ln>
        </p:spPr>
        <p:txBody>
          <a:bodyPr wrap="none" lIns="0" tIns="7201" rIns="0" bIns="0" rtlCol="0" anchor="ctr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16" name="Název kroku"/>
          <p:cNvSpPr>
            <a:spLocks noGrp="1"/>
          </p:cNvSpPr>
          <p:nvPr>
            <p:ph type="body" idx="1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Ověříme a rozhodneme</a:t>
            </a:r>
          </a:p>
        </p:txBody>
      </p:sp>
      <p:sp>
        <p:nvSpPr>
          <p:cNvPr id="17" name="Popis kroku"/>
          <p:cNvSpPr>
            <a:spLocks noGrp="1"/>
          </p:cNvSpPr>
          <p:nvPr>
            <p:ph type="body" idx="111"/>
          </p:nvPr>
        </p:nvSpPr>
        <p:spPr>
          <a:xfrm>
            <a:off x="8909494" y="4002545"/>
            <a:ext cx="2374011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ctr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Klíčová čísla zkontrolujeme v originále. Rozhodnutí je naše.</a:t>
            </a:r>
          </a:p>
        </p:txBody>
      </p:sp>
      <p:sp>
        <p:nvSpPr>
          <p:cNvPr id="18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ři karty vedle se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NA DOMA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AI jako váš osobní finanční asistent</a:t>
            </a:r>
          </a:p>
        </p:txBody>
      </p:sp>
      <p:sp>
        <p:nvSpPr>
          <p:cNvPr id="5" name="Karta – Portfolio od Portu"/>
          <p:cNvSpPr/>
          <p:nvPr/>
        </p:nvSpPr>
        <p:spPr>
          <a:xfrm>
            <a:off x="7620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Nadtitulek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PROJEKT</a:t>
            </a:r>
          </a:p>
        </p:txBody>
      </p:sp>
      <p:sp>
        <p:nvSpPr>
          <p:cNvPr id="7" name="Název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Moje finance</a:t>
            </a:r>
          </a:p>
        </p:txBody>
      </p:sp>
      <p:sp>
        <p:nvSpPr>
          <p:cNvPr id="8" name="Popis"/>
          <p:cNvSpPr>
            <a:spLocks noGrp="1"/>
          </p:cNvSpPr>
          <p:nvPr>
            <p:ph type="body" idx="102"/>
          </p:nvPr>
        </p:nvSpPr>
        <p:spPr>
          <a:xfrm>
            <a:off x="1079500" y="3456445"/>
            <a:ext cx="2795206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Cíle, horizonty a přehled smluv na jednom místě. Na podmínky se zeptáte, místo hledání v šuplíku.</a:t>
            </a:r>
          </a:p>
        </p:txBody>
      </p:sp>
      <p:sp>
        <p:nvSpPr>
          <p:cNvPr id="11" name="Karta – Portfolio od Portu"/>
          <p:cNvSpPr/>
          <p:nvPr/>
        </p:nvSpPr>
        <p:spPr>
          <a:xfrm>
            <a:off x="7683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2" name="Karta – Investiční rezerva"/>
          <p:cNvSpPr/>
          <p:nvPr/>
        </p:nvSpPr>
        <p:spPr>
          <a:xfrm>
            <a:off x="43815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Nadtitulek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KONTROLA VÝDAJŮ</a:t>
            </a:r>
          </a:p>
        </p:txBody>
      </p:sp>
      <p:sp>
        <p:nvSpPr>
          <p:cNvPr id="14" name="Název"/>
          <p:cNvSpPr>
            <a:spLocks noGrp="1"/>
          </p:cNvSpPr>
          <p:nvPr>
            <p:ph type="body" idx="10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Kam mizí peníze</a:t>
            </a:r>
          </a:p>
        </p:txBody>
      </p:sp>
      <p:sp>
        <p:nvSpPr>
          <p:cNvPr id="15" name="Popis"/>
          <p:cNvSpPr>
            <a:spLocks noGrp="1"/>
          </p:cNvSpPr>
          <p:nvPr>
            <p:ph type="body" idx="105"/>
          </p:nvPr>
        </p:nvSpPr>
        <p:spPr>
          <a:xfrm>
            <a:off x="4699000" y="3456445"/>
            <a:ext cx="2795206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Výpis z banky jako tabulka, jen datum, popis a částka. „Kde jsem utratil víc, než jsem chtěl?“</a:t>
            </a:r>
          </a:p>
        </p:txBody>
      </p:sp>
      <p:sp>
        <p:nvSpPr>
          <p:cNvPr id="18" name="Karta – Investiční rezerva"/>
          <p:cNvSpPr/>
          <p:nvPr/>
        </p:nvSpPr>
        <p:spPr>
          <a:xfrm>
            <a:off x="43878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9" name="Karta – Investice do realit"/>
          <p:cNvSpPr/>
          <p:nvPr/>
        </p:nvSpPr>
        <p:spPr>
          <a:xfrm>
            <a:off x="8001000" y="2349500"/>
            <a:ext cx="3416300" cy="2451100"/>
          </a:xfrm>
          <a:prstGeom prst="roundRect">
            <a:avLst>
              <a:gd name="adj" fmla="val 6218"/>
            </a:avLst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Nadtitulek"/>
          <p:cNvSpPr>
            <a:spLocks noGrp="1"/>
          </p:cNvSpPr>
          <p:nvPr>
            <p:ph type="body" idx="106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NOVÝ CÍL</a:t>
            </a:r>
          </a:p>
        </p:txBody>
      </p:sp>
      <p:sp>
        <p:nvSpPr>
          <p:cNvPr id="21" name="Název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Zapadá do plánu?</a:t>
            </a:r>
          </a:p>
        </p:txBody>
      </p:sp>
      <p:sp>
        <p:nvSpPr>
          <p:cNvPr id="22" name="Popis"/>
          <p:cNvSpPr>
            <a:spLocks noGrp="1"/>
          </p:cNvSpPr>
          <p:nvPr>
            <p:ph type="body" idx="108"/>
          </p:nvPr>
        </p:nvSpPr>
        <p:spPr>
          <a:xfrm>
            <a:off x="8318500" y="3456445"/>
            <a:ext cx="2795206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„Chci za 3 roky auto za 600 000 Kč. Jak to zapadá do mého plánu?“</a:t>
            </a:r>
          </a:p>
        </p:txBody>
      </p:sp>
      <p:sp>
        <p:nvSpPr>
          <p:cNvPr id="25" name="Karta – Investice do realit"/>
          <p:cNvSpPr/>
          <p:nvPr/>
        </p:nvSpPr>
        <p:spPr>
          <a:xfrm>
            <a:off x="8007350" y="2355850"/>
            <a:ext cx="3403600" cy="2438400"/>
          </a:xfrm>
          <a:prstGeom prst="roundRect">
            <a:avLst>
              <a:gd name="adj" fmla="val 5990"/>
            </a:avLst>
          </a:prstGeom>
          <a:noFill/>
          <a:ln w="12700">
            <a:solidFill>
              <a:srgbClr val="E1E3E8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6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hrnutí a další krok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1270000"/>
            <a:ext cx="1024128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SHRNUTÍ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56337" rIns="0" bIns="0" rtlCol="0" anchor="t" anchorCtr="0">
            <a:normAutofit/>
          </a:bodyPr>
          <a:lstStyle/>
          <a:p>
            <a:pPr marL="0" indent="0" algn="l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3600" b="0" kern="0" cap="none" spc="-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Vyzkoušejte ještě dnes večer</a:t>
            </a:r>
          </a:p>
        </p:txBody>
      </p:sp>
      <p:sp>
        <p:nvSpPr>
          <p:cNvPr id="5" name="Popis"/>
          <p:cNvSpPr>
            <a:spLocks noGrp="1"/>
          </p:cNvSpPr>
          <p:nvPr>
            <p:ph type="body" idx="1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rm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Všechny prompty z dnešního webináře vám pošleme e-mailem.</a:t>
            </a:r>
          </a:p>
        </p:txBody>
      </p:sp>
      <p:sp>
        <p:nvSpPr>
          <p:cNvPr id="6" name="Krok 1 – linka"/>
          <p:cNvSpPr/>
          <p:nvPr/>
        </p:nvSpPr>
        <p:spPr>
          <a:xfrm>
            <a:off x="4699000" y="2387600"/>
            <a:ext cx="67310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Číslo"/>
          <p:cNvSpPr>
            <a:spLocks noGrp="1"/>
          </p:cNvSpPr>
          <p:nvPr>
            <p:ph type="body" idx="100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1</a:t>
            </a:r>
          </a:p>
        </p:txBody>
      </p:sp>
      <p:sp>
        <p:nvSpPr>
          <p:cNvPr id="8" name="Text"/>
          <p:cNvSpPr>
            <a:spLocks noGrp="1"/>
          </p:cNvSpPr>
          <p:nvPr>
            <p:ph type="body" idx="101"/>
          </p:nvPr>
        </p:nvSpPr>
        <p:spPr>
          <a:xfrm>
            <a:off x="5156200" y="1714500"/>
            <a:ext cx="512064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Vypněte učení na svých datech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V nastavení soukromí ve vašem AI nástroji.</a:t>
            </a:r>
          </a:p>
        </p:txBody>
      </p:sp>
      <p:sp>
        <p:nvSpPr>
          <p:cNvPr id="9" name="Odpovídá"/>
          <p:cNvSpPr>
            <a:spLocks noGrp="1"/>
          </p:cNvSpPr>
          <p:nvPr>
            <p:ph type="body" idx="102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2 MIN</a:t>
            </a:r>
          </a:p>
        </p:txBody>
      </p:sp>
      <p:sp>
        <p:nvSpPr>
          <p:cNvPr id="11" name="Krok 2 – linka"/>
          <p:cNvSpPr/>
          <p:nvPr/>
        </p:nvSpPr>
        <p:spPr>
          <a:xfrm>
            <a:off x="4699000" y="3244850"/>
            <a:ext cx="67310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Číslo"/>
          <p:cNvSpPr>
            <a:spLocks noGrp="1"/>
          </p:cNvSpPr>
          <p:nvPr>
            <p:ph type="body" idx="104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2</a:t>
            </a:r>
          </a:p>
        </p:txBody>
      </p:sp>
      <p:sp>
        <p:nvSpPr>
          <p:cNvPr id="13" name="Text"/>
          <p:cNvSpPr>
            <a:spLocks noGrp="1"/>
          </p:cNvSpPr>
          <p:nvPr>
            <p:ph type="body" idx="105"/>
          </p:nvPr>
        </p:nvSpPr>
        <p:spPr>
          <a:xfrm>
            <a:off x="5156200" y="2571750"/>
            <a:ext cx="512064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Nechte si shrnout dokument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Anglický dokument k vaší investici, česky do 5 bodů.</a:t>
            </a:r>
          </a:p>
        </p:txBody>
      </p:sp>
      <p:sp>
        <p:nvSpPr>
          <p:cNvPr id="14" name="Odpovídá"/>
          <p:cNvSpPr>
            <a:spLocks noGrp="1"/>
          </p:cNvSpPr>
          <p:nvPr>
            <p:ph type="body" idx="106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5 MIN</a:t>
            </a:r>
          </a:p>
        </p:txBody>
      </p:sp>
      <p:sp>
        <p:nvSpPr>
          <p:cNvPr id="16" name="Krok 3 – linka"/>
          <p:cNvSpPr/>
          <p:nvPr/>
        </p:nvSpPr>
        <p:spPr>
          <a:xfrm>
            <a:off x="4699000" y="4102100"/>
            <a:ext cx="67310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Číslo"/>
          <p:cNvSpPr>
            <a:spLocks noGrp="1"/>
          </p:cNvSpPr>
          <p:nvPr>
            <p:ph type="body" idx="108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3</a:t>
            </a:r>
          </a:p>
        </p:txBody>
      </p:sp>
      <p:sp>
        <p:nvSpPr>
          <p:cNvPr id="18" name="Text"/>
          <p:cNvSpPr>
            <a:spLocks noGrp="1"/>
          </p:cNvSpPr>
          <p:nvPr>
            <p:ph type="body" idx="109"/>
          </p:nvPr>
        </p:nvSpPr>
        <p:spPr>
          <a:xfrm>
            <a:off x="5156200" y="3429000"/>
            <a:ext cx="512064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Udělejte si rentgen portfolia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Regiony, sektory, měny a překryvy fondů.</a:t>
            </a:r>
          </a:p>
        </p:txBody>
      </p:sp>
      <p:sp>
        <p:nvSpPr>
          <p:cNvPr id="19" name="Odpovídá"/>
          <p:cNvSpPr>
            <a:spLocks noGrp="1"/>
          </p:cNvSpPr>
          <p:nvPr>
            <p:ph type="body" idx="110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5 MIN</a:t>
            </a:r>
          </a:p>
        </p:txBody>
      </p:sp>
      <p:sp>
        <p:nvSpPr>
          <p:cNvPr id="21" name="Krok 4 – linka"/>
          <p:cNvSpPr/>
          <p:nvPr/>
        </p:nvSpPr>
        <p:spPr>
          <a:xfrm>
            <a:off x="4699000" y="4959350"/>
            <a:ext cx="6731000" cy="6350"/>
          </a:xfrm>
          <a:prstGeom prst="rect">
            <a:avLst/>
          </a:prstGeom>
          <a:solidFill>
            <a:srgbClr val="E1E3E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Číslo"/>
          <p:cNvSpPr>
            <a:spLocks noGrp="1"/>
          </p:cNvSpPr>
          <p:nvPr>
            <p:ph type="body" idx="112"/>
          </p:nvPr>
        </p:nvSpPr>
        <p:spPr>
          <a:prstGeom prst="roundRect">
            <a:avLst>
              <a:gd name="adj" fmla="val 50000"/>
            </a:avLst>
          </a:prstGeom>
          <a:solidFill>
            <a:srgbClr val="E6F7EC"/>
          </a:solidFill>
          <a:ln>
            <a:noFill/>
          </a:ln>
        </p:spPr>
        <p:txBody>
          <a:bodyPr wrap="none" lIns="0" tIns="0" rIns="0" bIns="8611" rtlCol="0" anchor="ctr" anchorCtr="0">
            <a:noAutofit/>
          </a:bodyPr>
          <a:lstStyle/>
          <a:p>
            <a:pPr marL="0" indent="0"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00832E"/>
                </a:solidFill>
                <a:latin typeface="Rethink Sans SemiBold"/>
                <a:ea typeface="Rethink Sans SemiBold"/>
                <a:cs typeface="Rethink Sans SemiBold"/>
              </a:rPr>
              <a:t>4</a:t>
            </a:r>
          </a:p>
        </p:txBody>
      </p:sp>
      <p:sp>
        <p:nvSpPr>
          <p:cNvPr id="23" name="Text"/>
          <p:cNvSpPr>
            <a:spLocks noGrp="1"/>
          </p:cNvSpPr>
          <p:nvPr>
            <p:ph type="body" idx="113"/>
          </p:nvPr>
        </p:nvSpPr>
        <p:spPr>
          <a:xfrm>
            <a:off x="5156200" y="4286250"/>
            <a:ext cx="512064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tIns="7201" rIns="0" bIns="0" rtlCol="0" anchor="t" anchorCtr="0">
            <a:no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Založte si Projekt</a:t>
            </a:r>
          </a:p>
          <a:p>
            <a:pPr marL="0" indent="0" algn="l">
              <a:lnSpc>
                <a:spcPts val="1600"/>
              </a:lnSpc>
              <a:spcBef>
                <a:spcPts val="59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S vašimi cíli, horizontem a pravidly.</a:t>
            </a:r>
          </a:p>
        </p:txBody>
      </p:sp>
      <p:sp>
        <p:nvSpPr>
          <p:cNvPr id="24" name="Odpovídá"/>
          <p:cNvSpPr>
            <a:spLocks noGrp="1"/>
          </p:cNvSpPr>
          <p:nvPr>
            <p:ph type="body" idx="114"/>
          </p:nvPr>
        </p:nvSpPr>
        <p:spPr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10 MIN</a:t>
            </a:r>
          </a:p>
        </p:txBody>
      </p:sp>
      <p:sp>
        <p:nvSpPr>
          <p:cNvPr id="26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tázky a odpověd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prstGeom prst="roundRect">
            <a:avLst>
              <a:gd name="adj" fmla="val 50000"/>
            </a:avLst>
          </a:prstGeom>
          <a:solidFill>
            <a:schemeClr val="bg1">
              <a:alpha val="12000"/>
            </a:schemeClr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90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Q&amp;A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rmAutofit/>
          </a:bodyPr>
          <a:lstStyle/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Otázky a odpovědi</a:t>
            </a:r>
          </a:p>
        </p:txBody>
      </p:sp>
      <p:sp>
        <p:nvSpPr>
          <p:cNvPr id="5" name="Podtitul"/>
          <p:cNvSpPr>
            <a:spLocks noGrp="1"/>
          </p:cNvSpPr>
          <p:nvPr>
            <p:ph type="body" idx="1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9334" rtlCol="0" anchor="t" anchorCtr="0">
            <a:normAutofit/>
          </a:bodyPr>
          <a:lstStyle/>
          <a:p>
            <a: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Ptejte se na cokoli – i na to, co jsme nestihli.</a:t>
            </a:r>
          </a:p>
        </p:txBody>
      </p:sp>
      <p:sp>
        <p:nvSpPr>
          <p:cNvPr id="6" name="Otázka"/>
          <p:cNvSpPr/>
          <p:nvPr/>
        </p:nvSpPr>
        <p:spPr>
          <a:xfrm>
            <a:off x="6223000" y="1765300"/>
            <a:ext cx="5207000" cy="666750"/>
          </a:xfrm>
          <a:prstGeom prst="roundRect">
            <a:avLst>
              <a:gd name="adj" fmla="val 1904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Ikona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8" name="Text otázky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Která AI je na investice nejlepší?</a:t>
            </a:r>
          </a:p>
        </p:txBody>
      </p:sp>
      <p:sp>
        <p:nvSpPr>
          <p:cNvPr id="9" name="Otázka"/>
          <p:cNvSpPr/>
          <p:nvPr/>
        </p:nvSpPr>
        <p:spPr>
          <a:xfrm>
            <a:off x="6227762" y="1770062"/>
            <a:ext cx="5197475" cy="657225"/>
          </a:xfrm>
          <a:prstGeom prst="roundRect">
            <a:avLst>
              <a:gd name="adj" fmla="val 18599"/>
            </a:avLst>
          </a:prstGeom>
          <a:noFill/>
          <a:ln w="9525">
            <a:solidFill>
              <a:schemeClr val="bg1">
                <a:alpha val="12000"/>
              </a:schemeClr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0" name="Otázka"/>
          <p:cNvSpPr/>
          <p:nvPr/>
        </p:nvSpPr>
        <p:spPr>
          <a:xfrm>
            <a:off x="6223000" y="2559050"/>
            <a:ext cx="5207000" cy="666750"/>
          </a:xfrm>
          <a:prstGeom prst="roundRect">
            <a:avLst>
              <a:gd name="adj" fmla="val 1904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Ikona"/>
          <p:cNvSpPr>
            <a:spLocks noGrp="1"/>
          </p:cNvSpPr>
          <p:nvPr>
            <p:ph type="body" idx="10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12" name="Text otázky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Potřebuju placenou verzi?</a:t>
            </a:r>
          </a:p>
        </p:txBody>
      </p:sp>
      <p:sp>
        <p:nvSpPr>
          <p:cNvPr id="13" name="Otázka"/>
          <p:cNvSpPr/>
          <p:nvPr/>
        </p:nvSpPr>
        <p:spPr>
          <a:xfrm>
            <a:off x="6227762" y="2563812"/>
            <a:ext cx="5197475" cy="657225"/>
          </a:xfrm>
          <a:prstGeom prst="roundRect">
            <a:avLst>
              <a:gd name="adj" fmla="val 18599"/>
            </a:avLst>
          </a:prstGeom>
          <a:noFill/>
          <a:ln w="9525">
            <a:solidFill>
              <a:schemeClr val="bg1">
                <a:alpha val="12000"/>
              </a:schemeClr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4" name="Otázka"/>
          <p:cNvSpPr/>
          <p:nvPr/>
        </p:nvSpPr>
        <p:spPr>
          <a:xfrm>
            <a:off x="6223000" y="3352800"/>
            <a:ext cx="5207000" cy="666750"/>
          </a:xfrm>
          <a:prstGeom prst="roundRect">
            <a:avLst>
              <a:gd name="adj" fmla="val 1904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Ikona"/>
          <p:cNvSpPr>
            <a:spLocks noGrp="1"/>
          </p:cNvSpPr>
          <p:nvPr>
            <p:ph type="body" idx="104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16" name="Text otázky"/>
          <p:cNvSpPr>
            <a:spLocks noGrp="1"/>
          </p:cNvSpPr>
          <p:nvPr>
            <p:ph type="body" idx="105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Můžu AI dát přístup ke svému účtu?</a:t>
            </a:r>
          </a:p>
        </p:txBody>
      </p:sp>
      <p:sp>
        <p:nvSpPr>
          <p:cNvPr id="17" name="Otázka"/>
          <p:cNvSpPr/>
          <p:nvPr/>
        </p:nvSpPr>
        <p:spPr>
          <a:xfrm>
            <a:off x="6227762" y="3357562"/>
            <a:ext cx="5197475" cy="657225"/>
          </a:xfrm>
          <a:prstGeom prst="roundRect">
            <a:avLst>
              <a:gd name="adj" fmla="val 18599"/>
            </a:avLst>
          </a:prstGeom>
          <a:noFill/>
          <a:ln w="9525">
            <a:solidFill>
              <a:schemeClr val="bg1">
                <a:alpha val="12000"/>
              </a:schemeClr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18" name="Otázka"/>
          <p:cNvSpPr/>
          <p:nvPr/>
        </p:nvSpPr>
        <p:spPr>
          <a:xfrm>
            <a:off x="6223000" y="4146550"/>
            <a:ext cx="5207000" cy="666750"/>
          </a:xfrm>
          <a:prstGeom prst="roundRect">
            <a:avLst>
              <a:gd name="adj" fmla="val 19048"/>
            </a:avLst>
          </a:prstGeom>
          <a:solidFill>
            <a:schemeClr val="bg1">
              <a:alpha val="8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Ikona"/>
          <p:cNvSpPr>
            <a:spLocks noGrp="1"/>
          </p:cNvSpPr>
          <p:nvPr>
            <p:ph type="body" idx="106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0" rIns="0" bIns="4305" rtlCol="0" anchor="t" anchorCtr="0">
            <a:no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rgbClr val="D8FF15"/>
                </a:solidFill>
                <a:latin typeface="Rethink Sans SemiBold"/>
                <a:ea typeface="Rethink Sans SemiBold"/>
                <a:cs typeface="Rethink Sans SemiBold"/>
              </a:rPr>
              <a:t>?</a:t>
            </a:r>
          </a:p>
        </p:txBody>
      </p:sp>
      <p:sp>
        <p:nvSpPr>
          <p:cNvPr id="20" name="Text otázky"/>
          <p:cNvSpPr>
            <a:spLocks noGrp="1"/>
          </p:cNvSpPr>
          <p:nvPr>
            <p:ph type="body" idx="107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3170" rtlCol="0" anchor="t" anchorCtr="0">
            <a:noAutofit/>
          </a:bodyPr>
          <a:lstStyle/>
          <a:p>
            <a:pPr marL="0" indent="0" algn="l">
              <a:lnSpc>
                <a:spcPts val="1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300" b="0" kern="0" cap="none" spc="0" dirty="0">
                <a:solidFill>
                  <a:schemeClr val="bg1"/>
                </a:solidFill>
                <a:latin typeface="Rethink Sans"/>
                <a:ea typeface="Rethink Sans"/>
                <a:cs typeface="Rethink Sans"/>
              </a:rPr>
              <a:t>Nahradí AI poradce?</a:t>
            </a:r>
          </a:p>
        </p:txBody>
      </p:sp>
      <p:sp>
        <p:nvSpPr>
          <p:cNvPr id="21" name="Otázka"/>
          <p:cNvSpPr/>
          <p:nvPr/>
        </p:nvSpPr>
        <p:spPr>
          <a:xfrm>
            <a:off x="6227762" y="4151312"/>
            <a:ext cx="5197475" cy="657225"/>
          </a:xfrm>
          <a:prstGeom prst="roundRect">
            <a:avLst>
              <a:gd name="adj" fmla="val 18599"/>
            </a:avLst>
          </a:prstGeom>
          <a:noFill/>
          <a:ln w="9525">
            <a:solidFill>
              <a:schemeClr val="bg1">
                <a:alpha val="12000"/>
              </a:schemeClr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bg1">
                    <a:alpha val="55000"/>
                  </a:schemeClr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ěkujeme za pozorn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sah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120091" rIns="0" bIns="0" rtlCol="0" anchor="t" anchorCtr="0">
            <a:noAutofit/>
          </a:bodyPr>
          <a:lstStyle/>
          <a:p>
            <a:pPr marL="0" indent="0" algn="l">
              <a:lnSpc>
                <a:spcPts val="5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5600" b="0" kern="0" cap="none" spc="-100" dirty="0">
                <a:gradFill rotWithShape="1">
                  <a:gsLst>
                    <a:gs pos="0">
                      <a:schemeClr val="bg1"/>
                    </a:gs>
                    <a:gs pos="100000">
                      <a:srgbClr val="B597FF"/>
                    </a:gs>
                  </a:gsLst>
                  <a:lin ang="0" scaled="0"/>
                </a:gradFill>
                <a:latin typeface="Rethink Sans SemiBold"/>
                <a:ea typeface="Rethink Sans SemiBold"/>
                <a:cs typeface="Rethink Sans SemiBold"/>
              </a:rPr>
              <a:t>Děkujeme za pozornost</a:t>
            </a:r>
          </a:p>
          <a:p>
            <a:pPr marL="0" indent="0" algn="l">
              <a:lnSpc>
                <a:spcPts val="2100"/>
              </a:lnSpc>
              <a:spcBef>
                <a:spcPts val="581"/>
              </a:spcBef>
              <a:spcAft>
                <a:spcPts val="0"/>
              </a:spcAft>
              <a:buNone/>
            </a:pPr>
            <a:r>
              <a:rPr lang="cs-CZ" sz="1500" b="0" kern="0" cap="none" spc="0" dirty="0">
                <a:solidFill>
                  <a:schemeClr val="bg1">
                    <a:alpha val="70000"/>
                  </a:schemeClr>
                </a:solidFill>
                <a:latin typeface="Rethink Sans Medium"/>
                <a:ea typeface="Rethink Sans Medium"/>
                <a:cs typeface="Rethink Sans Medium"/>
              </a:rPr>
              <a:t>S konkrétní situací se ozvěte, rádi ji s vámi probereme.</a:t>
            </a:r>
          </a:p>
        </p:txBody>
      </p:sp>
      <p:sp>
        <p:nvSpPr>
          <p:cNvPr id="4" name="E-mail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E-MAIL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poradenstvi@portu.cz</a:t>
            </a:r>
          </a:p>
        </p:txBody>
      </p:sp>
      <p:sp>
        <p:nvSpPr>
          <p:cNvPr id="5" name="Telefon"/>
          <p:cNvSpPr>
            <a:spLocks noGrp="1"/>
          </p:cNvSpPr>
          <p:nvPr>
            <p:ph type="body" idx="10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TELEFON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+420 222 096 622</a:t>
            </a:r>
          </a:p>
        </p:txBody>
      </p:sp>
      <p:sp>
        <p:nvSpPr>
          <p:cNvPr id="6" name="Web"/>
          <p:cNvSpPr>
            <a:spLocks noGrp="1"/>
          </p:cNvSpPr>
          <p:nvPr>
            <p:ph type="body" idx="103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none" lIns="0" tIns="127" rIns="0" bIns="0" rtlCol="0" anchor="t" anchorCtr="0">
            <a:no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bg1">
                    <a:alpha val="55000"/>
                  </a:schemeClr>
                </a:solidFill>
                <a:latin typeface="Rethink Sans SemiBold"/>
                <a:ea typeface="Rethink Sans SemiBold"/>
                <a:cs typeface="Rethink Sans SemiBold"/>
              </a:rPr>
              <a:t>WEB</a:t>
            </a:r>
          </a:p>
          <a:p>
            <a:pPr marL="0" indent="0" algn="l">
              <a:lnSpc>
                <a:spcPts val="2100"/>
              </a:lnSpc>
              <a:spcBef>
                <a:spcPts val="456"/>
              </a:spcBef>
              <a:spcAft>
                <a:spcPts val="0"/>
              </a:spcAft>
              <a:buNone/>
            </a:pPr>
            <a:r>
              <a:rPr lang="cs-CZ" sz="1700" b="0" kern="0" cap="none" spc="-25" dirty="0">
                <a:solidFill>
                  <a:schemeClr val="bg1"/>
                </a:solidFill>
                <a:latin typeface="Rethink Sans SemiBold"/>
                <a:ea typeface="Rethink Sans SemiBold"/>
                <a:cs typeface="Rethink Sans SemiBold"/>
              </a:rPr>
              <a:t>portu.cz</a:t>
            </a:r>
          </a:p>
        </p:txBody>
      </p:sp>
      <p:pic>
        <p:nvPicPr>
          <p:cNvPr id="7" name="Kocour (brise)"/>
          <p:cNvPicPr>
            <a:picLocks noGrp="1"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330950" y="3804351"/>
            <a:ext cx="7054850" cy="39355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ávní upozorně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Štítek"/>
          <p:cNvSpPr>
            <a:spLocks noGrp="1"/>
          </p:cNvSpPr>
          <p:nvPr>
            <p:ph type="subTitle" idx="13"/>
          </p:nvPr>
        </p:nvSpPr>
        <p:spPr>
          <a:xfrm>
            <a:off x="762000" y="889000"/>
            <a:ext cx="2231136" cy="292100"/>
          </a:xfrm>
          <a:prstGeom prst="roundRect">
            <a:avLst>
              <a:gd name="adj" fmla="val 50000"/>
            </a:avLst>
          </a:prstGeom>
          <a:solidFill>
            <a:srgbClr val="ECEBF8"/>
          </a:solidFill>
          <a:ln>
            <a:noFill/>
          </a:ln>
        </p:spPr>
        <p:txBody>
          <a:bodyPr wrap="none" lIns="139700" tIns="22225" rIns="139700" bIns="22225" rtlCol="0" anchor="ctr" anchorCtr="0">
            <a:spAutoFit/>
          </a:bodyPr>
          <a:lstStyle/>
          <a:p>
            <a:pPr marL="0" indent="0"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000" b="0" kern="0" cap="all" spc="75" dirty="0">
                <a:solidFill>
                  <a:schemeClr val="accent2"/>
                </a:solidFill>
                <a:latin typeface="Rethink Sans SemiBold"/>
                <a:ea typeface="Rethink Sans SemiBold"/>
                <a:cs typeface="Rethink Sans SemiBold"/>
              </a:rPr>
              <a:t>DŮLEŽITÉ UPOZORNĚNÍ</a:t>
            </a:r>
          </a:p>
        </p:txBody>
      </p:sp>
      <p:sp>
        <p:nvSpPr>
          <p:cNvPr id="4" name="Nadpis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30810" rIns="0" bIns="0" rtlCol="0" anchor="t" anchorCtr="0">
            <a:normAutofit/>
          </a:bodyPr>
          <a:lstStyle/>
          <a:p>
            <a:pPr marL="0" indent="0" algn="l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2600" b="0" kern="0" cap="none" spc="-50" dirty="0">
                <a:solidFill>
                  <a:schemeClr val="tx1"/>
                </a:solidFill>
                <a:latin typeface="Rethink Sans SemiBold"/>
                <a:ea typeface="Rethink Sans SemiBold"/>
                <a:cs typeface="Rethink Sans SemiBold"/>
              </a:rPr>
              <a:t>Právní upozornění</a:t>
            </a:r>
          </a:p>
        </p:txBody>
      </p:sp>
      <p:sp>
        <p:nvSpPr>
          <p:cNvPr id="5" name="Text upozornění"/>
          <p:cNvSpPr>
            <a:spLocks noGrp="1"/>
          </p:cNvSpPr>
          <p:nvPr>
            <p:ph type="body" idx="10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655" rtlCol="0" anchor="t" anchorCtr="0">
            <a:noAutofit/>
          </a:bodyPr>
          <a:lstStyle/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Tento materiál připravila společnost WOOD Retail Investments a.s. na základě historických finančních a statistických dat, aniž by provedla jejich nezávislé ověření. Dokument má pouze informativní charakter, nepředstavuje daňové ani právní poradenství a nejde o investiční doporučení ani nabídku k nákupu či prodeji cenných papírů. Rozhodnutí učiněná na základě tohoto dokumentu činí příjemce na vlastní riziko. Dokument a veškeré informace v něm obsažené jsou přísně důvěrné a nesmí být bez předchozího písemného souhlasu WOOD &amp; Co. reprodukovány, kopírovány, zveřejňovány ani jinak šířeny.</a:t>
            </a: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cs-CZ" sz="1100" b="0" kern="0" cap="none" spc="0" dirty="0">
              <a:solidFill>
                <a:schemeClr val="accent6"/>
              </a:solidFill>
              <a:latin typeface="Rethink Sans"/>
              <a:ea typeface="Rethink Sans"/>
              <a:cs typeface="Rethink Sans"/>
            </a:endParaRPr>
          </a:p>
          <a:p>
            <a:pPr marL="0" indent="0"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11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Investování je spojeno s rizikem. Hodnota investice může kolísat a není zaručena návratnost původně investované částky. Minulé výnosy nejsou zárukou budoucích výnosů.</a:t>
            </a:r>
          </a:p>
        </p:txBody>
      </p:sp>
      <p:sp>
        <p:nvSpPr>
          <p:cNvPr id="6" name="Copyright"/>
          <p:cNvSpPr>
            <a:spLocks noGrp="1"/>
          </p:cNvSpPr>
          <p:nvPr>
            <p:ph type="body" idx="10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© 2026 WOOD Retail Investments a.s.</a:t>
            </a:r>
          </a:p>
        </p:txBody>
      </p:sp>
      <p:sp>
        <p:nvSpPr>
          <p:cNvPr id="7" name="Patička"/>
          <p:cNvSpPr>
            <a:spLocks noGrp="1"/>
          </p:cNvSpPr>
          <p:nvPr>
            <p:ph type="ft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wrap="square" lIns="0" tIns="0" rIns="0" bIns="10058" rtlCol="0" anchor="t" anchorCtr="0">
            <a:normAutofit/>
          </a:bodyPr>
          <a:lstStyle/>
          <a:p>
            <a:pPr marL="0" indent="0" algn="r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cs-CZ" sz="800" b="0" kern="0" cap="none" spc="0" dirty="0">
                <a:solidFill>
                  <a:schemeClr val="accent6"/>
                </a:solidFill>
                <a:latin typeface="Rethink Sans"/>
                <a:ea typeface="Rethink Sans"/>
                <a:cs typeface="Rethink Sans"/>
              </a:rPr>
              <a:t>AI jako váš investiční asistent  ·  listopad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rtu">
  <a:themeElements>
    <a:clrScheme name="Portu">
      <a:dk1>
        <a:srgbClr val="252525"/>
      </a:dk1>
      <a:lt1>
        <a:srgbClr val="FFFFFF"/>
      </a:lt1>
      <a:dk2>
        <a:srgbClr val="1C0F3C"/>
      </a:dk2>
      <a:lt2>
        <a:srgbClr val="F3F5F8"/>
      </a:lt2>
      <a:accent1>
        <a:srgbClr val="00AA3C"/>
      </a:accent1>
      <a:accent2>
        <a:srgbClr val="4840BB"/>
      </a:accent2>
      <a:accent3>
        <a:srgbClr val="25747D"/>
      </a:accent3>
      <a:accent4>
        <a:srgbClr val="A232CB"/>
      </a:accent4>
      <a:accent5>
        <a:srgbClr val="C69F41"/>
      </a:accent5>
      <a:accent6>
        <a:srgbClr val="666E7F"/>
      </a:accent6>
      <a:hlink>
        <a:srgbClr val="4840BB"/>
      </a:hlink>
      <a:folHlink>
        <a:srgbClr val="512DAC"/>
      </a:folHlink>
    </a:clrScheme>
    <a:fontScheme name="Portu">
      <a:majorFont>
        <a:latin typeface="Rethink Sans SemiBold"/>
        <a:ea typeface=""/>
        <a:cs typeface=""/>
      </a:majorFont>
      <a:minorFont>
        <a:latin typeface="Rethink Sans"/>
        <a:ea typeface=""/>
        <a:cs typeface=""/>
      </a:minorFont>
    </a:fontScheme>
    <a:fmtScheme name="Port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>
          <a:lnSpc>
            <a:spcPct val="100000"/>
          </a:lnSpc>
          <a:defRPr sz="1100">
            <a:latin typeface="+mn-lt"/>
          </a:defRPr>
        </a:defPPr>
      </a:lstStyle>
      <a:style>
        <a:lnRef idx="0">
          <a:schemeClr val="accent2"/>
        </a:lnRef>
        <a:fillRef idx="1">
          <a:schemeClr val="bg2"/>
        </a:fillRef>
        <a:effectRef idx="0">
          <a:schemeClr val="accent2"/>
        </a:effectRef>
        <a:fontRef idx="minor">
          <a:schemeClr val="tx1"/>
        </a:fontRef>
      </a:style>
    </a:spDef>
    <a:lnDef>
      <a:spPr>
        <a:ln w="12700">
          <a:solidFill>
            <a:srgbClr val="E1E3E8"/>
          </a:solidFill>
        </a:ln>
      </a:spPr>
      <a:bodyPr/>
      <a:lstStyle/>
      <a:style>
        <a:lnRef idx="1">
          <a:schemeClr val="accent2"/>
        </a:lnRef>
        <a:fillRef idx="0">
          <a:schemeClr val="accent2"/>
        </a:fillRef>
        <a:effectRef idx="0">
          <a:schemeClr val="accent2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ts val="1600"/>
          </a:lnSpc>
          <a:defRPr sz="110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Portu-sablona</Template>
  <TotalTime>0</TotalTime>
  <Words>3759</Words>
  <Application>Microsoft Office PowerPoint</Application>
  <PresentationFormat>Širokoúhlá obrazovka</PresentationFormat>
  <Paragraphs>846</Paragraphs>
  <Slides>55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55</vt:i4>
      </vt:variant>
    </vt:vector>
  </HeadingPairs>
  <TitlesOfParts>
    <vt:vector size="60" baseType="lpstr">
      <vt:lpstr>Arial</vt:lpstr>
      <vt:lpstr>Rethink Sans</vt:lpstr>
      <vt:lpstr>Rethink Sans Medium</vt:lpstr>
      <vt:lpstr>Rethink Sans SemiBold</vt:lpstr>
      <vt:lpstr>Portu</vt:lpstr>
      <vt:lpstr>Název prezentace, klidně i na dva řádky</vt:lpstr>
      <vt:lpstr>Název prezentace, klidně i na dva řádky</vt:lpstr>
      <vt:lpstr>Název přednášky</vt:lpstr>
      <vt:lpstr>Název prezentace</vt:lpstr>
      <vt:lpstr>Portu × Partner</vt:lpstr>
      <vt:lpstr>Kdo vás dnes provede</vt:lpstr>
      <vt:lpstr>Technické problémy? Ozvěte se!</vt:lpstr>
      <vt:lpstr>Co vás dnes čeká</vt:lpstr>
      <vt:lpstr>Obsah prezentace</vt:lpstr>
      <vt:lpstr>Pár vět o Portu</vt:lpstr>
      <vt:lpstr>Prezentace aplikace PowerPoint</vt:lpstr>
      <vt:lpstr>Prezentace aplikace PowerPoint</vt:lpstr>
      <vt:lpstr>Prezentace aplikace PowerPoint</vt:lpstr>
      <vt:lpstr>Nadpis slidu na jeden až dva řádky</vt:lpstr>
      <vt:lpstr>Dvě skupiny bodů vedle sebe</vt:lpstr>
      <vt:lpstr>Shrnutí podle oblastí</vt:lpstr>
      <vt:lpstr>Když je potřeba víc vysvětlit</vt:lpstr>
      <vt:lpstr>Když je potřeba víc vysvětlit</vt:lpstr>
      <vt:lpstr>Čtyři skupiny bodů v mřížce</vt:lpstr>
      <vt:lpstr>Dvě varianty vedle sebe</vt:lpstr>
      <vt:lpstr>Varianta A, nebo varianta B?</vt:lpstr>
      <vt:lpstr>Tři karty vedle sebe</vt:lpstr>
      <vt:lpstr>Klíčová čísla na jednom místě</vt:lpstr>
      <vt:lpstr>Jedno číslo, které si publikum zapamatuje</vt:lpstr>
      <vt:lpstr>Jak začít během pár minut</vt:lpstr>
      <vt:lpstr>Kam s penězi na 3 až 8 let</vt:lpstr>
      <vt:lpstr>Čas je největší přítel investora</vt:lpstr>
      <vt:lpstr>Noví klienti a nové DIP účty</vt:lpstr>
      <vt:lpstr>Průměrný roční výnos podle typu investice</vt:lpstr>
      <vt:lpstr>Složení ukázkového portfolia</vt:lpstr>
      <vt:lpstr>Investice vs. spořicí účet</vt:lpstr>
      <vt:lpstr>Citace klienta nebo odborníka – jedna silná věta, která shrne hlavní myšlenku.</vt:lpstr>
      <vt:lpstr>Jak jsme se vyvíjeli</vt:lpstr>
      <vt:lpstr>Co nás čeká</vt:lpstr>
      <vt:lpstr>Situace, problém a řešení</vt:lpstr>
      <vt:lpstr>Co umíme a co ještě ne</vt:lpstr>
      <vt:lpstr>Aplikace hraje klíčovou roli v získávání i udržení klientů</vt:lpstr>
      <vt:lpstr>Jak to vypadá v aplikaci</vt:lpstr>
      <vt:lpstr>Pro koho je produkt a kam chceme růst</vt:lpstr>
      <vt:lpstr>Co si navzájem přinášíme</vt:lpstr>
      <vt:lpstr>Čím víc investujete, tím méně platíte</vt:lpstr>
      <vt:lpstr>Kolik můžete mít za 30 let?</vt:lpstr>
      <vt:lpstr>Spolupracujeme s nejlepšími</vt:lpstr>
      <vt:lpstr>Shrnutí a další kroky</vt:lpstr>
      <vt:lpstr>Otázky a odpovědi</vt:lpstr>
      <vt:lpstr>Tipněte si a vyhrajte vstupenky na konferenci</vt:lpstr>
      <vt:lpstr>Prezentace aplikace PowerPoint</vt:lpstr>
      <vt:lpstr>Prezentace aplikace PowerPoint</vt:lpstr>
      <vt:lpstr>Děkujeme!  Máte dotazy?</vt:lpstr>
      <vt:lpstr>Děkujeme! Máte dotazy?</vt:lpstr>
      <vt:lpstr>Příloha</vt:lpstr>
      <vt:lpstr>Právní upozornění</vt:lpstr>
      <vt:lpstr>Kocour – varianty podle produktu</vt:lpstr>
      <vt:lpstr>Produktové ikony</vt:lpstr>
      <vt:lpstr>Ikony rozhraní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Marek Pokorny, Portu.cz</dc:creator>
  <cp:keywords/>
  <dc:description>generated using python-pptx</dc:description>
  <cp:lastModifiedBy>Marek Pokorny, Portu.cz</cp:lastModifiedBy>
  <cp:revision>1</cp:revision>
  <dcterms:created xsi:type="dcterms:W3CDTF">2026-10-26T18:57:35Z</dcterms:created>
  <dcterms:modified xsi:type="dcterms:W3CDTF">2026-10-26T18:58:07Z</dcterms:modified>
  <cp:category/>
</cp:coreProperties>
</file>