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15"/>
  </p:notesMasterIdLst>
  <p:sldIdLst>
    <p:sldId id="257" r:id="rId3"/>
    <p:sldId id="310" r:id="rId4"/>
    <p:sldId id="314" r:id="rId5"/>
    <p:sldId id="303" r:id="rId6"/>
    <p:sldId id="304" r:id="rId7"/>
    <p:sldId id="317" r:id="rId8"/>
    <p:sldId id="318" r:id="rId9"/>
    <p:sldId id="324" r:id="rId10"/>
    <p:sldId id="316" r:id="rId11"/>
    <p:sldId id="319" r:id="rId12"/>
    <p:sldId id="312" r:id="rId13"/>
    <p:sldId id="311" r:id="rId14"/>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855381A-62AD-BA13-38B4-3A67D3C4993E}" name="Martin Lunacek, WOOD &amp; Co." initials="ML" userId="S::martin.lunacek@wood.cz::f71baa78-c718-4db4-bdbe-cec0abde9a02" providerId="AD"/>
  <p188:author id="{C2ADFFBE-F7D5-51DB-5B48-749A445EC462}" name="Tadeas Silovsky, Portu.cz" initials="TS" userId="S::tadeas.silovsky@portu.cz::3f40eee1-6b18-4d89-8e7d-ae9617bfc53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474E68-CA49-458B-8684-3F4CB009AC46}" v="36" dt="2026-07-14T14:50:15.791"/>
  </p1510:revLst>
</p1510:revInfo>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cs-CZ"/>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57838984004646E-2"/>
          <c:y val="0"/>
          <c:w val="0.97484322031990711"/>
          <c:h val="1"/>
        </c:manualLayout>
      </c:layout>
      <c:areaChart>
        <c:grouping val="standard"/>
        <c:varyColors val="0"/>
        <c:ser>
          <c:idx val="0"/>
          <c:order val="0"/>
          <c:tx>
            <c:strRef>
              <c:f>Sheet1!$B$1</c:f>
              <c:strCache>
                <c:ptCount val="1"/>
                <c:pt idx="0">
                  <c:v>Series 1</c:v>
                </c:pt>
              </c:strCache>
            </c:strRef>
          </c:tx>
          <c:spPr>
            <a:solidFill>
              <a:schemeClr val="accent6">
                <a:lumMod val="40000"/>
                <a:lumOff val="60000"/>
                <a:alpha val="52000"/>
              </a:schemeClr>
            </a:solidFill>
            <a:ln>
              <a:noFill/>
            </a:ln>
            <a:effectLst/>
          </c:spPr>
          <c:cat>
            <c:numRef>
              <c:f>Sheet1!$A$2:$A$59</c:f>
              <c:numCache>
                <c:formatCode>m/d/yyyy</c:formatCode>
                <c:ptCount val="58"/>
                <c:pt idx="0">
                  <c:v>43160</c:v>
                </c:pt>
                <c:pt idx="1">
                  <c:v>43191</c:v>
                </c:pt>
                <c:pt idx="2">
                  <c:v>43221</c:v>
                </c:pt>
                <c:pt idx="3">
                  <c:v>43252</c:v>
                </c:pt>
                <c:pt idx="4">
                  <c:v>43282</c:v>
                </c:pt>
                <c:pt idx="5">
                  <c:v>43313</c:v>
                </c:pt>
                <c:pt idx="6">
                  <c:v>43344</c:v>
                </c:pt>
                <c:pt idx="7">
                  <c:v>43374</c:v>
                </c:pt>
                <c:pt idx="8">
                  <c:v>43405</c:v>
                </c:pt>
                <c:pt idx="9">
                  <c:v>43435</c:v>
                </c:pt>
                <c:pt idx="10">
                  <c:v>43466</c:v>
                </c:pt>
                <c:pt idx="11">
                  <c:v>43497</c:v>
                </c:pt>
                <c:pt idx="12">
                  <c:v>43525</c:v>
                </c:pt>
                <c:pt idx="13">
                  <c:v>43556</c:v>
                </c:pt>
                <c:pt idx="14">
                  <c:v>43587</c:v>
                </c:pt>
                <c:pt idx="15">
                  <c:v>43619</c:v>
                </c:pt>
                <c:pt idx="16">
                  <c:v>43647</c:v>
                </c:pt>
                <c:pt idx="17">
                  <c:v>43678</c:v>
                </c:pt>
                <c:pt idx="18">
                  <c:v>43710</c:v>
                </c:pt>
                <c:pt idx="19">
                  <c:v>43739</c:v>
                </c:pt>
                <c:pt idx="20">
                  <c:v>43770</c:v>
                </c:pt>
                <c:pt idx="21">
                  <c:v>43801</c:v>
                </c:pt>
                <c:pt idx="22">
                  <c:v>43832</c:v>
                </c:pt>
                <c:pt idx="23">
                  <c:v>43864</c:v>
                </c:pt>
                <c:pt idx="24">
                  <c:v>43892</c:v>
                </c:pt>
                <c:pt idx="25">
                  <c:v>43922</c:v>
                </c:pt>
                <c:pt idx="26">
                  <c:v>43955</c:v>
                </c:pt>
                <c:pt idx="27">
                  <c:v>43984</c:v>
                </c:pt>
                <c:pt idx="28">
                  <c:v>44014</c:v>
                </c:pt>
                <c:pt idx="29">
                  <c:v>44046</c:v>
                </c:pt>
                <c:pt idx="30">
                  <c:v>44076</c:v>
                </c:pt>
                <c:pt idx="31">
                  <c:v>44106</c:v>
                </c:pt>
                <c:pt idx="32">
                  <c:v>44137</c:v>
                </c:pt>
                <c:pt idx="33">
                  <c:v>44167</c:v>
                </c:pt>
                <c:pt idx="34">
                  <c:v>44200</c:v>
                </c:pt>
                <c:pt idx="35">
                  <c:v>44228</c:v>
                </c:pt>
                <c:pt idx="36">
                  <c:v>44256</c:v>
                </c:pt>
                <c:pt idx="37">
                  <c:v>44292</c:v>
                </c:pt>
                <c:pt idx="38">
                  <c:v>44319</c:v>
                </c:pt>
                <c:pt idx="39">
                  <c:v>44348</c:v>
                </c:pt>
                <c:pt idx="40">
                  <c:v>44378</c:v>
                </c:pt>
                <c:pt idx="41">
                  <c:v>44410</c:v>
                </c:pt>
                <c:pt idx="42">
                  <c:v>44440</c:v>
                </c:pt>
                <c:pt idx="43">
                  <c:v>44470</c:v>
                </c:pt>
                <c:pt idx="44">
                  <c:v>44501</c:v>
                </c:pt>
                <c:pt idx="45">
                  <c:v>44531</c:v>
                </c:pt>
                <c:pt idx="46">
                  <c:v>44564</c:v>
                </c:pt>
                <c:pt idx="47">
                  <c:v>44593</c:v>
                </c:pt>
                <c:pt idx="48">
                  <c:v>44621</c:v>
                </c:pt>
                <c:pt idx="49">
                  <c:v>44652</c:v>
                </c:pt>
                <c:pt idx="50">
                  <c:v>44698</c:v>
                </c:pt>
                <c:pt idx="51">
                  <c:v>44713</c:v>
                </c:pt>
                <c:pt idx="52">
                  <c:v>44743</c:v>
                </c:pt>
                <c:pt idx="53">
                  <c:v>44774</c:v>
                </c:pt>
                <c:pt idx="54">
                  <c:v>44805</c:v>
                </c:pt>
                <c:pt idx="55">
                  <c:v>44837</c:v>
                </c:pt>
                <c:pt idx="56">
                  <c:v>44866</c:v>
                </c:pt>
                <c:pt idx="57">
                  <c:v>44889</c:v>
                </c:pt>
              </c:numCache>
            </c:numRef>
          </c:cat>
          <c:val>
            <c:numRef>
              <c:f>Sheet1!$B$2:$B$59</c:f>
              <c:numCache>
                <c:formatCode>_-* #\ ##0.00\ [$Kč-405]_-;\-* #\ ##0.00\ [$Kč-405]_-;_-* "-"??\ [$Kč-405]_-;_-@_-</c:formatCode>
                <c:ptCount val="58"/>
                <c:pt idx="0">
                  <c:v>100000</c:v>
                </c:pt>
                <c:pt idx="1">
                  <c:v>3600000</c:v>
                </c:pt>
                <c:pt idx="2">
                  <c:v>7100000</c:v>
                </c:pt>
                <c:pt idx="3">
                  <c:v>10600000</c:v>
                </c:pt>
                <c:pt idx="4">
                  <c:v>14100000</c:v>
                </c:pt>
                <c:pt idx="5">
                  <c:v>17600000</c:v>
                </c:pt>
                <c:pt idx="6">
                  <c:v>21100000</c:v>
                </c:pt>
                <c:pt idx="7">
                  <c:v>24600000</c:v>
                </c:pt>
                <c:pt idx="8">
                  <c:v>28100000</c:v>
                </c:pt>
                <c:pt idx="9">
                  <c:v>31600000</c:v>
                </c:pt>
                <c:pt idx="10">
                  <c:v>39686473.5</c:v>
                </c:pt>
                <c:pt idx="11">
                  <c:v>50539484</c:v>
                </c:pt>
                <c:pt idx="12">
                  <c:v>65282622</c:v>
                </c:pt>
                <c:pt idx="13">
                  <c:v>75097335</c:v>
                </c:pt>
                <c:pt idx="14">
                  <c:v>89549915.709999993</c:v>
                </c:pt>
                <c:pt idx="15">
                  <c:v>95677883.980000004</c:v>
                </c:pt>
                <c:pt idx="16">
                  <c:v>106460367</c:v>
                </c:pt>
                <c:pt idx="17">
                  <c:v>115855283</c:v>
                </c:pt>
                <c:pt idx="18">
                  <c:v>123831378.43000001</c:v>
                </c:pt>
                <c:pt idx="19">
                  <c:v>136532319.15000001</c:v>
                </c:pt>
                <c:pt idx="20">
                  <c:v>148477519.56</c:v>
                </c:pt>
                <c:pt idx="21">
                  <c:v>166039978</c:v>
                </c:pt>
                <c:pt idx="22">
                  <c:v>185470395.34999999</c:v>
                </c:pt>
                <c:pt idx="23">
                  <c:v>214182343</c:v>
                </c:pt>
                <c:pt idx="24">
                  <c:v>235971161</c:v>
                </c:pt>
                <c:pt idx="25">
                  <c:v>249296677</c:v>
                </c:pt>
                <c:pt idx="26">
                  <c:v>321090847</c:v>
                </c:pt>
                <c:pt idx="27">
                  <c:v>381388908</c:v>
                </c:pt>
                <c:pt idx="28">
                  <c:v>423162830</c:v>
                </c:pt>
                <c:pt idx="29">
                  <c:v>500889206</c:v>
                </c:pt>
                <c:pt idx="30">
                  <c:v>677675994</c:v>
                </c:pt>
                <c:pt idx="31">
                  <c:v>766203028</c:v>
                </c:pt>
                <c:pt idx="32">
                  <c:v>906252510</c:v>
                </c:pt>
                <c:pt idx="33">
                  <c:v>1145903231</c:v>
                </c:pt>
                <c:pt idx="34">
                  <c:v>1372801361</c:v>
                </c:pt>
                <c:pt idx="35">
                  <c:v>1614145079</c:v>
                </c:pt>
                <c:pt idx="36">
                  <c:v>1930555504</c:v>
                </c:pt>
                <c:pt idx="37">
                  <c:v>2372751758</c:v>
                </c:pt>
                <c:pt idx="38">
                  <c:v>2759175906</c:v>
                </c:pt>
                <c:pt idx="39">
                  <c:v>3144152350</c:v>
                </c:pt>
                <c:pt idx="40">
                  <c:v>3535204654</c:v>
                </c:pt>
                <c:pt idx="41">
                  <c:v>3917060545</c:v>
                </c:pt>
                <c:pt idx="42">
                  <c:v>4445800820</c:v>
                </c:pt>
                <c:pt idx="43">
                  <c:v>4865622674</c:v>
                </c:pt>
                <c:pt idx="44">
                  <c:v>5467859222</c:v>
                </c:pt>
                <c:pt idx="45">
                  <c:v>6116216747</c:v>
                </c:pt>
                <c:pt idx="46">
                  <c:v>6865734242</c:v>
                </c:pt>
                <c:pt idx="47">
                  <c:v>7190375597</c:v>
                </c:pt>
                <c:pt idx="48">
                  <c:v>7720636191</c:v>
                </c:pt>
                <c:pt idx="49">
                  <c:v>8704862525</c:v>
                </c:pt>
                <c:pt idx="50">
                  <c:v>9482643909</c:v>
                </c:pt>
                <c:pt idx="51">
                  <c:v>10000162537</c:v>
                </c:pt>
                <c:pt idx="52">
                  <c:v>10420570242</c:v>
                </c:pt>
                <c:pt idx="53">
                  <c:v>11886112111</c:v>
                </c:pt>
                <c:pt idx="54">
                  <c:v>13053994993</c:v>
                </c:pt>
                <c:pt idx="55">
                  <c:v>13481525534</c:v>
                </c:pt>
                <c:pt idx="56">
                  <c:v>14491605333</c:v>
                </c:pt>
                <c:pt idx="57">
                  <c:v>15327100765</c:v>
                </c:pt>
              </c:numCache>
            </c:numRef>
          </c:val>
          <c:extLst>
            <c:ext xmlns:c16="http://schemas.microsoft.com/office/drawing/2014/chart" uri="{C3380CC4-5D6E-409C-BE32-E72D297353CC}">
              <c16:uniqueId val="{00000000-2C6F-42FA-AA8F-6B41A5DF4D57}"/>
            </c:ext>
          </c:extLst>
        </c:ser>
        <c:ser>
          <c:idx val="1"/>
          <c:order val="1"/>
          <c:tx>
            <c:strRef>
              <c:f>Sheet1!$C$1</c:f>
              <c:strCache>
                <c:ptCount val="1"/>
                <c:pt idx="0">
                  <c:v>Column1</c:v>
                </c:pt>
              </c:strCache>
            </c:strRef>
          </c:tx>
          <c:spPr>
            <a:solidFill>
              <a:schemeClr val="accent2"/>
            </a:solidFill>
            <a:ln>
              <a:noFill/>
            </a:ln>
            <a:effectLst/>
          </c:spPr>
          <c:cat>
            <c:numRef>
              <c:f>Sheet1!$A$2:$A$59</c:f>
              <c:numCache>
                <c:formatCode>m/d/yyyy</c:formatCode>
                <c:ptCount val="58"/>
                <c:pt idx="0">
                  <c:v>43160</c:v>
                </c:pt>
                <c:pt idx="1">
                  <c:v>43191</c:v>
                </c:pt>
                <c:pt idx="2">
                  <c:v>43221</c:v>
                </c:pt>
                <c:pt idx="3">
                  <c:v>43252</c:v>
                </c:pt>
                <c:pt idx="4">
                  <c:v>43282</c:v>
                </c:pt>
                <c:pt idx="5">
                  <c:v>43313</c:v>
                </c:pt>
                <c:pt idx="6">
                  <c:v>43344</c:v>
                </c:pt>
                <c:pt idx="7">
                  <c:v>43374</c:v>
                </c:pt>
                <c:pt idx="8">
                  <c:v>43405</c:v>
                </c:pt>
                <c:pt idx="9">
                  <c:v>43435</c:v>
                </c:pt>
                <c:pt idx="10">
                  <c:v>43466</c:v>
                </c:pt>
                <c:pt idx="11">
                  <c:v>43497</c:v>
                </c:pt>
                <c:pt idx="12">
                  <c:v>43525</c:v>
                </c:pt>
                <c:pt idx="13">
                  <c:v>43556</c:v>
                </c:pt>
                <c:pt idx="14">
                  <c:v>43587</c:v>
                </c:pt>
                <c:pt idx="15">
                  <c:v>43619</c:v>
                </c:pt>
                <c:pt idx="16">
                  <c:v>43647</c:v>
                </c:pt>
                <c:pt idx="17">
                  <c:v>43678</c:v>
                </c:pt>
                <c:pt idx="18">
                  <c:v>43710</c:v>
                </c:pt>
                <c:pt idx="19">
                  <c:v>43739</c:v>
                </c:pt>
                <c:pt idx="20">
                  <c:v>43770</c:v>
                </c:pt>
                <c:pt idx="21">
                  <c:v>43801</c:v>
                </c:pt>
                <c:pt idx="22">
                  <c:v>43832</c:v>
                </c:pt>
                <c:pt idx="23">
                  <c:v>43864</c:v>
                </c:pt>
                <c:pt idx="24">
                  <c:v>43892</c:v>
                </c:pt>
                <c:pt idx="25">
                  <c:v>43922</c:v>
                </c:pt>
                <c:pt idx="26">
                  <c:v>43955</c:v>
                </c:pt>
                <c:pt idx="27">
                  <c:v>43984</c:v>
                </c:pt>
                <c:pt idx="28">
                  <c:v>44014</c:v>
                </c:pt>
                <c:pt idx="29">
                  <c:v>44046</c:v>
                </c:pt>
                <c:pt idx="30">
                  <c:v>44076</c:v>
                </c:pt>
                <c:pt idx="31">
                  <c:v>44106</c:v>
                </c:pt>
                <c:pt idx="32">
                  <c:v>44137</c:v>
                </c:pt>
                <c:pt idx="33">
                  <c:v>44167</c:v>
                </c:pt>
                <c:pt idx="34">
                  <c:v>44200</c:v>
                </c:pt>
                <c:pt idx="35">
                  <c:v>44228</c:v>
                </c:pt>
                <c:pt idx="36">
                  <c:v>44256</c:v>
                </c:pt>
                <c:pt idx="37">
                  <c:v>44292</c:v>
                </c:pt>
                <c:pt idx="38">
                  <c:v>44319</c:v>
                </c:pt>
                <c:pt idx="39">
                  <c:v>44348</c:v>
                </c:pt>
                <c:pt idx="40">
                  <c:v>44378</c:v>
                </c:pt>
                <c:pt idx="41">
                  <c:v>44410</c:v>
                </c:pt>
                <c:pt idx="42">
                  <c:v>44440</c:v>
                </c:pt>
                <c:pt idx="43">
                  <c:v>44470</c:v>
                </c:pt>
                <c:pt idx="44">
                  <c:v>44501</c:v>
                </c:pt>
                <c:pt idx="45">
                  <c:v>44531</c:v>
                </c:pt>
                <c:pt idx="46">
                  <c:v>44564</c:v>
                </c:pt>
                <c:pt idx="47">
                  <c:v>44593</c:v>
                </c:pt>
                <c:pt idx="48">
                  <c:v>44621</c:v>
                </c:pt>
                <c:pt idx="49">
                  <c:v>44652</c:v>
                </c:pt>
                <c:pt idx="50">
                  <c:v>44698</c:v>
                </c:pt>
                <c:pt idx="51">
                  <c:v>44713</c:v>
                </c:pt>
                <c:pt idx="52">
                  <c:v>44743</c:v>
                </c:pt>
                <c:pt idx="53">
                  <c:v>44774</c:v>
                </c:pt>
                <c:pt idx="54">
                  <c:v>44805</c:v>
                </c:pt>
                <c:pt idx="55">
                  <c:v>44837</c:v>
                </c:pt>
                <c:pt idx="56">
                  <c:v>44866</c:v>
                </c:pt>
                <c:pt idx="57">
                  <c:v>44889</c:v>
                </c:pt>
              </c:numCache>
            </c:numRef>
          </c:cat>
          <c:val>
            <c:numRef>
              <c:f>Sheet1!$C$2:$C$59</c:f>
              <c:numCache>
                <c:formatCode>General</c:formatCode>
                <c:ptCount val="58"/>
              </c:numCache>
            </c:numRef>
          </c:val>
          <c:extLst>
            <c:ext xmlns:c16="http://schemas.microsoft.com/office/drawing/2014/chart" uri="{C3380CC4-5D6E-409C-BE32-E72D297353CC}">
              <c16:uniqueId val="{00000001-2C6F-42FA-AA8F-6B41A5DF4D57}"/>
            </c:ext>
          </c:extLst>
        </c:ser>
        <c:dLbls>
          <c:showLegendKey val="0"/>
          <c:showVal val="0"/>
          <c:showCatName val="0"/>
          <c:showSerName val="0"/>
          <c:showPercent val="0"/>
          <c:showBubbleSize val="0"/>
        </c:dLbls>
        <c:axId val="867406320"/>
        <c:axId val="867401400"/>
      </c:areaChart>
      <c:dateAx>
        <c:axId val="867406320"/>
        <c:scaling>
          <c:orientation val="minMax"/>
        </c:scaling>
        <c:delete val="1"/>
        <c:axPos val="b"/>
        <c:numFmt formatCode="m/d/yyyy" sourceLinked="1"/>
        <c:majorTickMark val="out"/>
        <c:minorTickMark val="none"/>
        <c:tickLblPos val="nextTo"/>
        <c:crossAx val="867401400"/>
        <c:crosses val="autoZero"/>
        <c:auto val="1"/>
        <c:lblOffset val="100"/>
        <c:baseTimeUnit val="days"/>
      </c:dateAx>
      <c:valAx>
        <c:axId val="867401400"/>
        <c:scaling>
          <c:orientation val="minMax"/>
        </c:scaling>
        <c:delete val="1"/>
        <c:axPos val="l"/>
        <c:numFmt formatCode="_-* #\ ##0.00\ [$Kč-405]_-;\-* #\ ##0.00\ [$Kč-405]_-;_-* &quot;-&quot;??\ [$Kč-405]_-;_-@_-" sourceLinked="1"/>
        <c:majorTickMark val="none"/>
        <c:minorTickMark val="none"/>
        <c:tickLblPos val="nextTo"/>
        <c:crossAx val="867406320"/>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cs-CZ"/>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05850C-E347-4362-B4C7-70AE02219DB4}" type="datetimeFigureOut">
              <a:rPr lang="cs-CZ" smtClean="0"/>
              <a:t>29.10.2026</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7F1E1B-D75A-482C-8DF2-B345317E077C}" type="slidenum">
              <a:rPr lang="cs-CZ" smtClean="0"/>
              <a:t>‹#›</a:t>
            </a:fld>
            <a:endParaRPr lang="cs-CZ"/>
          </a:p>
        </p:txBody>
      </p:sp>
    </p:spTree>
    <p:extLst>
      <p:ext uri="{BB962C8B-B14F-4D97-AF65-F5344CB8AC3E}">
        <p14:creationId xmlns:p14="http://schemas.microsoft.com/office/powerpoint/2010/main" val="3684695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t>https://www.seznamzpravy.cz/clanek/ekonomika-umela-inteligence-trh-neporazila-pri-pokusu-na-burzach-modely-prodelaly-305739#dop_ab_variant=0&amp;dop_source_zone_name=zpravy.sznhp.box&amp;source=hp&amp;seq_no=5&amp;utm_campaign=abtest308_feed_filter_varA&amp;utm_medium=z-boxiku&amp;utm_source=www.seznam.cz</a:t>
            </a:r>
          </a:p>
        </p:txBody>
      </p:sp>
      <p:sp>
        <p:nvSpPr>
          <p:cNvPr id="4" name="Slide Number Placeholder 3"/>
          <p:cNvSpPr>
            <a:spLocks noGrp="1"/>
          </p:cNvSpPr>
          <p:nvPr>
            <p:ph type="sldNum" sz="quarter" idx="5"/>
          </p:nvPr>
        </p:nvSpPr>
        <p:spPr/>
        <p:txBody>
          <a:bodyPr/>
          <a:lstStyle/>
          <a:p>
            <a:fld id="{1C7F1E1B-D75A-482C-8DF2-B345317E077C}" type="slidenum">
              <a:rPr lang="cs-CZ" smtClean="0"/>
              <a:t>1</a:t>
            </a:fld>
            <a:endParaRPr lang="cs-CZ"/>
          </a:p>
        </p:txBody>
      </p:sp>
    </p:spTree>
    <p:extLst>
      <p:ext uri="{BB962C8B-B14F-4D97-AF65-F5344CB8AC3E}">
        <p14:creationId xmlns:p14="http://schemas.microsoft.com/office/powerpoint/2010/main" val="3841695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F1E1B-D75A-482C-8DF2-B345317E077C}" type="slidenum">
              <a:rPr lang="cs-CZ" smtClean="0"/>
              <a:t>2</a:t>
            </a:fld>
            <a:endParaRPr lang="cs-CZ"/>
          </a:p>
        </p:txBody>
      </p:sp>
    </p:spTree>
    <p:extLst>
      <p:ext uri="{BB962C8B-B14F-4D97-AF65-F5344CB8AC3E}">
        <p14:creationId xmlns:p14="http://schemas.microsoft.com/office/powerpoint/2010/main" val="1569465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F1E1B-D75A-482C-8DF2-B345317E077C}" type="slidenum">
              <a:rPr lang="cs-CZ" smtClean="0"/>
              <a:t>9</a:t>
            </a:fld>
            <a:endParaRPr lang="cs-CZ"/>
          </a:p>
        </p:txBody>
      </p:sp>
    </p:spTree>
    <p:extLst>
      <p:ext uri="{BB962C8B-B14F-4D97-AF65-F5344CB8AC3E}">
        <p14:creationId xmlns:p14="http://schemas.microsoft.com/office/powerpoint/2010/main" val="1152504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771BF51-F067-B5F6-06E8-0A95F3E30835}"/>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61D3805B-2A50-FA84-2BFB-9436C55ACA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975C2615-A796-8171-3591-FAEB68491A93}"/>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5" name="Zástupný symbol pro zápatí 4">
            <a:extLst>
              <a:ext uri="{FF2B5EF4-FFF2-40B4-BE49-F238E27FC236}">
                <a16:creationId xmlns:a16="http://schemas.microsoft.com/office/drawing/2014/main" id="{4573D420-8708-32F0-02C0-EFC4F7B0EB12}"/>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F9E3DF5F-E69B-6150-50BA-9EBB6ECAA870}"/>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53039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629B2C2-918F-E755-A4ED-926613A5EDD2}"/>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4ACEFEA5-D244-57F3-3C86-39B4BF7A96C6}"/>
              </a:ext>
            </a:extLst>
          </p:cNvPr>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1254FC8F-67F7-03D7-4EFE-41DA6129C9E2}"/>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5" name="Zástupný symbol pro zápatí 4">
            <a:extLst>
              <a:ext uri="{FF2B5EF4-FFF2-40B4-BE49-F238E27FC236}">
                <a16:creationId xmlns:a16="http://schemas.microsoft.com/office/drawing/2014/main" id="{FB4C320E-08C5-9064-4344-7F6F2CCFEE70}"/>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ECA445EC-DE7B-B429-5C79-CA9E241CA72D}"/>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221538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16EA51D-1CCB-4A69-54AB-473401F5A2F6}"/>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text 2">
            <a:extLst>
              <a:ext uri="{FF2B5EF4-FFF2-40B4-BE49-F238E27FC236}">
                <a16:creationId xmlns:a16="http://schemas.microsoft.com/office/drawing/2014/main" id="{A49D2A6C-57DF-467B-686B-D65C92FBC8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cs-CZ"/>
              <a:t>Po kliknutí můžete upravovat styly textu v předloze.</a:t>
            </a:r>
          </a:p>
        </p:txBody>
      </p:sp>
      <p:sp>
        <p:nvSpPr>
          <p:cNvPr id="4" name="Zástupný symbol pro datum 3">
            <a:extLst>
              <a:ext uri="{FF2B5EF4-FFF2-40B4-BE49-F238E27FC236}">
                <a16:creationId xmlns:a16="http://schemas.microsoft.com/office/drawing/2014/main" id="{5846D56B-D0D3-7566-C7DB-10BE5A14ADD1}"/>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5" name="Zástupný symbol pro zápatí 4">
            <a:extLst>
              <a:ext uri="{FF2B5EF4-FFF2-40B4-BE49-F238E27FC236}">
                <a16:creationId xmlns:a16="http://schemas.microsoft.com/office/drawing/2014/main" id="{E5072EBE-38F2-8E14-025D-C2D6B84E0661}"/>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55D83D61-1C11-789A-1678-2875FE321258}"/>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4139174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142A8E2-ED81-62F8-A5ED-219B4B2AB62D}"/>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B25ABD62-55DB-8CE8-67D7-BB7B1EEB49DF}"/>
              </a:ext>
            </a:extLst>
          </p:cNvPr>
          <p:cNvSpPr>
            <a:spLocks noGrp="1"/>
          </p:cNvSpPr>
          <p:nvPr>
            <p:ph sz="half" idx="1"/>
          </p:nvPr>
        </p:nvSpPr>
        <p:spPr>
          <a:xfrm>
            <a:off x="838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obsah 3">
            <a:extLst>
              <a:ext uri="{FF2B5EF4-FFF2-40B4-BE49-F238E27FC236}">
                <a16:creationId xmlns:a16="http://schemas.microsoft.com/office/drawing/2014/main" id="{778D805B-7745-496D-94BD-1D7181C19364}"/>
              </a:ext>
            </a:extLst>
          </p:cNvPr>
          <p:cNvSpPr>
            <a:spLocks noGrp="1"/>
          </p:cNvSpPr>
          <p:nvPr>
            <p:ph sz="half" idx="2"/>
          </p:nvPr>
        </p:nvSpPr>
        <p:spPr>
          <a:xfrm>
            <a:off x="6172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85045966-EEA5-86EE-63F2-79D0C99985A4}"/>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6" name="Zástupný symbol pro zápatí 5">
            <a:extLst>
              <a:ext uri="{FF2B5EF4-FFF2-40B4-BE49-F238E27FC236}">
                <a16:creationId xmlns:a16="http://schemas.microsoft.com/office/drawing/2014/main" id="{B8F8F563-BE3A-9238-0D42-50658B812CE7}"/>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61001EE9-22A1-FC67-C27A-C22285A58C7B}"/>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2338633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89DCBA7-69B7-89F0-7E47-DA1CD1A62537}"/>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text 2">
            <a:extLst>
              <a:ext uri="{FF2B5EF4-FFF2-40B4-BE49-F238E27FC236}">
                <a16:creationId xmlns:a16="http://schemas.microsoft.com/office/drawing/2014/main" id="{C034F860-93D2-8D21-BA34-B839BF6E2B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4910F61F-E8C7-6BCE-F1CE-BB4018846C8A}"/>
              </a:ext>
            </a:extLst>
          </p:cNvPr>
          <p:cNvSpPr>
            <a:spLocks noGrp="1"/>
          </p:cNvSpPr>
          <p:nvPr>
            <p:ph sz="half" idx="2"/>
          </p:nvPr>
        </p:nvSpPr>
        <p:spPr>
          <a:xfrm>
            <a:off x="839788" y="2505075"/>
            <a:ext cx="5157787"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text 4">
            <a:extLst>
              <a:ext uri="{FF2B5EF4-FFF2-40B4-BE49-F238E27FC236}">
                <a16:creationId xmlns:a16="http://schemas.microsoft.com/office/drawing/2014/main" id="{9D155EDE-BCAB-2727-10B9-6E2746B3D0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Zástupný obsah 5">
            <a:extLst>
              <a:ext uri="{FF2B5EF4-FFF2-40B4-BE49-F238E27FC236}">
                <a16:creationId xmlns:a16="http://schemas.microsoft.com/office/drawing/2014/main" id="{DF4FCD56-728A-1A1C-72A4-29E1132BEC95}"/>
              </a:ext>
            </a:extLst>
          </p:cNvPr>
          <p:cNvSpPr>
            <a:spLocks noGrp="1"/>
          </p:cNvSpPr>
          <p:nvPr>
            <p:ph sz="quarter" idx="4"/>
          </p:nvPr>
        </p:nvSpPr>
        <p:spPr>
          <a:xfrm>
            <a:off x="6172200" y="2505075"/>
            <a:ext cx="5183188"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5B9A7B6A-BA75-58D5-B78F-E92ABEC2E58A}"/>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8" name="Zástupný symbol pro zápatí 7">
            <a:extLst>
              <a:ext uri="{FF2B5EF4-FFF2-40B4-BE49-F238E27FC236}">
                <a16:creationId xmlns:a16="http://schemas.microsoft.com/office/drawing/2014/main" id="{872BC12E-DF56-1577-55D9-45DEE40C8B2D}"/>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A298F4E0-0201-E36A-A179-8F3427F845CA}"/>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3056692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1AD81A4-626B-5B5A-074E-58C7B36982D4}"/>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DA3F557D-74C7-D528-9762-FCA6AAA8A77A}"/>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4" name="Zástupný symbol pro zápatí 3">
            <a:extLst>
              <a:ext uri="{FF2B5EF4-FFF2-40B4-BE49-F238E27FC236}">
                <a16:creationId xmlns:a16="http://schemas.microsoft.com/office/drawing/2014/main" id="{33906307-CE09-CA36-F817-74B0FF970BBC}"/>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C2A073B4-83BB-A7CD-7A35-8830141CDBB3}"/>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791360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402A658A-2C78-C61C-F4ED-4AF5E3E649A3}"/>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3" name="Zástupný symbol pro zápatí 2">
            <a:extLst>
              <a:ext uri="{FF2B5EF4-FFF2-40B4-BE49-F238E27FC236}">
                <a16:creationId xmlns:a16="http://schemas.microsoft.com/office/drawing/2014/main" id="{1B427469-689D-EF8F-386B-B64F849D358A}"/>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95663C49-07AF-8CE5-7634-447BD645A785}"/>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2574030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FA5E4FD-9B39-5027-7D1C-19829069213F}"/>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obsah 2">
            <a:extLst>
              <a:ext uri="{FF2B5EF4-FFF2-40B4-BE49-F238E27FC236}">
                <a16:creationId xmlns:a16="http://schemas.microsoft.com/office/drawing/2014/main" id="{FC889329-96C2-D0A7-1EE0-CDF1DD64B3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text 3">
            <a:extLst>
              <a:ext uri="{FF2B5EF4-FFF2-40B4-BE49-F238E27FC236}">
                <a16:creationId xmlns:a16="http://schemas.microsoft.com/office/drawing/2014/main" id="{6198C7BB-C279-0F58-44F0-A32BF8CB7C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25309807-B71D-75E5-2507-DB42CD2C4687}"/>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6" name="Zástupný symbol pro zápatí 5">
            <a:extLst>
              <a:ext uri="{FF2B5EF4-FFF2-40B4-BE49-F238E27FC236}">
                <a16:creationId xmlns:a16="http://schemas.microsoft.com/office/drawing/2014/main" id="{5B3792C9-7BAB-7744-9B81-40B50900A1BB}"/>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831D94FC-2B38-E6C0-BE9E-255DC0072E19}"/>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4030722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5079D77-7BDE-6324-6A1D-FB71858289A2}"/>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C8381562-C61E-5048-A644-FA89FE366C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text 3">
            <a:extLst>
              <a:ext uri="{FF2B5EF4-FFF2-40B4-BE49-F238E27FC236}">
                <a16:creationId xmlns:a16="http://schemas.microsoft.com/office/drawing/2014/main" id="{78CE9488-C603-FE05-5783-2CA024739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A133C4A4-FEC9-0FA5-15DC-0DBFA07BBBFA}"/>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6" name="Zástupný symbol pro zápatí 5">
            <a:extLst>
              <a:ext uri="{FF2B5EF4-FFF2-40B4-BE49-F238E27FC236}">
                <a16:creationId xmlns:a16="http://schemas.microsoft.com/office/drawing/2014/main" id="{58B1A872-DE23-E913-07E2-21821D0867DE}"/>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2616D889-F8A6-8D1A-8525-B5B58F87F6B4}"/>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1243987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A17C55E-310D-559D-461D-7BDFA1C8E615}"/>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EEDA5C80-E74C-ED9F-137B-AE8ACCCB0F04}"/>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A0D6C472-F5C9-51D9-5990-0E35D2A3D43E}"/>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5" name="Zástupný symbol pro zápatí 4">
            <a:extLst>
              <a:ext uri="{FF2B5EF4-FFF2-40B4-BE49-F238E27FC236}">
                <a16:creationId xmlns:a16="http://schemas.microsoft.com/office/drawing/2014/main" id="{F1BB977D-D1FF-6033-5BC2-61A291EEBCEF}"/>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02B525CD-E5E7-CD91-5A6C-D3DCB5D7EC51}"/>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535280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114ECA37-1745-2B12-3E74-8C9F0A7B4137}"/>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EACAB349-B1FF-9169-ACB2-E077AADD50F7}"/>
              </a:ext>
            </a:extLst>
          </p:cNvPr>
          <p:cNvSpPr>
            <a:spLocks noGrp="1"/>
          </p:cNvSpPr>
          <p:nvPr>
            <p:ph type="body" orient="vert" idx="1"/>
          </p:nvPr>
        </p:nvSpPr>
        <p:spPr>
          <a:xfrm>
            <a:off x="838200" y="365125"/>
            <a:ext cx="7734300"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3CA72831-BFC6-4158-261E-D321F797903E}"/>
              </a:ext>
            </a:extLst>
          </p:cNvPr>
          <p:cNvSpPr>
            <a:spLocks noGrp="1"/>
          </p:cNvSpPr>
          <p:nvPr>
            <p:ph type="dt" sz="half" idx="10"/>
          </p:nvPr>
        </p:nvSpPr>
        <p:spPr/>
        <p:txBody>
          <a:bodyPr/>
          <a:lstStyle/>
          <a:p>
            <a:fld id="{E54A1083-9BF2-4D86-8E43-CB3D014EE90B}" type="datetimeFigureOut">
              <a:rPr lang="cs-CZ" smtClean="0"/>
              <a:t>29.10.2026</a:t>
            </a:fld>
            <a:endParaRPr lang="cs-CZ"/>
          </a:p>
        </p:txBody>
      </p:sp>
      <p:sp>
        <p:nvSpPr>
          <p:cNvPr id="5" name="Zástupný symbol pro zápatí 4">
            <a:extLst>
              <a:ext uri="{FF2B5EF4-FFF2-40B4-BE49-F238E27FC236}">
                <a16:creationId xmlns:a16="http://schemas.microsoft.com/office/drawing/2014/main" id="{A87D3CB8-4977-0F8E-0012-D6C10129B346}"/>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BA045F49-115E-53E1-FAA1-5D219207EA7D}"/>
              </a:ext>
            </a:extLst>
          </p:cNvPr>
          <p:cNvSpPr>
            <a:spLocks noGrp="1"/>
          </p:cNvSpPr>
          <p:nvPr>
            <p:ph type="sldNum" sz="quarter" idx="12"/>
          </p:nvPr>
        </p:nvSpPr>
        <p:spPr/>
        <p:txBody>
          <a:bodyPr/>
          <a:lstStyle/>
          <a:p>
            <a:fld id="{1965F324-AD0F-45BE-A898-5C1E9D1E6821}" type="slidenum">
              <a:rPr lang="cs-CZ" smtClean="0"/>
              <a:t>‹#›</a:t>
            </a:fld>
            <a:endParaRPr lang="cs-CZ"/>
          </a:p>
        </p:txBody>
      </p:sp>
    </p:spTree>
    <p:extLst>
      <p:ext uri="{BB962C8B-B14F-4D97-AF65-F5344CB8AC3E}">
        <p14:creationId xmlns:p14="http://schemas.microsoft.com/office/powerpoint/2010/main" val="4153324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10" name="Title 1"/>
          <p:cNvSpPr>
            <a:spLocks noGrp="1"/>
          </p:cNvSpPr>
          <p:nvPr>
            <p:ph type="ctrTitle"/>
          </p:nvPr>
        </p:nvSpPr>
        <p:spPr>
          <a:xfrm>
            <a:off x="1379621" y="3778376"/>
            <a:ext cx="9144000" cy="839585"/>
          </a:xfrm>
        </p:spPr>
        <p:txBody>
          <a:bodyPr anchor="b">
            <a:normAutofit/>
          </a:bodyPr>
          <a:lstStyle>
            <a:lvl1pPr algn="l">
              <a:defRPr sz="4000"/>
            </a:lvl1pPr>
          </a:lstStyle>
          <a:p>
            <a:r>
              <a:rPr lang="en-US" dirty="0"/>
              <a:t>Click to edit Master title style</a:t>
            </a:r>
            <a:endParaRPr lang="cs-CZ" dirty="0"/>
          </a:p>
        </p:txBody>
      </p:sp>
      <p:sp>
        <p:nvSpPr>
          <p:cNvPr id="13" name="Footer Placeholder 4"/>
          <p:cNvSpPr>
            <a:spLocks noGrp="1"/>
          </p:cNvSpPr>
          <p:nvPr>
            <p:ph type="ftr" sz="quarter" idx="11"/>
          </p:nvPr>
        </p:nvSpPr>
        <p:spPr>
          <a:xfrm>
            <a:off x="4247667" y="6492873"/>
            <a:ext cx="4114800" cy="365125"/>
          </a:xfrm>
        </p:spPr>
        <p:txBody>
          <a:bodyPr/>
          <a:lstStyle/>
          <a:p>
            <a:endParaRPr lang="cs-CZ" dirty="0"/>
          </a:p>
        </p:txBody>
      </p:sp>
      <p:sp>
        <p:nvSpPr>
          <p:cNvPr id="15" name="Subtitle 2"/>
          <p:cNvSpPr>
            <a:spLocks noGrp="1"/>
          </p:cNvSpPr>
          <p:nvPr>
            <p:ph type="subTitle" idx="1"/>
          </p:nvPr>
        </p:nvSpPr>
        <p:spPr>
          <a:xfrm>
            <a:off x="1379621" y="4845371"/>
            <a:ext cx="9144000" cy="552091"/>
          </a:xfrm>
        </p:spPr>
        <p:txBody>
          <a:bodyPr>
            <a:normAutofit/>
          </a:bodyPr>
          <a:lstStyle>
            <a:lvl1pPr marL="0" indent="0" algn="l">
              <a:buFont typeface="Arial" panose="020B0604020202020204" pitchFamily="34" charset="0"/>
              <a:buNone/>
              <a:defRPr sz="2000"/>
            </a:lvl1pPr>
          </a:lstStyle>
          <a:p>
            <a:endParaRPr lang="cs-CZ" dirty="0"/>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7398" y="979178"/>
            <a:ext cx="3853075" cy="1806690"/>
          </a:xfrm>
          <a:prstGeom prst="rect">
            <a:avLst/>
          </a:prstGeom>
        </p:spPr>
      </p:pic>
    </p:spTree>
    <p:extLst>
      <p:ext uri="{BB962C8B-B14F-4D97-AF65-F5344CB8AC3E}">
        <p14:creationId xmlns:p14="http://schemas.microsoft.com/office/powerpoint/2010/main" val="6486266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1"/>
          <p:cNvSpPr>
            <a:spLocks noGrp="1"/>
          </p:cNvSpPr>
          <p:nvPr>
            <p:ph type="ctrTitle"/>
          </p:nvPr>
        </p:nvSpPr>
        <p:spPr>
          <a:xfrm>
            <a:off x="1379621" y="3778376"/>
            <a:ext cx="9144000" cy="839585"/>
          </a:xfrm>
        </p:spPr>
        <p:txBody>
          <a:bodyPr anchor="b">
            <a:normAutofit/>
          </a:bodyPr>
          <a:lstStyle>
            <a:lvl1pPr algn="l">
              <a:defRPr sz="4000"/>
            </a:lvl1pPr>
          </a:lstStyle>
          <a:p>
            <a:r>
              <a:rPr lang="en-US" dirty="0"/>
              <a:t>Click to edit Master title style</a:t>
            </a:r>
            <a:endParaRPr lang="cs-CZ" dirty="0"/>
          </a:p>
        </p:txBody>
      </p:sp>
      <p:sp>
        <p:nvSpPr>
          <p:cNvPr id="13" name="Footer Placeholder 4"/>
          <p:cNvSpPr>
            <a:spLocks noGrp="1"/>
          </p:cNvSpPr>
          <p:nvPr>
            <p:ph type="ftr" sz="quarter" idx="11"/>
          </p:nvPr>
        </p:nvSpPr>
        <p:spPr>
          <a:xfrm>
            <a:off x="4247667" y="6492873"/>
            <a:ext cx="4114800" cy="365125"/>
          </a:xfrm>
        </p:spPr>
        <p:txBody>
          <a:bodyPr/>
          <a:lstStyle/>
          <a:p>
            <a:endParaRPr lang="cs-CZ" dirty="0"/>
          </a:p>
        </p:txBody>
      </p:sp>
      <p:sp>
        <p:nvSpPr>
          <p:cNvPr id="15" name="Subtitle 2"/>
          <p:cNvSpPr>
            <a:spLocks noGrp="1"/>
          </p:cNvSpPr>
          <p:nvPr>
            <p:ph type="subTitle" idx="1"/>
          </p:nvPr>
        </p:nvSpPr>
        <p:spPr>
          <a:xfrm>
            <a:off x="1379621" y="4845371"/>
            <a:ext cx="9144000" cy="552091"/>
          </a:xfrm>
        </p:spPr>
        <p:txBody>
          <a:bodyPr>
            <a:normAutofit/>
          </a:bodyPr>
          <a:lstStyle>
            <a:lvl1pPr marL="0" indent="0" algn="l">
              <a:buFont typeface="Arial" panose="020B0604020202020204" pitchFamily="34" charset="0"/>
              <a:buNone/>
              <a:defRPr sz="2000"/>
            </a:lvl1pPr>
          </a:lstStyle>
          <a:p>
            <a:endParaRPr lang="cs-CZ" dirty="0"/>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7398" y="979178"/>
            <a:ext cx="3853075" cy="1806690"/>
          </a:xfrm>
          <a:prstGeom prst="rect">
            <a:avLst/>
          </a:prstGeom>
        </p:spPr>
      </p:pic>
    </p:spTree>
    <p:extLst>
      <p:ext uri="{BB962C8B-B14F-4D97-AF65-F5344CB8AC3E}">
        <p14:creationId xmlns:p14="http://schemas.microsoft.com/office/powerpoint/2010/main" val="40207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1508236"/>
            <a:ext cx="11277601" cy="466872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cs-CZ"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a:xfrm>
            <a:off x="8991600" y="6356348"/>
            <a:ext cx="2743200" cy="365125"/>
          </a:xfrm>
        </p:spPr>
        <p:txBody>
          <a:bodyPr/>
          <a:lstStyle/>
          <a:p>
            <a:fld id="{07938D2D-74FD-477D-9AD6-67A26AAB47B3}" type="slidenum">
              <a:rPr lang="cs-CZ" smtClean="0"/>
              <a:t>‹#›</a:t>
            </a:fld>
            <a:endParaRPr lang="cs-CZ"/>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01250" y="287186"/>
            <a:ext cx="1827417" cy="776439"/>
          </a:xfrm>
          <a:prstGeom prst="rect">
            <a:avLst/>
          </a:prstGeom>
        </p:spPr>
      </p:pic>
      <p:sp>
        <p:nvSpPr>
          <p:cNvPr id="17" name="Title 16"/>
          <p:cNvSpPr>
            <a:spLocks noGrp="1"/>
          </p:cNvSpPr>
          <p:nvPr>
            <p:ph type="title"/>
          </p:nvPr>
        </p:nvSpPr>
        <p:spPr>
          <a:xfrm>
            <a:off x="457199" y="365125"/>
            <a:ext cx="11277601" cy="612885"/>
          </a:xfrm>
        </p:spPr>
        <p:txBody>
          <a:bodyPr/>
          <a:lstStyle/>
          <a:p>
            <a:r>
              <a:rPr lang="en-US" dirty="0"/>
              <a:t>Click to edit Master title style</a:t>
            </a:r>
            <a:endParaRPr lang="cs-CZ" dirty="0"/>
          </a:p>
        </p:txBody>
      </p:sp>
      <p:sp>
        <p:nvSpPr>
          <p:cNvPr id="20" name="Text Placeholder 19"/>
          <p:cNvSpPr>
            <a:spLocks noGrp="1"/>
          </p:cNvSpPr>
          <p:nvPr>
            <p:ph type="body" sz="quarter" idx="13"/>
          </p:nvPr>
        </p:nvSpPr>
        <p:spPr>
          <a:xfrm>
            <a:off x="457199" y="895350"/>
            <a:ext cx="11277601" cy="336550"/>
          </a:xfrm>
        </p:spPr>
        <p:txBody>
          <a:bodyPr>
            <a:noAutofit/>
          </a:bodyPr>
          <a:lstStyle>
            <a:lvl1pPr marL="0" indent="0" algn="l">
              <a:buFont typeface="Arial" panose="020B0604020202020204" pitchFamily="34" charset="0"/>
              <a:buNone/>
              <a:defRPr sz="2000">
                <a:latin typeface="Calibri" panose="020F0502020204030204" pitchFamily="34" charset="0"/>
                <a:cs typeface="Calibri" panose="020F0502020204030204" pitchFamily="34" charset="0"/>
              </a:defRPr>
            </a:lvl1pPr>
            <a:lvl2pPr marL="457200" indent="0">
              <a:buNone/>
              <a:defRPr/>
            </a:lvl2pPr>
          </a:lstStyle>
          <a:p>
            <a:pPr lvl="0"/>
            <a:r>
              <a:rPr lang="en-US" dirty="0"/>
              <a:t>Edit Master text styles</a:t>
            </a:r>
          </a:p>
        </p:txBody>
      </p:sp>
      <p:cxnSp>
        <p:nvCxnSpPr>
          <p:cNvPr id="4" name="Straight Connector 3"/>
          <p:cNvCxnSpPr/>
          <p:nvPr userDrawn="1"/>
        </p:nvCxnSpPr>
        <p:spPr>
          <a:xfrm>
            <a:off x="457199" y="1353935"/>
            <a:ext cx="11277601" cy="0"/>
          </a:xfrm>
          <a:prstGeom prst="line">
            <a:avLst/>
          </a:prstGeom>
          <a:ln w="28575" cap="flat">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709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7200" y="1520620"/>
            <a:ext cx="5540376" cy="4669045"/>
          </a:xfrm>
        </p:spPr>
        <p:txBody>
          <a:bodyPr>
            <a:normAutofit/>
          </a:bodyPr>
          <a:lstStyle>
            <a:lvl1pPr>
              <a:defRPr sz="1400"/>
            </a:lvl1pPr>
            <a:lvl2pPr>
              <a:defRPr sz="1200"/>
            </a:lvl2pPr>
            <a:lvl3pPr>
              <a:defRPr sz="1100"/>
            </a:lvl3pPr>
            <a:lvl4pPr>
              <a:defRPr sz="1050"/>
            </a:lvl4pPr>
            <a:lvl5pPr>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cs-CZ" dirty="0"/>
          </a:p>
        </p:txBody>
      </p:sp>
      <p:sp>
        <p:nvSpPr>
          <p:cNvPr id="6" name="Content Placeholder 5"/>
          <p:cNvSpPr>
            <a:spLocks noGrp="1"/>
          </p:cNvSpPr>
          <p:nvPr>
            <p:ph sz="quarter" idx="4"/>
          </p:nvPr>
        </p:nvSpPr>
        <p:spPr>
          <a:xfrm>
            <a:off x="6172200" y="1520620"/>
            <a:ext cx="5562600" cy="4669045"/>
          </a:xfrm>
        </p:spPr>
        <p:txBody>
          <a:bodyPr>
            <a:normAutofit/>
          </a:bodyPr>
          <a:lstStyle>
            <a:lvl1pPr>
              <a:defRPr sz="1400"/>
            </a:lvl1pPr>
            <a:lvl2pPr>
              <a:defRPr sz="1200"/>
            </a:lvl2pPr>
            <a:lvl3pPr>
              <a:defRPr sz="1100"/>
            </a:lvl3pPr>
            <a:lvl4pPr>
              <a:defRPr sz="1050"/>
            </a:lvl4pPr>
            <a:lvl5pPr>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cs-CZ" dirty="0"/>
          </a:p>
        </p:txBody>
      </p:sp>
      <p:sp>
        <p:nvSpPr>
          <p:cNvPr id="8" name="Footer Placeholder 7"/>
          <p:cNvSpPr>
            <a:spLocks noGrp="1"/>
          </p:cNvSpPr>
          <p:nvPr>
            <p:ph type="ftr" sz="quarter" idx="11"/>
          </p:nvPr>
        </p:nvSpPr>
        <p:spPr/>
        <p:txBody>
          <a:bodyPr/>
          <a:lstStyle/>
          <a:p>
            <a:endParaRPr lang="cs-CZ"/>
          </a:p>
        </p:txBody>
      </p:sp>
      <p:sp>
        <p:nvSpPr>
          <p:cNvPr id="18" name="Slide Number Placeholder 5"/>
          <p:cNvSpPr>
            <a:spLocks noGrp="1"/>
          </p:cNvSpPr>
          <p:nvPr>
            <p:ph type="sldNum" sz="quarter" idx="12"/>
          </p:nvPr>
        </p:nvSpPr>
        <p:spPr>
          <a:xfrm>
            <a:off x="8991600" y="6356348"/>
            <a:ext cx="2743200" cy="365125"/>
          </a:xfrm>
        </p:spPr>
        <p:txBody>
          <a:bodyPr/>
          <a:lstStyle/>
          <a:p>
            <a:fld id="{07938D2D-74FD-477D-9AD6-67A26AAB47B3}" type="slidenum">
              <a:rPr lang="cs-CZ" smtClean="0"/>
              <a:t>‹#›</a:t>
            </a:fld>
            <a:endParaRPr lang="cs-CZ"/>
          </a:p>
        </p:txBody>
      </p:sp>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01250" y="287186"/>
            <a:ext cx="1827417" cy="776439"/>
          </a:xfrm>
          <a:prstGeom prst="rect">
            <a:avLst/>
          </a:prstGeom>
        </p:spPr>
      </p:pic>
      <p:sp>
        <p:nvSpPr>
          <p:cNvPr id="20" name="Title 16"/>
          <p:cNvSpPr>
            <a:spLocks noGrp="1"/>
          </p:cNvSpPr>
          <p:nvPr>
            <p:ph type="title"/>
          </p:nvPr>
        </p:nvSpPr>
        <p:spPr>
          <a:xfrm>
            <a:off x="457199" y="365125"/>
            <a:ext cx="11277601" cy="865183"/>
          </a:xfrm>
        </p:spPr>
        <p:txBody>
          <a:bodyPr/>
          <a:lstStyle/>
          <a:p>
            <a:r>
              <a:rPr lang="en-US" dirty="0"/>
              <a:t>Click to edit Master title style</a:t>
            </a:r>
            <a:endParaRPr lang="cs-CZ" dirty="0"/>
          </a:p>
        </p:txBody>
      </p:sp>
      <p:cxnSp>
        <p:nvCxnSpPr>
          <p:cNvPr id="24" name="Straight Connector 23"/>
          <p:cNvCxnSpPr/>
          <p:nvPr userDrawn="1"/>
        </p:nvCxnSpPr>
        <p:spPr>
          <a:xfrm>
            <a:off x="457199" y="1353935"/>
            <a:ext cx="11277601" cy="0"/>
          </a:xfrm>
          <a:prstGeom prst="line">
            <a:avLst/>
          </a:prstGeom>
          <a:ln w="28575" cap="flat">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0120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pled 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7200" y="1907561"/>
            <a:ext cx="5540376" cy="4282104"/>
          </a:xfrm>
        </p:spPr>
        <p:txBody>
          <a:bodyPr>
            <a:normAutofit/>
          </a:bodyPr>
          <a:lstStyle>
            <a:lvl1pPr>
              <a:defRPr sz="1400"/>
            </a:lvl1pPr>
            <a:lvl2pPr>
              <a:defRPr sz="1200"/>
            </a:lvl2pPr>
            <a:lvl3pPr>
              <a:defRPr sz="1100"/>
            </a:lvl3pPr>
            <a:lvl4pPr>
              <a:defRPr sz="1050"/>
            </a:lvl4pPr>
            <a:lvl5pPr>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cs-CZ" dirty="0"/>
          </a:p>
        </p:txBody>
      </p:sp>
      <p:sp>
        <p:nvSpPr>
          <p:cNvPr id="6" name="Content Placeholder 5"/>
          <p:cNvSpPr>
            <a:spLocks noGrp="1"/>
          </p:cNvSpPr>
          <p:nvPr>
            <p:ph sz="quarter" idx="4"/>
          </p:nvPr>
        </p:nvSpPr>
        <p:spPr>
          <a:xfrm>
            <a:off x="6172200" y="1907561"/>
            <a:ext cx="5562600" cy="4282104"/>
          </a:xfrm>
        </p:spPr>
        <p:txBody>
          <a:bodyPr>
            <a:normAutofit/>
          </a:bodyPr>
          <a:lstStyle>
            <a:lvl1pPr>
              <a:defRPr sz="1400"/>
            </a:lvl1pPr>
            <a:lvl2pPr>
              <a:defRPr sz="1200"/>
            </a:lvl2pPr>
            <a:lvl3pPr>
              <a:defRPr sz="1100"/>
            </a:lvl3pPr>
            <a:lvl4pPr>
              <a:defRPr sz="1050"/>
            </a:lvl4pPr>
            <a:lvl5pPr>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cs-CZ" dirty="0"/>
          </a:p>
        </p:txBody>
      </p:sp>
      <p:sp>
        <p:nvSpPr>
          <p:cNvPr id="8" name="Footer Placeholder 7"/>
          <p:cNvSpPr>
            <a:spLocks noGrp="1"/>
          </p:cNvSpPr>
          <p:nvPr>
            <p:ph type="ftr" sz="quarter" idx="11"/>
          </p:nvPr>
        </p:nvSpPr>
        <p:spPr/>
        <p:txBody>
          <a:bodyPr/>
          <a:lstStyle/>
          <a:p>
            <a:endParaRPr lang="cs-CZ"/>
          </a:p>
        </p:txBody>
      </p:sp>
      <p:sp>
        <p:nvSpPr>
          <p:cNvPr id="18" name="Slide Number Placeholder 5"/>
          <p:cNvSpPr>
            <a:spLocks noGrp="1"/>
          </p:cNvSpPr>
          <p:nvPr>
            <p:ph type="sldNum" sz="quarter" idx="12"/>
          </p:nvPr>
        </p:nvSpPr>
        <p:spPr>
          <a:xfrm>
            <a:off x="8991600" y="6356348"/>
            <a:ext cx="2743200" cy="365125"/>
          </a:xfrm>
        </p:spPr>
        <p:txBody>
          <a:bodyPr/>
          <a:lstStyle/>
          <a:p>
            <a:fld id="{07938D2D-74FD-477D-9AD6-67A26AAB47B3}" type="slidenum">
              <a:rPr lang="cs-CZ" smtClean="0"/>
              <a:t>‹#›</a:t>
            </a:fld>
            <a:endParaRPr lang="cs-CZ"/>
          </a:p>
        </p:txBody>
      </p:sp>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01250" y="287186"/>
            <a:ext cx="1827417" cy="776439"/>
          </a:xfrm>
          <a:prstGeom prst="rect">
            <a:avLst/>
          </a:prstGeom>
        </p:spPr>
      </p:pic>
      <p:sp>
        <p:nvSpPr>
          <p:cNvPr id="20" name="Title 16"/>
          <p:cNvSpPr>
            <a:spLocks noGrp="1"/>
          </p:cNvSpPr>
          <p:nvPr>
            <p:ph type="title"/>
          </p:nvPr>
        </p:nvSpPr>
        <p:spPr>
          <a:xfrm>
            <a:off x="457199" y="365125"/>
            <a:ext cx="11277601" cy="612885"/>
          </a:xfrm>
        </p:spPr>
        <p:txBody>
          <a:bodyPr/>
          <a:lstStyle/>
          <a:p>
            <a:r>
              <a:rPr lang="en-US" dirty="0"/>
              <a:t>Click to edit Master title style</a:t>
            </a:r>
            <a:endParaRPr lang="cs-CZ" dirty="0"/>
          </a:p>
        </p:txBody>
      </p:sp>
      <p:sp>
        <p:nvSpPr>
          <p:cNvPr id="21" name="Text Placeholder 19"/>
          <p:cNvSpPr>
            <a:spLocks noGrp="1"/>
          </p:cNvSpPr>
          <p:nvPr>
            <p:ph type="body" sz="quarter" idx="13"/>
          </p:nvPr>
        </p:nvSpPr>
        <p:spPr>
          <a:xfrm>
            <a:off x="457199" y="895350"/>
            <a:ext cx="11277601" cy="336550"/>
          </a:xfrm>
        </p:spPr>
        <p:txBody>
          <a:bodyPr>
            <a:noAutofit/>
          </a:bodyPr>
          <a:lstStyle>
            <a:lvl1pPr marL="0" indent="0" algn="l">
              <a:buFont typeface="Arial" panose="020B0604020202020204" pitchFamily="34" charset="0"/>
              <a:buNone/>
              <a:defRPr sz="2000">
                <a:latin typeface="Calibri" panose="020F0502020204030204" pitchFamily="34" charset="0"/>
                <a:cs typeface="Calibri" panose="020F0502020204030204" pitchFamily="34" charset="0"/>
              </a:defRPr>
            </a:lvl1pPr>
            <a:lvl2pPr marL="457200" indent="0">
              <a:buNone/>
              <a:defRPr/>
            </a:lvl2pPr>
          </a:lstStyle>
          <a:p>
            <a:pPr lvl="0"/>
            <a:r>
              <a:rPr lang="en-US" dirty="0"/>
              <a:t>Edit Master text styles</a:t>
            </a:r>
          </a:p>
        </p:txBody>
      </p:sp>
      <p:sp>
        <p:nvSpPr>
          <p:cNvPr id="5" name="Text Placeholder 4"/>
          <p:cNvSpPr>
            <a:spLocks noGrp="1"/>
          </p:cNvSpPr>
          <p:nvPr>
            <p:ph type="body" sz="quarter" idx="14"/>
          </p:nvPr>
        </p:nvSpPr>
        <p:spPr>
          <a:xfrm>
            <a:off x="457199" y="1482116"/>
            <a:ext cx="5598433" cy="335369"/>
          </a:xfrm>
          <a:solidFill>
            <a:schemeClr val="accent3"/>
          </a:solidFill>
        </p:spPr>
        <p:txBody>
          <a:bodyPr anchor="ctr">
            <a:noAutofit/>
          </a:bodyPr>
          <a:lstStyle>
            <a:lvl1pPr marL="0" indent="0">
              <a:buFont typeface="Arial" panose="020B0604020202020204" pitchFamily="34" charset="0"/>
              <a:buNone/>
              <a:defRPr sz="1800" b="0" i="0">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dirty="0"/>
              <a:t>Edit Master text styles</a:t>
            </a:r>
          </a:p>
        </p:txBody>
      </p:sp>
      <p:sp>
        <p:nvSpPr>
          <p:cNvPr id="16" name="Text Placeholder 4"/>
          <p:cNvSpPr>
            <a:spLocks noGrp="1"/>
          </p:cNvSpPr>
          <p:nvPr>
            <p:ph type="body" sz="quarter" idx="16"/>
          </p:nvPr>
        </p:nvSpPr>
        <p:spPr>
          <a:xfrm>
            <a:off x="6194423" y="1488850"/>
            <a:ext cx="5540377" cy="335369"/>
          </a:xfrm>
          <a:solidFill>
            <a:schemeClr val="accent3"/>
          </a:solidFill>
        </p:spPr>
        <p:txBody>
          <a:bodyPr anchor="ctr">
            <a:noAutofit/>
          </a:bodyPr>
          <a:lstStyle>
            <a:lvl1pPr marL="0" indent="0">
              <a:buFont typeface="Arial" panose="020B0604020202020204" pitchFamily="34" charset="0"/>
              <a:buNone/>
              <a:defRPr sz="1800" b="0" i="0">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dirty="0"/>
              <a:t>Edit Master text styles</a:t>
            </a:r>
          </a:p>
        </p:txBody>
      </p:sp>
      <p:cxnSp>
        <p:nvCxnSpPr>
          <p:cNvPr id="23" name="Straight Connector 22"/>
          <p:cNvCxnSpPr/>
          <p:nvPr userDrawn="1"/>
        </p:nvCxnSpPr>
        <p:spPr>
          <a:xfrm>
            <a:off x="457199" y="1353935"/>
            <a:ext cx="11277601" cy="0"/>
          </a:xfrm>
          <a:prstGeom prst="line">
            <a:avLst/>
          </a:prstGeom>
          <a:ln w="28575" cap="flat">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9951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cs-CZ"/>
          </a:p>
        </p:txBody>
      </p:sp>
      <p:sp>
        <p:nvSpPr>
          <p:cNvPr id="18" name="Slide Number Placeholder 5"/>
          <p:cNvSpPr>
            <a:spLocks noGrp="1"/>
          </p:cNvSpPr>
          <p:nvPr>
            <p:ph type="sldNum" sz="quarter" idx="12"/>
          </p:nvPr>
        </p:nvSpPr>
        <p:spPr>
          <a:xfrm>
            <a:off x="8991600" y="6356348"/>
            <a:ext cx="2743200" cy="365125"/>
          </a:xfrm>
        </p:spPr>
        <p:txBody>
          <a:bodyPr/>
          <a:lstStyle/>
          <a:p>
            <a:fld id="{07938D2D-74FD-477D-9AD6-67A26AAB47B3}" type="slidenum">
              <a:rPr lang="cs-CZ" smtClean="0"/>
              <a:t>‹#›</a:t>
            </a:fld>
            <a:endParaRPr lang="cs-CZ"/>
          </a:p>
        </p:txBody>
      </p:sp>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01250" y="287186"/>
            <a:ext cx="1827417" cy="776439"/>
          </a:xfrm>
          <a:prstGeom prst="rect">
            <a:avLst/>
          </a:prstGeom>
        </p:spPr>
      </p:pic>
      <p:sp>
        <p:nvSpPr>
          <p:cNvPr id="20" name="Title 16"/>
          <p:cNvSpPr>
            <a:spLocks noGrp="1"/>
          </p:cNvSpPr>
          <p:nvPr>
            <p:ph type="title"/>
          </p:nvPr>
        </p:nvSpPr>
        <p:spPr>
          <a:xfrm>
            <a:off x="457199" y="365125"/>
            <a:ext cx="11277601" cy="612885"/>
          </a:xfrm>
        </p:spPr>
        <p:txBody>
          <a:bodyPr/>
          <a:lstStyle/>
          <a:p>
            <a:r>
              <a:rPr lang="en-US" dirty="0"/>
              <a:t>Click to edit Master title style</a:t>
            </a:r>
            <a:endParaRPr lang="cs-CZ" dirty="0"/>
          </a:p>
        </p:txBody>
      </p:sp>
      <p:sp>
        <p:nvSpPr>
          <p:cNvPr id="21" name="Text Placeholder 19"/>
          <p:cNvSpPr>
            <a:spLocks noGrp="1"/>
          </p:cNvSpPr>
          <p:nvPr>
            <p:ph type="body" sz="quarter" idx="13"/>
          </p:nvPr>
        </p:nvSpPr>
        <p:spPr>
          <a:xfrm>
            <a:off x="457199" y="895350"/>
            <a:ext cx="11277601" cy="336550"/>
          </a:xfrm>
        </p:spPr>
        <p:txBody>
          <a:bodyPr>
            <a:noAutofit/>
          </a:bodyPr>
          <a:lstStyle>
            <a:lvl1pPr marL="0" indent="0" algn="l">
              <a:buFont typeface="Arial" panose="020B0604020202020204" pitchFamily="34" charset="0"/>
              <a:buNone/>
              <a:defRPr sz="2000">
                <a:latin typeface="Calibri" panose="020F0502020204030204" pitchFamily="34" charset="0"/>
                <a:cs typeface="Calibri" panose="020F0502020204030204" pitchFamily="34" charset="0"/>
              </a:defRPr>
            </a:lvl1pPr>
            <a:lvl2pPr marL="457200" indent="0">
              <a:buNone/>
              <a:defRPr/>
            </a:lvl2pPr>
          </a:lstStyle>
          <a:p>
            <a:pPr lvl="0"/>
            <a:r>
              <a:rPr lang="en-US" dirty="0"/>
              <a:t>Edit Master text styles</a:t>
            </a:r>
          </a:p>
        </p:txBody>
      </p:sp>
      <p:cxnSp>
        <p:nvCxnSpPr>
          <p:cNvPr id="24" name="Straight Connector 23"/>
          <p:cNvCxnSpPr/>
          <p:nvPr userDrawn="1"/>
        </p:nvCxnSpPr>
        <p:spPr>
          <a:xfrm>
            <a:off x="457199" y="1353935"/>
            <a:ext cx="11277601" cy="0"/>
          </a:xfrm>
          <a:prstGeom prst="line">
            <a:avLst/>
          </a:prstGeom>
          <a:ln w="28575" cap="flat">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6884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983162" y="1496988"/>
            <a:ext cx="6751637" cy="4371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Text Placeholder 3"/>
          <p:cNvSpPr>
            <a:spLocks noGrp="1"/>
          </p:cNvSpPr>
          <p:nvPr>
            <p:ph type="body" sz="half" idx="2"/>
          </p:nvPr>
        </p:nvSpPr>
        <p:spPr>
          <a:xfrm>
            <a:off x="457200" y="1508236"/>
            <a:ext cx="4314826" cy="4360752"/>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6" name="Footer Placeholder 5"/>
          <p:cNvSpPr>
            <a:spLocks noGrp="1"/>
          </p:cNvSpPr>
          <p:nvPr>
            <p:ph type="ftr" sz="quarter" idx="11"/>
          </p:nvPr>
        </p:nvSpPr>
        <p:spPr/>
        <p:txBody>
          <a:bodyPr/>
          <a:lstStyle/>
          <a:p>
            <a:endParaRPr lang="cs-CZ"/>
          </a:p>
        </p:txBody>
      </p:sp>
      <p:sp>
        <p:nvSpPr>
          <p:cNvPr id="14" name="Slide Number Placeholder 5"/>
          <p:cNvSpPr>
            <a:spLocks noGrp="1"/>
          </p:cNvSpPr>
          <p:nvPr>
            <p:ph type="sldNum" sz="quarter" idx="12"/>
          </p:nvPr>
        </p:nvSpPr>
        <p:spPr>
          <a:xfrm>
            <a:off x="8991600" y="6356348"/>
            <a:ext cx="2743200" cy="365125"/>
          </a:xfrm>
        </p:spPr>
        <p:txBody>
          <a:bodyPr/>
          <a:lstStyle/>
          <a:p>
            <a:fld id="{07938D2D-74FD-477D-9AD6-67A26AAB47B3}" type="slidenum">
              <a:rPr lang="cs-CZ" smtClean="0"/>
              <a:t>‹#›</a:t>
            </a:fld>
            <a:endParaRPr lang="cs-CZ"/>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01250" y="287186"/>
            <a:ext cx="1827417" cy="776439"/>
          </a:xfrm>
          <a:prstGeom prst="rect">
            <a:avLst/>
          </a:prstGeom>
        </p:spPr>
      </p:pic>
      <p:sp>
        <p:nvSpPr>
          <p:cNvPr id="16" name="Title 16"/>
          <p:cNvSpPr>
            <a:spLocks noGrp="1"/>
          </p:cNvSpPr>
          <p:nvPr>
            <p:ph type="title"/>
          </p:nvPr>
        </p:nvSpPr>
        <p:spPr>
          <a:xfrm>
            <a:off x="457199" y="365125"/>
            <a:ext cx="11277601" cy="612885"/>
          </a:xfrm>
        </p:spPr>
        <p:txBody>
          <a:bodyPr/>
          <a:lstStyle/>
          <a:p>
            <a:r>
              <a:rPr lang="en-US" dirty="0"/>
              <a:t>Click to edit Master title style</a:t>
            </a:r>
            <a:endParaRPr lang="cs-CZ" dirty="0"/>
          </a:p>
        </p:txBody>
      </p:sp>
      <p:sp>
        <p:nvSpPr>
          <p:cNvPr id="17" name="Text Placeholder 19"/>
          <p:cNvSpPr>
            <a:spLocks noGrp="1"/>
          </p:cNvSpPr>
          <p:nvPr>
            <p:ph type="body" sz="quarter" idx="13"/>
          </p:nvPr>
        </p:nvSpPr>
        <p:spPr>
          <a:xfrm>
            <a:off x="457199" y="895350"/>
            <a:ext cx="11277601" cy="336550"/>
          </a:xfrm>
        </p:spPr>
        <p:txBody>
          <a:bodyPr>
            <a:noAutofit/>
          </a:bodyPr>
          <a:lstStyle>
            <a:lvl1pPr marL="0" indent="0" algn="l">
              <a:buFont typeface="Arial" panose="020B0604020202020204" pitchFamily="34" charset="0"/>
              <a:buNone/>
              <a:defRPr sz="2000">
                <a:latin typeface="Calibri" panose="020F0502020204030204" pitchFamily="34" charset="0"/>
                <a:cs typeface="Calibri" panose="020F0502020204030204" pitchFamily="34" charset="0"/>
              </a:defRPr>
            </a:lvl1pPr>
            <a:lvl2pPr marL="457200" indent="0">
              <a:buNone/>
              <a:defRPr/>
            </a:lvl2pPr>
          </a:lstStyle>
          <a:p>
            <a:pPr lvl="0"/>
            <a:r>
              <a:rPr lang="en-US" dirty="0"/>
              <a:t>Edit Master text styles</a:t>
            </a:r>
          </a:p>
        </p:txBody>
      </p:sp>
      <p:cxnSp>
        <p:nvCxnSpPr>
          <p:cNvPr id="20" name="Straight Connector 19"/>
          <p:cNvCxnSpPr/>
          <p:nvPr userDrawn="1"/>
        </p:nvCxnSpPr>
        <p:spPr>
          <a:xfrm>
            <a:off x="457199" y="1353935"/>
            <a:ext cx="11277601" cy="0"/>
          </a:xfrm>
          <a:prstGeom prst="line">
            <a:avLst/>
          </a:prstGeom>
          <a:ln w="28575" cap="flat">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4655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mpty_no lin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cs-CZ"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01250" y="287186"/>
            <a:ext cx="1827417" cy="776439"/>
          </a:xfrm>
          <a:prstGeom prst="rect">
            <a:avLst/>
          </a:prstGeom>
        </p:spPr>
      </p:pic>
      <p:sp>
        <p:nvSpPr>
          <p:cNvPr id="8" name="Title 16"/>
          <p:cNvSpPr>
            <a:spLocks noGrp="1"/>
          </p:cNvSpPr>
          <p:nvPr>
            <p:ph type="title"/>
          </p:nvPr>
        </p:nvSpPr>
        <p:spPr>
          <a:xfrm>
            <a:off x="457199" y="365125"/>
            <a:ext cx="11277601" cy="612885"/>
          </a:xfrm>
        </p:spPr>
        <p:txBody>
          <a:bodyPr/>
          <a:lstStyle/>
          <a:p>
            <a:r>
              <a:rPr lang="en-US" dirty="0"/>
              <a:t>Click to edit Master title style</a:t>
            </a:r>
            <a:endParaRPr lang="cs-CZ" dirty="0"/>
          </a:p>
        </p:txBody>
      </p:sp>
      <p:sp>
        <p:nvSpPr>
          <p:cNvPr id="9" name="Text Placeholder 19"/>
          <p:cNvSpPr>
            <a:spLocks noGrp="1"/>
          </p:cNvSpPr>
          <p:nvPr>
            <p:ph type="body" sz="quarter" idx="13"/>
          </p:nvPr>
        </p:nvSpPr>
        <p:spPr>
          <a:xfrm>
            <a:off x="457199" y="895350"/>
            <a:ext cx="11277601" cy="336550"/>
          </a:xfrm>
        </p:spPr>
        <p:txBody>
          <a:bodyPr>
            <a:noAutofit/>
          </a:bodyPr>
          <a:lstStyle>
            <a:lvl1pPr marL="0" indent="0" algn="l">
              <a:buFont typeface="Arial" panose="020B0604020202020204" pitchFamily="34" charset="0"/>
              <a:buNone/>
              <a:defRPr sz="2000">
                <a:latin typeface="Calibri" panose="020F0502020204030204" pitchFamily="34" charset="0"/>
                <a:cs typeface="Calibri" panose="020F0502020204030204" pitchFamily="34" charset="0"/>
              </a:defRPr>
            </a:lvl1pPr>
            <a:lvl2pPr marL="457200" indent="0">
              <a:buNone/>
              <a:defRPr/>
            </a:lvl2pPr>
          </a:lstStyle>
          <a:p>
            <a:pPr lvl="0"/>
            <a:r>
              <a:rPr lang="en-US" dirty="0"/>
              <a:t>Edit Master text styles</a:t>
            </a:r>
          </a:p>
        </p:txBody>
      </p:sp>
      <p:sp>
        <p:nvSpPr>
          <p:cNvPr id="11" name="Slide Number Placeholder 5"/>
          <p:cNvSpPr>
            <a:spLocks noGrp="1"/>
          </p:cNvSpPr>
          <p:nvPr>
            <p:ph type="sldNum" sz="quarter" idx="12"/>
          </p:nvPr>
        </p:nvSpPr>
        <p:spPr>
          <a:xfrm>
            <a:off x="8991600" y="6356348"/>
            <a:ext cx="2743200" cy="365125"/>
          </a:xfrm>
        </p:spPr>
        <p:txBody>
          <a:bodyPr/>
          <a:lstStyle/>
          <a:p>
            <a:fld id="{07938D2D-74FD-477D-9AD6-67A26AAB47B3}" type="slidenum">
              <a:rPr lang="cs-CZ" smtClean="0"/>
              <a:t>‹#›</a:t>
            </a:fld>
            <a:endParaRPr lang="cs-CZ"/>
          </a:p>
        </p:txBody>
      </p:sp>
    </p:spTree>
    <p:extLst>
      <p:ext uri="{BB962C8B-B14F-4D97-AF65-F5344CB8AC3E}">
        <p14:creationId xmlns:p14="http://schemas.microsoft.com/office/powerpoint/2010/main" val="34395595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Empty_no lin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cs-CZ"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01250" y="287186"/>
            <a:ext cx="1827417" cy="776439"/>
          </a:xfrm>
          <a:prstGeom prst="rect">
            <a:avLst/>
          </a:prstGeom>
        </p:spPr>
      </p:pic>
      <p:sp>
        <p:nvSpPr>
          <p:cNvPr id="11" name="Slide Number Placeholder 5"/>
          <p:cNvSpPr>
            <a:spLocks noGrp="1"/>
          </p:cNvSpPr>
          <p:nvPr>
            <p:ph type="sldNum" sz="quarter" idx="12"/>
          </p:nvPr>
        </p:nvSpPr>
        <p:spPr>
          <a:xfrm>
            <a:off x="8991600" y="6356348"/>
            <a:ext cx="2743200" cy="365125"/>
          </a:xfrm>
        </p:spPr>
        <p:txBody>
          <a:bodyPr/>
          <a:lstStyle/>
          <a:p>
            <a:fld id="{07938D2D-74FD-477D-9AD6-67A26AAB47B3}" type="slidenum">
              <a:rPr lang="cs-CZ" smtClean="0"/>
              <a:t>‹#›</a:t>
            </a:fld>
            <a:endParaRPr lang="cs-CZ"/>
          </a:p>
        </p:txBody>
      </p:sp>
      <p:grpSp>
        <p:nvGrpSpPr>
          <p:cNvPr id="2" name="Group 1">
            <a:extLst>
              <a:ext uri="{FF2B5EF4-FFF2-40B4-BE49-F238E27FC236}">
                <a16:creationId xmlns:a16="http://schemas.microsoft.com/office/drawing/2014/main" id="{E9A1A4DA-38AB-CDFE-4B98-89F74AAE35A8}"/>
              </a:ext>
            </a:extLst>
          </p:cNvPr>
          <p:cNvGrpSpPr/>
          <p:nvPr userDrawn="1"/>
        </p:nvGrpSpPr>
        <p:grpSpPr>
          <a:xfrm>
            <a:off x="542825" y="744290"/>
            <a:ext cx="11106350" cy="5511943"/>
            <a:chOff x="628450" y="737615"/>
            <a:chExt cx="11106350" cy="5511943"/>
          </a:xfrm>
        </p:grpSpPr>
        <p:graphicFrame>
          <p:nvGraphicFramePr>
            <p:cNvPr id="4" name="Chart 3">
              <a:extLst>
                <a:ext uri="{FF2B5EF4-FFF2-40B4-BE49-F238E27FC236}">
                  <a16:creationId xmlns:a16="http://schemas.microsoft.com/office/drawing/2014/main" id="{494616CF-03FF-11F6-C357-70A99987513B}"/>
                </a:ext>
              </a:extLst>
            </p:cNvPr>
            <p:cNvGraphicFramePr/>
            <p:nvPr>
              <p:extLst>
                <p:ext uri="{D42A27DB-BD31-4B8C-83A1-F6EECF244321}">
                  <p14:modId xmlns:p14="http://schemas.microsoft.com/office/powerpoint/2010/main" val="2986694824"/>
                </p:ext>
              </p:extLst>
            </p:nvPr>
          </p:nvGraphicFramePr>
          <p:xfrm>
            <a:off x="628450" y="737615"/>
            <a:ext cx="11106350" cy="5372946"/>
          </p:xfrm>
          <a:graphic>
            <a:graphicData uri="http://schemas.openxmlformats.org/drawingml/2006/chart">
              <c:chart xmlns:c="http://schemas.openxmlformats.org/drawingml/2006/chart" xmlns:r="http://schemas.openxmlformats.org/officeDocument/2006/relationships" r:id="rId3"/>
            </a:graphicData>
          </a:graphic>
        </p:graphicFrame>
        <p:grpSp>
          <p:nvGrpSpPr>
            <p:cNvPr id="5" name="Group 4">
              <a:extLst>
                <a:ext uri="{FF2B5EF4-FFF2-40B4-BE49-F238E27FC236}">
                  <a16:creationId xmlns:a16="http://schemas.microsoft.com/office/drawing/2014/main" id="{5E526895-F9CB-3A86-BB77-52D510488A64}"/>
                </a:ext>
              </a:extLst>
            </p:cNvPr>
            <p:cNvGrpSpPr/>
            <p:nvPr/>
          </p:nvGrpSpPr>
          <p:grpSpPr>
            <a:xfrm>
              <a:off x="655146" y="6107054"/>
              <a:ext cx="10935100" cy="142504"/>
              <a:chOff x="497247" y="5776608"/>
              <a:chExt cx="10935100" cy="142504"/>
            </a:xfrm>
          </p:grpSpPr>
          <p:sp>
            <p:nvSpPr>
              <p:cNvPr id="6" name="Rectangle 5">
                <a:extLst>
                  <a:ext uri="{FF2B5EF4-FFF2-40B4-BE49-F238E27FC236}">
                    <a16:creationId xmlns:a16="http://schemas.microsoft.com/office/drawing/2014/main" id="{A19BDD63-A3DF-7AC5-674B-EAD57AE3D4BD}"/>
                  </a:ext>
                </a:extLst>
              </p:cNvPr>
              <p:cNvSpPr/>
              <p:nvPr/>
            </p:nvSpPr>
            <p:spPr>
              <a:xfrm>
                <a:off x="497247" y="5776608"/>
                <a:ext cx="2187020" cy="142504"/>
              </a:xfrm>
              <a:prstGeom prst="rect">
                <a:avLst/>
              </a:prstGeom>
              <a:gradFill flip="none" rotWithShape="1">
                <a:gsLst>
                  <a:gs pos="0">
                    <a:schemeClr val="accent6"/>
                  </a:gs>
                  <a:gs pos="50000">
                    <a:schemeClr val="accent6"/>
                  </a:gs>
                  <a:gs pos="100000">
                    <a:schemeClr val="accent6">
                      <a:alpha val="9000"/>
                    </a:schemeClr>
                  </a:gs>
                </a:gsLst>
                <a:lin ang="108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cs-CZ" sz="900" dirty="0">
                    <a:latin typeface="+mj-lt"/>
                  </a:rPr>
                  <a:t>2018</a:t>
                </a:r>
              </a:p>
            </p:txBody>
          </p:sp>
          <p:sp>
            <p:nvSpPr>
              <p:cNvPr id="10" name="Rectangle 9">
                <a:extLst>
                  <a:ext uri="{FF2B5EF4-FFF2-40B4-BE49-F238E27FC236}">
                    <a16:creationId xmlns:a16="http://schemas.microsoft.com/office/drawing/2014/main" id="{7E1A3D4D-30BA-85C9-9B8F-394A63E112DB}"/>
                  </a:ext>
                </a:extLst>
              </p:cNvPr>
              <p:cNvSpPr/>
              <p:nvPr/>
            </p:nvSpPr>
            <p:spPr>
              <a:xfrm>
                <a:off x="2684267" y="5776608"/>
                <a:ext cx="2187020" cy="142504"/>
              </a:xfrm>
              <a:prstGeom prst="rect">
                <a:avLst/>
              </a:prstGeom>
              <a:gradFill flip="none" rotWithShape="1">
                <a:gsLst>
                  <a:gs pos="0">
                    <a:schemeClr val="accent6"/>
                  </a:gs>
                  <a:gs pos="50000">
                    <a:schemeClr val="accent6"/>
                  </a:gs>
                  <a:gs pos="100000">
                    <a:schemeClr val="accent6">
                      <a:alpha val="9000"/>
                    </a:schemeClr>
                  </a:gs>
                </a:gsLst>
                <a:lin ang="108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cs-CZ" sz="900" dirty="0">
                    <a:latin typeface="+mj-lt"/>
                  </a:rPr>
                  <a:t>2019</a:t>
                </a:r>
              </a:p>
            </p:txBody>
          </p:sp>
          <p:sp>
            <p:nvSpPr>
              <p:cNvPr id="12" name="Rectangle 11">
                <a:extLst>
                  <a:ext uri="{FF2B5EF4-FFF2-40B4-BE49-F238E27FC236}">
                    <a16:creationId xmlns:a16="http://schemas.microsoft.com/office/drawing/2014/main" id="{FBCF208F-6B6F-AA13-5235-DC398E8B05D2}"/>
                  </a:ext>
                </a:extLst>
              </p:cNvPr>
              <p:cNvSpPr/>
              <p:nvPr/>
            </p:nvSpPr>
            <p:spPr>
              <a:xfrm>
                <a:off x="4871287" y="5776608"/>
                <a:ext cx="2187020" cy="142504"/>
              </a:xfrm>
              <a:prstGeom prst="rect">
                <a:avLst/>
              </a:prstGeom>
              <a:gradFill flip="none" rotWithShape="1">
                <a:gsLst>
                  <a:gs pos="0">
                    <a:schemeClr val="accent6"/>
                  </a:gs>
                  <a:gs pos="50000">
                    <a:schemeClr val="accent6"/>
                  </a:gs>
                  <a:gs pos="100000">
                    <a:schemeClr val="accent6">
                      <a:alpha val="9000"/>
                    </a:schemeClr>
                  </a:gs>
                </a:gsLst>
                <a:lin ang="108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cs-CZ" sz="900" dirty="0">
                    <a:latin typeface="+mj-lt"/>
                  </a:rPr>
                  <a:t>2020</a:t>
                </a:r>
              </a:p>
            </p:txBody>
          </p:sp>
          <p:sp>
            <p:nvSpPr>
              <p:cNvPr id="13" name="Rectangle 12">
                <a:extLst>
                  <a:ext uri="{FF2B5EF4-FFF2-40B4-BE49-F238E27FC236}">
                    <a16:creationId xmlns:a16="http://schemas.microsoft.com/office/drawing/2014/main" id="{77E289AE-FA98-EBB4-4E32-5710401200F6}"/>
                  </a:ext>
                </a:extLst>
              </p:cNvPr>
              <p:cNvSpPr/>
              <p:nvPr/>
            </p:nvSpPr>
            <p:spPr>
              <a:xfrm>
                <a:off x="7058307" y="5776608"/>
                <a:ext cx="2187020" cy="142504"/>
              </a:xfrm>
              <a:prstGeom prst="rect">
                <a:avLst/>
              </a:prstGeom>
              <a:gradFill flip="none" rotWithShape="1">
                <a:gsLst>
                  <a:gs pos="0">
                    <a:schemeClr val="accent6"/>
                  </a:gs>
                  <a:gs pos="50000">
                    <a:schemeClr val="accent6"/>
                  </a:gs>
                  <a:gs pos="100000">
                    <a:schemeClr val="accent6">
                      <a:alpha val="9000"/>
                    </a:schemeClr>
                  </a:gs>
                </a:gsLst>
                <a:lin ang="108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cs-CZ" sz="900" dirty="0">
                    <a:latin typeface="+mj-lt"/>
                  </a:rPr>
                  <a:t>2021</a:t>
                </a:r>
              </a:p>
            </p:txBody>
          </p:sp>
          <p:sp>
            <p:nvSpPr>
              <p:cNvPr id="14" name="Rectangle 13">
                <a:extLst>
                  <a:ext uri="{FF2B5EF4-FFF2-40B4-BE49-F238E27FC236}">
                    <a16:creationId xmlns:a16="http://schemas.microsoft.com/office/drawing/2014/main" id="{D5DBF94E-8552-1AA3-DBE0-71B5AD6D8E6F}"/>
                  </a:ext>
                </a:extLst>
              </p:cNvPr>
              <p:cNvSpPr/>
              <p:nvPr/>
            </p:nvSpPr>
            <p:spPr>
              <a:xfrm>
                <a:off x="9245327" y="5776608"/>
                <a:ext cx="2187020" cy="142504"/>
              </a:xfrm>
              <a:prstGeom prst="rect">
                <a:avLst/>
              </a:prstGeom>
              <a:gradFill flip="none" rotWithShape="1">
                <a:gsLst>
                  <a:gs pos="0">
                    <a:schemeClr val="accent6"/>
                  </a:gs>
                  <a:gs pos="50000">
                    <a:schemeClr val="accent6"/>
                  </a:gs>
                  <a:gs pos="100000">
                    <a:schemeClr val="accent6">
                      <a:alpha val="9000"/>
                    </a:schemeClr>
                  </a:gs>
                </a:gsLst>
                <a:lin ang="108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cs-CZ" sz="900" dirty="0">
                    <a:latin typeface="+mj-lt"/>
                  </a:rPr>
                  <a:t>2022</a:t>
                </a:r>
              </a:p>
            </p:txBody>
          </p:sp>
        </p:grpSp>
      </p:grpSp>
      <p:cxnSp>
        <p:nvCxnSpPr>
          <p:cNvPr id="15" name="Straight Connector 14">
            <a:extLst>
              <a:ext uri="{FF2B5EF4-FFF2-40B4-BE49-F238E27FC236}">
                <a16:creationId xmlns:a16="http://schemas.microsoft.com/office/drawing/2014/main" id="{63C17B9F-17FF-B339-10F7-3E2EDA871F8C}"/>
              </a:ext>
            </a:extLst>
          </p:cNvPr>
          <p:cNvCxnSpPr/>
          <p:nvPr userDrawn="1"/>
        </p:nvCxnSpPr>
        <p:spPr>
          <a:xfrm>
            <a:off x="457199" y="1353935"/>
            <a:ext cx="11277601" cy="0"/>
          </a:xfrm>
          <a:prstGeom prst="line">
            <a:avLst/>
          </a:prstGeom>
          <a:ln w="28575" cap="flat">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6">
            <a:extLst>
              <a:ext uri="{FF2B5EF4-FFF2-40B4-BE49-F238E27FC236}">
                <a16:creationId xmlns:a16="http://schemas.microsoft.com/office/drawing/2014/main" id="{A80DD94E-6104-79BB-98C6-825827E64798}"/>
              </a:ext>
            </a:extLst>
          </p:cNvPr>
          <p:cNvSpPr>
            <a:spLocks noGrp="1"/>
          </p:cNvSpPr>
          <p:nvPr>
            <p:ph type="title"/>
          </p:nvPr>
        </p:nvSpPr>
        <p:spPr>
          <a:xfrm>
            <a:off x="457199" y="365125"/>
            <a:ext cx="11277601" cy="865183"/>
          </a:xfrm>
        </p:spPr>
        <p:txBody>
          <a:bodyPr/>
          <a:lstStyle/>
          <a:p>
            <a:r>
              <a:rPr lang="en-US" dirty="0"/>
              <a:t>Click to edit Master title style</a:t>
            </a:r>
            <a:endParaRPr lang="cs-CZ" dirty="0"/>
          </a:p>
        </p:txBody>
      </p:sp>
    </p:spTree>
    <p:extLst>
      <p:ext uri="{BB962C8B-B14F-4D97-AF65-F5344CB8AC3E}">
        <p14:creationId xmlns:p14="http://schemas.microsoft.com/office/powerpoint/2010/main" val="15582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2.png"/><Relationship Id="rId4" Type="http://schemas.openxmlformats.org/officeDocument/2006/relationships/slideLayout" Target="../slideLayouts/slideLayout1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4A92AE27-BB12-4CBF-1F87-A482F82175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text 2">
            <a:extLst>
              <a:ext uri="{FF2B5EF4-FFF2-40B4-BE49-F238E27FC236}">
                <a16:creationId xmlns:a16="http://schemas.microsoft.com/office/drawing/2014/main" id="{C2BF0487-08F3-AE57-B145-9AF49D7A9A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26B33783-9519-33B6-7D3B-83C109554F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4A1083-9BF2-4D86-8E43-CB3D014EE90B}" type="datetimeFigureOut">
              <a:rPr lang="cs-CZ" smtClean="0"/>
              <a:t>29.10.2026</a:t>
            </a:fld>
            <a:endParaRPr lang="cs-CZ"/>
          </a:p>
        </p:txBody>
      </p:sp>
      <p:sp>
        <p:nvSpPr>
          <p:cNvPr id="5" name="Zástupný symbol pro zápatí 4">
            <a:extLst>
              <a:ext uri="{FF2B5EF4-FFF2-40B4-BE49-F238E27FC236}">
                <a16:creationId xmlns:a16="http://schemas.microsoft.com/office/drawing/2014/main" id="{77C8D392-AF29-7A8F-115D-7FD313A3B9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cs-CZ"/>
          </a:p>
        </p:txBody>
      </p:sp>
      <p:sp>
        <p:nvSpPr>
          <p:cNvPr id="6" name="Zástupný symbol pro číslo snímku 5">
            <a:extLst>
              <a:ext uri="{FF2B5EF4-FFF2-40B4-BE49-F238E27FC236}">
                <a16:creationId xmlns:a16="http://schemas.microsoft.com/office/drawing/2014/main" id="{27BDB3AF-6568-672E-2E7B-CF2E48AAE9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65F324-AD0F-45BE-A898-5C1E9D1E6821}" type="slidenum">
              <a:rPr lang="cs-CZ" smtClean="0"/>
              <a:t>‹#›</a:t>
            </a:fld>
            <a:endParaRPr lang="cs-CZ"/>
          </a:p>
        </p:txBody>
      </p:sp>
    </p:spTree>
    <p:extLst>
      <p:ext uri="{BB962C8B-B14F-4D97-AF65-F5344CB8AC3E}">
        <p14:creationId xmlns:p14="http://schemas.microsoft.com/office/powerpoint/2010/main" val="2282907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612885"/>
          </a:xfrm>
          <a:prstGeom prst="rect">
            <a:avLst/>
          </a:prstGeom>
        </p:spPr>
        <p:txBody>
          <a:bodyPr vert="horz" lIns="91440" tIns="45720" rIns="91440" bIns="45720" rtlCol="0" anchor="ctr">
            <a:normAutofit/>
          </a:bodyPr>
          <a:lstStyle/>
          <a:p>
            <a:r>
              <a:rPr lang="en-US" dirty="0"/>
              <a:t>Click to edit Master title style</a:t>
            </a:r>
            <a:endParaRPr lang="cs-CZ" dirty="0"/>
          </a:p>
        </p:txBody>
      </p:sp>
      <p:sp>
        <p:nvSpPr>
          <p:cNvPr id="3" name="Text Placeholder 2"/>
          <p:cNvSpPr>
            <a:spLocks noGrp="1"/>
          </p:cNvSpPr>
          <p:nvPr>
            <p:ph type="body" idx="1"/>
          </p:nvPr>
        </p:nvSpPr>
        <p:spPr>
          <a:xfrm>
            <a:off x="476249" y="1449238"/>
            <a:ext cx="10877551" cy="472772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cs-CZ" dirty="0"/>
          </a:p>
        </p:txBody>
      </p:sp>
      <p:sp>
        <p:nvSpPr>
          <p:cNvPr id="5" name="Footer Placeholder 4"/>
          <p:cNvSpPr>
            <a:spLocks noGrp="1"/>
          </p:cNvSpPr>
          <p:nvPr>
            <p:ph type="ftr" sz="quarter" idx="3"/>
          </p:nvPr>
        </p:nvSpPr>
        <p:spPr>
          <a:xfrm>
            <a:off x="3645010" y="6356349"/>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cs-CZ"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938D2D-74FD-477D-9AD6-67A26AAB47B3}" type="slidenum">
              <a:rPr lang="cs-CZ" smtClean="0"/>
              <a:t>‹#›</a:t>
            </a:fld>
            <a:endParaRPr lang="cs-CZ"/>
          </a:p>
        </p:txBody>
      </p:sp>
    </p:spTree>
    <p:extLst>
      <p:ext uri="{BB962C8B-B14F-4D97-AF65-F5344CB8AC3E}">
        <p14:creationId xmlns:p14="http://schemas.microsoft.com/office/powerpoint/2010/main" val="58806040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hf hdr="0" ftr="0" dt="0"/>
  <p:txStyles>
    <p:titleStyle>
      <a:lvl1pPr algn="l" defTabSz="914400" rtl="0" eaLnBrk="1" latinLnBrk="0" hangingPunct="1">
        <a:lnSpc>
          <a:spcPct val="90000"/>
        </a:lnSpc>
        <a:spcBef>
          <a:spcPct val="0"/>
        </a:spcBef>
        <a:buNone/>
        <a:defRPr sz="32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Tx/>
        <a:buBlip>
          <a:blip r:embed="rId10"/>
        </a:buBlip>
        <a:defRPr sz="14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Tx/>
        <a:buBlip>
          <a:blip r:embed="rId10"/>
        </a:buBlip>
        <a:defRPr sz="12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Tx/>
        <a:buBlip>
          <a:blip r:embed="rId10"/>
        </a:buBlip>
        <a:defRPr sz="11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Tx/>
        <a:buBlip>
          <a:blip r:embed="rId10"/>
        </a:buBlip>
        <a:defRPr sz="105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Tx/>
        <a:buBlip>
          <a:blip r:embed="rId10"/>
        </a:buBlip>
        <a:defRPr sz="105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hyperlink" Target="https://www.ipsos.com/sites/default/files/ct/news/documents/2025-08/Vyzkum_Zlata-koruna_2025.pdf" TargetMode="Externa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3311" y="3309730"/>
            <a:ext cx="8874273" cy="2906696"/>
          </a:xfrm>
        </p:spPr>
        <p:txBody>
          <a:bodyPr>
            <a:normAutofit fontScale="90000"/>
          </a:bodyPr>
          <a:lstStyle/>
          <a:p>
            <a:br>
              <a:rPr lang="cs-CZ" sz="3100" b="1" dirty="0">
                <a:latin typeface="Montserrat" panose="00000500000000000000" pitchFamily="2" charset="0"/>
              </a:rPr>
            </a:br>
            <a:br>
              <a:rPr lang="cs-CZ" sz="3100" b="1" dirty="0">
                <a:latin typeface="Montserrat" panose="00000500000000000000" pitchFamily="2" charset="0"/>
              </a:rPr>
            </a:br>
            <a:br>
              <a:rPr lang="cs-CZ" sz="3100" b="1" dirty="0">
                <a:latin typeface="Montserrat" panose="00000500000000000000" pitchFamily="2" charset="0"/>
              </a:rPr>
            </a:br>
            <a:br>
              <a:rPr lang="cs-CZ" sz="3100" b="1" dirty="0">
                <a:latin typeface="Montserrat" panose="00000500000000000000" pitchFamily="2" charset="0"/>
              </a:rPr>
            </a:br>
            <a:r>
              <a:rPr lang="pl-PL" sz="3600" b="1" dirty="0">
                <a:latin typeface="Montserrat" panose="00000500000000000000" pitchFamily="2" charset="0"/>
              </a:rPr>
              <a:t>Co všechno za vás AI (ne)udělá</a:t>
            </a:r>
            <a:br>
              <a:rPr lang="en-US" dirty="0"/>
            </a:br>
            <a:br>
              <a:rPr lang="cs-CZ" sz="2800" b="1" dirty="0">
                <a:latin typeface="Montserrat" panose="00000500000000000000" pitchFamily="2" charset="0"/>
              </a:rPr>
            </a:br>
            <a:br>
              <a:rPr lang="cs-CZ" sz="2800" dirty="0">
                <a:latin typeface="Montserrat" panose="00000500000000000000" pitchFamily="2" charset="0"/>
              </a:rPr>
            </a:br>
            <a:br>
              <a:rPr lang="cs-CZ" sz="1600" dirty="0">
                <a:latin typeface="Montserrat" panose="00000500000000000000" pitchFamily="2" charset="0"/>
              </a:rPr>
            </a:br>
            <a:r>
              <a:rPr lang="cs-CZ" sz="1600" dirty="0">
                <a:latin typeface="Montserrat" panose="00000500000000000000" pitchFamily="2" charset="0"/>
              </a:rPr>
              <a:t>14. 07. 2026</a:t>
            </a:r>
            <a:endParaRPr lang="cs-CZ" sz="1600" b="1" dirty="0">
              <a:latin typeface="Montserrat" panose="00000500000000000000" pitchFamily="2" charset="0"/>
            </a:endParaRPr>
          </a:p>
        </p:txBody>
      </p:sp>
      <p:pic>
        <p:nvPicPr>
          <p:cNvPr id="10" name="Obrázek 9" descr="Obsah obrázku text, logo, Písmo, kreslené&#10;&#10;Popis byl vytvořen automaticky">
            <a:extLst>
              <a:ext uri="{FF2B5EF4-FFF2-40B4-BE49-F238E27FC236}">
                <a16:creationId xmlns:a16="http://schemas.microsoft.com/office/drawing/2014/main" id="{F47E64EE-E703-617F-E68A-B784A06C1D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3828" y="641574"/>
            <a:ext cx="4349974" cy="1016052"/>
          </a:xfrm>
          <a:prstGeom prst="rect">
            <a:avLst/>
          </a:prstGeom>
        </p:spPr>
      </p:pic>
    </p:spTree>
    <p:extLst>
      <p:ext uri="{BB962C8B-B14F-4D97-AF65-F5344CB8AC3E}">
        <p14:creationId xmlns:p14="http://schemas.microsoft.com/office/powerpoint/2010/main" val="277452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1C2ECF6-E601-823E-0784-0481CA16E9B8}"/>
              </a:ext>
            </a:extLst>
          </p:cNvPr>
          <p:cNvSpPr>
            <a:spLocks noGrp="1"/>
          </p:cNvSpPr>
          <p:nvPr>
            <p:ph type="sldNum" sz="quarter" idx="12"/>
          </p:nvPr>
        </p:nvSpPr>
        <p:spPr/>
        <p:txBody>
          <a:bodyPr/>
          <a:lstStyle/>
          <a:p>
            <a:fld id="{07938D2D-74FD-477D-9AD6-67A26AAB47B3}" type="slidenum">
              <a:rPr lang="cs-CZ" smtClean="0"/>
              <a:t>2</a:t>
            </a:fld>
            <a:endParaRPr lang="cs-CZ"/>
          </a:p>
        </p:txBody>
      </p:sp>
      <p:sp>
        <p:nvSpPr>
          <p:cNvPr id="4" name="Title 3">
            <a:extLst>
              <a:ext uri="{FF2B5EF4-FFF2-40B4-BE49-F238E27FC236}">
                <a16:creationId xmlns:a16="http://schemas.microsoft.com/office/drawing/2014/main" id="{3ABDAE28-1DD3-252D-75EA-A5E7424A61F2}"/>
              </a:ext>
            </a:extLst>
          </p:cNvPr>
          <p:cNvSpPr>
            <a:spLocks noGrp="1"/>
          </p:cNvSpPr>
          <p:nvPr>
            <p:ph type="title"/>
          </p:nvPr>
        </p:nvSpPr>
        <p:spPr/>
        <p:txBody>
          <a:bodyPr/>
          <a:lstStyle/>
          <a:p>
            <a:r>
              <a:rPr lang="cs-CZ" dirty="0">
                <a:latin typeface="Montserrat" panose="00000500000000000000" pitchFamily="2" charset="0"/>
              </a:rPr>
              <a:t>Kdo vás dnešním workshopem provede?</a:t>
            </a:r>
            <a:endParaRPr lang="en-US" dirty="0">
              <a:latin typeface="Montserrat" panose="00000500000000000000" pitchFamily="2" charset="0"/>
            </a:endParaRPr>
          </a:p>
        </p:txBody>
      </p:sp>
      <p:sp>
        <p:nvSpPr>
          <p:cNvPr id="5" name="Text Placeholder 4">
            <a:extLst>
              <a:ext uri="{FF2B5EF4-FFF2-40B4-BE49-F238E27FC236}">
                <a16:creationId xmlns:a16="http://schemas.microsoft.com/office/drawing/2014/main" id="{9DCD0B68-665D-C7EF-1914-C529A01B5A9E}"/>
              </a:ext>
            </a:extLst>
          </p:cNvPr>
          <p:cNvSpPr>
            <a:spLocks noGrp="1"/>
          </p:cNvSpPr>
          <p:nvPr>
            <p:ph type="body" sz="quarter" idx="13"/>
          </p:nvPr>
        </p:nvSpPr>
        <p:spPr/>
        <p:txBody>
          <a:bodyPr/>
          <a:lstStyle/>
          <a:p>
            <a:r>
              <a:rPr lang="cs-CZ" dirty="0">
                <a:latin typeface="Montserrat" panose="00000500000000000000" pitchFamily="2" charset="0"/>
              </a:rPr>
              <a:t>Představení investičních konzultantů</a:t>
            </a:r>
            <a:endParaRPr lang="en-US" dirty="0">
              <a:latin typeface="Montserrat" panose="00000500000000000000" pitchFamily="2" charset="0"/>
            </a:endParaRPr>
          </a:p>
        </p:txBody>
      </p:sp>
      <p:sp>
        <p:nvSpPr>
          <p:cNvPr id="10" name="Title 2">
            <a:extLst>
              <a:ext uri="{FF2B5EF4-FFF2-40B4-BE49-F238E27FC236}">
                <a16:creationId xmlns:a16="http://schemas.microsoft.com/office/drawing/2014/main" id="{E05412A6-CEDB-78AE-33E3-41B2627AE59E}"/>
              </a:ext>
            </a:extLst>
          </p:cNvPr>
          <p:cNvSpPr txBox="1">
            <a:spLocks/>
          </p:cNvSpPr>
          <p:nvPr/>
        </p:nvSpPr>
        <p:spPr>
          <a:xfrm>
            <a:off x="2755038" y="1793539"/>
            <a:ext cx="6165295" cy="1099290"/>
          </a:xfrm>
          <a:prstGeom prst="rect">
            <a:avLst/>
          </a:prstGeom>
        </p:spPr>
        <p:txBody>
          <a:bodyPr/>
          <a:lstStyle>
            <a:lvl1pPr algn="l" defTabSz="914400" rtl="0" eaLnBrk="1" latinLnBrk="0" hangingPunct="1">
              <a:spcBef>
                <a:spcPct val="0"/>
              </a:spcBef>
              <a:buNone/>
              <a:defRPr sz="2400" b="1" kern="1200">
                <a:solidFill>
                  <a:schemeClr val="accent1"/>
                </a:solidFill>
                <a:latin typeface="+mj-lt"/>
                <a:ea typeface="+mj-ea"/>
                <a:cs typeface="+mj-cs"/>
              </a:defRPr>
            </a:lvl1pPr>
          </a:lstStyle>
          <a:p>
            <a:pPr fontAlgn="auto">
              <a:spcAft>
                <a:spcPts val="0"/>
              </a:spcAft>
            </a:pPr>
            <a:r>
              <a:rPr lang="cs-CZ" sz="2000" dirty="0">
                <a:latin typeface="Montserrat" panose="00000500000000000000" pitchFamily="2" charset="0"/>
              </a:rPr>
              <a:t>Marek Pokorný</a:t>
            </a:r>
          </a:p>
          <a:p>
            <a:r>
              <a:rPr lang="cs-CZ" sz="1400" dirty="0">
                <a:solidFill>
                  <a:schemeClr val="tx1"/>
                </a:solidFill>
                <a:latin typeface="Montserrat" panose="00000500000000000000" pitchFamily="2" charset="0"/>
              </a:rPr>
              <a:t>Investiční konzultant a analytik</a:t>
            </a:r>
          </a:p>
          <a:p>
            <a:endParaRPr lang="cs-CZ" sz="400" dirty="0">
              <a:solidFill>
                <a:schemeClr val="tx1"/>
              </a:solidFill>
              <a:highlight>
                <a:srgbClr val="FFFF00"/>
              </a:highlight>
              <a:latin typeface="Montserrat" panose="00000500000000000000" pitchFamily="2" charset="0"/>
            </a:endParaRPr>
          </a:p>
          <a:p>
            <a:pPr algn="just"/>
            <a:r>
              <a:rPr lang="cs-CZ" sz="1200" b="0" dirty="0">
                <a:solidFill>
                  <a:srgbClr val="000000"/>
                </a:solidFill>
                <a:latin typeface="Montserrat" panose="00000500000000000000" pitchFamily="2" charset="0"/>
              </a:rPr>
              <a:t>Marek denně sleduje finanční trhy a svými komentáři, výstupy v médiích, analýzami a vzdělávacími články informuje veřejnost o aktuálním dění. Na investičních konzultacích s klienty nejčastěji řeší optimálnost rozložení portfolií, finanční plány a produkty, tržní situaci a další otázky ohledně investování.</a:t>
            </a:r>
          </a:p>
        </p:txBody>
      </p:sp>
      <p:sp>
        <p:nvSpPr>
          <p:cNvPr id="12" name="Title 2">
            <a:extLst>
              <a:ext uri="{FF2B5EF4-FFF2-40B4-BE49-F238E27FC236}">
                <a16:creationId xmlns:a16="http://schemas.microsoft.com/office/drawing/2014/main" id="{B504F27B-9743-CEB9-9C52-DDD98EBA989D}"/>
              </a:ext>
            </a:extLst>
          </p:cNvPr>
          <p:cNvSpPr txBox="1">
            <a:spLocks/>
          </p:cNvSpPr>
          <p:nvPr/>
        </p:nvSpPr>
        <p:spPr>
          <a:xfrm>
            <a:off x="2755038" y="3454468"/>
            <a:ext cx="6165295" cy="1099290"/>
          </a:xfrm>
          <a:prstGeom prst="rect">
            <a:avLst/>
          </a:prstGeom>
        </p:spPr>
        <p:txBody>
          <a:bodyPr/>
          <a:lstStyle>
            <a:lvl1pPr algn="l" defTabSz="914400" rtl="0" eaLnBrk="1" latinLnBrk="0" hangingPunct="1">
              <a:spcBef>
                <a:spcPct val="0"/>
              </a:spcBef>
              <a:buNone/>
              <a:defRPr sz="2400" b="1" kern="1200">
                <a:solidFill>
                  <a:schemeClr val="accent1"/>
                </a:solidFill>
                <a:latin typeface="+mj-lt"/>
                <a:ea typeface="+mj-ea"/>
                <a:cs typeface="+mj-cs"/>
              </a:defRPr>
            </a:lvl1pPr>
          </a:lstStyle>
          <a:p>
            <a:pPr fontAlgn="auto">
              <a:spcAft>
                <a:spcPts val="0"/>
              </a:spcAft>
            </a:pPr>
            <a:r>
              <a:rPr lang="cs-CZ" sz="2000" dirty="0">
                <a:latin typeface="Montserrat" panose="00000500000000000000" pitchFamily="2" charset="0"/>
              </a:rPr>
              <a:t>Marek Malina</a:t>
            </a:r>
          </a:p>
          <a:p>
            <a:r>
              <a:rPr lang="cs-CZ" sz="1400" dirty="0">
                <a:solidFill>
                  <a:schemeClr val="tx1"/>
                </a:solidFill>
                <a:latin typeface="Montserrat" panose="00000500000000000000" pitchFamily="2" charset="0"/>
              </a:rPr>
              <a:t>Investiční konzultant a analytik (SK)</a:t>
            </a:r>
          </a:p>
          <a:p>
            <a:endParaRPr lang="cs-CZ" sz="400" dirty="0">
              <a:solidFill>
                <a:schemeClr val="tx1"/>
              </a:solidFill>
              <a:latin typeface="Montserrat" panose="00000500000000000000" pitchFamily="2" charset="0"/>
            </a:endParaRPr>
          </a:p>
          <a:p>
            <a:pPr algn="just"/>
            <a:r>
              <a:rPr lang="cs-CZ" sz="1200" b="0" dirty="0">
                <a:solidFill>
                  <a:srgbClr val="000000"/>
                </a:solidFill>
                <a:latin typeface="Montserrat" panose="00000500000000000000" pitchFamily="2" charset="0"/>
              </a:rPr>
              <a:t>Marek se specializuje především na makroekonomii a globální akciové trhy. Jeho cílem je zvýšit investiční gramotnost na Slovensku a přibližovat odborná témata srozumitelným jazykem. Markovy komentáře a analýzy vycházejí v předních médiích v Česku a na Slovensku.</a:t>
            </a:r>
            <a:endParaRPr lang="cs-CZ" sz="1200" dirty="0"/>
          </a:p>
        </p:txBody>
      </p:sp>
      <p:pic>
        <p:nvPicPr>
          <p:cNvPr id="6" name="Picture 5" descr="A person wearing a suit and glasses&#10;&#10;AI-generated content may be incorrect.">
            <a:extLst>
              <a:ext uri="{FF2B5EF4-FFF2-40B4-BE49-F238E27FC236}">
                <a16:creationId xmlns:a16="http://schemas.microsoft.com/office/drawing/2014/main" id="{2D4B9B86-1308-8493-B865-613B6AA91C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5166" y="3454468"/>
            <a:ext cx="1418063" cy="1516789"/>
          </a:xfrm>
          <a:prstGeom prst="rect">
            <a:avLst/>
          </a:prstGeom>
        </p:spPr>
      </p:pic>
      <p:pic>
        <p:nvPicPr>
          <p:cNvPr id="7" name="Picture 6" descr="A person wearing glasses and a white shirt&#10;&#10;AI-generated content may be incorrect.">
            <a:extLst>
              <a:ext uri="{FF2B5EF4-FFF2-40B4-BE49-F238E27FC236}">
                <a16:creationId xmlns:a16="http://schemas.microsoft.com/office/drawing/2014/main" id="{F7FF845E-DEF5-8A76-1381-FCA12D14B8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827" y="1793539"/>
            <a:ext cx="2076740" cy="1676634"/>
          </a:xfrm>
          <a:prstGeom prst="rect">
            <a:avLst/>
          </a:prstGeom>
        </p:spPr>
      </p:pic>
      <p:pic>
        <p:nvPicPr>
          <p:cNvPr id="2" name="Obrázek 1" descr="Obsah obrázku Lidská tvář, osoba, oblečení, portrét&#10;&#10;Obsah generovaný pomocí AI může být nesprávný.">
            <a:extLst>
              <a:ext uri="{FF2B5EF4-FFF2-40B4-BE49-F238E27FC236}">
                <a16:creationId xmlns:a16="http://schemas.microsoft.com/office/drawing/2014/main" id="{E9000127-5EE8-9442-5F52-DCBAFD14FB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8865" y="1852613"/>
            <a:ext cx="1490663" cy="1490663"/>
          </a:xfrm>
          <a:prstGeom prst="rect">
            <a:avLst/>
          </a:prstGeom>
        </p:spPr>
      </p:pic>
      <p:pic>
        <p:nvPicPr>
          <p:cNvPr id="8" name="Obrázek 7" descr="Obsah obrázku Lidská tvář, osoba, oblečení, úsměv&#10;&#10;Obsah generovaný pomocí AI může být nesprávný.">
            <a:extLst>
              <a:ext uri="{FF2B5EF4-FFF2-40B4-BE49-F238E27FC236}">
                <a16:creationId xmlns:a16="http://schemas.microsoft.com/office/drawing/2014/main" id="{4D44EB75-137C-6E73-BF62-E84ACE2186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8" y="3470173"/>
            <a:ext cx="1612276" cy="1612276"/>
          </a:xfrm>
          <a:prstGeom prst="rect">
            <a:avLst/>
          </a:prstGeom>
        </p:spPr>
      </p:pic>
    </p:spTree>
    <p:extLst>
      <p:ext uri="{BB962C8B-B14F-4D97-AF65-F5344CB8AC3E}">
        <p14:creationId xmlns:p14="http://schemas.microsoft.com/office/powerpoint/2010/main" val="1501046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A47F81-FE76-232B-4870-6DCD199FFD9F}"/>
              </a:ext>
            </a:extLst>
          </p:cNvPr>
          <p:cNvSpPr>
            <a:spLocks noGrp="1"/>
          </p:cNvSpPr>
          <p:nvPr>
            <p:ph idx="1"/>
          </p:nvPr>
        </p:nvSpPr>
        <p:spPr/>
        <p:txBody>
          <a:bodyPr>
            <a:normAutofit/>
          </a:bodyPr>
          <a:lstStyle/>
          <a:p>
            <a:r>
              <a:rPr lang="cs-CZ" sz="1600" dirty="0">
                <a:latin typeface="Montserrat" panose="00000500000000000000" pitchFamily="2" charset="0"/>
              </a:rPr>
              <a:t>Interaktivní – prostor především pro Vás</a:t>
            </a:r>
          </a:p>
          <a:p>
            <a:r>
              <a:rPr lang="cs-CZ" sz="1600" dirty="0">
                <a:latin typeface="Montserrat" panose="00000500000000000000" pitchFamily="2" charset="0"/>
              </a:rPr>
              <a:t>Máte-li dotaz, položte jej</a:t>
            </a:r>
          </a:p>
          <a:p>
            <a:pPr lvl="1"/>
            <a:r>
              <a:rPr lang="cs-CZ" sz="1600" dirty="0">
                <a:latin typeface="Montserrat" panose="00000500000000000000" pitchFamily="2" charset="0"/>
              </a:rPr>
              <a:t>Přihlaste se přes MS Teams o slovo</a:t>
            </a:r>
          </a:p>
          <a:p>
            <a:pPr lvl="1"/>
            <a:r>
              <a:rPr lang="cs-CZ" sz="1600" dirty="0">
                <a:latin typeface="Montserrat" panose="00000500000000000000" pitchFamily="2" charset="0"/>
              </a:rPr>
              <a:t>Napiště do chatu</a:t>
            </a:r>
          </a:p>
          <a:p>
            <a:pPr lvl="1"/>
            <a:r>
              <a:rPr lang="cs-CZ" sz="1600" dirty="0">
                <a:latin typeface="Montserrat" panose="00000500000000000000" pitchFamily="2" charset="0"/>
              </a:rPr>
              <a:t>Zapněte si mikrofon a zapojte se</a:t>
            </a:r>
          </a:p>
          <a:p>
            <a:r>
              <a:rPr lang="cs-CZ" sz="1600" dirty="0">
                <a:latin typeface="Montserrat" panose="00000500000000000000" pitchFamily="2" charset="0"/>
              </a:rPr>
              <a:t>Dotazy budeme zodpovídat v co nejkratším čase</a:t>
            </a:r>
          </a:p>
          <a:p>
            <a:r>
              <a:rPr lang="cs-CZ" sz="1600" dirty="0">
                <a:latin typeface="Montserrat" panose="00000500000000000000" pitchFamily="2" charset="0"/>
              </a:rPr>
              <a:t>Nebojte se sdílet svou vlastní zkušenost a prosím, zapojte se do diskuze a klaďte dotazy</a:t>
            </a:r>
          </a:p>
          <a:p>
            <a:endParaRPr lang="cs-CZ" sz="1600" dirty="0">
              <a:latin typeface="Montserrat" panose="00000500000000000000" pitchFamily="2" charset="0"/>
            </a:endParaRPr>
          </a:p>
        </p:txBody>
      </p:sp>
      <p:sp>
        <p:nvSpPr>
          <p:cNvPr id="3" name="Slide Number Placeholder 2">
            <a:extLst>
              <a:ext uri="{FF2B5EF4-FFF2-40B4-BE49-F238E27FC236}">
                <a16:creationId xmlns:a16="http://schemas.microsoft.com/office/drawing/2014/main" id="{35946C8F-6812-3DC5-55B8-048645F917E5}"/>
              </a:ext>
            </a:extLst>
          </p:cNvPr>
          <p:cNvSpPr>
            <a:spLocks noGrp="1"/>
          </p:cNvSpPr>
          <p:nvPr>
            <p:ph type="sldNum" sz="quarter" idx="12"/>
          </p:nvPr>
        </p:nvSpPr>
        <p:spPr/>
        <p:txBody>
          <a:bodyPr/>
          <a:lstStyle/>
          <a:p>
            <a:fld id="{07938D2D-74FD-477D-9AD6-67A26AAB47B3}" type="slidenum">
              <a:rPr lang="cs-CZ" smtClean="0"/>
              <a:t>3</a:t>
            </a:fld>
            <a:endParaRPr lang="cs-CZ"/>
          </a:p>
        </p:txBody>
      </p:sp>
      <p:sp>
        <p:nvSpPr>
          <p:cNvPr id="4" name="Title 3">
            <a:extLst>
              <a:ext uri="{FF2B5EF4-FFF2-40B4-BE49-F238E27FC236}">
                <a16:creationId xmlns:a16="http://schemas.microsoft.com/office/drawing/2014/main" id="{865E2AE8-269C-F747-22C3-6E403FC66E70}"/>
              </a:ext>
            </a:extLst>
          </p:cNvPr>
          <p:cNvSpPr>
            <a:spLocks noGrp="1"/>
          </p:cNvSpPr>
          <p:nvPr>
            <p:ph type="title"/>
          </p:nvPr>
        </p:nvSpPr>
        <p:spPr/>
        <p:txBody>
          <a:bodyPr/>
          <a:lstStyle/>
          <a:p>
            <a:r>
              <a:rPr lang="cs-CZ" dirty="0">
                <a:latin typeface="Montserrat" panose="00000500000000000000" pitchFamily="2" charset="0"/>
              </a:rPr>
              <a:t>Koncepce workshopu</a:t>
            </a:r>
            <a:endParaRPr lang="en-US" dirty="0">
              <a:latin typeface="Montserrat" panose="00000500000000000000" pitchFamily="2" charset="0"/>
            </a:endParaRPr>
          </a:p>
        </p:txBody>
      </p:sp>
      <p:sp>
        <p:nvSpPr>
          <p:cNvPr id="5" name="Text Placeholder 4">
            <a:extLst>
              <a:ext uri="{FF2B5EF4-FFF2-40B4-BE49-F238E27FC236}">
                <a16:creationId xmlns:a16="http://schemas.microsoft.com/office/drawing/2014/main" id="{9FD7F314-6899-1F87-E953-5218EE50CF2A}"/>
              </a:ext>
            </a:extLst>
          </p:cNvPr>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2054444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4A89C3-28E6-4DD4-CC0A-EA15D88C2E7A}"/>
              </a:ext>
            </a:extLst>
          </p:cNvPr>
          <p:cNvSpPr>
            <a:spLocks noGrp="1"/>
          </p:cNvSpPr>
          <p:nvPr>
            <p:ph idx="1"/>
          </p:nvPr>
        </p:nvSpPr>
        <p:spPr/>
        <p:txBody>
          <a:bodyPr>
            <a:normAutofit/>
          </a:bodyPr>
          <a:lstStyle/>
          <a:p>
            <a:endParaRPr lang="cs-CZ" sz="1600" b="1" dirty="0">
              <a:latin typeface="Montserrat" panose="00000500000000000000" pitchFamily="2" charset="0"/>
            </a:endParaRPr>
          </a:p>
          <a:p>
            <a:pPr marL="0" indent="0">
              <a:buNone/>
            </a:pPr>
            <a:r>
              <a:rPr lang="cs-CZ" sz="1600" b="1" dirty="0">
                <a:latin typeface="Montserrat" panose="00000500000000000000" pitchFamily="2" charset="0"/>
              </a:rPr>
              <a:t>Obsah workshopu:</a:t>
            </a:r>
          </a:p>
          <a:p>
            <a:pPr lvl="1"/>
            <a:r>
              <a:rPr lang="cs-CZ" sz="1600" dirty="0">
                <a:latin typeface="Montserrat" panose="00000500000000000000" pitchFamily="2" charset="0"/>
              </a:rPr>
              <a:t>Jak může AI pomoci při investování</a:t>
            </a:r>
          </a:p>
          <a:p>
            <a:pPr lvl="1"/>
            <a:r>
              <a:rPr lang="cs-CZ" sz="1600" dirty="0">
                <a:latin typeface="Montserrat" panose="00000500000000000000" pitchFamily="2" charset="0"/>
              </a:rPr>
              <a:t>Příležitosti a rizika</a:t>
            </a:r>
          </a:p>
          <a:p>
            <a:pPr lvl="1"/>
            <a:r>
              <a:rPr lang="cs-CZ" sz="1600">
                <a:latin typeface="Montserrat" panose="00000500000000000000" pitchFamily="2" charset="0"/>
              </a:rPr>
              <a:t>Jak pracovat </a:t>
            </a:r>
            <a:r>
              <a:rPr lang="cs-CZ" sz="1600" dirty="0">
                <a:latin typeface="Montserrat" panose="00000500000000000000" pitchFamily="2" charset="0"/>
              </a:rPr>
              <a:t>s AI</a:t>
            </a:r>
            <a:endParaRPr lang="en-US" sz="1600" dirty="0">
              <a:latin typeface="Montserrat" panose="00000500000000000000" pitchFamily="2" charset="0"/>
            </a:endParaRPr>
          </a:p>
          <a:p>
            <a:pPr lvl="1"/>
            <a:r>
              <a:rPr lang="cs-CZ" sz="1600" dirty="0">
                <a:latin typeface="Montserrat" panose="00000500000000000000" pitchFamily="2" charset="0"/>
              </a:rPr>
              <a:t>AI portfolio – měli by mu investoři důvěřovat?</a:t>
            </a:r>
          </a:p>
          <a:p>
            <a:pPr marL="457200" lvl="1" indent="0">
              <a:buNone/>
            </a:pPr>
            <a:endParaRPr lang="cs-CZ" sz="1600" dirty="0">
              <a:latin typeface="Montserrat" panose="00000500000000000000" pitchFamily="2" charset="0"/>
            </a:endParaRPr>
          </a:p>
        </p:txBody>
      </p:sp>
      <p:sp>
        <p:nvSpPr>
          <p:cNvPr id="3" name="Slide Number Placeholder 2">
            <a:extLst>
              <a:ext uri="{FF2B5EF4-FFF2-40B4-BE49-F238E27FC236}">
                <a16:creationId xmlns:a16="http://schemas.microsoft.com/office/drawing/2014/main" id="{E8794038-A614-EEF8-12FD-C54D120CD526}"/>
              </a:ext>
            </a:extLst>
          </p:cNvPr>
          <p:cNvSpPr>
            <a:spLocks noGrp="1"/>
          </p:cNvSpPr>
          <p:nvPr>
            <p:ph type="sldNum" sz="quarter" idx="12"/>
          </p:nvPr>
        </p:nvSpPr>
        <p:spPr/>
        <p:txBody>
          <a:bodyPr/>
          <a:lstStyle/>
          <a:p>
            <a:fld id="{07938D2D-74FD-477D-9AD6-67A26AAB47B3}" type="slidenum">
              <a:rPr lang="cs-CZ" smtClean="0"/>
              <a:t>4</a:t>
            </a:fld>
            <a:endParaRPr lang="cs-CZ"/>
          </a:p>
        </p:txBody>
      </p:sp>
      <p:sp>
        <p:nvSpPr>
          <p:cNvPr id="4" name="Title 3">
            <a:extLst>
              <a:ext uri="{FF2B5EF4-FFF2-40B4-BE49-F238E27FC236}">
                <a16:creationId xmlns:a16="http://schemas.microsoft.com/office/drawing/2014/main" id="{01E444BC-0481-EA1D-A617-9A5D328480D5}"/>
              </a:ext>
            </a:extLst>
          </p:cNvPr>
          <p:cNvSpPr>
            <a:spLocks noGrp="1"/>
          </p:cNvSpPr>
          <p:nvPr>
            <p:ph type="title"/>
          </p:nvPr>
        </p:nvSpPr>
        <p:spPr/>
        <p:txBody>
          <a:bodyPr>
            <a:normAutofit/>
          </a:bodyPr>
          <a:lstStyle/>
          <a:p>
            <a:r>
              <a:rPr lang="cs-CZ" sz="2800" b="1" dirty="0">
                <a:latin typeface="Montserrat" panose="00000500000000000000" pitchFamily="2" charset="0"/>
              </a:rPr>
              <a:t>Úvod</a:t>
            </a:r>
            <a:endParaRPr lang="en-US" sz="2800" b="1" dirty="0">
              <a:latin typeface="Montserrat" panose="00000500000000000000" pitchFamily="2" charset="0"/>
            </a:endParaRPr>
          </a:p>
        </p:txBody>
      </p:sp>
      <p:sp>
        <p:nvSpPr>
          <p:cNvPr id="5" name="Text Placeholder 4">
            <a:extLst>
              <a:ext uri="{FF2B5EF4-FFF2-40B4-BE49-F238E27FC236}">
                <a16:creationId xmlns:a16="http://schemas.microsoft.com/office/drawing/2014/main" id="{132FBB76-C4CC-2D22-E1CD-7E6E9A6EDF85}"/>
              </a:ext>
            </a:extLst>
          </p:cNvPr>
          <p:cNvSpPr>
            <a:spLocks noGrp="1"/>
          </p:cNvSpPr>
          <p:nvPr>
            <p:ph type="body" sz="quarter" idx="13"/>
          </p:nvPr>
        </p:nvSpPr>
        <p:spPr/>
        <p:txBody>
          <a:bodyPr/>
          <a:lstStyle/>
          <a:p>
            <a:r>
              <a:rPr lang="cs-CZ" dirty="0">
                <a:latin typeface="Montserrat" panose="00000500000000000000" pitchFamily="2" charset="0"/>
              </a:rPr>
              <a:t>Co se dnes dozvíte?</a:t>
            </a:r>
            <a:endParaRPr lang="en-US" dirty="0">
              <a:latin typeface="Montserrat" panose="00000500000000000000" pitchFamily="2" charset="0"/>
            </a:endParaRPr>
          </a:p>
        </p:txBody>
      </p:sp>
    </p:spTree>
    <p:extLst>
      <p:ext uri="{BB962C8B-B14F-4D97-AF65-F5344CB8AC3E}">
        <p14:creationId xmlns:p14="http://schemas.microsoft.com/office/powerpoint/2010/main" val="4044454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62A445-0EAB-6812-FC4E-63406C2580AE}"/>
              </a:ext>
            </a:extLst>
          </p:cNvPr>
          <p:cNvSpPr>
            <a:spLocks noGrp="1"/>
          </p:cNvSpPr>
          <p:nvPr>
            <p:ph idx="1"/>
          </p:nvPr>
        </p:nvSpPr>
        <p:spPr/>
        <p:txBody>
          <a:bodyPr>
            <a:normAutofit/>
          </a:bodyPr>
          <a:lstStyle/>
          <a:p>
            <a:pPr lvl="0"/>
            <a:endParaRPr lang="cs-CZ" dirty="0">
              <a:latin typeface="Montserrat" panose="00000500000000000000" pitchFamily="2" charset="0"/>
            </a:endParaRPr>
          </a:p>
          <a:p>
            <a:pPr marL="0" indent="0">
              <a:buNone/>
            </a:pPr>
            <a:r>
              <a:rPr lang="en-US" sz="1600" b="1" dirty="0" err="1">
                <a:latin typeface="Montserrat" panose="00000500000000000000" pitchFamily="2" charset="0"/>
              </a:rPr>
              <a:t>Zajímavé</a:t>
            </a:r>
            <a:r>
              <a:rPr lang="en-US" sz="1600" b="1" dirty="0">
                <a:latin typeface="Montserrat" panose="00000500000000000000" pitchFamily="2" charset="0"/>
              </a:rPr>
              <a:t> </a:t>
            </a:r>
            <a:r>
              <a:rPr lang="en-US" sz="1600" b="1" dirty="0" err="1">
                <a:latin typeface="Montserrat" panose="00000500000000000000" pitchFamily="2" charset="0"/>
              </a:rPr>
              <a:t>poznatky</a:t>
            </a:r>
            <a:r>
              <a:rPr lang="cs-CZ" sz="1600" b="1" dirty="0">
                <a:latin typeface="Montserrat" panose="00000500000000000000" pitchFamily="2" charset="0"/>
              </a:rPr>
              <a:t> (</a:t>
            </a:r>
            <a:r>
              <a:rPr lang="cs-CZ" sz="1600" b="1" dirty="0">
                <a:latin typeface="Montserrat" panose="00000500000000000000" pitchFamily="2" charset="0"/>
                <a:hlinkClick r:id="rId2"/>
              </a:rPr>
              <a:t>Ipsos</a:t>
            </a:r>
            <a:r>
              <a:rPr lang="cs-CZ" sz="1600" b="1" dirty="0">
                <a:latin typeface="Montserrat" panose="00000500000000000000" pitchFamily="2" charset="0"/>
              </a:rPr>
              <a:t>)</a:t>
            </a:r>
            <a:r>
              <a:rPr lang="en-US" sz="1600" b="1" dirty="0">
                <a:latin typeface="Montserrat" panose="00000500000000000000" pitchFamily="2" charset="0"/>
              </a:rPr>
              <a:t>:</a:t>
            </a:r>
          </a:p>
          <a:p>
            <a:pPr lvl="0"/>
            <a:r>
              <a:rPr lang="en-US" dirty="0">
                <a:latin typeface="Montserrat" panose="00000500000000000000" pitchFamily="2" charset="0"/>
              </a:rPr>
              <a:t>~¼ </a:t>
            </a:r>
            <a:r>
              <a:rPr lang="en-US" dirty="0" err="1">
                <a:latin typeface="Montserrat" panose="00000500000000000000" pitchFamily="2" charset="0"/>
              </a:rPr>
              <a:t>Čechů</a:t>
            </a:r>
            <a:r>
              <a:rPr lang="en-US" dirty="0">
                <a:latin typeface="Montserrat" panose="00000500000000000000" pitchFamily="2" charset="0"/>
              </a:rPr>
              <a:t> by </a:t>
            </a:r>
            <a:r>
              <a:rPr lang="en-US" dirty="0" err="1">
                <a:latin typeface="Montserrat" panose="00000500000000000000" pitchFamily="2" charset="0"/>
              </a:rPr>
              <a:t>přijala</a:t>
            </a:r>
            <a:r>
              <a:rPr lang="en-US" dirty="0">
                <a:latin typeface="Montserrat" panose="00000500000000000000" pitchFamily="2" charset="0"/>
              </a:rPr>
              <a:t> </a:t>
            </a:r>
            <a:r>
              <a:rPr lang="en-US" dirty="0" err="1">
                <a:latin typeface="Montserrat" panose="00000500000000000000" pitchFamily="2" charset="0"/>
              </a:rPr>
              <a:t>investiční</a:t>
            </a:r>
            <a:r>
              <a:rPr lang="en-US" dirty="0">
                <a:latin typeface="Montserrat" panose="00000500000000000000" pitchFamily="2" charset="0"/>
              </a:rPr>
              <a:t> </a:t>
            </a:r>
            <a:r>
              <a:rPr lang="en-US" dirty="0" err="1">
                <a:latin typeface="Montserrat" panose="00000500000000000000" pitchFamily="2" charset="0"/>
              </a:rPr>
              <a:t>radu</a:t>
            </a:r>
            <a:r>
              <a:rPr lang="en-US" dirty="0">
                <a:latin typeface="Montserrat" panose="00000500000000000000" pitchFamily="2" charset="0"/>
              </a:rPr>
              <a:t> od AI — </a:t>
            </a:r>
            <a:r>
              <a:rPr lang="en-US" dirty="0" err="1">
                <a:latin typeface="Montserrat" panose="00000500000000000000" pitchFamily="2" charset="0"/>
              </a:rPr>
              <a:t>mladší</a:t>
            </a:r>
            <a:r>
              <a:rPr lang="en-US" dirty="0">
                <a:latin typeface="Montserrat" panose="00000500000000000000" pitchFamily="2" charset="0"/>
              </a:rPr>
              <a:t> </a:t>
            </a:r>
            <a:r>
              <a:rPr lang="en-US" dirty="0" err="1">
                <a:latin typeface="Montserrat" panose="00000500000000000000" pitchFamily="2" charset="0"/>
              </a:rPr>
              <a:t>generace</a:t>
            </a:r>
            <a:r>
              <a:rPr lang="en-US" dirty="0">
                <a:latin typeface="Montserrat" panose="00000500000000000000" pitchFamily="2" charset="0"/>
              </a:rPr>
              <a:t> (25–34) </a:t>
            </a:r>
            <a:r>
              <a:rPr lang="en-US" dirty="0" err="1">
                <a:latin typeface="Montserrat" panose="00000500000000000000" pitchFamily="2" charset="0"/>
              </a:rPr>
              <a:t>jí</a:t>
            </a:r>
            <a:r>
              <a:rPr lang="en-US" dirty="0">
                <a:latin typeface="Montserrat" panose="00000500000000000000" pitchFamily="2" charset="0"/>
              </a:rPr>
              <a:t> </a:t>
            </a:r>
            <a:r>
              <a:rPr lang="en-US" dirty="0" err="1">
                <a:latin typeface="Montserrat" panose="00000500000000000000" pitchFamily="2" charset="0"/>
              </a:rPr>
              <a:t>věří</a:t>
            </a:r>
            <a:r>
              <a:rPr lang="en-US" dirty="0">
                <a:latin typeface="Montserrat" panose="00000500000000000000" pitchFamily="2" charset="0"/>
              </a:rPr>
              <a:t> </a:t>
            </a:r>
            <a:r>
              <a:rPr lang="en-US" dirty="0" err="1">
                <a:latin typeface="Montserrat" panose="00000500000000000000" pitchFamily="2" charset="0"/>
              </a:rPr>
              <a:t>víc</a:t>
            </a:r>
            <a:r>
              <a:rPr lang="en-US" dirty="0">
                <a:latin typeface="Montserrat" panose="00000500000000000000" pitchFamily="2" charset="0"/>
              </a:rPr>
              <a:t>.</a:t>
            </a:r>
            <a:endParaRPr lang="cs-CZ" dirty="0">
              <a:latin typeface="Montserrat" panose="00000500000000000000" pitchFamily="2" charset="0"/>
            </a:endParaRPr>
          </a:p>
          <a:p>
            <a:pPr lvl="0"/>
            <a:r>
              <a:rPr lang="en-US" dirty="0">
                <a:latin typeface="Montserrat" panose="00000500000000000000" pitchFamily="2" charset="0"/>
              </a:rPr>
              <a:t>~½ </a:t>
            </a:r>
            <a:r>
              <a:rPr lang="en-US" dirty="0" err="1">
                <a:latin typeface="Montserrat" panose="00000500000000000000" pitchFamily="2" charset="0"/>
              </a:rPr>
              <a:t>si</a:t>
            </a:r>
            <a:r>
              <a:rPr lang="en-US" dirty="0">
                <a:latin typeface="Montserrat" panose="00000500000000000000" pitchFamily="2" charset="0"/>
              </a:rPr>
              <a:t> </a:t>
            </a:r>
            <a:r>
              <a:rPr lang="en-US" dirty="0" err="1">
                <a:latin typeface="Montserrat" panose="00000500000000000000" pitchFamily="2" charset="0"/>
              </a:rPr>
              <a:t>myslí</a:t>
            </a:r>
            <a:r>
              <a:rPr lang="en-US" dirty="0">
                <a:latin typeface="Montserrat" panose="00000500000000000000" pitchFamily="2" charset="0"/>
              </a:rPr>
              <a:t>, </a:t>
            </a:r>
            <a:r>
              <a:rPr lang="en-US" dirty="0" err="1">
                <a:latin typeface="Montserrat" panose="00000500000000000000" pitchFamily="2" charset="0"/>
              </a:rPr>
              <a:t>že</a:t>
            </a:r>
            <a:r>
              <a:rPr lang="en-US" dirty="0">
                <a:latin typeface="Montserrat" panose="00000500000000000000" pitchFamily="2" charset="0"/>
              </a:rPr>
              <a:t> AI by </a:t>
            </a:r>
            <a:r>
              <a:rPr lang="en-US" dirty="0" err="1">
                <a:latin typeface="Montserrat" panose="00000500000000000000" pitchFamily="2" charset="0"/>
              </a:rPr>
              <a:t>mohla</a:t>
            </a:r>
            <a:r>
              <a:rPr lang="en-US" dirty="0">
                <a:latin typeface="Montserrat" panose="00000500000000000000" pitchFamily="2" charset="0"/>
              </a:rPr>
              <a:t> </a:t>
            </a:r>
            <a:r>
              <a:rPr lang="en-US" dirty="0" err="1">
                <a:latin typeface="Montserrat" panose="00000500000000000000" pitchFamily="2" charset="0"/>
              </a:rPr>
              <a:t>nahradit</a:t>
            </a:r>
            <a:r>
              <a:rPr lang="en-US" dirty="0">
                <a:latin typeface="Montserrat" panose="00000500000000000000" pitchFamily="2" charset="0"/>
              </a:rPr>
              <a:t> </a:t>
            </a:r>
            <a:r>
              <a:rPr lang="en-US" dirty="0" err="1">
                <a:latin typeface="Montserrat" panose="00000500000000000000" pitchFamily="2" charset="0"/>
              </a:rPr>
              <a:t>poradce</a:t>
            </a:r>
            <a:r>
              <a:rPr lang="en-US" dirty="0">
                <a:latin typeface="Montserrat" panose="00000500000000000000" pitchFamily="2" charset="0"/>
              </a:rPr>
              <a:t>.</a:t>
            </a:r>
            <a:endParaRPr lang="cs-CZ" dirty="0">
              <a:latin typeface="Montserrat" panose="00000500000000000000" pitchFamily="2" charset="0"/>
            </a:endParaRPr>
          </a:p>
          <a:p>
            <a:pPr lvl="0"/>
            <a:r>
              <a:rPr lang="en-US" dirty="0">
                <a:latin typeface="Montserrat" panose="00000500000000000000" pitchFamily="2" charset="0"/>
              </a:rPr>
              <a:t>~⅓ </a:t>
            </a:r>
            <a:r>
              <a:rPr lang="en-US" dirty="0" err="1">
                <a:latin typeface="Montserrat" panose="00000500000000000000" pitchFamily="2" charset="0"/>
              </a:rPr>
              <a:t>má</a:t>
            </a:r>
            <a:r>
              <a:rPr lang="en-US" dirty="0">
                <a:latin typeface="Montserrat" panose="00000500000000000000" pitchFamily="2" charset="0"/>
              </a:rPr>
              <a:t> </a:t>
            </a:r>
            <a:r>
              <a:rPr lang="en-US" dirty="0" err="1">
                <a:latin typeface="Montserrat" panose="00000500000000000000" pitchFamily="2" charset="0"/>
              </a:rPr>
              <a:t>obavy</a:t>
            </a:r>
            <a:r>
              <a:rPr lang="en-US" dirty="0">
                <a:latin typeface="Montserrat" panose="00000500000000000000" pitchFamily="2" charset="0"/>
              </a:rPr>
              <a:t> o </a:t>
            </a:r>
            <a:r>
              <a:rPr lang="en-US" dirty="0" err="1">
                <a:latin typeface="Montserrat" panose="00000500000000000000" pitchFamily="2" charset="0"/>
              </a:rPr>
              <a:t>svá</a:t>
            </a:r>
            <a:r>
              <a:rPr lang="en-US" dirty="0">
                <a:latin typeface="Montserrat" panose="00000500000000000000" pitchFamily="2" charset="0"/>
              </a:rPr>
              <a:t> </a:t>
            </a:r>
            <a:r>
              <a:rPr lang="en-US" dirty="0" err="1">
                <a:latin typeface="Montserrat" panose="00000500000000000000" pitchFamily="2" charset="0"/>
              </a:rPr>
              <a:t>finanční</a:t>
            </a:r>
            <a:r>
              <a:rPr lang="en-US" dirty="0">
                <a:latin typeface="Montserrat" panose="00000500000000000000" pitchFamily="2" charset="0"/>
              </a:rPr>
              <a:t> data (</a:t>
            </a:r>
            <a:r>
              <a:rPr lang="en-US" dirty="0" err="1">
                <a:latin typeface="Montserrat" panose="00000500000000000000" pitchFamily="2" charset="0"/>
              </a:rPr>
              <a:t>dříve</a:t>
            </a:r>
            <a:r>
              <a:rPr lang="en-US" dirty="0">
                <a:latin typeface="Montserrat" panose="00000500000000000000" pitchFamily="2" charset="0"/>
              </a:rPr>
              <a:t> ~26 %) — s </a:t>
            </a:r>
            <a:r>
              <a:rPr lang="en-US" dirty="0" err="1">
                <a:latin typeface="Montserrat" panose="00000500000000000000" pitchFamily="2" charset="0"/>
              </a:rPr>
              <a:t>lepšími</a:t>
            </a:r>
            <a:r>
              <a:rPr lang="en-US" dirty="0">
                <a:latin typeface="Montserrat" panose="00000500000000000000" pitchFamily="2" charset="0"/>
              </a:rPr>
              <a:t> </a:t>
            </a:r>
            <a:r>
              <a:rPr lang="en-US" dirty="0" err="1">
                <a:latin typeface="Montserrat" panose="00000500000000000000" pitchFamily="2" charset="0"/>
              </a:rPr>
              <a:t>radami</a:t>
            </a:r>
            <a:r>
              <a:rPr lang="en-US" dirty="0">
                <a:latin typeface="Montserrat" panose="00000500000000000000" pitchFamily="2" charset="0"/>
              </a:rPr>
              <a:t> </a:t>
            </a:r>
            <a:r>
              <a:rPr lang="en-US" dirty="0" err="1">
                <a:latin typeface="Montserrat" panose="00000500000000000000" pitchFamily="2" charset="0"/>
              </a:rPr>
              <a:t>rostou</a:t>
            </a:r>
            <a:r>
              <a:rPr lang="en-US" dirty="0">
                <a:latin typeface="Montserrat" panose="00000500000000000000" pitchFamily="2" charset="0"/>
              </a:rPr>
              <a:t> </a:t>
            </a:r>
            <a:r>
              <a:rPr lang="en-US" dirty="0" err="1">
                <a:latin typeface="Montserrat" panose="00000500000000000000" pitchFamily="2" charset="0"/>
              </a:rPr>
              <a:t>i</a:t>
            </a:r>
            <a:r>
              <a:rPr lang="en-US" dirty="0">
                <a:latin typeface="Montserrat" panose="00000500000000000000" pitchFamily="2" charset="0"/>
              </a:rPr>
              <a:t> </a:t>
            </a:r>
            <a:r>
              <a:rPr lang="en-US" dirty="0" err="1">
                <a:latin typeface="Montserrat" panose="00000500000000000000" pitchFamily="2" charset="0"/>
              </a:rPr>
              <a:t>podvody</a:t>
            </a:r>
            <a:r>
              <a:rPr lang="en-US" dirty="0">
                <a:latin typeface="Montserrat" panose="00000500000000000000" pitchFamily="2" charset="0"/>
              </a:rPr>
              <a:t>.</a:t>
            </a:r>
            <a:endParaRPr lang="cs-CZ" dirty="0">
              <a:latin typeface="Montserrat" panose="00000500000000000000" pitchFamily="2" charset="0"/>
            </a:endParaRPr>
          </a:p>
          <a:p>
            <a:pPr lvl="0"/>
            <a:r>
              <a:rPr lang="en-US" dirty="0">
                <a:latin typeface="Montserrat" panose="00000500000000000000" pitchFamily="2" charset="0"/>
              </a:rPr>
              <a:t>&gt;½ by AI </a:t>
            </a:r>
            <a:r>
              <a:rPr lang="en-US" dirty="0" err="1">
                <a:latin typeface="Montserrat" panose="00000500000000000000" pitchFamily="2" charset="0"/>
              </a:rPr>
              <a:t>věřila</a:t>
            </a:r>
            <a:r>
              <a:rPr lang="en-US" dirty="0">
                <a:latin typeface="Montserrat" panose="00000500000000000000" pitchFamily="2" charset="0"/>
              </a:rPr>
              <a:t> </a:t>
            </a:r>
            <a:r>
              <a:rPr lang="en-US" dirty="0" err="1">
                <a:latin typeface="Montserrat" panose="00000500000000000000" pitchFamily="2" charset="0"/>
              </a:rPr>
              <a:t>jako</a:t>
            </a:r>
            <a:r>
              <a:rPr lang="en-US" dirty="0">
                <a:latin typeface="Montserrat" panose="00000500000000000000" pitchFamily="2" charset="0"/>
              </a:rPr>
              <a:t> </a:t>
            </a:r>
            <a:r>
              <a:rPr lang="en-US" dirty="0" err="1">
                <a:latin typeface="Montserrat" panose="00000500000000000000" pitchFamily="2" charset="0"/>
              </a:rPr>
              <a:t>štítu</a:t>
            </a:r>
            <a:r>
              <a:rPr lang="en-US" dirty="0">
                <a:latin typeface="Montserrat" panose="00000500000000000000" pitchFamily="2" charset="0"/>
              </a:rPr>
              <a:t> </a:t>
            </a:r>
            <a:r>
              <a:rPr lang="en-US" dirty="0" err="1">
                <a:latin typeface="Montserrat" panose="00000500000000000000" pitchFamily="2" charset="0"/>
              </a:rPr>
              <a:t>proti</a:t>
            </a:r>
            <a:r>
              <a:rPr lang="en-US" dirty="0">
                <a:latin typeface="Montserrat" panose="00000500000000000000" pitchFamily="2" charset="0"/>
              </a:rPr>
              <a:t> </a:t>
            </a:r>
            <a:r>
              <a:rPr lang="en-US" dirty="0" err="1">
                <a:latin typeface="Montserrat" panose="00000500000000000000" pitchFamily="2" charset="0"/>
              </a:rPr>
              <a:t>podvodům</a:t>
            </a:r>
            <a:r>
              <a:rPr lang="en-US" dirty="0">
                <a:latin typeface="Montserrat" panose="00000500000000000000" pitchFamily="2" charset="0"/>
              </a:rPr>
              <a:t> a </a:t>
            </a:r>
            <a:r>
              <a:rPr lang="en-US" dirty="0" err="1">
                <a:latin typeface="Montserrat" panose="00000500000000000000" pitchFamily="2" charset="0"/>
              </a:rPr>
              <a:t>phishingu</a:t>
            </a:r>
            <a:r>
              <a:rPr lang="en-US" dirty="0">
                <a:latin typeface="Montserrat" panose="00000500000000000000" pitchFamily="2" charset="0"/>
              </a:rPr>
              <a:t>.</a:t>
            </a:r>
          </a:p>
          <a:p>
            <a:pPr marL="0" lvl="0" indent="0">
              <a:buNone/>
            </a:pPr>
            <a:endParaRPr lang="en-US" dirty="0">
              <a:latin typeface="Montserrat" panose="00000500000000000000" pitchFamily="2" charset="0"/>
            </a:endParaRPr>
          </a:p>
          <a:p>
            <a:pPr marL="0" indent="0">
              <a:buNone/>
            </a:pPr>
            <a:r>
              <a:rPr lang="en-US" sz="1600" b="1" dirty="0" err="1">
                <a:latin typeface="Montserrat" panose="00000500000000000000" pitchFamily="2" charset="0"/>
              </a:rPr>
              <a:t>Shrnutí</a:t>
            </a:r>
            <a:r>
              <a:rPr lang="en-US" sz="1600" b="1" dirty="0">
                <a:latin typeface="Montserrat" panose="00000500000000000000" pitchFamily="2" charset="0"/>
              </a:rPr>
              <a:t>: </a:t>
            </a:r>
            <a:endParaRPr lang="cs-CZ" sz="1600" b="1" dirty="0">
              <a:latin typeface="Montserrat" panose="00000500000000000000" pitchFamily="2" charset="0"/>
            </a:endParaRPr>
          </a:p>
          <a:p>
            <a:pPr>
              <a:buFont typeface="Arial" panose="020B0604020202020204" pitchFamily="34" charset="0"/>
              <a:buChar char="•"/>
            </a:pPr>
            <a:r>
              <a:rPr lang="en-US" dirty="0" err="1">
                <a:latin typeface="Montserrat" panose="00000500000000000000" pitchFamily="2" charset="0"/>
              </a:rPr>
              <a:t>Češi</a:t>
            </a:r>
            <a:r>
              <a:rPr lang="en-US" dirty="0">
                <a:latin typeface="Montserrat" panose="00000500000000000000" pitchFamily="2" charset="0"/>
              </a:rPr>
              <a:t> </a:t>
            </a:r>
            <a:r>
              <a:rPr lang="en-US" dirty="0" err="1">
                <a:latin typeface="Montserrat" panose="00000500000000000000" pitchFamily="2" charset="0"/>
              </a:rPr>
              <a:t>začínají</a:t>
            </a:r>
            <a:r>
              <a:rPr lang="en-US" dirty="0">
                <a:latin typeface="Montserrat" panose="00000500000000000000" pitchFamily="2" charset="0"/>
              </a:rPr>
              <a:t> AI </a:t>
            </a:r>
            <a:r>
              <a:rPr lang="en-US" dirty="0" err="1">
                <a:latin typeface="Montserrat" panose="00000500000000000000" pitchFamily="2" charset="0"/>
              </a:rPr>
              <a:t>akceptovat</a:t>
            </a:r>
            <a:r>
              <a:rPr lang="en-US" dirty="0">
                <a:latin typeface="Montserrat" panose="00000500000000000000" pitchFamily="2" charset="0"/>
              </a:rPr>
              <a:t>, ale v </a:t>
            </a:r>
            <a:r>
              <a:rPr lang="en-US" dirty="0" err="1">
                <a:latin typeface="Montserrat" panose="00000500000000000000" pitchFamily="2" charset="0"/>
              </a:rPr>
              <a:t>investičním</a:t>
            </a:r>
            <a:r>
              <a:rPr lang="en-US" dirty="0">
                <a:latin typeface="Montserrat" panose="00000500000000000000" pitchFamily="2" charset="0"/>
              </a:rPr>
              <a:t> </a:t>
            </a:r>
            <a:r>
              <a:rPr lang="en-US" dirty="0" err="1">
                <a:latin typeface="Montserrat" panose="00000500000000000000" pitchFamily="2" charset="0"/>
              </a:rPr>
              <a:t>poradenství</a:t>
            </a:r>
            <a:r>
              <a:rPr lang="en-US" dirty="0">
                <a:latin typeface="Montserrat" panose="00000500000000000000" pitchFamily="2" charset="0"/>
              </a:rPr>
              <a:t> </a:t>
            </a:r>
            <a:r>
              <a:rPr lang="en-US" dirty="0" err="1">
                <a:latin typeface="Montserrat" panose="00000500000000000000" pitchFamily="2" charset="0"/>
              </a:rPr>
              <a:t>zůstávají</a:t>
            </a:r>
            <a:r>
              <a:rPr lang="en-US" dirty="0">
                <a:latin typeface="Montserrat" panose="00000500000000000000" pitchFamily="2" charset="0"/>
              </a:rPr>
              <a:t> </a:t>
            </a:r>
            <a:r>
              <a:rPr lang="en-US" dirty="0" err="1">
                <a:latin typeface="Montserrat" panose="00000500000000000000" pitchFamily="2" charset="0"/>
              </a:rPr>
              <a:t>opatrní</a:t>
            </a:r>
            <a:r>
              <a:rPr lang="en-US" dirty="0">
                <a:latin typeface="Montserrat" panose="00000500000000000000" pitchFamily="2" charset="0"/>
              </a:rPr>
              <a:t> </a:t>
            </a:r>
            <a:r>
              <a:rPr lang="cs-CZ" dirty="0">
                <a:latin typeface="Montserrat" panose="00000500000000000000" pitchFamily="2" charset="0"/>
              </a:rPr>
              <a:t>-</a:t>
            </a:r>
            <a:r>
              <a:rPr lang="en-US" dirty="0">
                <a:latin typeface="Montserrat" panose="00000500000000000000" pitchFamily="2" charset="0"/>
              </a:rPr>
              <a:t> </a:t>
            </a:r>
            <a:r>
              <a:rPr lang="en-US" dirty="0" err="1">
                <a:latin typeface="Montserrat" panose="00000500000000000000" pitchFamily="2" charset="0"/>
              </a:rPr>
              <a:t>stále</a:t>
            </a:r>
            <a:r>
              <a:rPr lang="en-US" dirty="0">
                <a:latin typeface="Montserrat" panose="00000500000000000000" pitchFamily="2" charset="0"/>
              </a:rPr>
              <a:t> </a:t>
            </a:r>
            <a:r>
              <a:rPr lang="en-US" dirty="0" err="1">
                <a:latin typeface="Montserrat" panose="00000500000000000000" pitchFamily="2" charset="0"/>
              </a:rPr>
              <a:t>vyhledávají</a:t>
            </a:r>
            <a:r>
              <a:rPr lang="en-US" dirty="0">
                <a:latin typeface="Montserrat" panose="00000500000000000000" pitchFamily="2" charset="0"/>
              </a:rPr>
              <a:t> </a:t>
            </a:r>
            <a:r>
              <a:rPr lang="en-US" dirty="0" err="1">
                <a:latin typeface="Montserrat" panose="00000500000000000000" pitchFamily="2" charset="0"/>
              </a:rPr>
              <a:t>interakci</a:t>
            </a:r>
            <a:r>
              <a:rPr lang="en-US" dirty="0">
                <a:latin typeface="Montserrat" panose="00000500000000000000" pitchFamily="2" charset="0"/>
              </a:rPr>
              <a:t> s  </a:t>
            </a:r>
            <a:r>
              <a:rPr lang="cs-CZ" dirty="0">
                <a:latin typeface="Montserrat" panose="00000500000000000000" pitchFamily="2" charset="0"/>
              </a:rPr>
              <a:t>,,</a:t>
            </a:r>
            <a:r>
              <a:rPr lang="en-US" dirty="0" err="1">
                <a:latin typeface="Montserrat" panose="00000500000000000000" pitchFamily="2" charset="0"/>
              </a:rPr>
              <a:t>opravdovým</a:t>
            </a:r>
            <a:r>
              <a:rPr lang="en-US" dirty="0">
                <a:latin typeface="Montserrat" panose="00000500000000000000" pitchFamily="2" charset="0"/>
              </a:rPr>
              <a:t> </a:t>
            </a:r>
            <a:r>
              <a:rPr lang="en-US" dirty="0" err="1">
                <a:latin typeface="Montserrat" panose="00000500000000000000" pitchFamily="2" charset="0"/>
              </a:rPr>
              <a:t>poradcem</a:t>
            </a:r>
            <a:r>
              <a:rPr lang="en-US" dirty="0">
                <a:latin typeface="Montserrat" panose="00000500000000000000" pitchFamily="2" charset="0"/>
              </a:rPr>
              <a:t>“</a:t>
            </a:r>
            <a:r>
              <a:rPr lang="cs-CZ" dirty="0">
                <a:latin typeface="Montserrat" panose="00000500000000000000" pitchFamily="2" charset="0"/>
              </a:rPr>
              <a:t>.</a:t>
            </a:r>
            <a:endParaRPr lang="en-US" dirty="0">
              <a:latin typeface="Montserrat" panose="00000500000000000000" pitchFamily="2" charset="0"/>
            </a:endParaRPr>
          </a:p>
          <a:p>
            <a:pPr marL="0" lvl="0" indent="0">
              <a:buNone/>
            </a:pPr>
            <a:endParaRPr lang="en-US" dirty="0">
              <a:latin typeface="Montserrat" panose="00000500000000000000" pitchFamily="2" charset="0"/>
            </a:endParaRPr>
          </a:p>
        </p:txBody>
      </p:sp>
      <p:sp>
        <p:nvSpPr>
          <p:cNvPr id="3" name="Slide Number Placeholder 2">
            <a:extLst>
              <a:ext uri="{FF2B5EF4-FFF2-40B4-BE49-F238E27FC236}">
                <a16:creationId xmlns:a16="http://schemas.microsoft.com/office/drawing/2014/main" id="{8489DE47-B6BA-A655-E4D9-30D4AB34292C}"/>
              </a:ext>
            </a:extLst>
          </p:cNvPr>
          <p:cNvSpPr>
            <a:spLocks noGrp="1"/>
          </p:cNvSpPr>
          <p:nvPr>
            <p:ph type="sldNum" sz="quarter" idx="12"/>
          </p:nvPr>
        </p:nvSpPr>
        <p:spPr/>
        <p:txBody>
          <a:bodyPr/>
          <a:lstStyle/>
          <a:p>
            <a:fld id="{07938D2D-74FD-477D-9AD6-67A26AAB47B3}" type="slidenum">
              <a:rPr lang="cs-CZ" smtClean="0"/>
              <a:t>5</a:t>
            </a:fld>
            <a:endParaRPr lang="cs-CZ"/>
          </a:p>
        </p:txBody>
      </p:sp>
      <p:sp>
        <p:nvSpPr>
          <p:cNvPr id="4" name="Title 3">
            <a:extLst>
              <a:ext uri="{FF2B5EF4-FFF2-40B4-BE49-F238E27FC236}">
                <a16:creationId xmlns:a16="http://schemas.microsoft.com/office/drawing/2014/main" id="{85090A86-0A2B-8AEA-DD60-EABB90000F4D}"/>
              </a:ext>
            </a:extLst>
          </p:cNvPr>
          <p:cNvSpPr>
            <a:spLocks noGrp="1"/>
          </p:cNvSpPr>
          <p:nvPr>
            <p:ph type="title"/>
          </p:nvPr>
        </p:nvSpPr>
        <p:spPr/>
        <p:txBody>
          <a:bodyPr>
            <a:normAutofit/>
          </a:bodyPr>
          <a:lstStyle/>
          <a:p>
            <a:r>
              <a:rPr lang="en-US" sz="2800" b="1" dirty="0">
                <a:latin typeface="Montserrat" panose="00000500000000000000" pitchFamily="2" charset="0"/>
              </a:rPr>
              <a:t>Co </a:t>
            </a:r>
            <a:r>
              <a:rPr lang="en-US" sz="2800" b="1" dirty="0" err="1">
                <a:latin typeface="Montserrat" panose="00000500000000000000" pitchFamily="2" charset="0"/>
              </a:rPr>
              <a:t>říkají</a:t>
            </a:r>
            <a:r>
              <a:rPr lang="en-US" sz="2800" b="1" dirty="0">
                <a:latin typeface="Montserrat" panose="00000500000000000000" pitchFamily="2" charset="0"/>
              </a:rPr>
              <a:t> </a:t>
            </a:r>
            <a:r>
              <a:rPr lang="en-US" sz="2800" b="1" dirty="0" err="1">
                <a:latin typeface="Montserrat" panose="00000500000000000000" pitchFamily="2" charset="0"/>
              </a:rPr>
              <a:t>Češi</a:t>
            </a:r>
            <a:r>
              <a:rPr lang="en-US" sz="2800" b="1" dirty="0">
                <a:latin typeface="Montserrat" panose="00000500000000000000" pitchFamily="2" charset="0"/>
              </a:rPr>
              <a:t> a </a:t>
            </a:r>
            <a:r>
              <a:rPr lang="en-US" sz="2800" b="1" dirty="0" err="1">
                <a:latin typeface="Montserrat" panose="00000500000000000000" pitchFamily="2" charset="0"/>
              </a:rPr>
              <a:t>na</a:t>
            </a:r>
            <a:r>
              <a:rPr lang="en-US" sz="2800" b="1" dirty="0">
                <a:latin typeface="Montserrat" panose="00000500000000000000" pitchFamily="2" charset="0"/>
              </a:rPr>
              <a:t> co </a:t>
            </a:r>
            <a:r>
              <a:rPr lang="en-US" sz="2800" b="1" dirty="0" err="1">
                <a:latin typeface="Montserrat" panose="00000500000000000000" pitchFamily="2" charset="0"/>
              </a:rPr>
              <a:t>upozorňuje</a:t>
            </a:r>
            <a:r>
              <a:rPr lang="en-US" sz="2800" b="1" dirty="0">
                <a:latin typeface="Montserrat" panose="00000500000000000000" pitchFamily="2" charset="0"/>
              </a:rPr>
              <a:t> </a:t>
            </a:r>
            <a:r>
              <a:rPr lang="en-US" sz="2800" b="1" dirty="0" err="1">
                <a:latin typeface="Montserrat" panose="00000500000000000000" pitchFamily="2" charset="0"/>
              </a:rPr>
              <a:t>regulace</a:t>
            </a:r>
            <a:endParaRPr lang="en-US" sz="2800" dirty="0">
              <a:latin typeface="Montserrat" panose="00000500000000000000" pitchFamily="2" charset="0"/>
            </a:endParaRPr>
          </a:p>
        </p:txBody>
      </p:sp>
      <p:sp>
        <p:nvSpPr>
          <p:cNvPr id="5" name="Text Placeholder 4">
            <a:extLst>
              <a:ext uri="{FF2B5EF4-FFF2-40B4-BE49-F238E27FC236}">
                <a16:creationId xmlns:a16="http://schemas.microsoft.com/office/drawing/2014/main" id="{393478F6-45B2-5E6F-AC96-C563522A3D7E}"/>
              </a:ext>
            </a:extLst>
          </p:cNvPr>
          <p:cNvSpPr>
            <a:spLocks noGrp="1"/>
          </p:cNvSpPr>
          <p:nvPr>
            <p:ph type="body" sz="quarter" idx="13"/>
          </p:nvPr>
        </p:nvSpPr>
        <p:spPr/>
        <p:txBody>
          <a:bodyPr/>
          <a:lstStyle/>
          <a:p>
            <a:endParaRPr lang="en-US" dirty="0">
              <a:latin typeface="Montserrat" panose="00000500000000000000" pitchFamily="2" charset="0"/>
            </a:endParaRPr>
          </a:p>
        </p:txBody>
      </p:sp>
    </p:spTree>
    <p:extLst>
      <p:ext uri="{BB962C8B-B14F-4D97-AF65-F5344CB8AC3E}">
        <p14:creationId xmlns:p14="http://schemas.microsoft.com/office/powerpoint/2010/main" val="364019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04C66-2BE3-EFD6-685E-04E72E25C36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07020C-4853-1A9D-9619-31B0B1AF377B}"/>
              </a:ext>
            </a:extLst>
          </p:cNvPr>
          <p:cNvSpPr>
            <a:spLocks noGrp="1"/>
          </p:cNvSpPr>
          <p:nvPr>
            <p:ph idx="1"/>
          </p:nvPr>
        </p:nvSpPr>
        <p:spPr/>
        <p:txBody>
          <a:bodyPr/>
          <a:lstStyle/>
          <a:p>
            <a:pPr marL="0" lvl="0" indent="0">
              <a:buNone/>
            </a:pPr>
            <a:endParaRPr lang="cs-CZ" dirty="0">
              <a:latin typeface="Montserrat" panose="00000500000000000000" pitchFamily="2" charset="0"/>
            </a:endParaRPr>
          </a:p>
          <a:p>
            <a:pPr lvl="0"/>
            <a:r>
              <a:rPr lang="en-US" dirty="0">
                <a:latin typeface="Montserrat" panose="00000500000000000000" pitchFamily="2" charset="0"/>
              </a:rPr>
              <a:t>AI </a:t>
            </a:r>
            <a:r>
              <a:rPr lang="en-US" dirty="0" err="1">
                <a:latin typeface="Montserrat" panose="00000500000000000000" pitchFamily="2" charset="0"/>
              </a:rPr>
              <a:t>nástroje</a:t>
            </a:r>
            <a:r>
              <a:rPr lang="en-US" dirty="0">
                <a:latin typeface="Montserrat" panose="00000500000000000000" pitchFamily="2" charset="0"/>
              </a:rPr>
              <a:t> </a:t>
            </a:r>
            <a:r>
              <a:rPr lang="en-US" dirty="0" err="1">
                <a:latin typeface="Montserrat" panose="00000500000000000000" pitchFamily="2" charset="0"/>
              </a:rPr>
              <a:t>mohou</a:t>
            </a:r>
            <a:r>
              <a:rPr lang="en-US" dirty="0">
                <a:latin typeface="Montserrat" panose="00000500000000000000" pitchFamily="2" charset="0"/>
              </a:rPr>
              <a:t> </a:t>
            </a:r>
            <a:r>
              <a:rPr lang="en-US" dirty="0" err="1">
                <a:latin typeface="Montserrat" panose="00000500000000000000" pitchFamily="2" charset="0"/>
              </a:rPr>
              <a:t>generovat</a:t>
            </a:r>
            <a:r>
              <a:rPr lang="en-US" dirty="0">
                <a:latin typeface="Montserrat" panose="00000500000000000000" pitchFamily="2" charset="0"/>
              </a:rPr>
              <a:t> </a:t>
            </a:r>
            <a:r>
              <a:rPr lang="en-US" b="1" dirty="0" err="1">
                <a:latin typeface="Montserrat" panose="00000500000000000000" pitchFamily="2" charset="0"/>
              </a:rPr>
              <a:t>nepřesné</a:t>
            </a:r>
            <a:r>
              <a:rPr lang="en-US" b="1" dirty="0">
                <a:latin typeface="Montserrat" panose="00000500000000000000" pitchFamily="2" charset="0"/>
              </a:rPr>
              <a:t> </a:t>
            </a:r>
            <a:r>
              <a:rPr lang="cs-CZ" b="1" dirty="0">
                <a:latin typeface="Montserrat" panose="00000500000000000000" pitchFamily="2" charset="0"/>
              </a:rPr>
              <a:t>a neaktuální data </a:t>
            </a:r>
            <a:r>
              <a:rPr lang="en-US" dirty="0" err="1">
                <a:latin typeface="Montserrat" panose="00000500000000000000" pitchFamily="2" charset="0"/>
              </a:rPr>
              <a:t>nebo</a:t>
            </a:r>
            <a:r>
              <a:rPr lang="en-US" b="1" dirty="0">
                <a:latin typeface="Montserrat" panose="00000500000000000000" pitchFamily="2" charset="0"/>
              </a:rPr>
              <a:t> </a:t>
            </a:r>
            <a:r>
              <a:rPr lang="en-US" b="1" dirty="0" err="1">
                <a:latin typeface="Montserrat" panose="00000500000000000000" pitchFamily="2" charset="0"/>
              </a:rPr>
              <a:t>zavádějící</a:t>
            </a:r>
            <a:r>
              <a:rPr lang="en-US" b="1" dirty="0">
                <a:latin typeface="Montserrat" panose="00000500000000000000" pitchFamily="2" charset="0"/>
              </a:rPr>
              <a:t> </a:t>
            </a:r>
            <a:r>
              <a:rPr lang="en-US" b="1" dirty="0" err="1">
                <a:latin typeface="Montserrat" panose="00000500000000000000" pitchFamily="2" charset="0"/>
              </a:rPr>
              <a:t>rady</a:t>
            </a:r>
            <a:endParaRPr lang="cs-CZ" b="1" dirty="0">
              <a:latin typeface="Montserrat" panose="00000500000000000000" pitchFamily="2" charset="0"/>
            </a:endParaRPr>
          </a:p>
          <a:p>
            <a:r>
              <a:rPr lang="cs-CZ" dirty="0">
                <a:latin typeface="Montserrat" panose="00000500000000000000" pitchFamily="2" charset="0"/>
              </a:rPr>
              <a:t>AI </a:t>
            </a:r>
            <a:r>
              <a:rPr lang="en-US" dirty="0" err="1">
                <a:latin typeface="Montserrat" panose="00000500000000000000" pitchFamily="2" charset="0"/>
              </a:rPr>
              <a:t>nebere</a:t>
            </a:r>
            <a:r>
              <a:rPr lang="en-US" dirty="0">
                <a:latin typeface="Montserrat" panose="00000500000000000000" pitchFamily="2" charset="0"/>
              </a:rPr>
              <a:t> v </a:t>
            </a:r>
            <a:r>
              <a:rPr lang="en-US" dirty="0" err="1">
                <a:latin typeface="Montserrat" panose="00000500000000000000" pitchFamily="2" charset="0"/>
              </a:rPr>
              <a:t>úvahu</a:t>
            </a:r>
            <a:r>
              <a:rPr lang="en-US" dirty="0">
                <a:latin typeface="Montserrat" panose="00000500000000000000" pitchFamily="2" charset="0"/>
              </a:rPr>
              <a:t> </a:t>
            </a:r>
            <a:r>
              <a:rPr lang="en-US" dirty="0" err="1">
                <a:latin typeface="Montserrat" panose="00000500000000000000" pitchFamily="2" charset="0"/>
              </a:rPr>
              <a:t>všechny</a:t>
            </a:r>
            <a:r>
              <a:rPr lang="en-US" dirty="0">
                <a:latin typeface="Montserrat" panose="00000500000000000000" pitchFamily="2" charset="0"/>
              </a:rPr>
              <a:t> </a:t>
            </a:r>
            <a:r>
              <a:rPr lang="en-US" dirty="0" err="1">
                <a:latin typeface="Montserrat" panose="00000500000000000000" pitchFamily="2" charset="0"/>
              </a:rPr>
              <a:t>osobní</a:t>
            </a:r>
            <a:r>
              <a:rPr lang="en-US" dirty="0">
                <a:latin typeface="Montserrat" panose="00000500000000000000" pitchFamily="2" charset="0"/>
              </a:rPr>
              <a:t>, </a:t>
            </a:r>
            <a:r>
              <a:rPr lang="en-US" dirty="0" err="1">
                <a:latin typeface="Montserrat" panose="00000500000000000000" pitchFamily="2" charset="0"/>
              </a:rPr>
              <a:t>emocionální</a:t>
            </a:r>
            <a:r>
              <a:rPr lang="en-US" dirty="0">
                <a:latin typeface="Montserrat" panose="00000500000000000000" pitchFamily="2" charset="0"/>
              </a:rPr>
              <a:t> </a:t>
            </a:r>
            <a:r>
              <a:rPr lang="en-US" dirty="0" err="1">
                <a:latin typeface="Montserrat" panose="00000500000000000000" pitchFamily="2" charset="0"/>
              </a:rPr>
              <a:t>či</a:t>
            </a:r>
            <a:r>
              <a:rPr lang="en-US" dirty="0">
                <a:latin typeface="Montserrat" panose="00000500000000000000" pitchFamily="2" charset="0"/>
              </a:rPr>
              <a:t> </a:t>
            </a:r>
            <a:r>
              <a:rPr lang="en-US" dirty="0" err="1">
                <a:latin typeface="Montserrat" panose="00000500000000000000" pitchFamily="2" charset="0"/>
              </a:rPr>
              <a:t>komplexní</a:t>
            </a:r>
            <a:r>
              <a:rPr lang="en-US" dirty="0">
                <a:latin typeface="Montserrat" panose="00000500000000000000" pitchFamily="2" charset="0"/>
              </a:rPr>
              <a:t> </a:t>
            </a:r>
            <a:r>
              <a:rPr lang="en-US" dirty="0" err="1">
                <a:latin typeface="Montserrat" panose="00000500000000000000" pitchFamily="2" charset="0"/>
              </a:rPr>
              <a:t>faktory</a:t>
            </a:r>
            <a:r>
              <a:rPr lang="en-US" dirty="0">
                <a:latin typeface="Montserrat" panose="00000500000000000000" pitchFamily="2" charset="0"/>
              </a:rPr>
              <a:t> </a:t>
            </a:r>
            <a:r>
              <a:rPr lang="en-US" dirty="0" err="1">
                <a:latin typeface="Montserrat" panose="00000500000000000000" pitchFamily="2" charset="0"/>
              </a:rPr>
              <a:t>klienta</a:t>
            </a:r>
            <a:endParaRPr lang="en-US" dirty="0">
              <a:latin typeface="Montserrat" panose="00000500000000000000" pitchFamily="2" charset="0"/>
            </a:endParaRPr>
          </a:p>
          <a:p>
            <a:pPr lvl="0"/>
            <a:r>
              <a:rPr lang="en-US" dirty="0" err="1">
                <a:latin typeface="Montserrat" panose="00000500000000000000" pitchFamily="2" charset="0"/>
              </a:rPr>
              <a:t>Veřejně</a:t>
            </a:r>
            <a:r>
              <a:rPr lang="en-US" dirty="0">
                <a:latin typeface="Montserrat" panose="00000500000000000000" pitchFamily="2" charset="0"/>
              </a:rPr>
              <a:t> </a:t>
            </a:r>
            <a:r>
              <a:rPr lang="en-US" dirty="0" err="1">
                <a:latin typeface="Montserrat" panose="00000500000000000000" pitchFamily="2" charset="0"/>
              </a:rPr>
              <a:t>dostupné</a:t>
            </a:r>
            <a:r>
              <a:rPr lang="en-US" dirty="0">
                <a:latin typeface="Montserrat" panose="00000500000000000000" pitchFamily="2" charset="0"/>
              </a:rPr>
              <a:t> AI </a:t>
            </a:r>
            <a:r>
              <a:rPr lang="en-US" dirty="0" err="1">
                <a:latin typeface="Montserrat" panose="00000500000000000000" pitchFamily="2" charset="0"/>
              </a:rPr>
              <a:t>nástroje</a:t>
            </a:r>
            <a:r>
              <a:rPr lang="en-US" dirty="0">
                <a:latin typeface="Montserrat" panose="00000500000000000000" pitchFamily="2" charset="0"/>
              </a:rPr>
              <a:t> </a:t>
            </a:r>
            <a:r>
              <a:rPr lang="en-US" b="1" dirty="0" err="1">
                <a:latin typeface="Montserrat" panose="00000500000000000000" pitchFamily="2" charset="0"/>
              </a:rPr>
              <a:t>nepodléhají</a:t>
            </a:r>
            <a:r>
              <a:rPr lang="en-US" b="1" dirty="0">
                <a:latin typeface="Montserrat" panose="00000500000000000000" pitchFamily="2" charset="0"/>
              </a:rPr>
              <a:t> </a:t>
            </a:r>
            <a:r>
              <a:rPr lang="en-US" b="1" dirty="0" err="1">
                <a:latin typeface="Montserrat" panose="00000500000000000000" pitchFamily="2" charset="0"/>
              </a:rPr>
              <a:t>regulaci</a:t>
            </a:r>
            <a:r>
              <a:rPr lang="en-US" dirty="0">
                <a:latin typeface="Montserrat" panose="00000500000000000000" pitchFamily="2" charset="0"/>
              </a:rPr>
              <a:t> pro </a:t>
            </a:r>
            <a:r>
              <a:rPr lang="en-US" dirty="0" err="1">
                <a:latin typeface="Montserrat" panose="00000500000000000000" pitchFamily="2" charset="0"/>
              </a:rPr>
              <a:t>investiční</a:t>
            </a:r>
            <a:r>
              <a:rPr lang="en-US" dirty="0">
                <a:latin typeface="Montserrat" panose="00000500000000000000" pitchFamily="2" charset="0"/>
              </a:rPr>
              <a:t> </a:t>
            </a:r>
            <a:r>
              <a:rPr lang="en-US" dirty="0" err="1">
                <a:latin typeface="Montserrat" panose="00000500000000000000" pitchFamily="2" charset="0"/>
              </a:rPr>
              <a:t>služby</a:t>
            </a:r>
            <a:endParaRPr lang="en-US" dirty="0">
              <a:latin typeface="Montserrat" panose="00000500000000000000" pitchFamily="2" charset="0"/>
            </a:endParaRPr>
          </a:p>
          <a:p>
            <a:pPr lvl="0"/>
            <a:r>
              <a:rPr lang="en-US" dirty="0">
                <a:latin typeface="Montserrat" panose="00000500000000000000" pitchFamily="2" charset="0"/>
              </a:rPr>
              <a:t>Je </a:t>
            </a:r>
            <a:r>
              <a:rPr lang="en-US" dirty="0" err="1">
                <a:latin typeface="Montserrat" panose="00000500000000000000" pitchFamily="2" charset="0"/>
              </a:rPr>
              <a:t>důležité</a:t>
            </a:r>
            <a:r>
              <a:rPr lang="en-US" dirty="0">
                <a:latin typeface="Montserrat" panose="00000500000000000000" pitchFamily="2" charset="0"/>
              </a:rPr>
              <a:t> </a:t>
            </a:r>
            <a:r>
              <a:rPr lang="en-US" b="1" dirty="0" err="1">
                <a:latin typeface="Montserrat" panose="00000500000000000000" pitchFamily="2" charset="0"/>
              </a:rPr>
              <a:t>nespoléhat</a:t>
            </a:r>
            <a:r>
              <a:rPr lang="en-US" b="1" dirty="0">
                <a:latin typeface="Montserrat" panose="00000500000000000000" pitchFamily="2" charset="0"/>
              </a:rPr>
              <a:t> se </a:t>
            </a:r>
            <a:r>
              <a:rPr lang="en-US" b="1" dirty="0" err="1">
                <a:latin typeface="Montserrat" panose="00000500000000000000" pitchFamily="2" charset="0"/>
              </a:rPr>
              <a:t>výhradně</a:t>
            </a:r>
            <a:r>
              <a:rPr lang="en-US" b="1" dirty="0">
                <a:latin typeface="Montserrat" panose="00000500000000000000" pitchFamily="2" charset="0"/>
              </a:rPr>
              <a:t> </a:t>
            </a:r>
            <a:r>
              <a:rPr lang="en-US" b="1" dirty="0" err="1">
                <a:latin typeface="Montserrat" panose="00000500000000000000" pitchFamily="2" charset="0"/>
              </a:rPr>
              <a:t>na</a:t>
            </a:r>
            <a:r>
              <a:rPr lang="en-US" b="1" dirty="0">
                <a:latin typeface="Montserrat" panose="00000500000000000000" pitchFamily="2" charset="0"/>
              </a:rPr>
              <a:t> AI</a:t>
            </a:r>
            <a:r>
              <a:rPr lang="cs-CZ" b="1" dirty="0">
                <a:latin typeface="Montserrat" panose="00000500000000000000" pitchFamily="2" charset="0"/>
              </a:rPr>
              <a:t> </a:t>
            </a:r>
            <a:r>
              <a:rPr lang="cs-CZ" dirty="0">
                <a:latin typeface="Montserrat" panose="00000500000000000000" pitchFamily="2" charset="0"/>
              </a:rPr>
              <a:t>-</a:t>
            </a:r>
            <a:r>
              <a:rPr lang="en-US" dirty="0">
                <a:latin typeface="Montserrat" panose="00000500000000000000" pitchFamily="2" charset="0"/>
              </a:rPr>
              <a:t> </a:t>
            </a:r>
            <a:r>
              <a:rPr lang="en-US" dirty="0" err="1">
                <a:latin typeface="Montserrat" panose="00000500000000000000" pitchFamily="2" charset="0"/>
              </a:rPr>
              <a:t>používejte</a:t>
            </a:r>
            <a:r>
              <a:rPr lang="en-US" dirty="0">
                <a:latin typeface="Montserrat" panose="00000500000000000000" pitchFamily="2" charset="0"/>
              </a:rPr>
              <a:t> ji </a:t>
            </a:r>
            <a:r>
              <a:rPr lang="cs-CZ" dirty="0">
                <a:latin typeface="Montserrat" panose="00000500000000000000" pitchFamily="2" charset="0"/>
              </a:rPr>
              <a:t>jako</a:t>
            </a:r>
            <a:r>
              <a:rPr lang="en-US" b="1" dirty="0">
                <a:latin typeface="Montserrat" panose="00000500000000000000" pitchFamily="2" charset="0"/>
              </a:rPr>
              <a:t> </a:t>
            </a:r>
            <a:r>
              <a:rPr lang="en-US" b="1" dirty="0" err="1">
                <a:latin typeface="Montserrat" panose="00000500000000000000" pitchFamily="2" charset="0"/>
              </a:rPr>
              <a:t>doplněk</a:t>
            </a:r>
            <a:r>
              <a:rPr lang="en-US" dirty="0">
                <a:latin typeface="Montserrat" panose="00000500000000000000" pitchFamily="2" charset="0"/>
              </a:rPr>
              <a:t> </a:t>
            </a:r>
          </a:p>
          <a:p>
            <a:pPr lvl="0"/>
            <a:r>
              <a:rPr lang="en-US" dirty="0" err="1">
                <a:latin typeface="Montserrat" panose="00000500000000000000" pitchFamily="2" charset="0"/>
              </a:rPr>
              <a:t>Pozor</a:t>
            </a:r>
            <a:r>
              <a:rPr lang="en-US" dirty="0">
                <a:latin typeface="Montserrat" panose="00000500000000000000" pitchFamily="2" charset="0"/>
              </a:rPr>
              <a:t> </a:t>
            </a:r>
            <a:r>
              <a:rPr lang="en-US" dirty="0" err="1">
                <a:latin typeface="Montserrat" panose="00000500000000000000" pitchFamily="2" charset="0"/>
              </a:rPr>
              <a:t>na</a:t>
            </a:r>
            <a:r>
              <a:rPr lang="en-US" dirty="0">
                <a:latin typeface="Montserrat" panose="00000500000000000000" pitchFamily="2" charset="0"/>
              </a:rPr>
              <a:t> </a:t>
            </a:r>
            <a:r>
              <a:rPr lang="en-US" b="1" dirty="0" err="1">
                <a:latin typeface="Montserrat" panose="00000500000000000000" pitchFamily="2" charset="0"/>
              </a:rPr>
              <a:t>sliby</a:t>
            </a:r>
            <a:r>
              <a:rPr lang="en-US" b="1" dirty="0">
                <a:latin typeface="Montserrat" panose="00000500000000000000" pitchFamily="2" charset="0"/>
              </a:rPr>
              <a:t> </a:t>
            </a:r>
            <a:r>
              <a:rPr lang="en-US" b="1" dirty="0" err="1">
                <a:latin typeface="Montserrat" panose="00000500000000000000" pitchFamily="2" charset="0"/>
              </a:rPr>
              <a:t>rychlého</a:t>
            </a:r>
            <a:r>
              <a:rPr lang="en-US" b="1" dirty="0">
                <a:latin typeface="Montserrat" panose="00000500000000000000" pitchFamily="2" charset="0"/>
              </a:rPr>
              <a:t> </a:t>
            </a:r>
            <a:r>
              <a:rPr lang="en-US" b="1" dirty="0" err="1">
                <a:latin typeface="Montserrat" panose="00000500000000000000" pitchFamily="2" charset="0"/>
              </a:rPr>
              <a:t>zisku</a:t>
            </a:r>
            <a:r>
              <a:rPr lang="en-US" dirty="0">
                <a:latin typeface="Montserrat" panose="00000500000000000000" pitchFamily="2" charset="0"/>
              </a:rPr>
              <a:t> </a:t>
            </a:r>
            <a:r>
              <a:rPr lang="en-US" dirty="0" err="1">
                <a:latin typeface="Montserrat" panose="00000500000000000000" pitchFamily="2" charset="0"/>
              </a:rPr>
              <a:t>či</a:t>
            </a:r>
            <a:r>
              <a:rPr lang="en-US" dirty="0">
                <a:latin typeface="Montserrat" panose="00000500000000000000" pitchFamily="2" charset="0"/>
              </a:rPr>
              <a:t> </a:t>
            </a:r>
            <a:r>
              <a:rPr lang="en-US" dirty="0" err="1">
                <a:latin typeface="Montserrat" panose="00000500000000000000" pitchFamily="2" charset="0"/>
              </a:rPr>
              <a:t>predikce</a:t>
            </a:r>
            <a:r>
              <a:rPr lang="en-US" dirty="0">
                <a:latin typeface="Montserrat" panose="00000500000000000000" pitchFamily="2" charset="0"/>
              </a:rPr>
              <a:t>, </a:t>
            </a:r>
            <a:r>
              <a:rPr lang="en-US" dirty="0" err="1">
                <a:latin typeface="Montserrat" panose="00000500000000000000" pitchFamily="2" charset="0"/>
              </a:rPr>
              <a:t>že</a:t>
            </a:r>
            <a:r>
              <a:rPr lang="en-US" dirty="0">
                <a:latin typeface="Montserrat" panose="00000500000000000000" pitchFamily="2" charset="0"/>
              </a:rPr>
              <a:t> AI </a:t>
            </a:r>
            <a:r>
              <a:rPr lang="en-US" dirty="0" err="1">
                <a:latin typeface="Montserrat" panose="00000500000000000000" pitchFamily="2" charset="0"/>
              </a:rPr>
              <a:t>dokáže</a:t>
            </a:r>
            <a:r>
              <a:rPr lang="en-US" dirty="0">
                <a:latin typeface="Montserrat" panose="00000500000000000000" pitchFamily="2" charset="0"/>
              </a:rPr>
              <a:t> </a:t>
            </a:r>
            <a:r>
              <a:rPr lang="en-US" dirty="0" err="1">
                <a:latin typeface="Montserrat" panose="00000500000000000000" pitchFamily="2" charset="0"/>
              </a:rPr>
              <a:t>přesně</a:t>
            </a:r>
            <a:r>
              <a:rPr lang="en-US" dirty="0">
                <a:latin typeface="Montserrat" panose="00000500000000000000" pitchFamily="2" charset="0"/>
              </a:rPr>
              <a:t> </a:t>
            </a:r>
            <a:r>
              <a:rPr lang="en-US" dirty="0" err="1">
                <a:latin typeface="Montserrat" panose="00000500000000000000" pitchFamily="2" charset="0"/>
              </a:rPr>
              <a:t>předpovídat</a:t>
            </a:r>
            <a:r>
              <a:rPr lang="en-US" dirty="0">
                <a:latin typeface="Montserrat" panose="00000500000000000000" pitchFamily="2" charset="0"/>
              </a:rPr>
              <a:t> </a:t>
            </a:r>
            <a:r>
              <a:rPr lang="en-US" dirty="0" err="1">
                <a:latin typeface="Montserrat" panose="00000500000000000000" pitchFamily="2" charset="0"/>
              </a:rPr>
              <a:t>trh</a:t>
            </a:r>
            <a:endParaRPr lang="en-US" dirty="0">
              <a:latin typeface="Montserrat" panose="00000500000000000000" pitchFamily="2" charset="0"/>
            </a:endParaRPr>
          </a:p>
          <a:p>
            <a:pPr lvl="0"/>
            <a:r>
              <a:rPr lang="en-US" dirty="0">
                <a:latin typeface="Montserrat" panose="00000500000000000000" pitchFamily="2" charset="0"/>
              </a:rPr>
              <a:t>AI </a:t>
            </a:r>
            <a:r>
              <a:rPr lang="en-US" dirty="0" err="1">
                <a:latin typeface="Montserrat" panose="00000500000000000000" pitchFamily="2" charset="0"/>
              </a:rPr>
              <a:t>nemůže</a:t>
            </a:r>
            <a:r>
              <a:rPr lang="en-US" dirty="0">
                <a:latin typeface="Montserrat" panose="00000500000000000000" pitchFamily="2" charset="0"/>
              </a:rPr>
              <a:t> </a:t>
            </a:r>
            <a:r>
              <a:rPr lang="en-US" dirty="0" err="1">
                <a:latin typeface="Montserrat" panose="00000500000000000000" pitchFamily="2" charset="0"/>
              </a:rPr>
              <a:t>převzít</a:t>
            </a:r>
            <a:r>
              <a:rPr lang="en-US" dirty="0">
                <a:latin typeface="Montserrat" panose="00000500000000000000" pitchFamily="2" charset="0"/>
              </a:rPr>
              <a:t> </a:t>
            </a:r>
            <a:r>
              <a:rPr lang="en-US" dirty="0" err="1">
                <a:latin typeface="Montserrat" panose="00000500000000000000" pitchFamily="2" charset="0"/>
              </a:rPr>
              <a:t>zodpovědnost</a:t>
            </a:r>
            <a:r>
              <a:rPr lang="en-US" dirty="0">
                <a:latin typeface="Montserrat" panose="00000500000000000000" pitchFamily="2" charset="0"/>
              </a:rPr>
              <a:t> za </a:t>
            </a:r>
            <a:r>
              <a:rPr lang="cs-CZ" dirty="0">
                <a:latin typeface="Montserrat" panose="00000500000000000000" pitchFamily="2" charset="0"/>
              </a:rPr>
              <a:t>v</a:t>
            </a:r>
            <a:r>
              <a:rPr lang="en-US" dirty="0" err="1">
                <a:latin typeface="Montserrat" panose="00000500000000000000" pitchFamily="2" charset="0"/>
              </a:rPr>
              <a:t>aše</a:t>
            </a:r>
            <a:r>
              <a:rPr lang="en-US" dirty="0">
                <a:latin typeface="Montserrat" panose="00000500000000000000" pitchFamily="2" charset="0"/>
              </a:rPr>
              <a:t> fin. </a:t>
            </a:r>
            <a:r>
              <a:rPr lang="cs-CZ" dirty="0">
                <a:latin typeface="Montserrat" panose="00000500000000000000" pitchFamily="2" charset="0"/>
              </a:rPr>
              <a:t>r</a:t>
            </a:r>
            <a:r>
              <a:rPr lang="en-US" dirty="0" err="1">
                <a:latin typeface="Montserrat" panose="00000500000000000000" pitchFamily="2" charset="0"/>
              </a:rPr>
              <a:t>ozhodnutí</a:t>
            </a:r>
            <a:r>
              <a:rPr lang="en-US" dirty="0">
                <a:latin typeface="Montserrat" panose="00000500000000000000" pitchFamily="2" charset="0"/>
              </a:rPr>
              <a:t>, </a:t>
            </a:r>
            <a:r>
              <a:rPr lang="en-US" dirty="0" err="1">
                <a:latin typeface="Montserrat" panose="00000500000000000000" pitchFamily="2" charset="0"/>
              </a:rPr>
              <a:t>poradce</a:t>
            </a:r>
            <a:r>
              <a:rPr lang="en-US" dirty="0">
                <a:latin typeface="Montserrat" panose="00000500000000000000" pitchFamily="2" charset="0"/>
              </a:rPr>
              <a:t> ze </a:t>
            </a:r>
            <a:r>
              <a:rPr lang="en-US" dirty="0" err="1">
                <a:latin typeface="Montserrat" panose="00000500000000000000" pitchFamily="2" charset="0"/>
              </a:rPr>
              <a:t>zákona</a:t>
            </a:r>
            <a:r>
              <a:rPr lang="en-US" dirty="0">
                <a:latin typeface="Montserrat" panose="00000500000000000000" pitchFamily="2" charset="0"/>
              </a:rPr>
              <a:t> </a:t>
            </a:r>
            <a:r>
              <a:rPr lang="en-US" dirty="0" err="1">
                <a:latin typeface="Montserrat" panose="00000500000000000000" pitchFamily="2" charset="0"/>
              </a:rPr>
              <a:t>může</a:t>
            </a:r>
            <a:endParaRPr lang="cs-CZ" dirty="0">
              <a:latin typeface="Montserrat" panose="00000500000000000000" pitchFamily="2" charset="0"/>
            </a:endParaRPr>
          </a:p>
          <a:p>
            <a:pPr lvl="0"/>
            <a:r>
              <a:rPr lang="en-US" b="1" dirty="0" err="1">
                <a:latin typeface="Montserrat" panose="00000500000000000000" pitchFamily="2" charset="0"/>
              </a:rPr>
              <a:t>Algoritmické</a:t>
            </a:r>
            <a:r>
              <a:rPr lang="en-US" b="1" dirty="0">
                <a:latin typeface="Montserrat" panose="00000500000000000000" pitchFamily="2" charset="0"/>
              </a:rPr>
              <a:t> </a:t>
            </a:r>
            <a:r>
              <a:rPr lang="en-US" b="1" dirty="0" err="1">
                <a:latin typeface="Montserrat" panose="00000500000000000000" pitchFamily="2" charset="0"/>
              </a:rPr>
              <a:t>přitakávání</a:t>
            </a:r>
            <a:r>
              <a:rPr lang="en-US" dirty="0">
                <a:latin typeface="Montserrat" panose="00000500000000000000" pitchFamily="2" charset="0"/>
              </a:rPr>
              <a:t>: </a:t>
            </a:r>
            <a:r>
              <a:rPr lang="cs-CZ" dirty="0">
                <a:latin typeface="Montserrat" panose="00000500000000000000" pitchFamily="2" charset="0"/>
              </a:rPr>
              <a:t>AI </a:t>
            </a:r>
            <a:r>
              <a:rPr lang="en-US" dirty="0" err="1">
                <a:latin typeface="Montserrat" panose="00000500000000000000" pitchFamily="2" charset="0"/>
              </a:rPr>
              <a:t>má</a:t>
            </a:r>
            <a:r>
              <a:rPr lang="en-US" dirty="0">
                <a:latin typeface="Montserrat" panose="00000500000000000000" pitchFamily="2" charset="0"/>
              </a:rPr>
              <a:t> </a:t>
            </a:r>
            <a:r>
              <a:rPr lang="en-US" dirty="0" err="1">
                <a:latin typeface="Montserrat" panose="00000500000000000000" pitchFamily="2" charset="0"/>
              </a:rPr>
              <a:t>přirozenou</a:t>
            </a:r>
            <a:r>
              <a:rPr lang="en-US" dirty="0">
                <a:latin typeface="Montserrat" panose="00000500000000000000" pitchFamily="2" charset="0"/>
              </a:rPr>
              <a:t> </a:t>
            </a:r>
            <a:r>
              <a:rPr lang="en-US" dirty="0" err="1">
                <a:latin typeface="Montserrat" panose="00000500000000000000" pitchFamily="2" charset="0"/>
              </a:rPr>
              <a:t>tendenci</a:t>
            </a:r>
            <a:r>
              <a:rPr lang="en-US" dirty="0">
                <a:latin typeface="Montserrat" panose="00000500000000000000" pitchFamily="2" charset="0"/>
              </a:rPr>
              <a:t> </a:t>
            </a:r>
            <a:r>
              <a:rPr lang="en-US" dirty="0" err="1">
                <a:latin typeface="Montserrat" panose="00000500000000000000" pitchFamily="2" charset="0"/>
              </a:rPr>
              <a:t>souhlasit</a:t>
            </a:r>
            <a:r>
              <a:rPr lang="en-US" dirty="0">
                <a:latin typeface="Montserrat" panose="00000500000000000000" pitchFamily="2" charset="0"/>
              </a:rPr>
              <a:t> s </a:t>
            </a:r>
            <a:r>
              <a:rPr lang="en-US" dirty="0" err="1">
                <a:latin typeface="Montserrat" panose="00000500000000000000" pitchFamily="2" charset="0"/>
              </a:rPr>
              <a:t>hypotézami</a:t>
            </a:r>
            <a:r>
              <a:rPr lang="en-US" dirty="0">
                <a:latin typeface="Montserrat" panose="00000500000000000000" pitchFamily="2" charset="0"/>
              </a:rPr>
              <a:t> v </a:t>
            </a:r>
            <a:r>
              <a:rPr lang="en-US" dirty="0" err="1">
                <a:latin typeface="Montserrat" panose="00000500000000000000" pitchFamily="2" charset="0"/>
              </a:rPr>
              <a:t>dané</a:t>
            </a:r>
            <a:r>
              <a:rPr lang="en-US" dirty="0">
                <a:latin typeface="Montserrat" panose="00000500000000000000" pitchFamily="2" charset="0"/>
              </a:rPr>
              <a:t> </a:t>
            </a:r>
            <a:r>
              <a:rPr lang="en-US" dirty="0" err="1">
                <a:latin typeface="Montserrat" panose="00000500000000000000" pitchFamily="2" charset="0"/>
              </a:rPr>
              <a:t>otázce</a:t>
            </a:r>
            <a:r>
              <a:rPr lang="en-US" dirty="0">
                <a:latin typeface="Montserrat" panose="00000500000000000000" pitchFamily="2" charset="0"/>
              </a:rPr>
              <a:t>. </a:t>
            </a:r>
            <a:r>
              <a:rPr lang="en-US" dirty="0" err="1">
                <a:latin typeface="Montserrat" panose="00000500000000000000" pitchFamily="2" charset="0"/>
              </a:rPr>
              <a:t>Výsledkem</a:t>
            </a:r>
            <a:r>
              <a:rPr lang="en-US" dirty="0">
                <a:latin typeface="Montserrat" panose="00000500000000000000" pitchFamily="2" charset="0"/>
              </a:rPr>
              <a:t> je </a:t>
            </a:r>
            <a:r>
              <a:rPr lang="en-US" dirty="0" err="1">
                <a:latin typeface="Montserrat" panose="00000500000000000000" pitchFamily="2" charset="0"/>
              </a:rPr>
              <a:t>umělé</a:t>
            </a:r>
            <a:r>
              <a:rPr lang="en-US" dirty="0">
                <a:latin typeface="Montserrat" panose="00000500000000000000" pitchFamily="2" charset="0"/>
              </a:rPr>
              <a:t> </a:t>
            </a:r>
            <a:r>
              <a:rPr lang="en-US" dirty="0" err="1">
                <a:latin typeface="Montserrat" panose="00000500000000000000" pitchFamily="2" charset="0"/>
              </a:rPr>
              <a:t>potvrzování</a:t>
            </a:r>
            <a:r>
              <a:rPr lang="en-US" dirty="0">
                <a:latin typeface="Montserrat" panose="00000500000000000000" pitchFamily="2" charset="0"/>
              </a:rPr>
              <a:t> </a:t>
            </a:r>
            <a:r>
              <a:rPr lang="en-US" dirty="0" err="1">
                <a:latin typeface="Montserrat" panose="00000500000000000000" pitchFamily="2" charset="0"/>
              </a:rPr>
              <a:t>nesprávných</a:t>
            </a:r>
            <a:r>
              <a:rPr lang="en-US" dirty="0">
                <a:latin typeface="Montserrat" panose="00000500000000000000" pitchFamily="2" charset="0"/>
              </a:rPr>
              <a:t> </a:t>
            </a:r>
            <a:r>
              <a:rPr lang="en-US" dirty="0" err="1">
                <a:latin typeface="Montserrat" panose="00000500000000000000" pitchFamily="2" charset="0"/>
              </a:rPr>
              <a:t>předpokladů</a:t>
            </a:r>
            <a:r>
              <a:rPr lang="en-US" dirty="0">
                <a:latin typeface="Montserrat" panose="00000500000000000000" pitchFamily="2" charset="0"/>
              </a:rPr>
              <a:t> a </a:t>
            </a:r>
            <a:r>
              <a:rPr lang="en-US" dirty="0" err="1">
                <a:latin typeface="Montserrat" panose="00000500000000000000" pitchFamily="2" charset="0"/>
              </a:rPr>
              <a:t>ztráta</a:t>
            </a:r>
            <a:r>
              <a:rPr lang="en-US" dirty="0">
                <a:latin typeface="Montserrat" panose="00000500000000000000" pitchFamily="2" charset="0"/>
              </a:rPr>
              <a:t> </a:t>
            </a:r>
            <a:r>
              <a:rPr lang="en-US" dirty="0" err="1">
                <a:latin typeface="Montserrat" panose="00000500000000000000" pitchFamily="2" charset="0"/>
              </a:rPr>
              <a:t>kritického</a:t>
            </a:r>
            <a:r>
              <a:rPr lang="en-US" dirty="0">
                <a:latin typeface="Montserrat" panose="00000500000000000000" pitchFamily="2" charset="0"/>
              </a:rPr>
              <a:t> </a:t>
            </a:r>
            <a:r>
              <a:rPr lang="en-US" dirty="0" err="1">
                <a:latin typeface="Montserrat" panose="00000500000000000000" pitchFamily="2" charset="0"/>
              </a:rPr>
              <a:t>odstupu</a:t>
            </a:r>
            <a:endParaRPr lang="cs-CZ" dirty="0">
              <a:latin typeface="Montserrat" panose="00000500000000000000" pitchFamily="2" charset="0"/>
            </a:endParaRPr>
          </a:p>
          <a:p>
            <a:pPr marL="0" lvl="0" indent="0">
              <a:buNone/>
            </a:pPr>
            <a:endParaRPr lang="en-US" dirty="0">
              <a:latin typeface="Montserrat" panose="00000500000000000000" pitchFamily="2" charset="0"/>
            </a:endParaRPr>
          </a:p>
          <a:p>
            <a:pPr marL="0" lvl="0" indent="0">
              <a:buNone/>
            </a:pPr>
            <a:endParaRPr lang="en-US" dirty="0">
              <a:latin typeface="Montserrat" panose="00000500000000000000" pitchFamily="2" charset="0"/>
            </a:endParaRPr>
          </a:p>
          <a:p>
            <a:pPr marL="0" indent="0">
              <a:buNone/>
            </a:pPr>
            <a:endParaRPr lang="en-US" dirty="0"/>
          </a:p>
        </p:txBody>
      </p:sp>
      <p:sp>
        <p:nvSpPr>
          <p:cNvPr id="3" name="Slide Number Placeholder 2">
            <a:extLst>
              <a:ext uri="{FF2B5EF4-FFF2-40B4-BE49-F238E27FC236}">
                <a16:creationId xmlns:a16="http://schemas.microsoft.com/office/drawing/2014/main" id="{4C114DD6-0EBB-7C9C-A5CC-40D6ACA1F49A}"/>
              </a:ext>
            </a:extLst>
          </p:cNvPr>
          <p:cNvSpPr>
            <a:spLocks noGrp="1"/>
          </p:cNvSpPr>
          <p:nvPr>
            <p:ph type="sldNum" sz="quarter" idx="12"/>
          </p:nvPr>
        </p:nvSpPr>
        <p:spPr/>
        <p:txBody>
          <a:bodyPr/>
          <a:lstStyle/>
          <a:p>
            <a:fld id="{07938D2D-74FD-477D-9AD6-67A26AAB47B3}" type="slidenum">
              <a:rPr lang="cs-CZ" smtClean="0"/>
              <a:t>6</a:t>
            </a:fld>
            <a:endParaRPr lang="cs-CZ"/>
          </a:p>
        </p:txBody>
      </p:sp>
      <p:sp>
        <p:nvSpPr>
          <p:cNvPr id="4" name="Title 3">
            <a:extLst>
              <a:ext uri="{FF2B5EF4-FFF2-40B4-BE49-F238E27FC236}">
                <a16:creationId xmlns:a16="http://schemas.microsoft.com/office/drawing/2014/main" id="{DF9DB843-7C25-FAB7-1578-B60577C1D676}"/>
              </a:ext>
            </a:extLst>
          </p:cNvPr>
          <p:cNvSpPr>
            <a:spLocks noGrp="1"/>
          </p:cNvSpPr>
          <p:nvPr>
            <p:ph type="title"/>
          </p:nvPr>
        </p:nvSpPr>
        <p:spPr/>
        <p:txBody>
          <a:bodyPr>
            <a:normAutofit/>
          </a:bodyPr>
          <a:lstStyle/>
          <a:p>
            <a:r>
              <a:rPr lang="cs-CZ" sz="2800" b="1" dirty="0">
                <a:latin typeface="Montserrat" panose="00000500000000000000" pitchFamily="2" charset="0"/>
              </a:rPr>
              <a:t>U</a:t>
            </a:r>
            <a:r>
              <a:rPr lang="en-US" sz="2800" b="1" dirty="0" err="1">
                <a:latin typeface="Montserrat" panose="00000500000000000000" pitchFamily="2" charset="0"/>
              </a:rPr>
              <a:t>pozornění</a:t>
            </a:r>
            <a:r>
              <a:rPr lang="en-US" sz="2800" b="1" dirty="0">
                <a:latin typeface="Montserrat" panose="00000500000000000000" pitchFamily="2" charset="0"/>
              </a:rPr>
              <a:t> </a:t>
            </a:r>
            <a:r>
              <a:rPr lang="cs-CZ" sz="2800" b="1" dirty="0">
                <a:latin typeface="Montserrat" panose="00000500000000000000" pitchFamily="2" charset="0"/>
              </a:rPr>
              <a:t>a rizika </a:t>
            </a:r>
            <a:r>
              <a:rPr lang="en-US" sz="2800" b="1" dirty="0">
                <a:latin typeface="Montserrat" panose="00000500000000000000" pitchFamily="2" charset="0"/>
              </a:rPr>
              <a:t>pro </a:t>
            </a:r>
            <a:r>
              <a:rPr lang="en-US" sz="2800" b="1" dirty="0" err="1">
                <a:latin typeface="Montserrat" panose="00000500000000000000" pitchFamily="2" charset="0"/>
              </a:rPr>
              <a:t>investory</a:t>
            </a:r>
            <a:endParaRPr lang="en-US" sz="2800" dirty="0">
              <a:latin typeface="Montserrat" panose="00000500000000000000" pitchFamily="2" charset="0"/>
            </a:endParaRPr>
          </a:p>
        </p:txBody>
      </p:sp>
      <p:sp>
        <p:nvSpPr>
          <p:cNvPr id="5" name="Text Placeholder 4">
            <a:extLst>
              <a:ext uri="{FF2B5EF4-FFF2-40B4-BE49-F238E27FC236}">
                <a16:creationId xmlns:a16="http://schemas.microsoft.com/office/drawing/2014/main" id="{060E41F2-CFED-A2EA-6B2D-C8E01FEDA807}"/>
              </a:ext>
            </a:extLst>
          </p:cNvPr>
          <p:cNvSpPr>
            <a:spLocks noGrp="1"/>
          </p:cNvSpPr>
          <p:nvPr>
            <p:ph type="body" sz="quarter" idx="13"/>
          </p:nvPr>
        </p:nvSpPr>
        <p:spPr/>
        <p:txBody>
          <a:bodyPr/>
          <a:lstStyle/>
          <a:p>
            <a:endParaRPr lang="en-US" dirty="0">
              <a:latin typeface="Montserrat" panose="00000500000000000000" pitchFamily="2" charset="0"/>
            </a:endParaRPr>
          </a:p>
        </p:txBody>
      </p:sp>
    </p:spTree>
    <p:extLst>
      <p:ext uri="{BB962C8B-B14F-4D97-AF65-F5344CB8AC3E}">
        <p14:creationId xmlns:p14="http://schemas.microsoft.com/office/powerpoint/2010/main" val="3052646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A8719-0B7E-EFBE-2EB0-4A789C0369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232B3A-1A07-4E37-A57E-F06FC1A60635}"/>
              </a:ext>
            </a:extLst>
          </p:cNvPr>
          <p:cNvSpPr>
            <a:spLocks noGrp="1"/>
          </p:cNvSpPr>
          <p:nvPr>
            <p:ph idx="1"/>
          </p:nvPr>
        </p:nvSpPr>
        <p:spPr/>
        <p:txBody>
          <a:bodyPr>
            <a:normAutofit/>
          </a:bodyPr>
          <a:lstStyle/>
          <a:p>
            <a:pPr marL="0" indent="0">
              <a:buNone/>
            </a:pPr>
            <a:r>
              <a:rPr lang="cs-CZ" sz="1600" b="1" dirty="0">
                <a:latin typeface="Montserrat" panose="00000500000000000000" pitchFamily="2" charset="0"/>
              </a:rPr>
              <a:t>Jak?</a:t>
            </a:r>
            <a:endParaRPr lang="en-US" sz="1600" b="1" dirty="0">
              <a:latin typeface="Montserrat" panose="00000500000000000000" pitchFamily="2" charset="0"/>
            </a:endParaRPr>
          </a:p>
          <a:p>
            <a:pPr lvl="0"/>
            <a:r>
              <a:rPr lang="en-US" b="1" dirty="0" err="1">
                <a:latin typeface="Montserrat" panose="00000500000000000000" pitchFamily="2" charset="0"/>
              </a:rPr>
              <a:t>Začněte</a:t>
            </a:r>
            <a:r>
              <a:rPr lang="en-US" b="1" dirty="0">
                <a:latin typeface="Montserrat" panose="00000500000000000000" pitchFamily="2" charset="0"/>
              </a:rPr>
              <a:t> </a:t>
            </a:r>
            <a:r>
              <a:rPr lang="en-US" b="1" dirty="0" err="1">
                <a:latin typeface="Montserrat" panose="00000500000000000000" pitchFamily="2" charset="0"/>
              </a:rPr>
              <a:t>jasným</a:t>
            </a:r>
            <a:r>
              <a:rPr lang="en-US" b="1" dirty="0">
                <a:latin typeface="Montserrat" panose="00000500000000000000" pitchFamily="2" charset="0"/>
              </a:rPr>
              <a:t> </a:t>
            </a:r>
            <a:r>
              <a:rPr lang="en-US" b="1" dirty="0" err="1">
                <a:latin typeface="Montserrat" panose="00000500000000000000" pitchFamily="2" charset="0"/>
              </a:rPr>
              <a:t>cílem</a:t>
            </a:r>
            <a:r>
              <a:rPr lang="en-US" dirty="0">
                <a:latin typeface="Montserrat" panose="00000500000000000000" pitchFamily="2" charset="0"/>
              </a:rPr>
              <a:t> – </a:t>
            </a:r>
            <a:r>
              <a:rPr lang="en-US" dirty="0" err="1">
                <a:latin typeface="Montserrat" panose="00000500000000000000" pitchFamily="2" charset="0"/>
              </a:rPr>
              <a:t>ujasněte</a:t>
            </a:r>
            <a:r>
              <a:rPr lang="en-US" dirty="0">
                <a:latin typeface="Montserrat" panose="00000500000000000000" pitchFamily="2" charset="0"/>
              </a:rPr>
              <a:t> </a:t>
            </a:r>
            <a:r>
              <a:rPr lang="en-US" dirty="0" err="1">
                <a:latin typeface="Montserrat" panose="00000500000000000000" pitchFamily="2" charset="0"/>
              </a:rPr>
              <a:t>si</a:t>
            </a:r>
            <a:r>
              <a:rPr lang="en-US" dirty="0">
                <a:latin typeface="Montserrat" panose="00000500000000000000" pitchFamily="2" charset="0"/>
              </a:rPr>
              <a:t>, </a:t>
            </a:r>
            <a:r>
              <a:rPr lang="en-US" dirty="0" err="1">
                <a:latin typeface="Montserrat" panose="00000500000000000000" pitchFamily="2" charset="0"/>
              </a:rPr>
              <a:t>čeho</a:t>
            </a:r>
            <a:r>
              <a:rPr lang="en-US" dirty="0">
                <a:latin typeface="Montserrat" panose="00000500000000000000" pitchFamily="2" charset="0"/>
              </a:rPr>
              <a:t> </a:t>
            </a:r>
            <a:r>
              <a:rPr lang="en-US" dirty="0" err="1">
                <a:latin typeface="Montserrat" panose="00000500000000000000" pitchFamily="2" charset="0"/>
              </a:rPr>
              <a:t>chcete</a:t>
            </a:r>
            <a:r>
              <a:rPr lang="en-US" dirty="0">
                <a:latin typeface="Montserrat" panose="00000500000000000000" pitchFamily="2" charset="0"/>
              </a:rPr>
              <a:t> </a:t>
            </a:r>
            <a:r>
              <a:rPr lang="en-US" dirty="0" err="1">
                <a:latin typeface="Montserrat" panose="00000500000000000000" pitchFamily="2" charset="0"/>
              </a:rPr>
              <a:t>dosáhnout</a:t>
            </a:r>
            <a:r>
              <a:rPr lang="en-US" dirty="0">
                <a:latin typeface="Montserrat" panose="00000500000000000000" pitchFamily="2" charset="0"/>
              </a:rPr>
              <a:t> (</a:t>
            </a:r>
            <a:r>
              <a:rPr lang="en-US" dirty="0" err="1">
                <a:latin typeface="Montserrat" panose="00000500000000000000" pitchFamily="2" charset="0"/>
              </a:rPr>
              <a:t>čas</a:t>
            </a:r>
            <a:r>
              <a:rPr lang="en-US" dirty="0">
                <a:latin typeface="Montserrat" panose="00000500000000000000" pitchFamily="2" charset="0"/>
              </a:rPr>
              <a:t>, </a:t>
            </a:r>
            <a:r>
              <a:rPr lang="en-US" dirty="0" err="1">
                <a:latin typeface="Montserrat" panose="00000500000000000000" pitchFamily="2" charset="0"/>
              </a:rPr>
              <a:t>riziko</a:t>
            </a:r>
            <a:r>
              <a:rPr lang="en-US" dirty="0">
                <a:latin typeface="Montserrat" panose="00000500000000000000" pitchFamily="2" charset="0"/>
              </a:rPr>
              <a:t>, </a:t>
            </a:r>
            <a:r>
              <a:rPr lang="en-US" dirty="0" err="1">
                <a:latin typeface="Montserrat" panose="00000500000000000000" pitchFamily="2" charset="0"/>
              </a:rPr>
              <a:t>částka</a:t>
            </a:r>
            <a:r>
              <a:rPr lang="cs-CZ" dirty="0">
                <a:latin typeface="Montserrat" panose="00000500000000000000" pitchFamily="2" charset="0"/>
              </a:rPr>
              <a:t>)</a:t>
            </a:r>
            <a:endParaRPr lang="en-US" dirty="0">
              <a:latin typeface="Montserrat" panose="00000500000000000000" pitchFamily="2" charset="0"/>
            </a:endParaRPr>
          </a:p>
          <a:p>
            <a:pPr lvl="0"/>
            <a:r>
              <a:rPr lang="en-US" b="1" dirty="0" err="1">
                <a:latin typeface="Montserrat" panose="00000500000000000000" pitchFamily="2" charset="0"/>
              </a:rPr>
              <a:t>Používejte</a:t>
            </a:r>
            <a:r>
              <a:rPr lang="en-US" b="1" dirty="0">
                <a:latin typeface="Montserrat" panose="00000500000000000000" pitchFamily="2" charset="0"/>
              </a:rPr>
              <a:t> AI pro </a:t>
            </a:r>
            <a:r>
              <a:rPr lang="en-US" b="1" dirty="0" err="1">
                <a:latin typeface="Montserrat" panose="00000500000000000000" pitchFamily="2" charset="0"/>
              </a:rPr>
              <a:t>orientaci</a:t>
            </a:r>
            <a:r>
              <a:rPr lang="en-US" dirty="0">
                <a:latin typeface="Montserrat" panose="00000500000000000000" pitchFamily="2" charset="0"/>
              </a:rPr>
              <a:t> – </a:t>
            </a:r>
            <a:r>
              <a:rPr lang="en-US" dirty="0" err="1">
                <a:latin typeface="Montserrat" panose="00000500000000000000" pitchFamily="2" charset="0"/>
              </a:rPr>
              <a:t>nechte</a:t>
            </a:r>
            <a:r>
              <a:rPr lang="en-US" dirty="0">
                <a:latin typeface="Montserrat" panose="00000500000000000000" pitchFamily="2" charset="0"/>
              </a:rPr>
              <a:t> </a:t>
            </a:r>
            <a:r>
              <a:rPr lang="en-US" dirty="0" err="1">
                <a:latin typeface="Montserrat" panose="00000500000000000000" pitchFamily="2" charset="0"/>
              </a:rPr>
              <a:t>si</a:t>
            </a:r>
            <a:r>
              <a:rPr lang="en-US" dirty="0">
                <a:latin typeface="Montserrat" panose="00000500000000000000" pitchFamily="2" charset="0"/>
              </a:rPr>
              <a:t> </a:t>
            </a:r>
            <a:r>
              <a:rPr lang="en-US" dirty="0" err="1">
                <a:latin typeface="Montserrat" panose="00000500000000000000" pitchFamily="2" charset="0"/>
              </a:rPr>
              <a:t>vygenerovat</a:t>
            </a:r>
            <a:r>
              <a:rPr lang="en-US" dirty="0">
                <a:latin typeface="Montserrat" panose="00000500000000000000" pitchFamily="2" charset="0"/>
              </a:rPr>
              <a:t> </a:t>
            </a:r>
            <a:r>
              <a:rPr lang="en-US" dirty="0" err="1">
                <a:latin typeface="Montserrat" panose="00000500000000000000" pitchFamily="2" charset="0"/>
              </a:rPr>
              <a:t>možnosti</a:t>
            </a:r>
            <a:r>
              <a:rPr lang="en-US" dirty="0">
                <a:latin typeface="Montserrat" panose="00000500000000000000" pitchFamily="2" charset="0"/>
              </a:rPr>
              <a:t>, </a:t>
            </a:r>
            <a:r>
              <a:rPr lang="en-US" dirty="0" err="1">
                <a:latin typeface="Montserrat" panose="00000500000000000000" pitchFamily="2" charset="0"/>
              </a:rPr>
              <a:t>scénáře</a:t>
            </a:r>
            <a:r>
              <a:rPr lang="en-US" dirty="0">
                <a:latin typeface="Montserrat" panose="00000500000000000000" pitchFamily="2" charset="0"/>
              </a:rPr>
              <a:t> a </a:t>
            </a:r>
            <a:r>
              <a:rPr lang="en-US" dirty="0" err="1">
                <a:latin typeface="Montserrat" panose="00000500000000000000" pitchFamily="2" charset="0"/>
              </a:rPr>
              <a:t>rizika</a:t>
            </a:r>
            <a:r>
              <a:rPr lang="en-US" dirty="0">
                <a:latin typeface="Montserrat" panose="00000500000000000000" pitchFamily="2" charset="0"/>
              </a:rPr>
              <a:t>, </a:t>
            </a:r>
            <a:r>
              <a:rPr lang="en-US" dirty="0" err="1">
                <a:latin typeface="Montserrat" panose="00000500000000000000" pitchFamily="2" charset="0"/>
              </a:rPr>
              <a:t>nikoli</a:t>
            </a:r>
            <a:r>
              <a:rPr lang="en-US" dirty="0">
                <a:latin typeface="Montserrat" panose="00000500000000000000" pitchFamily="2" charset="0"/>
              </a:rPr>
              <a:t> </a:t>
            </a:r>
            <a:r>
              <a:rPr lang="en-US" dirty="0" err="1">
                <a:latin typeface="Montserrat" panose="00000500000000000000" pitchFamily="2" charset="0"/>
              </a:rPr>
              <a:t>jedno</a:t>
            </a:r>
            <a:r>
              <a:rPr lang="en-US" dirty="0">
                <a:latin typeface="Montserrat" panose="00000500000000000000" pitchFamily="2" charset="0"/>
              </a:rPr>
              <a:t> </a:t>
            </a:r>
            <a:r>
              <a:rPr lang="en-US" dirty="0" err="1">
                <a:latin typeface="Montserrat" panose="00000500000000000000" pitchFamily="2" charset="0"/>
              </a:rPr>
              <a:t>definitivní</a:t>
            </a:r>
            <a:r>
              <a:rPr lang="en-US" dirty="0">
                <a:latin typeface="Montserrat" panose="00000500000000000000" pitchFamily="2" charset="0"/>
              </a:rPr>
              <a:t> </a:t>
            </a:r>
            <a:r>
              <a:rPr lang="en-US" dirty="0" err="1">
                <a:latin typeface="Montserrat" panose="00000500000000000000" pitchFamily="2" charset="0"/>
              </a:rPr>
              <a:t>doporučení</a:t>
            </a:r>
            <a:endParaRPr lang="cs-CZ" dirty="0">
              <a:latin typeface="Montserrat" panose="00000500000000000000" pitchFamily="2" charset="0"/>
            </a:endParaRPr>
          </a:p>
          <a:p>
            <a:pPr lvl="0"/>
            <a:r>
              <a:rPr lang="en-US" b="1" dirty="0" err="1">
                <a:latin typeface="Montserrat" panose="00000500000000000000" pitchFamily="2" charset="0"/>
              </a:rPr>
              <a:t>Ověřujte</a:t>
            </a:r>
            <a:r>
              <a:rPr lang="en-US" b="1" dirty="0">
                <a:latin typeface="Montserrat" panose="00000500000000000000" pitchFamily="2" charset="0"/>
              </a:rPr>
              <a:t> </a:t>
            </a:r>
            <a:r>
              <a:rPr lang="en-US" b="1" dirty="0" err="1">
                <a:latin typeface="Montserrat" panose="00000500000000000000" pitchFamily="2" charset="0"/>
              </a:rPr>
              <a:t>výstupy</a:t>
            </a:r>
            <a:r>
              <a:rPr lang="en-US" b="1" dirty="0">
                <a:latin typeface="Montserrat" panose="00000500000000000000" pitchFamily="2" charset="0"/>
              </a:rPr>
              <a:t> AI</a:t>
            </a:r>
            <a:r>
              <a:rPr lang="en-US" dirty="0">
                <a:latin typeface="Montserrat" panose="00000500000000000000" pitchFamily="2" charset="0"/>
              </a:rPr>
              <a:t> – </a:t>
            </a:r>
            <a:r>
              <a:rPr lang="en-US" dirty="0" err="1">
                <a:latin typeface="Montserrat" panose="00000500000000000000" pitchFamily="2" charset="0"/>
              </a:rPr>
              <a:t>porovnejte</a:t>
            </a:r>
            <a:r>
              <a:rPr lang="en-US" dirty="0">
                <a:latin typeface="Montserrat" panose="00000500000000000000" pitchFamily="2" charset="0"/>
              </a:rPr>
              <a:t> </a:t>
            </a:r>
            <a:r>
              <a:rPr lang="en-US" dirty="0" err="1">
                <a:latin typeface="Montserrat" panose="00000500000000000000" pitchFamily="2" charset="0"/>
              </a:rPr>
              <a:t>informace</a:t>
            </a:r>
            <a:r>
              <a:rPr lang="en-US" dirty="0">
                <a:latin typeface="Montserrat" panose="00000500000000000000" pitchFamily="2" charset="0"/>
              </a:rPr>
              <a:t>, </a:t>
            </a:r>
            <a:r>
              <a:rPr lang="en-US" dirty="0" err="1">
                <a:latin typeface="Montserrat" panose="00000500000000000000" pitchFamily="2" charset="0"/>
              </a:rPr>
              <a:t>zeptejte</a:t>
            </a:r>
            <a:r>
              <a:rPr lang="en-US" dirty="0">
                <a:latin typeface="Montserrat" panose="00000500000000000000" pitchFamily="2" charset="0"/>
              </a:rPr>
              <a:t> se, z </a:t>
            </a:r>
            <a:r>
              <a:rPr lang="en-US" dirty="0" err="1">
                <a:latin typeface="Montserrat" panose="00000500000000000000" pitchFamily="2" charset="0"/>
              </a:rPr>
              <a:t>čeho</a:t>
            </a:r>
            <a:r>
              <a:rPr lang="en-US" dirty="0">
                <a:latin typeface="Montserrat" panose="00000500000000000000" pitchFamily="2" charset="0"/>
              </a:rPr>
              <a:t> model </a:t>
            </a:r>
            <a:r>
              <a:rPr lang="en-US" dirty="0" err="1">
                <a:latin typeface="Montserrat" panose="00000500000000000000" pitchFamily="2" charset="0"/>
              </a:rPr>
              <a:t>vychází</a:t>
            </a:r>
            <a:r>
              <a:rPr lang="en-US" dirty="0">
                <a:latin typeface="Montserrat" panose="00000500000000000000" pitchFamily="2" charset="0"/>
              </a:rPr>
              <a:t>, a </a:t>
            </a:r>
            <a:r>
              <a:rPr lang="en-US" dirty="0" err="1">
                <a:latin typeface="Montserrat" panose="00000500000000000000" pitchFamily="2" charset="0"/>
              </a:rPr>
              <a:t>prověřte</a:t>
            </a:r>
            <a:r>
              <a:rPr lang="en-US" dirty="0">
                <a:latin typeface="Montserrat" panose="00000500000000000000" pitchFamily="2" charset="0"/>
              </a:rPr>
              <a:t> </a:t>
            </a:r>
            <a:r>
              <a:rPr lang="en-US" dirty="0" err="1">
                <a:latin typeface="Montserrat" panose="00000500000000000000" pitchFamily="2" charset="0"/>
              </a:rPr>
              <a:t>poplatky</a:t>
            </a:r>
            <a:r>
              <a:rPr lang="en-US" dirty="0">
                <a:latin typeface="Montserrat" panose="00000500000000000000" pitchFamily="2" charset="0"/>
              </a:rPr>
              <a:t> </a:t>
            </a:r>
            <a:r>
              <a:rPr lang="en-US" dirty="0" err="1">
                <a:latin typeface="Montserrat" panose="00000500000000000000" pitchFamily="2" charset="0"/>
              </a:rPr>
              <a:t>či</a:t>
            </a:r>
            <a:r>
              <a:rPr lang="en-US" dirty="0">
                <a:latin typeface="Montserrat" panose="00000500000000000000" pitchFamily="2" charset="0"/>
              </a:rPr>
              <a:t> </a:t>
            </a:r>
            <a:r>
              <a:rPr lang="en-US" dirty="0" err="1">
                <a:latin typeface="Montserrat" panose="00000500000000000000" pitchFamily="2" charset="0"/>
              </a:rPr>
              <a:t>daňové</a:t>
            </a:r>
            <a:r>
              <a:rPr lang="en-US" dirty="0">
                <a:latin typeface="Montserrat" panose="00000500000000000000" pitchFamily="2" charset="0"/>
              </a:rPr>
              <a:t> </a:t>
            </a:r>
            <a:r>
              <a:rPr lang="en-US" dirty="0" err="1">
                <a:latin typeface="Montserrat" panose="00000500000000000000" pitchFamily="2" charset="0"/>
              </a:rPr>
              <a:t>dopady</a:t>
            </a:r>
            <a:endParaRPr lang="en-US" dirty="0">
              <a:latin typeface="Montserrat" panose="00000500000000000000" pitchFamily="2" charset="0"/>
            </a:endParaRPr>
          </a:p>
          <a:p>
            <a:pPr lvl="0"/>
            <a:r>
              <a:rPr lang="en-US" b="1" dirty="0" err="1">
                <a:latin typeface="Montserrat" panose="00000500000000000000" pitchFamily="2" charset="0"/>
              </a:rPr>
              <a:t>Konzultujte</a:t>
            </a:r>
            <a:r>
              <a:rPr lang="en-US" b="1" dirty="0">
                <a:latin typeface="Montserrat" panose="00000500000000000000" pitchFamily="2" charset="0"/>
              </a:rPr>
              <a:t> </a:t>
            </a:r>
            <a:r>
              <a:rPr lang="en-US" b="1" dirty="0" err="1">
                <a:latin typeface="Montserrat" panose="00000500000000000000" pitchFamily="2" charset="0"/>
              </a:rPr>
              <a:t>rozhodnutí</a:t>
            </a:r>
            <a:r>
              <a:rPr lang="en-US" b="1" dirty="0">
                <a:latin typeface="Montserrat" panose="00000500000000000000" pitchFamily="2" charset="0"/>
              </a:rPr>
              <a:t> s </a:t>
            </a:r>
            <a:r>
              <a:rPr lang="en-US" b="1" dirty="0" err="1">
                <a:latin typeface="Montserrat" panose="00000500000000000000" pitchFamily="2" charset="0"/>
              </a:rPr>
              <a:t>poradcem</a:t>
            </a:r>
            <a:r>
              <a:rPr lang="en-US" dirty="0">
                <a:latin typeface="Montserrat" panose="00000500000000000000" pitchFamily="2" charset="0"/>
              </a:rPr>
              <a:t> – AI </a:t>
            </a:r>
            <a:r>
              <a:rPr lang="en-US" dirty="0" err="1">
                <a:latin typeface="Montserrat" panose="00000500000000000000" pitchFamily="2" charset="0"/>
              </a:rPr>
              <a:t>pomůže</a:t>
            </a:r>
            <a:r>
              <a:rPr lang="en-US" dirty="0">
                <a:latin typeface="Montserrat" panose="00000500000000000000" pitchFamily="2" charset="0"/>
              </a:rPr>
              <a:t> s </a:t>
            </a:r>
            <a:r>
              <a:rPr lang="en-US" dirty="0" err="1">
                <a:latin typeface="Montserrat" panose="00000500000000000000" pitchFamily="2" charset="0"/>
              </a:rPr>
              <a:t>přípravou</a:t>
            </a:r>
            <a:r>
              <a:rPr lang="en-US" dirty="0">
                <a:latin typeface="Montserrat" panose="00000500000000000000" pitchFamily="2" charset="0"/>
              </a:rPr>
              <a:t>, ale </a:t>
            </a:r>
            <a:r>
              <a:rPr lang="en-US" dirty="0" err="1">
                <a:latin typeface="Montserrat" panose="00000500000000000000" pitchFamily="2" charset="0"/>
              </a:rPr>
              <a:t>finální</a:t>
            </a:r>
            <a:r>
              <a:rPr lang="en-US" dirty="0">
                <a:latin typeface="Montserrat" panose="00000500000000000000" pitchFamily="2" charset="0"/>
              </a:rPr>
              <a:t> </a:t>
            </a:r>
            <a:r>
              <a:rPr lang="en-US" dirty="0" err="1">
                <a:latin typeface="Montserrat" panose="00000500000000000000" pitchFamily="2" charset="0"/>
              </a:rPr>
              <a:t>doporučení</a:t>
            </a:r>
            <a:r>
              <a:rPr lang="en-US" dirty="0">
                <a:latin typeface="Montserrat" panose="00000500000000000000" pitchFamily="2" charset="0"/>
              </a:rPr>
              <a:t> by </a:t>
            </a:r>
            <a:r>
              <a:rPr lang="en-US" dirty="0" err="1">
                <a:latin typeface="Montserrat" panose="00000500000000000000" pitchFamily="2" charset="0"/>
              </a:rPr>
              <a:t>měl</a:t>
            </a:r>
            <a:r>
              <a:rPr lang="en-US" dirty="0">
                <a:latin typeface="Montserrat" panose="00000500000000000000" pitchFamily="2" charset="0"/>
              </a:rPr>
              <a:t> </a:t>
            </a:r>
            <a:r>
              <a:rPr lang="en-US" dirty="0" err="1">
                <a:latin typeface="Montserrat" panose="00000500000000000000" pitchFamily="2" charset="0"/>
              </a:rPr>
              <a:t>potvrdit</a:t>
            </a:r>
            <a:r>
              <a:rPr lang="en-US" dirty="0">
                <a:latin typeface="Montserrat" panose="00000500000000000000" pitchFamily="2" charset="0"/>
              </a:rPr>
              <a:t> </a:t>
            </a:r>
            <a:r>
              <a:rPr lang="en-US" dirty="0" err="1">
                <a:latin typeface="Montserrat" panose="00000500000000000000" pitchFamily="2" charset="0"/>
              </a:rPr>
              <a:t>odborník</a:t>
            </a:r>
            <a:endParaRPr lang="cs-CZ" dirty="0">
              <a:latin typeface="Montserrat" panose="00000500000000000000" pitchFamily="2" charset="0"/>
            </a:endParaRPr>
          </a:p>
          <a:p>
            <a:pPr marL="0" lvl="0" indent="0">
              <a:buNone/>
            </a:pPr>
            <a:endParaRPr lang="en-US" dirty="0">
              <a:latin typeface="Montserrat" panose="00000500000000000000" pitchFamily="2" charset="0"/>
            </a:endParaRPr>
          </a:p>
          <a:p>
            <a:pPr marL="0" lvl="0" indent="0">
              <a:buNone/>
            </a:pPr>
            <a:r>
              <a:rPr lang="cs-CZ" sz="1600" b="1" dirty="0">
                <a:latin typeface="Montserrat" panose="00000500000000000000" pitchFamily="2" charset="0"/>
              </a:rPr>
              <a:t>Na co?</a:t>
            </a:r>
          </a:p>
          <a:p>
            <a:r>
              <a:rPr lang="en-US" dirty="0" err="1">
                <a:latin typeface="Montserrat" panose="00000500000000000000" pitchFamily="2" charset="0"/>
              </a:rPr>
              <a:t>Personalizované</a:t>
            </a:r>
            <a:r>
              <a:rPr lang="en-US" dirty="0">
                <a:latin typeface="Montserrat" panose="00000500000000000000" pitchFamily="2" charset="0"/>
              </a:rPr>
              <a:t> </a:t>
            </a:r>
            <a:r>
              <a:rPr lang="en-US" dirty="0" err="1">
                <a:latin typeface="Montserrat" panose="00000500000000000000" pitchFamily="2" charset="0"/>
              </a:rPr>
              <a:t>investiční</a:t>
            </a:r>
            <a:r>
              <a:rPr lang="en-US" dirty="0">
                <a:latin typeface="Montserrat" panose="00000500000000000000" pitchFamily="2" charset="0"/>
              </a:rPr>
              <a:t> </a:t>
            </a:r>
            <a:r>
              <a:rPr lang="en-US" dirty="0" err="1">
                <a:latin typeface="Montserrat" panose="00000500000000000000" pitchFamily="2" charset="0"/>
              </a:rPr>
              <a:t>zpravodajství</a:t>
            </a:r>
            <a:endParaRPr lang="en-US" dirty="0">
              <a:latin typeface="Montserrat" panose="00000500000000000000" pitchFamily="2" charset="0"/>
            </a:endParaRPr>
          </a:p>
          <a:p>
            <a:r>
              <a:rPr lang="en-US" dirty="0" err="1">
                <a:latin typeface="Montserrat" panose="00000500000000000000" pitchFamily="2" charset="0"/>
              </a:rPr>
              <a:t>Rychlé</a:t>
            </a:r>
            <a:r>
              <a:rPr lang="en-US" dirty="0">
                <a:latin typeface="Montserrat" panose="00000500000000000000" pitchFamily="2" charset="0"/>
              </a:rPr>
              <a:t> </a:t>
            </a:r>
            <a:r>
              <a:rPr lang="en-US" dirty="0" err="1">
                <a:latin typeface="Montserrat" panose="00000500000000000000" pitchFamily="2" charset="0"/>
              </a:rPr>
              <a:t>shrnutí</a:t>
            </a:r>
            <a:r>
              <a:rPr lang="en-US" dirty="0">
                <a:latin typeface="Montserrat" panose="00000500000000000000" pitchFamily="2" charset="0"/>
              </a:rPr>
              <a:t> </a:t>
            </a:r>
            <a:r>
              <a:rPr lang="en-US" dirty="0" err="1">
                <a:latin typeface="Montserrat" panose="00000500000000000000" pitchFamily="2" charset="0"/>
              </a:rPr>
              <a:t>obrovských</a:t>
            </a:r>
            <a:r>
              <a:rPr lang="en-US" dirty="0">
                <a:latin typeface="Montserrat" panose="00000500000000000000" pitchFamily="2" charset="0"/>
              </a:rPr>
              <a:t> </a:t>
            </a:r>
            <a:r>
              <a:rPr lang="en-US" dirty="0" err="1">
                <a:latin typeface="Montserrat" panose="00000500000000000000" pitchFamily="2" charset="0"/>
              </a:rPr>
              <a:t>reportů</a:t>
            </a:r>
            <a:r>
              <a:rPr lang="en-US" dirty="0">
                <a:latin typeface="Montserrat" panose="00000500000000000000" pitchFamily="2" charset="0"/>
              </a:rPr>
              <a:t>, </a:t>
            </a:r>
            <a:r>
              <a:rPr lang="en-US" dirty="0" err="1">
                <a:latin typeface="Montserrat" panose="00000500000000000000" pitchFamily="2" charset="0"/>
              </a:rPr>
              <a:t>výzkumů</a:t>
            </a:r>
            <a:r>
              <a:rPr lang="en-US" dirty="0">
                <a:latin typeface="Montserrat" panose="00000500000000000000" pitchFamily="2" charset="0"/>
              </a:rPr>
              <a:t>, </a:t>
            </a:r>
            <a:r>
              <a:rPr lang="en-US" dirty="0" err="1">
                <a:latin typeface="Montserrat" panose="00000500000000000000" pitchFamily="2" charset="0"/>
              </a:rPr>
              <a:t>analýz</a:t>
            </a:r>
            <a:r>
              <a:rPr lang="en-US" dirty="0">
                <a:latin typeface="Montserrat" panose="00000500000000000000" pitchFamily="2" charset="0"/>
              </a:rPr>
              <a:t>, </a:t>
            </a:r>
            <a:r>
              <a:rPr lang="en-US" dirty="0" err="1">
                <a:latin typeface="Montserrat" panose="00000500000000000000" pitchFamily="2" charset="0"/>
              </a:rPr>
              <a:t>čtvrtletních</a:t>
            </a:r>
            <a:r>
              <a:rPr lang="en-US" dirty="0">
                <a:latin typeface="Montserrat" panose="00000500000000000000" pitchFamily="2" charset="0"/>
              </a:rPr>
              <a:t> </a:t>
            </a:r>
            <a:r>
              <a:rPr lang="en-US" dirty="0" err="1">
                <a:latin typeface="Montserrat" panose="00000500000000000000" pitchFamily="2" charset="0"/>
              </a:rPr>
              <a:t>zpráv</a:t>
            </a:r>
            <a:endParaRPr lang="en-US" dirty="0">
              <a:latin typeface="Montserrat" panose="00000500000000000000" pitchFamily="2" charset="0"/>
            </a:endParaRPr>
          </a:p>
          <a:p>
            <a:r>
              <a:rPr lang="en-US" dirty="0" err="1">
                <a:latin typeface="Montserrat" panose="00000500000000000000" pitchFamily="2" charset="0"/>
              </a:rPr>
              <a:t>Vysvětlování</a:t>
            </a:r>
            <a:r>
              <a:rPr lang="en-US" dirty="0">
                <a:latin typeface="Montserrat" panose="00000500000000000000" pitchFamily="2" charset="0"/>
              </a:rPr>
              <a:t> </a:t>
            </a:r>
            <a:r>
              <a:rPr lang="en-US" dirty="0" err="1">
                <a:latin typeface="Montserrat" panose="00000500000000000000" pitchFamily="2" charset="0"/>
              </a:rPr>
              <a:t>složitých</a:t>
            </a:r>
            <a:r>
              <a:rPr lang="en-US" dirty="0">
                <a:latin typeface="Montserrat" panose="00000500000000000000" pitchFamily="2" charset="0"/>
              </a:rPr>
              <a:t> </a:t>
            </a:r>
            <a:r>
              <a:rPr lang="en-US" dirty="0" err="1">
                <a:latin typeface="Montserrat" panose="00000500000000000000" pitchFamily="2" charset="0"/>
              </a:rPr>
              <a:t>konceptů</a:t>
            </a:r>
            <a:r>
              <a:rPr lang="en-US" dirty="0">
                <a:latin typeface="Montserrat" panose="00000500000000000000" pitchFamily="2" charset="0"/>
              </a:rPr>
              <a:t> a </a:t>
            </a:r>
            <a:r>
              <a:rPr lang="en-US" dirty="0" err="1">
                <a:latin typeface="Montserrat" panose="00000500000000000000" pitchFamily="2" charset="0"/>
              </a:rPr>
              <a:t>vzdělávání</a:t>
            </a:r>
            <a:r>
              <a:rPr lang="en-US" dirty="0">
                <a:latin typeface="Montserrat" panose="00000500000000000000" pitchFamily="2" charset="0"/>
              </a:rPr>
              <a:t> (P/E ratio, DCF </a:t>
            </a:r>
            <a:r>
              <a:rPr lang="en-US" dirty="0" err="1">
                <a:latin typeface="Montserrat" panose="00000500000000000000" pitchFamily="2" charset="0"/>
              </a:rPr>
              <a:t>metoda</a:t>
            </a:r>
            <a:r>
              <a:rPr lang="en-US" dirty="0">
                <a:latin typeface="Montserrat" panose="00000500000000000000" pitchFamily="2" charset="0"/>
              </a:rPr>
              <a:t>, </a:t>
            </a:r>
            <a:r>
              <a:rPr lang="en-US" dirty="0" err="1">
                <a:latin typeface="Montserrat" panose="00000500000000000000" pitchFamily="2" charset="0"/>
              </a:rPr>
              <a:t>kvantitativní</a:t>
            </a:r>
            <a:r>
              <a:rPr lang="en-US" dirty="0">
                <a:latin typeface="Montserrat" panose="00000500000000000000" pitchFamily="2" charset="0"/>
              </a:rPr>
              <a:t> </a:t>
            </a:r>
            <a:r>
              <a:rPr lang="en-US" dirty="0" err="1">
                <a:latin typeface="Montserrat" panose="00000500000000000000" pitchFamily="2" charset="0"/>
              </a:rPr>
              <a:t>uvolňování</a:t>
            </a:r>
            <a:r>
              <a:rPr lang="en-US" dirty="0">
                <a:latin typeface="Montserrat" panose="00000500000000000000" pitchFamily="2" charset="0"/>
              </a:rPr>
              <a:t>,...)</a:t>
            </a:r>
          </a:p>
          <a:p>
            <a:r>
              <a:rPr lang="en-US" dirty="0">
                <a:latin typeface="Montserrat" panose="00000500000000000000" pitchFamily="2" charset="0"/>
              </a:rPr>
              <a:t>Brainstorming a </a:t>
            </a:r>
            <a:r>
              <a:rPr lang="en-US" dirty="0" err="1">
                <a:latin typeface="Montserrat" panose="00000500000000000000" pitchFamily="2" charset="0"/>
              </a:rPr>
              <a:t>hledání</a:t>
            </a:r>
            <a:r>
              <a:rPr lang="en-US" dirty="0">
                <a:latin typeface="Montserrat" panose="00000500000000000000" pitchFamily="2" charset="0"/>
              </a:rPr>
              <a:t> </a:t>
            </a:r>
            <a:r>
              <a:rPr lang="en-US" dirty="0" err="1">
                <a:latin typeface="Montserrat" panose="00000500000000000000" pitchFamily="2" charset="0"/>
              </a:rPr>
              <a:t>investičních</a:t>
            </a:r>
            <a:r>
              <a:rPr lang="en-US" dirty="0">
                <a:latin typeface="Montserrat" panose="00000500000000000000" pitchFamily="2" charset="0"/>
              </a:rPr>
              <a:t> </a:t>
            </a:r>
            <a:r>
              <a:rPr lang="en-US" dirty="0" err="1">
                <a:latin typeface="Montserrat" panose="00000500000000000000" pitchFamily="2" charset="0"/>
              </a:rPr>
              <a:t>témat</a:t>
            </a:r>
            <a:endParaRPr lang="en-US" dirty="0">
              <a:latin typeface="Montserrat" panose="00000500000000000000" pitchFamily="2" charset="0"/>
            </a:endParaRPr>
          </a:p>
          <a:p>
            <a:r>
              <a:rPr lang="en-US" dirty="0" err="1">
                <a:latin typeface="Montserrat" panose="00000500000000000000" pitchFamily="2" charset="0"/>
              </a:rPr>
              <a:t>Modelování</a:t>
            </a:r>
            <a:r>
              <a:rPr lang="en-US" dirty="0">
                <a:latin typeface="Montserrat" panose="00000500000000000000" pitchFamily="2" charset="0"/>
              </a:rPr>
              <a:t> </a:t>
            </a:r>
            <a:r>
              <a:rPr lang="en-US" dirty="0" err="1">
                <a:latin typeface="Montserrat" panose="00000500000000000000" pitchFamily="2" charset="0"/>
              </a:rPr>
              <a:t>budoucího</a:t>
            </a:r>
            <a:r>
              <a:rPr lang="en-US" dirty="0">
                <a:latin typeface="Montserrat" panose="00000500000000000000" pitchFamily="2" charset="0"/>
              </a:rPr>
              <a:t> </a:t>
            </a:r>
            <a:r>
              <a:rPr lang="en-US" dirty="0" err="1">
                <a:latin typeface="Montserrat" panose="00000500000000000000" pitchFamily="2" charset="0"/>
              </a:rPr>
              <a:t>vývoje</a:t>
            </a:r>
            <a:endParaRPr lang="en-US" dirty="0">
              <a:latin typeface="Montserrat" panose="00000500000000000000" pitchFamily="2" charset="0"/>
            </a:endParaRPr>
          </a:p>
          <a:p>
            <a:r>
              <a:rPr lang="en-US" dirty="0">
                <a:latin typeface="Montserrat" panose="00000500000000000000" pitchFamily="2" charset="0"/>
              </a:rPr>
              <a:t>AI </a:t>
            </a:r>
            <a:r>
              <a:rPr lang="en-US" dirty="0" err="1">
                <a:latin typeface="Montserrat" panose="00000500000000000000" pitchFamily="2" charset="0"/>
              </a:rPr>
              <a:t>jako</a:t>
            </a:r>
            <a:r>
              <a:rPr lang="en-US" dirty="0">
                <a:latin typeface="Montserrat" panose="00000500000000000000" pitchFamily="2" charset="0"/>
              </a:rPr>
              <a:t> </a:t>
            </a:r>
            <a:r>
              <a:rPr lang="en-US" dirty="0" err="1">
                <a:latin typeface="Montserrat" panose="00000500000000000000" pitchFamily="2" charset="0"/>
              </a:rPr>
              <a:t>zpětná</a:t>
            </a:r>
            <a:r>
              <a:rPr lang="en-US" dirty="0">
                <a:latin typeface="Montserrat" panose="00000500000000000000" pitchFamily="2" charset="0"/>
              </a:rPr>
              <a:t> </a:t>
            </a:r>
            <a:r>
              <a:rPr lang="en-US" dirty="0" err="1">
                <a:latin typeface="Montserrat" panose="00000500000000000000" pitchFamily="2" charset="0"/>
              </a:rPr>
              <a:t>vazba</a:t>
            </a:r>
            <a:endParaRPr lang="en-US" dirty="0">
              <a:latin typeface="Montserrat" panose="00000500000000000000" pitchFamily="2" charset="0"/>
            </a:endParaRPr>
          </a:p>
          <a:p>
            <a:pPr lvl="0"/>
            <a:endParaRPr lang="en-US" dirty="0">
              <a:latin typeface="Montserrat" panose="00000500000000000000" pitchFamily="2" charset="0"/>
            </a:endParaRPr>
          </a:p>
          <a:p>
            <a:pPr marL="0" lvl="0" indent="0">
              <a:buNone/>
            </a:pPr>
            <a:endParaRPr lang="en-US" dirty="0">
              <a:latin typeface="Montserrat" panose="00000500000000000000" pitchFamily="2" charset="0"/>
            </a:endParaRPr>
          </a:p>
          <a:p>
            <a:pPr marL="0" indent="0">
              <a:buNone/>
            </a:pPr>
            <a:endParaRPr lang="en-US" dirty="0"/>
          </a:p>
        </p:txBody>
      </p:sp>
      <p:sp>
        <p:nvSpPr>
          <p:cNvPr id="3" name="Slide Number Placeholder 2">
            <a:extLst>
              <a:ext uri="{FF2B5EF4-FFF2-40B4-BE49-F238E27FC236}">
                <a16:creationId xmlns:a16="http://schemas.microsoft.com/office/drawing/2014/main" id="{14894C88-730A-7D33-346E-3E6B0B9B5F45}"/>
              </a:ext>
            </a:extLst>
          </p:cNvPr>
          <p:cNvSpPr>
            <a:spLocks noGrp="1"/>
          </p:cNvSpPr>
          <p:nvPr>
            <p:ph type="sldNum" sz="quarter" idx="12"/>
          </p:nvPr>
        </p:nvSpPr>
        <p:spPr/>
        <p:txBody>
          <a:bodyPr/>
          <a:lstStyle/>
          <a:p>
            <a:fld id="{07938D2D-74FD-477D-9AD6-67A26AAB47B3}" type="slidenum">
              <a:rPr lang="cs-CZ" smtClean="0"/>
              <a:t>7</a:t>
            </a:fld>
            <a:endParaRPr lang="cs-CZ"/>
          </a:p>
        </p:txBody>
      </p:sp>
      <p:sp>
        <p:nvSpPr>
          <p:cNvPr id="4" name="Title 3">
            <a:extLst>
              <a:ext uri="{FF2B5EF4-FFF2-40B4-BE49-F238E27FC236}">
                <a16:creationId xmlns:a16="http://schemas.microsoft.com/office/drawing/2014/main" id="{A34305CA-1D5D-E353-D20D-CF983843D8A5}"/>
              </a:ext>
            </a:extLst>
          </p:cNvPr>
          <p:cNvSpPr>
            <a:spLocks noGrp="1"/>
          </p:cNvSpPr>
          <p:nvPr>
            <p:ph type="title"/>
          </p:nvPr>
        </p:nvSpPr>
        <p:spPr/>
        <p:txBody>
          <a:bodyPr>
            <a:normAutofit/>
          </a:bodyPr>
          <a:lstStyle/>
          <a:p>
            <a:r>
              <a:rPr lang="cs-CZ" sz="2800" b="1" dirty="0">
                <a:latin typeface="Montserrat" panose="00000500000000000000" pitchFamily="2" charset="0"/>
              </a:rPr>
              <a:t>Jak a na co AI využít</a:t>
            </a:r>
            <a:endParaRPr lang="en-US" sz="2800" dirty="0">
              <a:latin typeface="Montserrat" panose="00000500000000000000" pitchFamily="2" charset="0"/>
            </a:endParaRPr>
          </a:p>
        </p:txBody>
      </p:sp>
      <p:sp>
        <p:nvSpPr>
          <p:cNvPr id="5" name="Text Placeholder 4">
            <a:extLst>
              <a:ext uri="{FF2B5EF4-FFF2-40B4-BE49-F238E27FC236}">
                <a16:creationId xmlns:a16="http://schemas.microsoft.com/office/drawing/2014/main" id="{525B5446-094B-43F0-FD6E-0C4422A8F1E7}"/>
              </a:ext>
            </a:extLst>
          </p:cNvPr>
          <p:cNvSpPr>
            <a:spLocks noGrp="1"/>
          </p:cNvSpPr>
          <p:nvPr>
            <p:ph type="body" sz="quarter" idx="13"/>
          </p:nvPr>
        </p:nvSpPr>
        <p:spPr/>
        <p:txBody>
          <a:bodyPr/>
          <a:lstStyle/>
          <a:p>
            <a:endParaRPr lang="en-US" dirty="0">
              <a:latin typeface="Montserrat" panose="00000500000000000000" pitchFamily="2" charset="0"/>
            </a:endParaRPr>
          </a:p>
        </p:txBody>
      </p:sp>
    </p:spTree>
    <p:extLst>
      <p:ext uri="{BB962C8B-B14F-4D97-AF65-F5344CB8AC3E}">
        <p14:creationId xmlns:p14="http://schemas.microsoft.com/office/powerpoint/2010/main" val="3135113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DB00-CF2D-28F8-5366-A2B08656CE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5A38FE-6803-5EAE-1CE8-3C619246C000}"/>
              </a:ext>
            </a:extLst>
          </p:cNvPr>
          <p:cNvSpPr>
            <a:spLocks noGrp="1"/>
          </p:cNvSpPr>
          <p:nvPr>
            <p:ph sz="half" idx="2"/>
          </p:nvPr>
        </p:nvSpPr>
        <p:spPr/>
        <p:txBody>
          <a:bodyPr/>
          <a:lstStyle/>
          <a:p>
            <a:pPr marL="0" indent="0">
              <a:buNone/>
            </a:pPr>
            <a:r>
              <a:rPr lang="en-US" sz="1600" b="1" dirty="0">
                <a:latin typeface="Montserrat" panose="00000500000000000000" pitchFamily="2" charset="0"/>
              </a:rPr>
              <a:t>Příklad </a:t>
            </a:r>
            <a:r>
              <a:rPr lang="en-US" sz="1600" b="1" dirty="0" err="1">
                <a:latin typeface="Montserrat" panose="00000500000000000000" pitchFamily="2" charset="0"/>
              </a:rPr>
              <a:t>dotazu</a:t>
            </a:r>
            <a:r>
              <a:rPr lang="en-US" sz="1600" b="1" dirty="0">
                <a:latin typeface="Montserrat" panose="00000500000000000000" pitchFamily="2" charset="0"/>
              </a:rPr>
              <a:t>:</a:t>
            </a:r>
            <a:endParaRPr lang="en-US" sz="1600" dirty="0">
              <a:latin typeface="Montserrat" panose="00000500000000000000" pitchFamily="2" charset="0"/>
            </a:endParaRPr>
          </a:p>
          <a:p>
            <a:r>
              <a:rPr lang="en-US" sz="1600" dirty="0">
                <a:latin typeface="Montserrat" panose="00000500000000000000" pitchFamily="2" charset="0"/>
              </a:rPr>
              <a:t>„Co </a:t>
            </a:r>
            <a:r>
              <a:rPr lang="en-US" sz="1600" dirty="0" err="1">
                <a:latin typeface="Montserrat" panose="00000500000000000000" pitchFamily="2" charset="0"/>
              </a:rPr>
              <a:t>si</a:t>
            </a:r>
            <a:r>
              <a:rPr lang="en-US" sz="1600" dirty="0">
                <a:latin typeface="Montserrat" panose="00000500000000000000" pitchFamily="2" charset="0"/>
              </a:rPr>
              <a:t> </a:t>
            </a:r>
            <a:r>
              <a:rPr lang="en-US" sz="1600" dirty="0" err="1">
                <a:latin typeface="Montserrat" panose="00000500000000000000" pitchFamily="2" charset="0"/>
              </a:rPr>
              <a:t>myslíš</a:t>
            </a:r>
            <a:r>
              <a:rPr lang="en-US" sz="1600" dirty="0">
                <a:latin typeface="Montserrat" panose="00000500000000000000" pitchFamily="2" charset="0"/>
              </a:rPr>
              <a:t> o </a:t>
            </a:r>
            <a:r>
              <a:rPr lang="en-US" sz="1600" dirty="0" err="1">
                <a:latin typeface="Montserrat" panose="00000500000000000000" pitchFamily="2" charset="0"/>
              </a:rPr>
              <a:t>portfoli</a:t>
            </a:r>
            <a:r>
              <a:rPr lang="cs-CZ" sz="1600" dirty="0">
                <a:latin typeface="Montserrat" panose="00000500000000000000" pitchFamily="2" charset="0"/>
              </a:rPr>
              <a:t>u</a:t>
            </a:r>
            <a:r>
              <a:rPr lang="en-US" sz="1600" dirty="0">
                <a:latin typeface="Montserrat" panose="00000500000000000000" pitchFamily="2" charset="0"/>
              </a:rPr>
              <a:t> od </a:t>
            </a:r>
            <a:r>
              <a:rPr lang="en-US" sz="1600" dirty="0" err="1">
                <a:latin typeface="Montserrat" panose="00000500000000000000" pitchFamily="2" charset="0"/>
              </a:rPr>
              <a:t>mého</a:t>
            </a:r>
            <a:r>
              <a:rPr lang="en-US" sz="1600" dirty="0">
                <a:latin typeface="Montserrat" panose="00000500000000000000" pitchFamily="2" charset="0"/>
              </a:rPr>
              <a:t> </a:t>
            </a:r>
            <a:r>
              <a:rPr lang="en-US" sz="1600" dirty="0" err="1">
                <a:latin typeface="Montserrat" panose="00000500000000000000" pitchFamily="2" charset="0"/>
              </a:rPr>
              <a:t>poradce</a:t>
            </a:r>
            <a:r>
              <a:rPr lang="en-US" sz="1600" dirty="0">
                <a:latin typeface="Montserrat" panose="00000500000000000000" pitchFamily="2" charset="0"/>
              </a:rPr>
              <a:t>?“</a:t>
            </a:r>
          </a:p>
          <a:p>
            <a:pPr marL="0" indent="0">
              <a:buNone/>
            </a:pPr>
            <a:endParaRPr lang="cs-CZ" sz="1600" b="1" dirty="0">
              <a:latin typeface="Montserrat" panose="00000500000000000000" pitchFamily="2" charset="0"/>
            </a:endParaRPr>
          </a:p>
          <a:p>
            <a:pPr marL="0" indent="0">
              <a:buNone/>
            </a:pPr>
            <a:r>
              <a:rPr lang="en-US" sz="1600" b="1" dirty="0">
                <a:latin typeface="Montserrat" panose="00000500000000000000" pitchFamily="2" charset="0"/>
              </a:rPr>
              <a:t>Co AI </a:t>
            </a:r>
            <a:r>
              <a:rPr lang="en-US" sz="1600" b="1" dirty="0" err="1">
                <a:latin typeface="Montserrat" panose="00000500000000000000" pitchFamily="2" charset="0"/>
              </a:rPr>
              <a:t>udělá</a:t>
            </a:r>
            <a:r>
              <a:rPr lang="en-US" sz="1600" b="1" dirty="0">
                <a:latin typeface="Montserrat" panose="00000500000000000000" pitchFamily="2" charset="0"/>
              </a:rPr>
              <a:t>:</a:t>
            </a:r>
            <a:endParaRPr lang="en-US" sz="1600" dirty="0">
              <a:latin typeface="Montserrat" panose="00000500000000000000" pitchFamily="2" charset="0"/>
            </a:endParaRPr>
          </a:p>
          <a:p>
            <a:r>
              <a:rPr lang="en-US" sz="1600" dirty="0" err="1">
                <a:latin typeface="Montserrat" panose="00000500000000000000" pitchFamily="2" charset="0"/>
              </a:rPr>
              <a:t>analyzuje</a:t>
            </a:r>
            <a:r>
              <a:rPr lang="en-US" sz="1600" dirty="0">
                <a:latin typeface="Montserrat" panose="00000500000000000000" pitchFamily="2" charset="0"/>
              </a:rPr>
              <a:t> </a:t>
            </a:r>
            <a:r>
              <a:rPr lang="en-US" sz="1600" dirty="0" err="1">
                <a:latin typeface="Montserrat" panose="00000500000000000000" pitchFamily="2" charset="0"/>
              </a:rPr>
              <a:t>složení</a:t>
            </a:r>
            <a:r>
              <a:rPr lang="en-US" sz="1600" dirty="0">
                <a:latin typeface="Montserrat" panose="00000500000000000000" pitchFamily="2" charset="0"/>
              </a:rPr>
              <a:t> </a:t>
            </a:r>
            <a:r>
              <a:rPr lang="en-US" sz="1600" dirty="0" err="1">
                <a:latin typeface="Montserrat" panose="00000500000000000000" pitchFamily="2" charset="0"/>
              </a:rPr>
              <a:t>portfolia</a:t>
            </a:r>
            <a:endParaRPr lang="en-US" sz="1600" dirty="0">
              <a:latin typeface="Montserrat" panose="00000500000000000000" pitchFamily="2" charset="0"/>
            </a:endParaRPr>
          </a:p>
          <a:p>
            <a:r>
              <a:rPr lang="en-US" sz="1600" dirty="0" err="1">
                <a:latin typeface="Montserrat" panose="00000500000000000000" pitchFamily="2" charset="0"/>
              </a:rPr>
              <a:t>upozorní</a:t>
            </a:r>
            <a:r>
              <a:rPr lang="en-US" sz="1600" dirty="0">
                <a:latin typeface="Montserrat" panose="00000500000000000000" pitchFamily="2" charset="0"/>
              </a:rPr>
              <a:t> </a:t>
            </a:r>
            <a:r>
              <a:rPr lang="en-US" sz="1600" dirty="0" err="1">
                <a:latin typeface="Montserrat" panose="00000500000000000000" pitchFamily="2" charset="0"/>
              </a:rPr>
              <a:t>na</a:t>
            </a:r>
            <a:r>
              <a:rPr lang="en-US" sz="1600" dirty="0">
                <a:latin typeface="Montserrat" panose="00000500000000000000" pitchFamily="2" charset="0"/>
              </a:rPr>
              <a:t> </a:t>
            </a:r>
            <a:r>
              <a:rPr lang="en-US" sz="1600" dirty="0" err="1">
                <a:latin typeface="Montserrat" panose="00000500000000000000" pitchFamily="2" charset="0"/>
              </a:rPr>
              <a:t>koncentraci</a:t>
            </a:r>
            <a:r>
              <a:rPr lang="en-US" sz="1600" dirty="0">
                <a:latin typeface="Montserrat" panose="00000500000000000000" pitchFamily="2" charset="0"/>
              </a:rPr>
              <a:t> </a:t>
            </a:r>
            <a:r>
              <a:rPr lang="en-US" sz="1600" dirty="0" err="1">
                <a:latin typeface="Montserrat" panose="00000500000000000000" pitchFamily="2" charset="0"/>
              </a:rPr>
              <a:t>rizika</a:t>
            </a:r>
            <a:endParaRPr lang="en-US" sz="1600" dirty="0">
              <a:latin typeface="Montserrat" panose="00000500000000000000" pitchFamily="2" charset="0"/>
            </a:endParaRPr>
          </a:p>
          <a:p>
            <a:r>
              <a:rPr lang="en-US" sz="1600" dirty="0" err="1">
                <a:latin typeface="Montserrat" panose="00000500000000000000" pitchFamily="2" charset="0"/>
              </a:rPr>
              <a:t>porovná</a:t>
            </a:r>
            <a:r>
              <a:rPr lang="en-US" sz="1600" dirty="0">
                <a:latin typeface="Montserrat" panose="00000500000000000000" pitchFamily="2" charset="0"/>
              </a:rPr>
              <a:t> s </a:t>
            </a:r>
            <a:r>
              <a:rPr lang="en-US" sz="1600" dirty="0" err="1">
                <a:latin typeface="Montserrat" panose="00000500000000000000" pitchFamily="2" charset="0"/>
              </a:rPr>
              <a:t>doporučenými</a:t>
            </a:r>
            <a:r>
              <a:rPr lang="en-US" sz="1600" dirty="0">
                <a:latin typeface="Montserrat" panose="00000500000000000000" pitchFamily="2" charset="0"/>
              </a:rPr>
              <a:t> </a:t>
            </a:r>
            <a:r>
              <a:rPr lang="en-US" sz="1600" dirty="0" err="1">
                <a:latin typeface="Montserrat" panose="00000500000000000000" pitchFamily="2" charset="0"/>
              </a:rPr>
              <a:t>modely</a:t>
            </a:r>
            <a:endParaRPr lang="en-US" sz="1600" dirty="0">
              <a:latin typeface="Montserrat" panose="00000500000000000000" pitchFamily="2" charset="0"/>
            </a:endParaRPr>
          </a:p>
          <a:p>
            <a:pPr marL="0" indent="0">
              <a:buNone/>
            </a:pPr>
            <a:endParaRPr lang="cs-CZ" sz="1600" b="1" dirty="0">
              <a:latin typeface="Montserrat" panose="00000500000000000000" pitchFamily="2" charset="0"/>
            </a:endParaRPr>
          </a:p>
          <a:p>
            <a:pPr marL="0" indent="0">
              <a:buNone/>
            </a:pPr>
            <a:r>
              <a:rPr lang="en-US" sz="1600" b="1" dirty="0" err="1">
                <a:latin typeface="Montserrat" panose="00000500000000000000" pitchFamily="2" charset="0"/>
              </a:rPr>
              <a:t>Přínos</a:t>
            </a:r>
            <a:r>
              <a:rPr lang="en-US" sz="1600" b="1" dirty="0">
                <a:latin typeface="Montserrat" panose="00000500000000000000" pitchFamily="2" charset="0"/>
              </a:rPr>
              <a:t> pro </a:t>
            </a:r>
            <a:r>
              <a:rPr lang="en-US" sz="1600" b="1" dirty="0" err="1">
                <a:latin typeface="Montserrat" panose="00000500000000000000" pitchFamily="2" charset="0"/>
              </a:rPr>
              <a:t>investora</a:t>
            </a:r>
            <a:r>
              <a:rPr lang="en-US" sz="1600" b="1" dirty="0">
                <a:latin typeface="Montserrat" panose="00000500000000000000" pitchFamily="2" charset="0"/>
              </a:rPr>
              <a:t>:</a:t>
            </a:r>
            <a:endParaRPr lang="en-US" sz="1600" dirty="0">
              <a:latin typeface="Montserrat" panose="00000500000000000000" pitchFamily="2" charset="0"/>
            </a:endParaRPr>
          </a:p>
          <a:p>
            <a:r>
              <a:rPr lang="en-US" sz="1600" dirty="0" err="1">
                <a:latin typeface="Montserrat" panose="00000500000000000000" pitchFamily="2" charset="0"/>
              </a:rPr>
              <a:t>nezávislý</a:t>
            </a:r>
            <a:r>
              <a:rPr lang="en-US" sz="1600" dirty="0">
                <a:latin typeface="Montserrat" panose="00000500000000000000" pitchFamily="2" charset="0"/>
              </a:rPr>
              <a:t> </a:t>
            </a:r>
            <a:r>
              <a:rPr lang="en-US" sz="1600" dirty="0" err="1">
                <a:latin typeface="Montserrat" panose="00000500000000000000" pitchFamily="2" charset="0"/>
              </a:rPr>
              <a:t>pohled</a:t>
            </a:r>
            <a:endParaRPr lang="en-US" sz="1600" dirty="0">
              <a:latin typeface="Montserrat" panose="00000500000000000000" pitchFamily="2" charset="0"/>
            </a:endParaRPr>
          </a:p>
          <a:p>
            <a:r>
              <a:rPr lang="en-US" sz="1600" dirty="0" err="1">
                <a:latin typeface="Montserrat" panose="00000500000000000000" pitchFamily="2" charset="0"/>
              </a:rPr>
              <a:t>lepší</a:t>
            </a:r>
            <a:r>
              <a:rPr lang="en-US" sz="1600" dirty="0">
                <a:latin typeface="Montserrat" panose="00000500000000000000" pitchFamily="2" charset="0"/>
              </a:rPr>
              <a:t> </a:t>
            </a:r>
            <a:r>
              <a:rPr lang="en-US" sz="1600" dirty="0" err="1">
                <a:latin typeface="Montserrat" panose="00000500000000000000" pitchFamily="2" charset="0"/>
              </a:rPr>
              <a:t>pochopení</a:t>
            </a:r>
            <a:r>
              <a:rPr lang="en-US" sz="1600" dirty="0">
                <a:latin typeface="Montserrat" panose="00000500000000000000" pitchFamily="2" charset="0"/>
              </a:rPr>
              <a:t> </a:t>
            </a:r>
            <a:r>
              <a:rPr lang="en-US" sz="1600" dirty="0" err="1">
                <a:latin typeface="Montserrat" panose="00000500000000000000" pitchFamily="2" charset="0"/>
              </a:rPr>
              <a:t>rizika</a:t>
            </a:r>
            <a:endParaRPr lang="en-US" sz="1600" dirty="0">
              <a:latin typeface="Montserrat" panose="00000500000000000000" pitchFamily="2" charset="0"/>
            </a:endParaRPr>
          </a:p>
          <a:p>
            <a:endParaRPr lang="cs-CZ" dirty="0"/>
          </a:p>
        </p:txBody>
      </p:sp>
      <p:sp>
        <p:nvSpPr>
          <p:cNvPr id="3" name="Content Placeholder 2">
            <a:extLst>
              <a:ext uri="{FF2B5EF4-FFF2-40B4-BE49-F238E27FC236}">
                <a16:creationId xmlns:a16="http://schemas.microsoft.com/office/drawing/2014/main" id="{37268058-D631-B058-DA54-781C7F2C24F9}"/>
              </a:ext>
            </a:extLst>
          </p:cNvPr>
          <p:cNvSpPr>
            <a:spLocks noGrp="1"/>
          </p:cNvSpPr>
          <p:nvPr>
            <p:ph sz="quarter" idx="4"/>
          </p:nvPr>
        </p:nvSpPr>
        <p:spPr/>
        <p:txBody>
          <a:bodyPr/>
          <a:lstStyle/>
          <a:p>
            <a:pPr marL="0" indent="0">
              <a:buNone/>
            </a:pPr>
            <a:r>
              <a:rPr lang="en-US" sz="1600" b="1" dirty="0">
                <a:latin typeface="Montserrat" panose="00000500000000000000" pitchFamily="2" charset="0"/>
              </a:rPr>
              <a:t>Příklad </a:t>
            </a:r>
            <a:r>
              <a:rPr lang="en-US" sz="1600" b="1" dirty="0" err="1">
                <a:latin typeface="Montserrat" panose="00000500000000000000" pitchFamily="2" charset="0"/>
              </a:rPr>
              <a:t>dotazu</a:t>
            </a:r>
            <a:r>
              <a:rPr lang="en-US" sz="1600" b="1" dirty="0">
                <a:latin typeface="Montserrat" panose="00000500000000000000" pitchFamily="2" charset="0"/>
              </a:rPr>
              <a:t>:</a:t>
            </a:r>
            <a:endParaRPr lang="en-US" sz="1600" dirty="0">
              <a:latin typeface="Montserrat" panose="00000500000000000000" pitchFamily="2" charset="0"/>
            </a:endParaRPr>
          </a:p>
          <a:p>
            <a:r>
              <a:rPr lang="en-US" sz="1600" dirty="0">
                <a:latin typeface="Montserrat" panose="00000500000000000000" pitchFamily="2" charset="0"/>
              </a:rPr>
              <a:t>„</a:t>
            </a:r>
            <a:r>
              <a:rPr lang="en-US" sz="1600" dirty="0" err="1">
                <a:latin typeface="Montserrat" panose="00000500000000000000" pitchFamily="2" charset="0"/>
              </a:rPr>
              <a:t>Vysvětli</a:t>
            </a:r>
            <a:r>
              <a:rPr lang="en-US" sz="1600" dirty="0">
                <a:latin typeface="Montserrat" panose="00000500000000000000" pitchFamily="2" charset="0"/>
              </a:rPr>
              <a:t> mi, jak </a:t>
            </a:r>
            <a:r>
              <a:rPr lang="en-US" sz="1600" dirty="0" err="1">
                <a:latin typeface="Montserrat" panose="00000500000000000000" pitchFamily="2" charset="0"/>
              </a:rPr>
              <a:t>funguje</a:t>
            </a:r>
            <a:r>
              <a:rPr lang="en-US" sz="1600" dirty="0">
                <a:latin typeface="Montserrat" panose="00000500000000000000" pitchFamily="2" charset="0"/>
              </a:rPr>
              <a:t> </a:t>
            </a:r>
            <a:r>
              <a:rPr lang="en-US" sz="1600" dirty="0" err="1">
                <a:latin typeface="Montserrat" panose="00000500000000000000" pitchFamily="2" charset="0"/>
              </a:rPr>
              <a:t>tento</a:t>
            </a:r>
            <a:r>
              <a:rPr lang="en-US" sz="1600" dirty="0">
                <a:latin typeface="Montserrat" panose="00000500000000000000" pitchFamily="2" charset="0"/>
              </a:rPr>
              <a:t> fond.“</a:t>
            </a:r>
          </a:p>
          <a:p>
            <a:pPr marL="0" indent="0">
              <a:buNone/>
            </a:pPr>
            <a:endParaRPr lang="cs-CZ" sz="1600" b="1" dirty="0">
              <a:latin typeface="Montserrat" panose="00000500000000000000" pitchFamily="2" charset="0"/>
            </a:endParaRPr>
          </a:p>
          <a:p>
            <a:pPr marL="0" indent="0">
              <a:buNone/>
            </a:pPr>
            <a:r>
              <a:rPr lang="en-US" sz="1600" b="1" dirty="0">
                <a:latin typeface="Montserrat" panose="00000500000000000000" pitchFamily="2" charset="0"/>
              </a:rPr>
              <a:t>Co AI </a:t>
            </a:r>
            <a:r>
              <a:rPr lang="en-US" sz="1600" b="1" dirty="0" err="1">
                <a:latin typeface="Montserrat" panose="00000500000000000000" pitchFamily="2" charset="0"/>
              </a:rPr>
              <a:t>udělá</a:t>
            </a:r>
            <a:r>
              <a:rPr lang="en-US" sz="1600" b="1" dirty="0">
                <a:latin typeface="Montserrat" panose="00000500000000000000" pitchFamily="2" charset="0"/>
              </a:rPr>
              <a:t>:</a:t>
            </a:r>
            <a:endParaRPr lang="en-US" sz="1600" dirty="0">
              <a:latin typeface="Montserrat" panose="00000500000000000000" pitchFamily="2" charset="0"/>
            </a:endParaRPr>
          </a:p>
          <a:p>
            <a:r>
              <a:rPr lang="en-US" sz="1600" dirty="0" err="1">
                <a:latin typeface="Montserrat" panose="00000500000000000000" pitchFamily="2" charset="0"/>
              </a:rPr>
              <a:t>přeloží</a:t>
            </a:r>
            <a:r>
              <a:rPr lang="en-US" sz="1600" dirty="0">
                <a:latin typeface="Montserrat" panose="00000500000000000000" pitchFamily="2" charset="0"/>
              </a:rPr>
              <a:t> </a:t>
            </a:r>
            <a:r>
              <a:rPr lang="en-US" sz="1600" dirty="0" err="1">
                <a:latin typeface="Montserrat" panose="00000500000000000000" pitchFamily="2" charset="0"/>
              </a:rPr>
              <a:t>odborný</a:t>
            </a:r>
            <a:r>
              <a:rPr lang="en-US" sz="1600" dirty="0">
                <a:latin typeface="Montserrat" panose="00000500000000000000" pitchFamily="2" charset="0"/>
              </a:rPr>
              <a:t> </a:t>
            </a:r>
            <a:r>
              <a:rPr lang="en-US" sz="1600" dirty="0" err="1">
                <a:latin typeface="Montserrat" panose="00000500000000000000" pitchFamily="2" charset="0"/>
              </a:rPr>
              <a:t>jazyk</a:t>
            </a:r>
            <a:r>
              <a:rPr lang="en-US" sz="1600" dirty="0">
                <a:latin typeface="Montserrat" panose="00000500000000000000" pitchFamily="2" charset="0"/>
              </a:rPr>
              <a:t> do </a:t>
            </a:r>
            <a:r>
              <a:rPr lang="en-US" sz="1600" dirty="0" err="1">
                <a:latin typeface="Montserrat" panose="00000500000000000000" pitchFamily="2" charset="0"/>
              </a:rPr>
              <a:t>srozumitelné</a:t>
            </a:r>
            <a:r>
              <a:rPr lang="en-US" sz="1600" dirty="0">
                <a:latin typeface="Montserrat" panose="00000500000000000000" pitchFamily="2" charset="0"/>
              </a:rPr>
              <a:t> </a:t>
            </a:r>
            <a:r>
              <a:rPr lang="en-US" sz="1600" dirty="0" err="1">
                <a:latin typeface="Montserrat" panose="00000500000000000000" pitchFamily="2" charset="0"/>
              </a:rPr>
              <a:t>řeči</a:t>
            </a:r>
            <a:endParaRPr lang="en-US" sz="1600" dirty="0">
              <a:latin typeface="Montserrat" panose="00000500000000000000" pitchFamily="2" charset="0"/>
            </a:endParaRPr>
          </a:p>
          <a:p>
            <a:r>
              <a:rPr lang="en-US" sz="1600" dirty="0" err="1">
                <a:latin typeface="Montserrat" panose="00000500000000000000" pitchFamily="2" charset="0"/>
              </a:rPr>
              <a:t>shrne</a:t>
            </a:r>
            <a:r>
              <a:rPr lang="en-US" sz="1600" dirty="0">
                <a:latin typeface="Montserrat" panose="00000500000000000000" pitchFamily="2" charset="0"/>
              </a:rPr>
              <a:t> </a:t>
            </a:r>
            <a:r>
              <a:rPr lang="en-US" sz="1600" dirty="0" err="1">
                <a:latin typeface="Montserrat" panose="00000500000000000000" pitchFamily="2" charset="0"/>
              </a:rPr>
              <a:t>hlavní</a:t>
            </a:r>
            <a:r>
              <a:rPr lang="en-US" sz="1600" dirty="0">
                <a:latin typeface="Montserrat" panose="00000500000000000000" pitchFamily="2" charset="0"/>
              </a:rPr>
              <a:t> </a:t>
            </a:r>
            <a:r>
              <a:rPr lang="en-US" sz="1600" dirty="0" err="1">
                <a:latin typeface="Montserrat" panose="00000500000000000000" pitchFamily="2" charset="0"/>
              </a:rPr>
              <a:t>rizika</a:t>
            </a:r>
            <a:r>
              <a:rPr lang="en-US" sz="1600" dirty="0">
                <a:latin typeface="Montserrat" panose="00000500000000000000" pitchFamily="2" charset="0"/>
              </a:rPr>
              <a:t> a </a:t>
            </a:r>
            <a:r>
              <a:rPr lang="en-US" sz="1600" dirty="0" err="1">
                <a:latin typeface="Montserrat" panose="00000500000000000000" pitchFamily="2" charset="0"/>
              </a:rPr>
              <a:t>výhody</a:t>
            </a:r>
            <a:endParaRPr lang="cs-CZ" sz="1600" dirty="0">
              <a:latin typeface="Montserrat" panose="00000500000000000000" pitchFamily="2" charset="0"/>
            </a:endParaRPr>
          </a:p>
          <a:p>
            <a:r>
              <a:rPr lang="cs-CZ" sz="1600" dirty="0">
                <a:latin typeface="Montserrat" panose="00000500000000000000" pitchFamily="2" charset="0"/>
              </a:rPr>
              <a:t>vypočte poplatky</a:t>
            </a:r>
            <a:endParaRPr lang="en-US" sz="1600" dirty="0">
              <a:latin typeface="Montserrat" panose="00000500000000000000" pitchFamily="2" charset="0"/>
            </a:endParaRPr>
          </a:p>
          <a:p>
            <a:pPr marL="0" indent="0">
              <a:buNone/>
            </a:pPr>
            <a:endParaRPr lang="cs-CZ" sz="1600" b="1" dirty="0">
              <a:latin typeface="Montserrat" panose="00000500000000000000" pitchFamily="2" charset="0"/>
            </a:endParaRPr>
          </a:p>
          <a:p>
            <a:pPr marL="0" indent="0">
              <a:buNone/>
            </a:pPr>
            <a:r>
              <a:rPr lang="en-US" sz="1600" b="1" dirty="0" err="1">
                <a:latin typeface="Montserrat" panose="00000500000000000000" pitchFamily="2" charset="0"/>
              </a:rPr>
              <a:t>Přínos</a:t>
            </a:r>
            <a:r>
              <a:rPr lang="en-US" sz="1600" b="1" dirty="0">
                <a:latin typeface="Montserrat" panose="00000500000000000000" pitchFamily="2" charset="0"/>
              </a:rPr>
              <a:t> pro </a:t>
            </a:r>
            <a:r>
              <a:rPr lang="en-US" sz="1600" b="1" dirty="0" err="1">
                <a:latin typeface="Montserrat" panose="00000500000000000000" pitchFamily="2" charset="0"/>
              </a:rPr>
              <a:t>investora</a:t>
            </a:r>
            <a:r>
              <a:rPr lang="en-US" sz="1600" b="1" dirty="0">
                <a:latin typeface="Montserrat" panose="00000500000000000000" pitchFamily="2" charset="0"/>
              </a:rPr>
              <a:t>:</a:t>
            </a:r>
            <a:endParaRPr lang="en-US" sz="1600" dirty="0">
              <a:latin typeface="Montserrat" panose="00000500000000000000" pitchFamily="2" charset="0"/>
            </a:endParaRPr>
          </a:p>
          <a:p>
            <a:r>
              <a:rPr lang="en-US" sz="1600" dirty="0" err="1">
                <a:latin typeface="Montserrat" panose="00000500000000000000" pitchFamily="2" charset="0"/>
              </a:rPr>
              <a:t>lepší</a:t>
            </a:r>
            <a:r>
              <a:rPr lang="en-US" sz="1600" dirty="0">
                <a:latin typeface="Montserrat" panose="00000500000000000000" pitchFamily="2" charset="0"/>
              </a:rPr>
              <a:t> </a:t>
            </a:r>
            <a:r>
              <a:rPr lang="en-US" sz="1600" dirty="0" err="1">
                <a:latin typeface="Montserrat" panose="00000500000000000000" pitchFamily="2" charset="0"/>
              </a:rPr>
              <a:t>finanční</a:t>
            </a:r>
            <a:r>
              <a:rPr lang="en-US" sz="1600" dirty="0">
                <a:latin typeface="Montserrat" panose="00000500000000000000" pitchFamily="2" charset="0"/>
              </a:rPr>
              <a:t> </a:t>
            </a:r>
            <a:r>
              <a:rPr lang="en-US" sz="1600" dirty="0" err="1">
                <a:latin typeface="Montserrat" panose="00000500000000000000" pitchFamily="2" charset="0"/>
              </a:rPr>
              <a:t>gramotnost</a:t>
            </a:r>
            <a:endParaRPr lang="en-US" sz="1600" dirty="0">
              <a:latin typeface="Montserrat" panose="00000500000000000000" pitchFamily="2" charset="0"/>
            </a:endParaRPr>
          </a:p>
          <a:p>
            <a:r>
              <a:rPr lang="en-US" sz="1600" dirty="0" err="1">
                <a:latin typeface="Montserrat" panose="00000500000000000000" pitchFamily="2" charset="0"/>
              </a:rPr>
              <a:t>informovanější</a:t>
            </a:r>
            <a:r>
              <a:rPr lang="en-US" sz="1600" dirty="0">
                <a:latin typeface="Montserrat" panose="00000500000000000000" pitchFamily="2" charset="0"/>
              </a:rPr>
              <a:t> </a:t>
            </a:r>
            <a:r>
              <a:rPr lang="en-US" sz="1600" dirty="0" err="1">
                <a:latin typeface="Montserrat" panose="00000500000000000000" pitchFamily="2" charset="0"/>
              </a:rPr>
              <a:t>rozhodování</a:t>
            </a:r>
            <a:endParaRPr lang="en-US" sz="1600" dirty="0">
              <a:latin typeface="Montserrat" panose="00000500000000000000" pitchFamily="2" charset="0"/>
            </a:endParaRPr>
          </a:p>
          <a:p>
            <a:endParaRPr lang="cs-CZ" dirty="0"/>
          </a:p>
        </p:txBody>
      </p:sp>
      <p:sp>
        <p:nvSpPr>
          <p:cNvPr id="4" name="Slide Number Placeholder 3">
            <a:extLst>
              <a:ext uri="{FF2B5EF4-FFF2-40B4-BE49-F238E27FC236}">
                <a16:creationId xmlns:a16="http://schemas.microsoft.com/office/drawing/2014/main" id="{4D9BA87F-15B5-15F5-3E47-991D6C61C8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8D2D-74FD-477D-9AD6-67A26AAB47B3}" type="slidenum">
              <a:rPr kumimoji="0" lang="cs-CZ" sz="1200" b="0" i="0" u="none" strike="noStrike" kern="1200" cap="none" spc="0" normalizeH="0" baseline="0" noProof="0" smtClean="0">
                <a:ln>
                  <a:noFill/>
                </a:ln>
                <a:solidFill>
                  <a:prstClr val="black">
                    <a:tint val="75000"/>
                  </a:prstClr>
                </a:solidFill>
                <a:effectLst/>
                <a:uLnTx/>
                <a:uFillTx/>
                <a:latin typeface="Mark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cs-CZ" sz="1200" b="0" i="0" u="none" strike="noStrike" kern="1200" cap="none" spc="0" normalizeH="0" baseline="0" noProof="0">
              <a:ln>
                <a:noFill/>
              </a:ln>
              <a:solidFill>
                <a:prstClr val="black">
                  <a:tint val="75000"/>
                </a:prstClr>
              </a:solidFill>
              <a:effectLst/>
              <a:uLnTx/>
              <a:uFillTx/>
              <a:latin typeface="Mark Pro Light"/>
              <a:ea typeface="+mn-ea"/>
              <a:cs typeface="+mn-cs"/>
            </a:endParaRPr>
          </a:p>
        </p:txBody>
      </p:sp>
      <p:sp>
        <p:nvSpPr>
          <p:cNvPr id="5" name="Title 4">
            <a:extLst>
              <a:ext uri="{FF2B5EF4-FFF2-40B4-BE49-F238E27FC236}">
                <a16:creationId xmlns:a16="http://schemas.microsoft.com/office/drawing/2014/main" id="{2E5213B7-0A9F-AADF-A938-10C676D51361}"/>
              </a:ext>
            </a:extLst>
          </p:cNvPr>
          <p:cNvSpPr>
            <a:spLocks noGrp="1"/>
          </p:cNvSpPr>
          <p:nvPr>
            <p:ph type="title"/>
          </p:nvPr>
        </p:nvSpPr>
        <p:spPr/>
        <p:txBody>
          <a:bodyPr/>
          <a:lstStyle/>
          <a:p>
            <a:r>
              <a:rPr lang="cs-CZ" sz="2800" b="1" dirty="0">
                <a:latin typeface="Montserrat" panose="00000500000000000000" pitchFamily="2" charset="0"/>
              </a:rPr>
              <a:t>Praktické příklady na co využívat AI	</a:t>
            </a:r>
            <a:r>
              <a:rPr lang="cs-CZ" dirty="0"/>
              <a:t>	</a:t>
            </a:r>
          </a:p>
        </p:txBody>
      </p:sp>
      <p:sp>
        <p:nvSpPr>
          <p:cNvPr id="6" name="Text Placeholder 5">
            <a:extLst>
              <a:ext uri="{FF2B5EF4-FFF2-40B4-BE49-F238E27FC236}">
                <a16:creationId xmlns:a16="http://schemas.microsoft.com/office/drawing/2014/main" id="{0078D923-0DAC-3B9F-DE5B-D93229FC423C}"/>
              </a:ext>
            </a:extLst>
          </p:cNvPr>
          <p:cNvSpPr>
            <a:spLocks noGrp="1"/>
          </p:cNvSpPr>
          <p:nvPr>
            <p:ph type="body" sz="quarter" idx="13"/>
          </p:nvPr>
        </p:nvSpPr>
        <p:spPr/>
        <p:txBody>
          <a:bodyPr/>
          <a:lstStyle/>
          <a:p>
            <a:endParaRPr lang="cs-CZ" dirty="0"/>
          </a:p>
        </p:txBody>
      </p:sp>
      <p:sp>
        <p:nvSpPr>
          <p:cNvPr id="7" name="Text Placeholder 6">
            <a:extLst>
              <a:ext uri="{FF2B5EF4-FFF2-40B4-BE49-F238E27FC236}">
                <a16:creationId xmlns:a16="http://schemas.microsoft.com/office/drawing/2014/main" id="{35969A66-5553-4E01-0169-D0E5F072FA7F}"/>
              </a:ext>
            </a:extLst>
          </p:cNvPr>
          <p:cNvSpPr>
            <a:spLocks noGrp="1"/>
          </p:cNvSpPr>
          <p:nvPr>
            <p:ph type="body" sz="quarter" idx="14"/>
          </p:nvPr>
        </p:nvSpPr>
        <p:spPr/>
        <p:txBody>
          <a:bodyPr/>
          <a:lstStyle/>
          <a:p>
            <a:r>
              <a:rPr lang="pt-BR" b="1" dirty="0">
                <a:latin typeface="Montserrat" panose="00000500000000000000" pitchFamily="2" charset="0"/>
              </a:rPr>
              <a:t>Druhý názor na investiční návrh</a:t>
            </a:r>
            <a:endParaRPr lang="en-US" b="1" dirty="0">
              <a:latin typeface="Montserrat" panose="00000500000000000000" pitchFamily="2" charset="0"/>
            </a:endParaRPr>
          </a:p>
        </p:txBody>
      </p:sp>
      <p:sp>
        <p:nvSpPr>
          <p:cNvPr id="8" name="Text Placeholder 7">
            <a:extLst>
              <a:ext uri="{FF2B5EF4-FFF2-40B4-BE49-F238E27FC236}">
                <a16:creationId xmlns:a16="http://schemas.microsoft.com/office/drawing/2014/main" id="{4D0CF3F3-60A3-5827-A75B-5DD2976B08FB}"/>
              </a:ext>
            </a:extLst>
          </p:cNvPr>
          <p:cNvSpPr>
            <a:spLocks noGrp="1"/>
          </p:cNvSpPr>
          <p:nvPr>
            <p:ph type="body" sz="quarter" idx="16"/>
          </p:nvPr>
        </p:nvSpPr>
        <p:spPr/>
        <p:txBody>
          <a:bodyPr/>
          <a:lstStyle/>
          <a:p>
            <a:r>
              <a:rPr lang="en-US" b="1" dirty="0" err="1">
                <a:latin typeface="Montserrat" panose="00000500000000000000" pitchFamily="2" charset="0"/>
              </a:rPr>
              <a:t>Vysvětlení</a:t>
            </a:r>
            <a:r>
              <a:rPr lang="en-US" b="1" dirty="0">
                <a:latin typeface="Montserrat" panose="00000500000000000000" pitchFamily="2" charset="0"/>
              </a:rPr>
              <a:t> </a:t>
            </a:r>
            <a:r>
              <a:rPr lang="en-US" b="1" dirty="0" err="1">
                <a:latin typeface="Montserrat" panose="00000500000000000000" pitchFamily="2" charset="0"/>
              </a:rPr>
              <a:t>investičních</a:t>
            </a:r>
            <a:r>
              <a:rPr lang="en-US" b="1" dirty="0">
                <a:latin typeface="Montserrat" panose="00000500000000000000" pitchFamily="2" charset="0"/>
              </a:rPr>
              <a:t> </a:t>
            </a:r>
            <a:r>
              <a:rPr lang="en-US" b="1" dirty="0" err="1">
                <a:latin typeface="Montserrat" panose="00000500000000000000" pitchFamily="2" charset="0"/>
              </a:rPr>
              <a:t>produktů</a:t>
            </a:r>
            <a:endParaRPr lang="cs-CZ" b="1" dirty="0">
              <a:latin typeface="Montserrat" panose="00000500000000000000" pitchFamily="2" charset="0"/>
            </a:endParaRPr>
          </a:p>
        </p:txBody>
      </p:sp>
    </p:spTree>
    <p:extLst>
      <p:ext uri="{BB962C8B-B14F-4D97-AF65-F5344CB8AC3E}">
        <p14:creationId xmlns:p14="http://schemas.microsoft.com/office/powerpoint/2010/main" val="4293436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0B59-9F2C-02F7-0777-BAD92902CB3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E06A323-ECD6-8DD3-DF4E-4BBB695DF02A}"/>
              </a:ext>
            </a:extLst>
          </p:cNvPr>
          <p:cNvSpPr>
            <a:spLocks noGrp="1"/>
          </p:cNvSpPr>
          <p:nvPr>
            <p:ph type="sldNum" sz="quarter" idx="12"/>
          </p:nvPr>
        </p:nvSpPr>
        <p:spPr>
          <a:xfrm>
            <a:off x="8991600" y="6356348"/>
            <a:ext cx="2743200" cy="365125"/>
          </a:xfrm>
        </p:spPr>
        <p:txBody>
          <a:bodyPr vert="horz" lIns="91440" tIns="45720" rIns="91440" bIns="45720" rtlCol="0" anchor="ctr">
            <a:normAutofit/>
          </a:bodyPr>
          <a:lstStyle/>
          <a:p>
            <a:pPr>
              <a:spcAft>
                <a:spcPts val="600"/>
              </a:spcAft>
            </a:pPr>
            <a:fld id="{07938D2D-74FD-477D-9AD6-67A26AAB47B3}" type="slidenum">
              <a:rPr lang="cs-CZ" smtClean="0"/>
              <a:pPr>
                <a:spcAft>
                  <a:spcPts val="600"/>
                </a:spcAft>
              </a:pPr>
              <a:t>9</a:t>
            </a:fld>
            <a:endParaRPr lang="cs-CZ"/>
          </a:p>
        </p:txBody>
      </p:sp>
      <p:sp>
        <p:nvSpPr>
          <p:cNvPr id="4" name="Title 3">
            <a:extLst>
              <a:ext uri="{FF2B5EF4-FFF2-40B4-BE49-F238E27FC236}">
                <a16:creationId xmlns:a16="http://schemas.microsoft.com/office/drawing/2014/main" id="{FAA96CD1-4BE2-4331-6105-1F6FC7E78C73}"/>
              </a:ext>
            </a:extLst>
          </p:cNvPr>
          <p:cNvSpPr>
            <a:spLocks noGrp="1"/>
          </p:cNvSpPr>
          <p:nvPr>
            <p:ph type="title"/>
          </p:nvPr>
        </p:nvSpPr>
        <p:spPr>
          <a:xfrm>
            <a:off x="304799" y="331957"/>
            <a:ext cx="11277601" cy="612885"/>
          </a:xfrm>
        </p:spPr>
        <p:txBody>
          <a:bodyPr vert="horz" lIns="91440" tIns="45720" rIns="91440" bIns="45720" rtlCol="0" anchor="ctr">
            <a:normAutofit/>
          </a:bodyPr>
          <a:lstStyle/>
          <a:p>
            <a:r>
              <a:rPr lang="cs-CZ" sz="2800" b="1" dirty="0">
                <a:latin typeface="Montserrat" panose="00000500000000000000" pitchFamily="2" charset="0"/>
              </a:rPr>
              <a:t>Konkrétní prompty</a:t>
            </a:r>
            <a:endParaRPr lang="en-US" sz="2800" dirty="0">
              <a:latin typeface="Montserrat" panose="00000500000000000000" pitchFamily="2" charset="0"/>
            </a:endParaRPr>
          </a:p>
        </p:txBody>
      </p:sp>
      <p:sp>
        <p:nvSpPr>
          <p:cNvPr id="18" name="Text Placeholder 5">
            <a:extLst>
              <a:ext uri="{FF2B5EF4-FFF2-40B4-BE49-F238E27FC236}">
                <a16:creationId xmlns:a16="http://schemas.microsoft.com/office/drawing/2014/main" id="{AE0B9101-9890-2AB6-C30D-207FCEE8F225}"/>
              </a:ext>
            </a:extLst>
          </p:cNvPr>
          <p:cNvSpPr>
            <a:spLocks noGrp="1"/>
          </p:cNvSpPr>
          <p:nvPr>
            <p:ph type="body" sz="quarter" idx="13"/>
          </p:nvPr>
        </p:nvSpPr>
        <p:spPr>
          <a:xfrm>
            <a:off x="457199" y="895350"/>
            <a:ext cx="11277601" cy="336550"/>
          </a:xfrm>
        </p:spPr>
        <p:txBody>
          <a:bodyPr/>
          <a:lstStyle/>
          <a:p>
            <a:pPr>
              <a:spcBef>
                <a:spcPts val="300"/>
              </a:spcBef>
              <a:spcAft>
                <a:spcPts val="300"/>
              </a:spcAft>
            </a:pPr>
            <a:r>
              <a:rPr lang="en-US" sz="1600" b="1" dirty="0"/>
              <a:t>„</a:t>
            </a:r>
            <a:r>
              <a:rPr lang="en-US" sz="1600" b="1" i="1" dirty="0" err="1">
                <a:solidFill>
                  <a:srgbClr val="1D1C1D"/>
                </a:solidFill>
                <a:latin typeface="Montserrat" panose="00000500000000000000" pitchFamily="2" charset="0"/>
              </a:rPr>
              <a:t>Urob</a:t>
            </a:r>
            <a:r>
              <a:rPr lang="en-US" sz="1600" b="1" i="1" dirty="0">
                <a:solidFill>
                  <a:srgbClr val="1D1C1D"/>
                </a:solidFill>
                <a:latin typeface="Montserrat" panose="00000500000000000000" pitchFamily="2" charset="0"/>
              </a:rPr>
              <a:t> mi </a:t>
            </a:r>
            <a:r>
              <a:rPr lang="en-US" sz="1600" b="1" i="1" dirty="0" err="1">
                <a:solidFill>
                  <a:srgbClr val="1D1C1D"/>
                </a:solidFill>
                <a:latin typeface="Montserrat" panose="00000500000000000000" pitchFamily="2" charset="0"/>
              </a:rPr>
              <a:t>návrh</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investičného</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portfólia</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ak</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plánujem</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investovať</a:t>
            </a:r>
            <a:r>
              <a:rPr lang="en-US" sz="1600" b="1" i="1" dirty="0">
                <a:solidFill>
                  <a:srgbClr val="1D1C1D"/>
                </a:solidFill>
                <a:latin typeface="Montserrat" panose="00000500000000000000" pitchFamily="2" charset="0"/>
              </a:rPr>
              <a:t> 10 </a:t>
            </a:r>
            <a:r>
              <a:rPr lang="en-US" sz="1600" b="1" i="1" dirty="0" err="1">
                <a:solidFill>
                  <a:srgbClr val="1D1C1D"/>
                </a:solidFill>
                <a:latin typeface="Montserrat" panose="00000500000000000000" pitchFamily="2" charset="0"/>
              </a:rPr>
              <a:t>rokov</a:t>
            </a:r>
            <a:r>
              <a:rPr lang="en-US" sz="1600" b="1" i="1" dirty="0">
                <a:solidFill>
                  <a:srgbClr val="1D1C1D"/>
                </a:solidFill>
                <a:latin typeface="Montserrat" panose="00000500000000000000" pitchFamily="2" charset="0"/>
              </a:rPr>
              <a:t> a </a:t>
            </a:r>
            <a:r>
              <a:rPr lang="en-US" sz="1600" b="1" i="1" dirty="0" err="1">
                <a:solidFill>
                  <a:srgbClr val="1D1C1D"/>
                </a:solidFill>
                <a:latin typeface="Montserrat" panose="00000500000000000000" pitchFamily="2" charset="0"/>
              </a:rPr>
              <a:t>zdôvodni</a:t>
            </a:r>
            <a:r>
              <a:rPr lang="en-US" sz="1600" b="1" i="1" dirty="0">
                <a:solidFill>
                  <a:srgbClr val="1D1C1D"/>
                </a:solidFill>
                <a:latin typeface="Montserrat" panose="00000500000000000000" pitchFamily="2" charset="0"/>
              </a:rPr>
              <a:t> mi ten </a:t>
            </a:r>
            <a:r>
              <a:rPr lang="en-US" sz="1600" b="1" i="1" dirty="0" err="1">
                <a:solidFill>
                  <a:srgbClr val="1D1C1D"/>
                </a:solidFill>
                <a:latin typeface="Montserrat" panose="00000500000000000000" pitchFamily="2" charset="0"/>
              </a:rPr>
              <a:t>návrh</a:t>
            </a:r>
            <a:r>
              <a:rPr lang="en-US" sz="1600" b="1" dirty="0"/>
              <a:t>“</a:t>
            </a:r>
            <a:endParaRPr lang="en-US" sz="1600" b="1" i="1" dirty="0">
              <a:solidFill>
                <a:srgbClr val="1D1C1D"/>
              </a:solidFill>
              <a:latin typeface="Montserrat" panose="00000500000000000000" pitchFamily="2" charset="0"/>
            </a:endParaRPr>
          </a:p>
        </p:txBody>
      </p:sp>
      <p:pic>
        <p:nvPicPr>
          <p:cNvPr id="15" name="Obrázek 14">
            <a:extLst>
              <a:ext uri="{FF2B5EF4-FFF2-40B4-BE49-F238E27FC236}">
                <a16:creationId xmlns:a16="http://schemas.microsoft.com/office/drawing/2014/main" id="{B10C9368-CC49-E1B9-291F-E62A77B9EC4F}"/>
              </a:ext>
            </a:extLst>
          </p:cNvPr>
          <p:cNvPicPr>
            <a:picLocks noChangeAspect="1"/>
          </p:cNvPicPr>
          <p:nvPr/>
        </p:nvPicPr>
        <p:blipFill>
          <a:blip r:embed="rId3"/>
          <a:stretch>
            <a:fillRect/>
          </a:stretch>
        </p:blipFill>
        <p:spPr>
          <a:xfrm>
            <a:off x="75536" y="1508235"/>
            <a:ext cx="5347253" cy="4547516"/>
          </a:xfrm>
          <a:prstGeom prst="rect">
            <a:avLst/>
          </a:prstGeom>
        </p:spPr>
      </p:pic>
      <p:pic>
        <p:nvPicPr>
          <p:cNvPr id="17" name="Obrázek 16">
            <a:extLst>
              <a:ext uri="{FF2B5EF4-FFF2-40B4-BE49-F238E27FC236}">
                <a16:creationId xmlns:a16="http://schemas.microsoft.com/office/drawing/2014/main" id="{4D087280-D155-261C-7D53-4E76B92CB05C}"/>
              </a:ext>
            </a:extLst>
          </p:cNvPr>
          <p:cNvPicPr>
            <a:picLocks noChangeAspect="1"/>
          </p:cNvPicPr>
          <p:nvPr/>
        </p:nvPicPr>
        <p:blipFill>
          <a:blip r:embed="rId4"/>
          <a:stretch>
            <a:fillRect/>
          </a:stretch>
        </p:blipFill>
        <p:spPr>
          <a:xfrm>
            <a:off x="5422789" y="2280732"/>
            <a:ext cx="6847201" cy="2998934"/>
          </a:xfrm>
          <a:prstGeom prst="rect">
            <a:avLst/>
          </a:prstGeom>
        </p:spPr>
      </p:pic>
    </p:spTree>
    <p:extLst>
      <p:ext uri="{BB962C8B-B14F-4D97-AF65-F5344CB8AC3E}">
        <p14:creationId xmlns:p14="http://schemas.microsoft.com/office/powerpoint/2010/main" val="4072526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ED002-EAD4-7177-B992-200BEE41474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8D8A301-411A-1515-DAD8-6FD27180233F}"/>
              </a:ext>
            </a:extLst>
          </p:cNvPr>
          <p:cNvSpPr>
            <a:spLocks noGrp="1"/>
          </p:cNvSpPr>
          <p:nvPr>
            <p:ph type="sldNum" sz="quarter" idx="12"/>
          </p:nvPr>
        </p:nvSpPr>
        <p:spPr>
          <a:xfrm>
            <a:off x="8991600" y="6356348"/>
            <a:ext cx="2743200" cy="365125"/>
          </a:xfrm>
        </p:spPr>
        <p:txBody>
          <a:bodyPr vert="horz" lIns="91440" tIns="45720" rIns="91440" bIns="45720" rtlCol="0" anchor="ctr">
            <a:normAutofit/>
          </a:bodyPr>
          <a:lstStyle/>
          <a:p>
            <a:pPr>
              <a:spcAft>
                <a:spcPts val="600"/>
              </a:spcAft>
            </a:pPr>
            <a:fld id="{07938D2D-74FD-477D-9AD6-67A26AAB47B3}" type="slidenum">
              <a:rPr lang="cs-CZ" smtClean="0"/>
              <a:pPr>
                <a:spcAft>
                  <a:spcPts val="600"/>
                </a:spcAft>
              </a:pPr>
              <a:t>10</a:t>
            </a:fld>
            <a:endParaRPr lang="cs-CZ"/>
          </a:p>
        </p:txBody>
      </p:sp>
      <p:sp>
        <p:nvSpPr>
          <p:cNvPr id="4" name="Title 3">
            <a:extLst>
              <a:ext uri="{FF2B5EF4-FFF2-40B4-BE49-F238E27FC236}">
                <a16:creationId xmlns:a16="http://schemas.microsoft.com/office/drawing/2014/main" id="{88BDA4CE-32B4-BD4A-B3F3-7A5E89A0C0FD}"/>
              </a:ext>
            </a:extLst>
          </p:cNvPr>
          <p:cNvSpPr>
            <a:spLocks noGrp="1"/>
          </p:cNvSpPr>
          <p:nvPr>
            <p:ph type="title"/>
          </p:nvPr>
        </p:nvSpPr>
        <p:spPr>
          <a:xfrm>
            <a:off x="358775" y="356800"/>
            <a:ext cx="11277601" cy="612885"/>
          </a:xfrm>
        </p:spPr>
        <p:txBody>
          <a:bodyPr vert="horz" lIns="91440" tIns="45720" rIns="91440" bIns="45720" rtlCol="0" anchor="ctr">
            <a:normAutofit/>
          </a:bodyPr>
          <a:lstStyle/>
          <a:p>
            <a:r>
              <a:rPr lang="cs-CZ" sz="2800" b="1" dirty="0">
                <a:latin typeface="Montserrat" panose="00000500000000000000" pitchFamily="2" charset="0"/>
              </a:rPr>
              <a:t>Konkrétní prompty</a:t>
            </a:r>
            <a:endParaRPr lang="en-US" sz="2800" dirty="0">
              <a:latin typeface="Montserrat" panose="00000500000000000000" pitchFamily="2" charset="0"/>
            </a:endParaRPr>
          </a:p>
        </p:txBody>
      </p:sp>
      <p:sp>
        <p:nvSpPr>
          <p:cNvPr id="18" name="Text Placeholder 5">
            <a:extLst>
              <a:ext uri="{FF2B5EF4-FFF2-40B4-BE49-F238E27FC236}">
                <a16:creationId xmlns:a16="http://schemas.microsoft.com/office/drawing/2014/main" id="{AFB06423-6AC2-5D7E-AB34-8347EA968E22}"/>
              </a:ext>
            </a:extLst>
          </p:cNvPr>
          <p:cNvSpPr>
            <a:spLocks noGrp="1"/>
          </p:cNvSpPr>
          <p:nvPr>
            <p:ph type="body" sz="quarter" idx="13"/>
          </p:nvPr>
        </p:nvSpPr>
        <p:spPr>
          <a:xfrm>
            <a:off x="457199" y="895350"/>
            <a:ext cx="11277601" cy="336550"/>
          </a:xfrm>
        </p:spPr>
        <p:txBody>
          <a:bodyPr/>
          <a:lstStyle/>
          <a:p>
            <a:r>
              <a:rPr lang="en-US" sz="1600" b="1" dirty="0"/>
              <a:t>„</a:t>
            </a:r>
            <a:r>
              <a:rPr lang="en-US" sz="1600" b="1" i="1" dirty="0">
                <a:solidFill>
                  <a:srgbClr val="1D1C1D"/>
                </a:solidFill>
                <a:latin typeface="Montserrat" panose="00000500000000000000" pitchFamily="2" charset="0"/>
              </a:rPr>
              <a:t>Na </a:t>
            </a:r>
            <a:r>
              <a:rPr lang="en-US" sz="1600" b="1" i="1" dirty="0" err="1">
                <a:solidFill>
                  <a:srgbClr val="1D1C1D"/>
                </a:solidFill>
                <a:latin typeface="Montserrat" panose="00000500000000000000" pitchFamily="2" charset="0"/>
              </a:rPr>
              <a:t>kterých</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pěti</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akciích</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vydělám</a:t>
            </a:r>
            <a:r>
              <a:rPr lang="en-US" sz="1600" b="1" i="1" dirty="0">
                <a:solidFill>
                  <a:srgbClr val="1D1C1D"/>
                </a:solidFill>
                <a:latin typeface="Montserrat" panose="00000500000000000000" pitchFamily="2" charset="0"/>
              </a:rPr>
              <a:t> v </a:t>
            </a:r>
            <a:r>
              <a:rPr lang="en-US" sz="1600" b="1" i="1" dirty="0" err="1">
                <a:solidFill>
                  <a:srgbClr val="1D1C1D"/>
                </a:solidFill>
                <a:latin typeface="Montserrat" panose="00000500000000000000" pitchFamily="2" charset="0"/>
              </a:rPr>
              <a:t>příštích</a:t>
            </a:r>
            <a:r>
              <a:rPr lang="en-US" sz="1600" b="1" i="1" dirty="0">
                <a:solidFill>
                  <a:srgbClr val="1D1C1D"/>
                </a:solidFill>
                <a:latin typeface="Montserrat" panose="00000500000000000000" pitchFamily="2" charset="0"/>
              </a:rPr>
              <a:t> 5 </a:t>
            </a:r>
            <a:r>
              <a:rPr lang="en-US" sz="1600" b="1" i="1" dirty="0" err="1">
                <a:solidFill>
                  <a:srgbClr val="1D1C1D"/>
                </a:solidFill>
                <a:latin typeface="Montserrat" panose="00000500000000000000" pitchFamily="2" charset="0"/>
              </a:rPr>
              <a:t>letech</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nejvíc</a:t>
            </a:r>
            <a:r>
              <a:rPr lang="en-US" sz="1600" b="1" i="1" dirty="0">
                <a:solidFill>
                  <a:srgbClr val="1D1C1D"/>
                </a:solidFill>
                <a:latin typeface="Montserrat" panose="00000500000000000000" pitchFamily="2" charset="0"/>
              </a:rPr>
              <a:t> </a:t>
            </a:r>
            <a:r>
              <a:rPr lang="en-US" sz="1600" b="1" i="1" dirty="0" err="1">
                <a:solidFill>
                  <a:srgbClr val="1D1C1D"/>
                </a:solidFill>
                <a:latin typeface="Montserrat" panose="00000500000000000000" pitchFamily="2" charset="0"/>
              </a:rPr>
              <a:t>peněz</a:t>
            </a:r>
            <a:r>
              <a:rPr lang="en-US" sz="1600" b="1" i="1" dirty="0">
                <a:solidFill>
                  <a:srgbClr val="1D1C1D"/>
                </a:solidFill>
                <a:latin typeface="Montserrat" panose="00000500000000000000" pitchFamily="2" charset="0"/>
              </a:rPr>
              <a:t>?</a:t>
            </a:r>
            <a:r>
              <a:rPr lang="en-US" sz="1600" b="1" dirty="0"/>
              <a:t>“</a:t>
            </a:r>
            <a:endParaRPr lang="en-US" sz="1600" b="1" i="1" dirty="0">
              <a:solidFill>
                <a:srgbClr val="1D1C1D"/>
              </a:solidFill>
              <a:latin typeface="Montserrat" panose="00000500000000000000" pitchFamily="2" charset="0"/>
            </a:endParaRPr>
          </a:p>
          <a:p>
            <a:endParaRPr lang="en-US" sz="1200" dirty="0"/>
          </a:p>
        </p:txBody>
      </p:sp>
      <p:pic>
        <p:nvPicPr>
          <p:cNvPr id="12" name="Obrázek 11">
            <a:extLst>
              <a:ext uri="{FF2B5EF4-FFF2-40B4-BE49-F238E27FC236}">
                <a16:creationId xmlns:a16="http://schemas.microsoft.com/office/drawing/2014/main" id="{5088DE0B-FB94-690B-6F81-EDCFBA7965DF}"/>
              </a:ext>
            </a:extLst>
          </p:cNvPr>
          <p:cNvPicPr>
            <a:picLocks noChangeAspect="1"/>
          </p:cNvPicPr>
          <p:nvPr/>
        </p:nvPicPr>
        <p:blipFill>
          <a:blip r:embed="rId2"/>
          <a:stretch>
            <a:fillRect/>
          </a:stretch>
        </p:blipFill>
        <p:spPr>
          <a:xfrm>
            <a:off x="358775" y="1770450"/>
            <a:ext cx="4644035" cy="4842216"/>
          </a:xfrm>
          <a:prstGeom prst="rect">
            <a:avLst/>
          </a:prstGeom>
        </p:spPr>
      </p:pic>
      <p:pic>
        <p:nvPicPr>
          <p:cNvPr id="15" name="Obrázek 14">
            <a:extLst>
              <a:ext uri="{FF2B5EF4-FFF2-40B4-BE49-F238E27FC236}">
                <a16:creationId xmlns:a16="http://schemas.microsoft.com/office/drawing/2014/main" id="{40451E68-ED8A-DBB6-0234-C7B695EF10DF}"/>
              </a:ext>
            </a:extLst>
          </p:cNvPr>
          <p:cNvPicPr>
            <a:picLocks noChangeAspect="1"/>
          </p:cNvPicPr>
          <p:nvPr/>
        </p:nvPicPr>
        <p:blipFill>
          <a:blip r:embed="rId3"/>
          <a:stretch>
            <a:fillRect/>
          </a:stretch>
        </p:blipFill>
        <p:spPr>
          <a:xfrm>
            <a:off x="5931591" y="1508235"/>
            <a:ext cx="4095003" cy="2813214"/>
          </a:xfrm>
          <a:prstGeom prst="rect">
            <a:avLst/>
          </a:prstGeom>
        </p:spPr>
      </p:pic>
      <p:pic>
        <p:nvPicPr>
          <p:cNvPr id="21" name="Obrázek 20">
            <a:extLst>
              <a:ext uri="{FF2B5EF4-FFF2-40B4-BE49-F238E27FC236}">
                <a16:creationId xmlns:a16="http://schemas.microsoft.com/office/drawing/2014/main" id="{AE5DCB03-AC95-B162-0906-01635B394627}"/>
              </a:ext>
            </a:extLst>
          </p:cNvPr>
          <p:cNvPicPr>
            <a:picLocks noChangeAspect="1"/>
          </p:cNvPicPr>
          <p:nvPr/>
        </p:nvPicPr>
        <p:blipFill>
          <a:blip r:embed="rId4"/>
          <a:stretch>
            <a:fillRect/>
          </a:stretch>
        </p:blipFill>
        <p:spPr>
          <a:xfrm>
            <a:off x="5502963" y="4390079"/>
            <a:ext cx="5167023" cy="2467921"/>
          </a:xfrm>
          <a:prstGeom prst="rect">
            <a:avLst/>
          </a:prstGeom>
        </p:spPr>
      </p:pic>
    </p:spTree>
    <p:extLst>
      <p:ext uri="{BB962C8B-B14F-4D97-AF65-F5344CB8AC3E}">
        <p14:creationId xmlns:p14="http://schemas.microsoft.com/office/powerpoint/2010/main" val="3387685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8AFBF4C-FEBC-7B7C-3897-DA4B719AB76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8D2D-74FD-477D-9AD6-67A26AAB47B3}" type="slidenum">
              <a:rPr kumimoji="0" lang="cs-CZ" sz="1200" b="0" i="0" u="none" strike="noStrike" kern="1200" cap="none" spc="0" normalizeH="0" baseline="0" noProof="0" smtClean="0">
                <a:ln>
                  <a:noFill/>
                </a:ln>
                <a:solidFill>
                  <a:prstClr val="black">
                    <a:tint val="75000"/>
                  </a:prstClr>
                </a:solidFill>
                <a:effectLst/>
                <a:uLnTx/>
                <a:uFillTx/>
                <a:latin typeface="Mark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cs-CZ" sz="1200" b="0" i="0" u="none" strike="noStrike" kern="1200" cap="none" spc="0" normalizeH="0" baseline="0" noProof="0">
              <a:ln>
                <a:noFill/>
              </a:ln>
              <a:solidFill>
                <a:prstClr val="black">
                  <a:tint val="75000"/>
                </a:prstClr>
              </a:solidFill>
              <a:effectLst/>
              <a:uLnTx/>
              <a:uFillTx/>
              <a:latin typeface="Mark Pro Light"/>
              <a:ea typeface="+mn-ea"/>
              <a:cs typeface="+mn-cs"/>
            </a:endParaRPr>
          </a:p>
        </p:txBody>
      </p:sp>
      <p:sp>
        <p:nvSpPr>
          <p:cNvPr id="4" name="Title 3">
            <a:extLst>
              <a:ext uri="{FF2B5EF4-FFF2-40B4-BE49-F238E27FC236}">
                <a16:creationId xmlns:a16="http://schemas.microsoft.com/office/drawing/2014/main" id="{AFF5A64A-BA10-13AB-EF93-F4A25C1E562A}"/>
              </a:ext>
            </a:extLst>
          </p:cNvPr>
          <p:cNvSpPr>
            <a:spLocks noGrp="1"/>
          </p:cNvSpPr>
          <p:nvPr>
            <p:ph type="title"/>
          </p:nvPr>
        </p:nvSpPr>
        <p:spPr/>
        <p:txBody>
          <a:bodyPr>
            <a:normAutofit/>
          </a:bodyPr>
          <a:lstStyle/>
          <a:p>
            <a:r>
              <a:rPr lang="cs-CZ" sz="2800" b="1" dirty="0">
                <a:latin typeface="Montserrat" panose="00000500000000000000" pitchFamily="2" charset="0"/>
              </a:rPr>
              <a:t>Q&amp;A - Otázky a odpovědi</a:t>
            </a:r>
            <a:endParaRPr lang="en-US" sz="2800" b="1" dirty="0">
              <a:latin typeface="Montserrat" panose="00000500000000000000" pitchFamily="2" charset="0"/>
            </a:endParaRPr>
          </a:p>
        </p:txBody>
      </p:sp>
      <p:sp>
        <p:nvSpPr>
          <p:cNvPr id="5" name="Text Placeholder 4">
            <a:extLst>
              <a:ext uri="{FF2B5EF4-FFF2-40B4-BE49-F238E27FC236}">
                <a16:creationId xmlns:a16="http://schemas.microsoft.com/office/drawing/2014/main" id="{E2B7B2A3-2910-76F7-1BA7-EE35111C9464}"/>
              </a:ext>
            </a:extLst>
          </p:cNvPr>
          <p:cNvSpPr>
            <a:spLocks noGrp="1"/>
          </p:cNvSpPr>
          <p:nvPr>
            <p:ph type="body" sz="quarter" idx="13"/>
          </p:nvPr>
        </p:nvSpPr>
        <p:spPr/>
        <p:txBody>
          <a:bodyPr/>
          <a:lstStyle/>
          <a:p>
            <a:r>
              <a:rPr lang="cs-CZ" dirty="0">
                <a:latin typeface="Montserrat" panose="00000500000000000000" pitchFamily="2" charset="0"/>
              </a:rPr>
              <a:t>Prostor pro Vaše dotazy</a:t>
            </a:r>
            <a:endParaRPr lang="en-US" dirty="0">
              <a:latin typeface="Montserrat" panose="00000500000000000000" pitchFamily="2" charset="0"/>
            </a:endParaRPr>
          </a:p>
          <a:p>
            <a:endParaRPr lang="en-US" dirty="0"/>
          </a:p>
        </p:txBody>
      </p:sp>
      <p:pic>
        <p:nvPicPr>
          <p:cNvPr id="9" name="Zástupný obsah 8">
            <a:extLst>
              <a:ext uri="{FF2B5EF4-FFF2-40B4-BE49-F238E27FC236}">
                <a16:creationId xmlns:a16="http://schemas.microsoft.com/office/drawing/2014/main" id="{0FA7C8B3-E530-14F4-B00A-FC6DA13AC5CB}"/>
              </a:ext>
            </a:extLst>
          </p:cNvPr>
          <p:cNvPicPr>
            <a:picLocks noGrp="1" noChangeAspect="1"/>
          </p:cNvPicPr>
          <p:nvPr>
            <p:ph idx="1"/>
          </p:nvPr>
        </p:nvPicPr>
        <p:blipFill>
          <a:blip r:embed="rId2"/>
          <a:stretch>
            <a:fillRect/>
          </a:stretch>
        </p:blipFill>
        <p:spPr>
          <a:xfrm>
            <a:off x="6311234" y="1762125"/>
            <a:ext cx="4419827" cy="2787793"/>
          </a:xfrm>
          <a:prstGeom prst="rect">
            <a:avLst/>
          </a:prstGeom>
        </p:spPr>
      </p:pic>
    </p:spTree>
    <p:extLst>
      <p:ext uri="{BB962C8B-B14F-4D97-AF65-F5344CB8AC3E}">
        <p14:creationId xmlns:p14="http://schemas.microsoft.com/office/powerpoint/2010/main" val="2722024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Nadpis 20">
            <a:extLst>
              <a:ext uri="{FF2B5EF4-FFF2-40B4-BE49-F238E27FC236}">
                <a16:creationId xmlns:a16="http://schemas.microsoft.com/office/drawing/2014/main" id="{E8730AC0-90D7-B580-D2D6-780E065DACF6}"/>
              </a:ext>
            </a:extLst>
          </p:cNvPr>
          <p:cNvSpPr>
            <a:spLocks noGrp="1"/>
          </p:cNvSpPr>
          <p:nvPr>
            <p:ph type="title"/>
          </p:nvPr>
        </p:nvSpPr>
        <p:spPr/>
        <p:txBody>
          <a:bodyPr>
            <a:normAutofit/>
          </a:bodyPr>
          <a:lstStyle/>
          <a:p>
            <a:r>
              <a:rPr lang="cs-CZ" sz="2800" b="1" dirty="0">
                <a:latin typeface="Montserrat" panose="00000500000000000000" pitchFamily="2" charset="0"/>
              </a:rPr>
              <a:t>Děkujeme za pozornost</a:t>
            </a:r>
          </a:p>
        </p:txBody>
      </p:sp>
      <p:sp>
        <p:nvSpPr>
          <p:cNvPr id="3" name="Zástupný symbol pro číslo snímku 2">
            <a:extLst>
              <a:ext uri="{FF2B5EF4-FFF2-40B4-BE49-F238E27FC236}">
                <a16:creationId xmlns:a16="http://schemas.microsoft.com/office/drawing/2014/main" id="{30D55733-FFB6-975F-45E5-FE24EAB16CEE}"/>
              </a:ext>
            </a:extLst>
          </p:cNvPr>
          <p:cNvSpPr>
            <a:spLocks noGrp="1"/>
          </p:cNvSpPr>
          <p:nvPr>
            <p:ph type="sldNum" sz="quarter" idx="12"/>
          </p:nvPr>
        </p:nvSpPr>
        <p:spPr/>
        <p:txBody>
          <a:bodyPr/>
          <a:lstStyle/>
          <a:p>
            <a:fld id="{07938D2D-74FD-477D-9AD6-67A26AAB47B3}" type="slidenum">
              <a:rPr lang="cs-CZ" smtClean="0"/>
              <a:t>12</a:t>
            </a:fld>
            <a:endParaRPr lang="cs-CZ"/>
          </a:p>
        </p:txBody>
      </p:sp>
      <p:sp>
        <p:nvSpPr>
          <p:cNvPr id="15" name="Zástupný text 1">
            <a:extLst>
              <a:ext uri="{FF2B5EF4-FFF2-40B4-BE49-F238E27FC236}">
                <a16:creationId xmlns:a16="http://schemas.microsoft.com/office/drawing/2014/main" id="{0938423E-345B-9A1C-5342-D50A4BD0DC97}"/>
              </a:ext>
            </a:extLst>
          </p:cNvPr>
          <p:cNvSpPr txBox="1">
            <a:spLocks/>
          </p:cNvSpPr>
          <p:nvPr/>
        </p:nvSpPr>
        <p:spPr>
          <a:xfrm>
            <a:off x="674351" y="3788679"/>
            <a:ext cx="10843296" cy="2263347"/>
          </a:xfrm>
          <a:prstGeom prst="rect">
            <a:avLst/>
          </a:prstGeom>
        </p:spPr>
        <p:txBody>
          <a:bodyPr>
            <a:noAutofit/>
          </a:bodyPr>
          <a:lstStyle>
            <a:lvl1pPr marL="228600" indent="-228600" algn="l" defTabSz="914400" rtl="0" eaLnBrk="1" latinLnBrk="0" hangingPunct="1">
              <a:lnSpc>
                <a:spcPct val="90000"/>
              </a:lnSpc>
              <a:spcBef>
                <a:spcPts val="1000"/>
              </a:spcBef>
              <a:buFontTx/>
              <a:buBlip>
                <a:blip r:embed="rId2"/>
              </a:buBlip>
              <a:defRPr sz="14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Tx/>
              <a:buBlip>
                <a:blip r:embed="rId2"/>
              </a:buBlip>
              <a:defRPr sz="12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Tx/>
              <a:buBlip>
                <a:blip r:embed="rId2"/>
              </a:buBlip>
              <a:defRPr sz="11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Tx/>
              <a:buBlip>
                <a:blip r:embed="rId2"/>
              </a:buBlip>
              <a:defRPr sz="105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Tx/>
              <a:buBlip>
                <a:blip r:embed="rId2"/>
              </a:buBlip>
              <a:defRPr sz="105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1050" dirty="0">
                <a:latin typeface="Montserrat" panose="00000500000000000000" pitchFamily="2" charset="0"/>
              </a:rPr>
              <a:t>This Document was prepared </a:t>
            </a:r>
            <a:r>
              <a:rPr lang="en-GB" sz="1050" dirty="0">
                <a:highlight>
                  <a:srgbClr val="FFFFFF"/>
                </a:highlight>
                <a:latin typeface="Montserrat" panose="00000500000000000000" pitchFamily="2" charset="0"/>
              </a:rPr>
              <a:t>by </a:t>
            </a:r>
            <a:r>
              <a:rPr lang="en-US" sz="1050" dirty="0">
                <a:highlight>
                  <a:srgbClr val="FFFFFF"/>
                </a:highlight>
                <a:latin typeface="Montserrat" panose="00000500000000000000" pitchFamily="2" charset="0"/>
              </a:rPr>
              <a:t>WOOD Retail Investments </a:t>
            </a:r>
            <a:r>
              <a:rPr lang="en-US" sz="1050" dirty="0" err="1">
                <a:highlight>
                  <a:srgbClr val="FFFFFF"/>
                </a:highlight>
                <a:latin typeface="Montserrat" panose="00000500000000000000" pitchFamily="2" charset="0"/>
              </a:rPr>
              <a:t>a.s.</a:t>
            </a:r>
            <a:r>
              <a:rPr lang="en-US" sz="1050" dirty="0">
                <a:highlight>
                  <a:srgbClr val="FFFFFF"/>
                </a:highlight>
                <a:latin typeface="Montserrat" panose="00000500000000000000" pitchFamily="2" charset="0"/>
              </a:rPr>
              <a:t> </a:t>
            </a:r>
            <a:r>
              <a:rPr lang="en-GB" sz="1050" dirty="0">
                <a:highlight>
                  <a:srgbClr val="FFFFFF"/>
                </a:highlight>
                <a:latin typeface="Montserrat" panose="00000500000000000000" pitchFamily="2" charset="0"/>
              </a:rPr>
              <a:t>(“WOOD”) based </a:t>
            </a:r>
            <a:r>
              <a:rPr lang="en-GB" sz="1050" dirty="0">
                <a:latin typeface="Montserrat" panose="00000500000000000000" pitchFamily="2" charset="0"/>
              </a:rPr>
              <a:t>on the historical financial and statistical data. WOOD assumed the authenticity, veracity, accuracy, and completeness of any of such data, without their independent verification. WOOD is not responsible in any respect for the accuracy, completeness or reasonableness of any of such data. No representation or warranty, expressed or implied, is made and no responsibility is or will be accepted by WOOD for the accuracy, reliability or completeness of any data used or presented in this Document. The data contained in this Document are based solely on the information available to WOOD through the date hereof. WOOD is not obliged to update or otherwise review this Document and data contained in it following its distribution. WOOD has not made any due diligence of the undertakings described in this Document or an independent evaluation or appraisal of the assets or the business thereof nor have we been furnished with any such independent evaluation or appraisal. In addition, WOOD did not consider the existence of, nor solicit any third party indications of interest in acquiring all or any part of any such undertaking nor the potential value of all or any part of such undertakings to any third party. This Document does not constitute an offer to sell or solicitation of an offer to buy any shares. This Document does not purport to contain all information which may be material to evaluate the undertakings and the recipient of this Document should conduct its own independent evaluation of the undertakings described herein. Any decision of the recipient of this Document made on the basis of the Document shall be made on its own risk and WOOD in any case and any circumstances shall not be liable for any consequences of decisions made on the basis of the Document. This Document and any information contained herein are confidential and may not be reproduced, copied, published, not summarized, excerpted from, quoted or otherwise publicly referred to. The disclosure of the Document to other entities by the recipient requires the prior written consent of WOOD</a:t>
            </a:r>
            <a:r>
              <a:rPr lang="cs-CZ" sz="1050" dirty="0">
                <a:latin typeface="Montserrat" panose="00000500000000000000" pitchFamily="2" charset="0"/>
              </a:rPr>
              <a:t>.</a:t>
            </a:r>
            <a:r>
              <a:rPr lang="en-GB" sz="1050" dirty="0">
                <a:latin typeface="Montserrat" panose="00000500000000000000" pitchFamily="2" charset="0"/>
              </a:rPr>
              <a:t> © 20</a:t>
            </a:r>
            <a:r>
              <a:rPr lang="cs-CZ" sz="1050" dirty="0">
                <a:latin typeface="Montserrat" panose="00000500000000000000" pitchFamily="2" charset="0"/>
              </a:rPr>
              <a:t>24</a:t>
            </a:r>
            <a:r>
              <a:rPr lang="en-GB" sz="1050" dirty="0">
                <a:latin typeface="Montserrat" panose="00000500000000000000" pitchFamily="2" charset="0"/>
              </a:rPr>
              <a:t> </a:t>
            </a:r>
            <a:r>
              <a:rPr lang="en-US" sz="1050" dirty="0">
                <a:latin typeface="Montserrat" panose="00000500000000000000" pitchFamily="2" charset="0"/>
              </a:rPr>
              <a:t>WOOD Retail Investments </a:t>
            </a:r>
            <a:r>
              <a:rPr lang="en-US" sz="1050" dirty="0" err="1">
                <a:latin typeface="Montserrat" panose="00000500000000000000" pitchFamily="2" charset="0"/>
              </a:rPr>
              <a:t>a.s.</a:t>
            </a:r>
            <a:endParaRPr lang="en-GB" sz="1050" dirty="0">
              <a:latin typeface="Montserrat" panose="00000500000000000000" pitchFamily="2" charset="0"/>
            </a:endParaRPr>
          </a:p>
        </p:txBody>
      </p:sp>
      <p:sp>
        <p:nvSpPr>
          <p:cNvPr id="5" name="Title 2">
            <a:extLst>
              <a:ext uri="{FF2B5EF4-FFF2-40B4-BE49-F238E27FC236}">
                <a16:creationId xmlns:a16="http://schemas.microsoft.com/office/drawing/2014/main" id="{67ED2B70-9435-563F-AA72-BAFF572F7303}"/>
              </a:ext>
            </a:extLst>
          </p:cNvPr>
          <p:cNvSpPr txBox="1">
            <a:spLocks/>
          </p:cNvSpPr>
          <p:nvPr/>
        </p:nvSpPr>
        <p:spPr>
          <a:xfrm>
            <a:off x="2755039" y="1793539"/>
            <a:ext cx="2693261" cy="1099290"/>
          </a:xfrm>
          <a:prstGeom prst="rect">
            <a:avLst/>
          </a:prstGeom>
        </p:spPr>
        <p:txBody>
          <a:bodyPr/>
          <a:lstStyle>
            <a:lvl1pPr algn="l" defTabSz="914400" rtl="0" eaLnBrk="1" latinLnBrk="0" hangingPunct="1">
              <a:spcBef>
                <a:spcPct val="0"/>
              </a:spcBef>
              <a:buNone/>
              <a:defRPr sz="2400" b="1" kern="1200">
                <a:solidFill>
                  <a:schemeClr val="accent1"/>
                </a:solidFill>
                <a:latin typeface="+mj-lt"/>
                <a:ea typeface="+mj-ea"/>
                <a:cs typeface="+mj-cs"/>
              </a:defRPr>
            </a:lvl1pPr>
          </a:lstStyle>
          <a:p>
            <a:pPr fontAlgn="auto">
              <a:spcAft>
                <a:spcPts val="0"/>
              </a:spcAft>
            </a:pPr>
            <a:endParaRPr lang="en-US" dirty="0">
              <a:latin typeface="+mn-lt"/>
            </a:endParaRPr>
          </a:p>
        </p:txBody>
      </p:sp>
      <p:pic>
        <p:nvPicPr>
          <p:cNvPr id="4" name="Picture 3" descr="A collage of men in white shirts&#10;&#10;AI-generated content may be incorrect.">
            <a:extLst>
              <a:ext uri="{FF2B5EF4-FFF2-40B4-BE49-F238E27FC236}">
                <a16:creationId xmlns:a16="http://schemas.microsoft.com/office/drawing/2014/main" id="{A749A038-9F5A-74FA-428F-1D7E488D5C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244" y="960737"/>
            <a:ext cx="4663785" cy="2827942"/>
          </a:xfrm>
          <a:prstGeom prst="rect">
            <a:avLst/>
          </a:prstGeom>
        </p:spPr>
      </p:pic>
      <p:sp>
        <p:nvSpPr>
          <p:cNvPr id="6" name="TextBox 5">
            <a:extLst>
              <a:ext uri="{FF2B5EF4-FFF2-40B4-BE49-F238E27FC236}">
                <a16:creationId xmlns:a16="http://schemas.microsoft.com/office/drawing/2014/main" id="{B7959199-0B3D-1F56-96AA-72AE08FD77E9}"/>
              </a:ext>
            </a:extLst>
          </p:cNvPr>
          <p:cNvSpPr txBox="1"/>
          <p:nvPr/>
        </p:nvSpPr>
        <p:spPr>
          <a:xfrm>
            <a:off x="5546481" y="1454985"/>
            <a:ext cx="3744686" cy="338554"/>
          </a:xfrm>
          <a:prstGeom prst="rect">
            <a:avLst/>
          </a:prstGeom>
          <a:noFill/>
        </p:spPr>
        <p:txBody>
          <a:bodyPr wrap="square" rtlCol="0">
            <a:spAutoFit/>
          </a:bodyPr>
          <a:lstStyle/>
          <a:p>
            <a:r>
              <a:rPr lang="cs-CZ" sz="1600" b="1" dirty="0">
                <a:solidFill>
                  <a:schemeClr val="accent1"/>
                </a:solidFill>
                <a:latin typeface="Montserrat" panose="00000500000000000000" pitchFamily="2" charset="0"/>
              </a:rPr>
              <a:t>Tým investičních konzultací</a:t>
            </a:r>
            <a:endParaRPr lang="en-US" sz="1600" b="1" dirty="0">
              <a:solidFill>
                <a:schemeClr val="accent1"/>
              </a:solidFill>
              <a:latin typeface="Montserrat" panose="00000500000000000000" pitchFamily="2" charset="0"/>
            </a:endParaRPr>
          </a:p>
        </p:txBody>
      </p:sp>
      <p:sp>
        <p:nvSpPr>
          <p:cNvPr id="7" name="TextBox 6">
            <a:extLst>
              <a:ext uri="{FF2B5EF4-FFF2-40B4-BE49-F238E27FC236}">
                <a16:creationId xmlns:a16="http://schemas.microsoft.com/office/drawing/2014/main" id="{E6D6A4FB-478C-9EEF-339E-194B06B6706C}"/>
              </a:ext>
            </a:extLst>
          </p:cNvPr>
          <p:cNvSpPr txBox="1"/>
          <p:nvPr/>
        </p:nvSpPr>
        <p:spPr>
          <a:xfrm>
            <a:off x="5568322" y="1921679"/>
            <a:ext cx="2808515" cy="307777"/>
          </a:xfrm>
          <a:prstGeom prst="rect">
            <a:avLst/>
          </a:prstGeom>
          <a:noFill/>
        </p:spPr>
        <p:txBody>
          <a:bodyPr wrap="square" rtlCol="0">
            <a:spAutoFit/>
          </a:bodyPr>
          <a:lstStyle/>
          <a:p>
            <a:r>
              <a:rPr lang="cs-CZ" sz="1400" dirty="0">
                <a:latin typeface="Montserrat" panose="00000500000000000000" pitchFamily="2" charset="0"/>
              </a:rPr>
              <a:t>poradenstvi</a:t>
            </a:r>
            <a:r>
              <a:rPr lang="en-US" sz="1400" dirty="0">
                <a:latin typeface="Montserrat" panose="00000500000000000000" pitchFamily="2" charset="0"/>
              </a:rPr>
              <a:t>@</a:t>
            </a:r>
            <a:r>
              <a:rPr lang="cs-CZ" sz="1400" dirty="0">
                <a:latin typeface="Montserrat" panose="00000500000000000000" pitchFamily="2" charset="0"/>
              </a:rPr>
              <a:t>portu.cz</a:t>
            </a:r>
            <a:endParaRPr lang="en-US" sz="1400" dirty="0">
              <a:latin typeface="Montserrat" panose="00000500000000000000" pitchFamily="2" charset="0"/>
            </a:endParaRPr>
          </a:p>
        </p:txBody>
      </p:sp>
    </p:spTree>
    <p:extLst>
      <p:ext uri="{BB962C8B-B14F-4D97-AF65-F5344CB8AC3E}">
        <p14:creationId xmlns:p14="http://schemas.microsoft.com/office/powerpoint/2010/main" val="66230423"/>
      </p:ext>
    </p:extLst>
  </p:cSld>
  <p:clrMapOvr>
    <a:masterClrMapping/>
  </p:clrMapOvr>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ortu">
      <a:dk1>
        <a:sysClr val="windowText" lastClr="000000"/>
      </a:dk1>
      <a:lt1>
        <a:srgbClr val="FFFFFF"/>
      </a:lt1>
      <a:dk2>
        <a:srgbClr val="1E0A46"/>
      </a:dk2>
      <a:lt2>
        <a:srgbClr val="F4F4F4"/>
      </a:lt2>
      <a:accent1>
        <a:srgbClr val="008C32"/>
      </a:accent1>
      <a:accent2>
        <a:srgbClr val="641E6E"/>
      </a:accent2>
      <a:accent3>
        <a:srgbClr val="1E0A46"/>
      </a:accent3>
      <a:accent4>
        <a:srgbClr val="B4DC1E"/>
      </a:accent4>
      <a:accent5>
        <a:srgbClr val="14C850"/>
      </a:accent5>
      <a:accent6>
        <a:srgbClr val="9646AA"/>
      </a:accent6>
      <a:hlink>
        <a:srgbClr val="6F3B55"/>
      </a:hlink>
      <a:folHlink>
        <a:srgbClr val="C28CCF"/>
      </a:folHlink>
    </a:clrScheme>
    <a:fontScheme name="Portu fonty">
      <a:majorFont>
        <a:latin typeface="Mark Pro Medium"/>
        <a:ea typeface=""/>
        <a:cs typeface=""/>
      </a:majorFont>
      <a:minorFont>
        <a:latin typeface="Mark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1254</TotalTime>
  <Words>1171</Words>
  <Application>Microsoft Office PowerPoint</Application>
  <PresentationFormat>Širokoúhlá obrazovka</PresentationFormat>
  <Paragraphs>112</Paragraphs>
  <Slides>12</Slides>
  <Notes>3</Notes>
  <HiddenSlides>0</HiddenSlides>
  <MMClips>0</MMClips>
  <ScaleCrop>false</ScaleCrop>
  <HeadingPairs>
    <vt:vector size="6" baseType="variant">
      <vt:variant>
        <vt:lpstr>Použitá písma</vt:lpstr>
      </vt:variant>
      <vt:variant>
        <vt:i4>7</vt:i4>
      </vt:variant>
      <vt:variant>
        <vt:lpstr>Motiv</vt:lpstr>
      </vt:variant>
      <vt:variant>
        <vt:i4>2</vt:i4>
      </vt:variant>
      <vt:variant>
        <vt:lpstr>Nadpisy snímků</vt:lpstr>
      </vt:variant>
      <vt:variant>
        <vt:i4>12</vt:i4>
      </vt:variant>
    </vt:vector>
  </HeadingPairs>
  <TitlesOfParts>
    <vt:vector size="21" baseType="lpstr">
      <vt:lpstr>Aptos</vt:lpstr>
      <vt:lpstr>Aptos Display</vt:lpstr>
      <vt:lpstr>Arial</vt:lpstr>
      <vt:lpstr>Calibri</vt:lpstr>
      <vt:lpstr>Mark Pro Light</vt:lpstr>
      <vt:lpstr>Mark Pro Medium</vt:lpstr>
      <vt:lpstr>Montserrat</vt:lpstr>
      <vt:lpstr>Motiv Office</vt:lpstr>
      <vt:lpstr>Office Theme</vt:lpstr>
      <vt:lpstr>    Co všechno za vás AI (ne)udělá    14. 07. 2026</vt:lpstr>
      <vt:lpstr>Kdo vás dnešním workshopem provede?</vt:lpstr>
      <vt:lpstr>Koncepce workshopu</vt:lpstr>
      <vt:lpstr>Úvod</vt:lpstr>
      <vt:lpstr>Co říkají Češi a na co upozorňuje regulace</vt:lpstr>
      <vt:lpstr>Upozornění a rizika pro investory</vt:lpstr>
      <vt:lpstr>Jak a na co AI využít</vt:lpstr>
      <vt:lpstr>Praktické příklady na co využívat AI  </vt:lpstr>
      <vt:lpstr>Konkrétní prompty</vt:lpstr>
      <vt:lpstr>Konkrétní prompty</vt:lpstr>
      <vt:lpstr>Q&amp;A - Otázky a odpovědi</vt:lpstr>
      <vt:lpstr>Děkujeme za pozornost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Tadeas Silovsky, Portu.cz</dc:creator>
  <cp:lastModifiedBy>Marek Pokorny, Portu.cz</cp:lastModifiedBy>
  <cp:revision>45</cp:revision>
  <dcterms:created xsi:type="dcterms:W3CDTF">2025-02-17T14:18:09Z</dcterms:created>
  <dcterms:modified xsi:type="dcterms:W3CDTF">2026-10-29T10:40:11Z</dcterms:modified>
</cp:coreProperties>
</file>