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8FFEF8ED-EC69-42F7-2D29-896DB47796B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ředěly sekcí" id="{9707279B-7E1E-44E0-5047-7BEC663482ED}">
          <p14:sldIdLst>
            <p14:sldId id="266"/>
            <p14:sldId id="267"/>
            <p14:sldId id="268"/>
            <p14:sldId id="269"/>
          </p14:sldIdLst>
        </p14:section>
        <p14:section name="Obsah" id="{A856EC81-6F37-D6C5-4801-D5205AE7B949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Závěr" id="{039BF9F4-6637-6B9F-C9A5-04B6FABDC3D9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Podklady" id="{EE178791-21A2-C20A-AA02-FC6BEBE3E1C4}">
          <p14:sldIdLst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A2CDBF48F0}">
  <a:tblStyle styleId="{6E25E649-3F16-4E02-A733-19A2CDBF48F0}" styleName="Portu">
    <a:wholeTbl>
      <a:tcTxStyle>
        <a:font>
          <a:latin typeface="Rethink Sans"/>
          <a:ea typeface="Rethink Sans"/>
          <a:cs typeface="Rethink Sans"/>
        </a:font>
        <a:schemeClr val="tx1"/>
      </a:tcTxStyle>
      <a:tcStyle>
        <a:tcBdr>
          <a:left>
            <a:ln w="9525">
              <a:solidFill>
                <a:srgbClr val="E1E3E8"/>
              </a:solidFill>
            </a:ln>
          </a:left>
          <a:right>
            <a:ln w="9525">
              <a:solidFill>
                <a:srgbClr val="E1E3E8"/>
              </a:solidFill>
            </a:ln>
          </a:right>
          <a:top>
            <a:ln w="9525">
              <a:solidFill>
                <a:srgbClr val="E1E3E8"/>
              </a:solidFill>
            </a:ln>
          </a:top>
          <a:bottom>
            <a:ln w="9525">
              <a:solidFill>
                <a:srgbClr val="E1E3E8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/>
          </a:solidFill>
        </a:fill>
      </a:tcStyle>
    </a:wholeTbl>
    <a:band2H>
      <a:tcStyle>
        <a:tcBdr/>
        <a:fill>
          <a:solidFill>
            <a:schemeClr val="bg2"/>
          </a:solidFill>
        </a:fill>
      </a:tcStyle>
    </a:band2H>
    <a:firstRow>
      <a:tcTxStyle>
        <a:font>
          <a:latin typeface="Rethink Sans SemiBold"/>
          <a:ea typeface="Rethink Sans SemiBold"/>
          <a:cs typeface="Rethink Sans SemiBold"/>
        </a:font>
        <a:schemeClr val="bg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9" d="100"/>
          <a:sy n="79" d="100"/>
        </p:scale>
        <p:origin x="164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c:style val="2"/>
  <c:chart>
    <c:title>
      <c:tx>
        <c:rich>
          <a:bodyPr rot="0" spcFirstLastPara="1" vertOverflow="ellipsis" wrap="square" anchor="ctr" anchorCtr="1"/>
          <a:lstStyle/>
          <a:p>
            <a:pPr>
              <a:defRPr sz="1300" b="0" kern="0">
                <a:solidFill>
                  <a:srgbClr val="252525"/>
                </a:solidFill>
                <a:latin typeface="Rethink Sans SemiBold"/>
                <a:ea typeface="Rethink Sans SemiBold"/>
                <a:cs typeface="Rethink Sans SemiBold"/>
              </a:defRPr>
            </a:pPr>
            <a:r>
              <a:rPr lang="cs-CZ" sz="1300" b="0">
                <a:solidFill>
                  <a:srgbClr val="252525"/>
                </a:solidFill>
                <a:latin typeface="Rethink Sans SemiBold"/>
              </a:rPr>
              <a:t>Hodnota investice v Kč</a:t>
            </a:r>
          </a:p>
        </c:rich>
      </c:tx>
      <c:layout>
        <c:manualLayout>
          <c:xMode val="edge"/>
          <c:yMode val="edge"/>
          <c:x val="0"/>
          <c:y val="0"/>
        </c:manualLayout>
      </c:layout>
      <c:overlay val="0"/>
      <c:spPr>
        <a:noFill/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"/>
          <c:y val="0.11461318051575932"/>
          <c:w val="1"/>
          <c:h val="0.71633237822349571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Vklad 100 000 Kč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1"/>
          <c:cat>
            <c:strRef>
              <c:f>Sheet1!$A$2:$A$9</c:f>
              <c:strCache>
                <c:ptCount val="8"/>
                <c:pt idx="0">
                  <c:v>1. rok</c:v>
                </c:pt>
                <c:pt idx="1">
                  <c:v>2. rok</c:v>
                </c:pt>
                <c:pt idx="2">
                  <c:v>3. rok</c:v>
                </c:pt>
                <c:pt idx="3">
                  <c:v>4. rok</c:v>
                </c:pt>
                <c:pt idx="4">
                  <c:v>5. rok</c:v>
                </c:pt>
                <c:pt idx="5">
                  <c:v>6. rok</c:v>
                </c:pt>
                <c:pt idx="6">
                  <c:v>7. rok</c:v>
                </c:pt>
                <c:pt idx="7">
                  <c:v>8. rok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0CB-4CBE-B863-3736951809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Výnos při 6 % p.a.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1"/>
          <c:cat>
            <c:strRef>
              <c:f>Sheet1!$A$2:$A$9</c:f>
              <c:strCache>
                <c:ptCount val="8"/>
                <c:pt idx="0">
                  <c:v>1. rok</c:v>
                </c:pt>
                <c:pt idx="1">
                  <c:v>2. rok</c:v>
                </c:pt>
                <c:pt idx="2">
                  <c:v>3. rok</c:v>
                </c:pt>
                <c:pt idx="3">
                  <c:v>4. rok</c:v>
                </c:pt>
                <c:pt idx="4">
                  <c:v>5. rok</c:v>
                </c:pt>
                <c:pt idx="5">
                  <c:v>6. rok</c:v>
                </c:pt>
                <c:pt idx="6">
                  <c:v>7. rok</c:v>
                </c:pt>
                <c:pt idx="7">
                  <c:v>8. rok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</c:v>
                </c:pt>
                <c:pt idx="1">
                  <c:v>12</c:v>
                </c:pt>
                <c:pt idx="2">
                  <c:v>19</c:v>
                </c:pt>
                <c:pt idx="3">
                  <c:v>26</c:v>
                </c:pt>
                <c:pt idx="4">
                  <c:v>34</c:v>
                </c:pt>
                <c:pt idx="5">
                  <c:v>42</c:v>
                </c:pt>
                <c:pt idx="6">
                  <c:v>50</c:v>
                </c:pt>
                <c:pt idx="7">
                  <c:v>59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0CB-4CBE-B863-373695180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7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Celkem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numFmt formatCode="0&quot; tis.&quot;" sourceLinked="0"/>
            <c:spPr>
              <a:noFill/>
              <a:ln>
                <a:noFill/>
              </a:ln>
            </c:spPr>
            <c:txPr>
              <a:bodyPr rot="0" spcFirstLastPara="1" vertOverflow="ellipsis" wrap="square" anchor="ctr" anchorCtr="1"/>
              <a:lstStyle/>
              <a:p>
                <a:pPr>
                  <a:defRPr sz="1300" b="0" kern="0">
                    <a:solidFill>
                      <a:srgbClr val="252525"/>
                    </a:solidFill>
                    <a:latin typeface="Rethink Sans"/>
                    <a:ea typeface="Rethink Sans"/>
                    <a:cs typeface="Rethink Sans"/>
                  </a:defRPr>
                </a:pPr>
                <a:endParaRPr lang="cs-CZ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1. rok</c:v>
                </c:pt>
                <c:pt idx="1">
                  <c:v>2. rok</c:v>
                </c:pt>
                <c:pt idx="2">
                  <c:v>3. rok</c:v>
                </c:pt>
                <c:pt idx="3">
                  <c:v>4. rok</c:v>
                </c:pt>
                <c:pt idx="4">
                  <c:v>5. rok</c:v>
                </c:pt>
                <c:pt idx="5">
                  <c:v>6. rok</c:v>
                </c:pt>
                <c:pt idx="6">
                  <c:v>7. rok</c:v>
                </c:pt>
                <c:pt idx="7">
                  <c:v>8. rok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106</c:v>
                </c:pt>
                <c:pt idx="1">
                  <c:v>112</c:v>
                </c:pt>
                <c:pt idx="2">
                  <c:v>119</c:v>
                </c:pt>
                <c:pt idx="3">
                  <c:v>126</c:v>
                </c:pt>
                <c:pt idx="4">
                  <c:v>134</c:v>
                </c:pt>
                <c:pt idx="5">
                  <c:v>142</c:v>
                </c:pt>
                <c:pt idx="6">
                  <c:v>150</c:v>
                </c:pt>
                <c:pt idx="7">
                  <c:v>159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0CB-4CBE-B863-373695180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rot="0" spcFirstLastPara="1" vertOverflow="ellipsis" wrap="square" anchor="ctr" anchorCtr="1"/>
          <a:lstStyle/>
          <a:p>
            <a:pPr>
              <a:defRPr sz="1300" b="0" kern="0">
                <a:solidFill>
                  <a:srgbClr val="666E7F"/>
                </a:solidFill>
                <a:latin typeface="Rethink Sans"/>
                <a:ea typeface="Rethink Sans"/>
                <a:cs typeface="Rethink Sans"/>
              </a:defRPr>
            </a:pPr>
            <a:endParaRPr lang="cs-CZ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72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legend>
      <c:legendPos val="b"/>
      <c:legendEntry>
        <c:idx val="2"/>
        <c:delete val="1"/>
      </c:legendEntry>
      <c:layout>
        <c:manualLayout>
          <c:xMode val="edge"/>
          <c:yMode val="edge"/>
          <c:x val="0"/>
          <c:y val="0.94269340974212035"/>
          <c:w val="0.8"/>
          <c:h val="5.730659025787966E-2"/>
        </c:manualLayout>
      </c:layout>
      <c:overlay val="1"/>
      <c:spPr>
        <a:noFill/>
        <a:ln>
          <a:noFill/>
        </a:ln>
      </c:spPr>
      <c:txPr>
        <a:bodyPr rot="0" spcFirstLastPara="1" vertOverflow="ellipsis" wrap="square" anchor="ctr" anchorCtr="1"/>
        <a:lstStyle/>
        <a:p>
          <a:pPr>
            <a:defRPr sz="1300" b="0" kern="0">
              <a:solidFill>
                <a:srgbClr val="252525"/>
              </a:solidFill>
              <a:latin typeface="Rethink Sans"/>
              <a:ea typeface="Rethink Sans"/>
              <a:cs typeface="Rethink Sans"/>
            </a:defRPr>
          </a:pPr>
          <a:endParaRPr lang="cs-CZ"/>
        </a:p>
      </c:txPr>
    </c:legend>
    <c:plotVisOnly val="1"/>
    <c:dispBlanksAs val="gap"/>
    <c:showDLblsOverMax val="1"/>
  </c:chart>
  <c:spPr>
    <a:noFill/>
    <a:ln>
      <a:noFill/>
    </a:ln>
  </c:spPr>
  <c:txPr>
    <a:bodyPr rot="0" spcFirstLastPara="1" vertOverflow="ellipsis" wrap="square" anchor="ctr" anchorCtr="1"/>
    <a:lstStyle/>
    <a:p>
      <a:pPr>
        <a:defRPr sz="1300" b="0" kern="0">
          <a:solidFill>
            <a:srgbClr val="666E7F"/>
          </a:solidFill>
          <a:latin typeface="Rethink Sans"/>
          <a:ea typeface="Rethink Sans"/>
          <a:cs typeface="Rethink Sans"/>
        </a:defRPr>
      </a:pPr>
      <a:endParaRPr lang="cs-CZ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c:style val="2"/>
  <c:chart>
    <c:title>
      <c:tx>
        <c:rich>
          <a:bodyPr rot="0" spcFirstLastPara="1" vertOverflow="ellipsis" wrap="square" anchor="ctr" anchorCtr="1"/>
          <a:lstStyle/>
          <a:p>
            <a:pPr>
              <a:defRPr sz="1300" b="0" kern="0">
                <a:solidFill>
                  <a:srgbClr val="252525"/>
                </a:solidFill>
                <a:latin typeface="Rethink Sans SemiBold"/>
                <a:ea typeface="Rethink Sans SemiBold"/>
                <a:cs typeface="Rethink Sans SemiBold"/>
              </a:defRPr>
            </a:pPr>
            <a:r>
              <a:rPr lang="cs-CZ" sz="1300" b="0">
                <a:solidFill>
                  <a:srgbClr val="252525"/>
                </a:solidFill>
                <a:latin typeface="Rethink Sans SemiBold"/>
              </a:rPr>
              <a:t>Přírůstek za čtvrtletí</a:t>
            </a:r>
          </a:p>
        </c:rich>
      </c:tx>
      <c:layout>
        <c:manualLayout>
          <c:xMode val="edge"/>
          <c:yMode val="edge"/>
          <c:x val="0"/>
          <c:y val="0"/>
        </c:manualLayout>
      </c:layout>
      <c:overlay val="0"/>
      <c:spPr>
        <a:noFill/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"/>
          <c:y val="0.12618296529968454"/>
          <c:w val="1"/>
          <c:h val="0.6624605678233438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Noví klienti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1"/>
          <c:dLbls>
            <c:numFmt formatCode="0.0&quot; tis.&quot;" sourceLinked="0"/>
            <c:spPr>
              <a:noFill/>
              <a:ln>
                <a:noFill/>
              </a:ln>
            </c:spPr>
            <c:txPr>
              <a:bodyPr rot="0" spcFirstLastPara="1" vertOverflow="ellipsis" wrap="square" anchor="ctr" anchorCtr="1"/>
              <a:lstStyle/>
              <a:p>
                <a:pPr>
                  <a:defRPr sz="1300" b="0" kern="0">
                    <a:solidFill>
                      <a:srgbClr val="252525"/>
                    </a:solidFill>
                    <a:latin typeface="Rethink Sans"/>
                    <a:ea typeface="Rethink Sans"/>
                    <a:cs typeface="Rethink Sans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  <c:pt idx="3">
                  <c:v>Q4 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9.1999999999999993</c:v>
                </c:pt>
                <c:pt idx="1">
                  <c:v>8.4</c:v>
                </c:pt>
                <c:pt idx="2">
                  <c:v>10.1</c:v>
                </c:pt>
                <c:pt idx="3">
                  <c:v>12.3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832-417D-AD72-A99E635799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Nové DIP účty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1"/>
          <c:dLbls>
            <c:numFmt formatCode="0.0&quot; tis.&quot;" sourceLinked="0"/>
            <c:spPr>
              <a:noFill/>
              <a:ln>
                <a:noFill/>
              </a:ln>
            </c:spPr>
            <c:txPr>
              <a:bodyPr rot="0" spcFirstLastPara="1" vertOverflow="ellipsis" wrap="square" anchor="ctr" anchorCtr="1"/>
              <a:lstStyle/>
              <a:p>
                <a:pPr>
                  <a:defRPr sz="1300" b="0" kern="0">
                    <a:solidFill>
                      <a:srgbClr val="252525"/>
                    </a:solidFill>
                    <a:latin typeface="Rethink Sans"/>
                    <a:ea typeface="Rethink Sans"/>
                    <a:cs typeface="Rethink Sans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  <c:pt idx="3">
                  <c:v>Q4 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3.1</c:v>
                </c:pt>
                <c:pt idx="1">
                  <c:v>2.8</c:v>
                </c:pt>
                <c:pt idx="2">
                  <c:v>3.6</c:v>
                </c:pt>
                <c:pt idx="3">
                  <c:v>4.4000000000000004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832-417D-AD72-A99E635799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6"/>
        <c:overlap val="-6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2700" cap="rnd">
            <a:solidFill>
              <a:srgbClr val="D4D6DB"/>
            </a:solidFill>
            <a:round/>
          </a:ln>
        </c:spPr>
        <c:txPr>
          <a:bodyPr rot="0" spcFirstLastPara="1" vertOverflow="ellipsis" wrap="square" anchor="ctr" anchorCtr="1"/>
          <a:lstStyle/>
          <a:p>
            <a:pPr>
              <a:defRPr sz="1300" b="0" kern="0">
                <a:solidFill>
                  <a:srgbClr val="666E7F"/>
                </a:solidFill>
                <a:latin typeface="Rethink Sans"/>
                <a:ea typeface="Rethink Sans"/>
                <a:cs typeface="Rethink Sans"/>
              </a:defRPr>
            </a:pPr>
            <a:endParaRPr lang="cs-CZ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3.2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0"/>
          <c:y val="0.93690851735015768"/>
          <c:w val="0.8"/>
          <c:h val="6.3091482649842268E-2"/>
        </c:manualLayout>
      </c:layout>
      <c:overlay val="1"/>
      <c:spPr>
        <a:noFill/>
        <a:ln>
          <a:noFill/>
        </a:ln>
      </c:spPr>
      <c:txPr>
        <a:bodyPr rot="0" spcFirstLastPara="1" vertOverflow="ellipsis" wrap="square" anchor="ctr" anchorCtr="1"/>
        <a:lstStyle/>
        <a:p>
          <a:pPr>
            <a:defRPr sz="1300" b="0" kern="0">
              <a:solidFill>
                <a:srgbClr val="252525"/>
              </a:solidFill>
              <a:latin typeface="Rethink Sans"/>
              <a:ea typeface="Rethink Sans"/>
              <a:cs typeface="Rethink Sans"/>
            </a:defRPr>
          </a:pPr>
          <a:endParaRPr lang="cs-CZ"/>
        </a:p>
      </c:txPr>
    </c:legend>
    <c:plotVisOnly val="1"/>
    <c:dispBlanksAs val="gap"/>
    <c:showDLblsOverMax val="1"/>
  </c:chart>
  <c:spPr>
    <a:noFill/>
    <a:ln>
      <a:noFill/>
    </a:ln>
  </c:spPr>
  <c:txPr>
    <a:bodyPr rot="0" spcFirstLastPara="1" vertOverflow="ellipsis" wrap="square" anchor="ctr" anchorCtr="1"/>
    <a:lstStyle/>
    <a:p>
      <a:pPr>
        <a:defRPr sz="1300" b="0" kern="0">
          <a:solidFill>
            <a:srgbClr val="666E7F"/>
          </a:solidFill>
          <a:latin typeface="Rethink Sans"/>
          <a:ea typeface="Rethink Sans"/>
          <a:cs typeface="Rethink Sans"/>
        </a:defRPr>
      </a:pPr>
      <a:endParaRPr lang="cs-CZ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6428571428571429"/>
          <c:y val="1.090909090909091E-2"/>
          <c:w val="0.73571428571428577"/>
          <c:h val="0.97818181818181815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Průměrný roční výnos</c:v>
                </c:pt>
              </c:strCache>
            </c:strRef>
          </c:tx>
          <c:spPr>
            <a:solidFill>
              <a:srgbClr val="D4D6DB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2FF-4D8E-BA03-497CDA169C59}"/>
              </c:ext>
            </c:extLst>
          </c:dPt>
          <c:dLbls>
            <c:numFmt formatCode="0.0&quot; %&quot;" sourceLinked="0"/>
            <c:spPr>
              <a:noFill/>
              <a:ln>
                <a:noFill/>
              </a:ln>
            </c:spPr>
            <c:txPr>
              <a:bodyPr rot="0" spcFirstLastPara="1" vertOverflow="ellipsis" wrap="square" anchor="ctr" anchorCtr="1"/>
              <a:lstStyle/>
              <a:p>
                <a:pPr>
                  <a:defRPr sz="1300" b="0" kern="0">
                    <a:solidFill>
                      <a:srgbClr val="252525"/>
                    </a:solidFill>
                    <a:latin typeface="Rethink Sans"/>
                    <a:ea typeface="Rethink Sans"/>
                    <a:cs typeface="Rethink Sans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Akciová ETF</c:v>
                </c:pt>
                <c:pt idx="1">
                  <c:v>Nemovitostní fondy</c:v>
                </c:pt>
                <c:pt idx="2">
                  <c:v>Dluhopisové fondy</c:v>
                </c:pt>
                <c:pt idx="3">
                  <c:v>Termínované vklady</c:v>
                </c:pt>
                <c:pt idx="4">
                  <c:v>Spořicí účet</c:v>
                </c:pt>
                <c:pt idx="5">
                  <c:v>Běžný účet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9.8000000000000007</c:v>
                </c:pt>
                <c:pt idx="1">
                  <c:v>5.4</c:v>
                </c:pt>
                <c:pt idx="2">
                  <c:v>2.6</c:v>
                </c:pt>
                <c:pt idx="3">
                  <c:v>2.1</c:v>
                </c:pt>
                <c:pt idx="4">
                  <c:v>1.8</c:v>
                </c:pt>
                <c:pt idx="5">
                  <c:v>0.1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82FF-4D8E-BA03-497CDA169C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12700" cap="rnd">
            <a:solidFill>
              <a:srgbClr val="666E7F"/>
            </a:solidFill>
            <a:round/>
          </a:ln>
        </c:spPr>
        <c:txPr>
          <a:bodyPr rot="0" spcFirstLastPara="1" vertOverflow="ellipsis" wrap="square" anchor="ctr" anchorCtr="1"/>
          <a:lstStyle/>
          <a:p>
            <a:pPr>
              <a:defRPr sz="1300" b="0" kern="0">
                <a:solidFill>
                  <a:srgbClr val="252525"/>
                </a:solidFill>
                <a:latin typeface="Rethink Sans"/>
                <a:ea typeface="Rethink Sans"/>
                <a:cs typeface="Rethink Sans"/>
              </a:defRPr>
            </a:pPr>
            <a:endParaRPr lang="cs-CZ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.2"/>
          <c:min val="0"/>
        </c:scaling>
        <c:delete val="1"/>
        <c:axPos val="t"/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 rot="0" spcFirstLastPara="1" vertOverflow="ellipsis" wrap="square" anchor="ctr" anchorCtr="1"/>
    <a:lstStyle/>
    <a:p>
      <a:pPr>
        <a:defRPr sz="1300" b="0" kern="0">
          <a:solidFill>
            <a:srgbClr val="666E7F"/>
          </a:solidFill>
          <a:latin typeface="Rethink Sans"/>
          <a:ea typeface="Rethink Sans"/>
          <a:cs typeface="Rethink Sans"/>
        </a:defRPr>
      </a:pPr>
      <a:endParaRPr lang="cs-CZ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34567901234567899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Složení portfolia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381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7D08-4087-B3A6-75FBFFF39D7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381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7D08-4087-B3A6-75FBFFF39D7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381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7D08-4087-B3A6-75FBFFF39D7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381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7D08-4087-B3A6-75FBFFF39D7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381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7D08-4087-B3A6-75FBFFF39D7E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381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7D08-4087-B3A6-75FBFFF39D7E}"/>
              </c:ext>
            </c:extLst>
          </c:dPt>
          <c:cat>
            <c:strRef>
              <c:f>Sheet1!$A$2:$A$7</c:f>
              <c:strCache>
                <c:ptCount val="6"/>
                <c:pt idx="0">
                  <c:v>Akcie  60 %</c:v>
                </c:pt>
                <c:pt idx="1">
                  <c:v>Dluhopisy  20 %</c:v>
                </c:pt>
                <c:pt idx="2">
                  <c:v>Nemovitosti  8 %</c:v>
                </c:pt>
                <c:pt idx="3">
                  <c:v>Komodity  5 %</c:v>
                </c:pt>
                <c:pt idx="4">
                  <c:v>Úročená hotovost  4 %</c:v>
                </c:pt>
                <c:pt idx="5">
                  <c:v>Ostatní  3 %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20</c:v>
                </c:pt>
                <c:pt idx="2">
                  <c:v>8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D08-4087-B3A6-75FBFFF39D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</c:spPr>
    </c:plotArea>
    <c:legend>
      <c:legendPos val="r"/>
      <c:layout>
        <c:manualLayout>
          <c:xMode val="edge"/>
          <c:yMode val="edge"/>
          <c:x val="0.53086419753086422"/>
          <c:y val="7.1428571428571425E-2"/>
          <c:w val="0.20370370370370369"/>
          <c:h val="0.7857142857142857"/>
        </c:manualLayout>
      </c:layout>
      <c:overlay val="0"/>
      <c:spPr>
        <a:noFill/>
        <a:ln>
          <a:noFill/>
        </a:ln>
      </c:spPr>
      <c:txPr>
        <a:bodyPr rot="0" spcFirstLastPara="1" vertOverflow="ellipsis" wrap="square" anchor="ctr" anchorCtr="1"/>
        <a:lstStyle/>
        <a:p>
          <a:pPr>
            <a:defRPr sz="1300" b="0" kern="0">
              <a:solidFill>
                <a:srgbClr val="252525"/>
              </a:solidFill>
              <a:latin typeface="Rethink Sans"/>
              <a:ea typeface="Rethink Sans"/>
              <a:cs typeface="Rethink Sans"/>
            </a:defRPr>
          </a:pPr>
          <a:endParaRPr lang="cs-CZ"/>
        </a:p>
      </c:txPr>
    </c:legend>
    <c:plotVisOnly val="1"/>
    <c:dispBlanksAs val="gap"/>
    <c:showDLblsOverMax val="0"/>
  </c:chart>
  <c:spPr>
    <a:noFill/>
    <a:ln>
      <a:noFill/>
    </a:ln>
  </c:spPr>
  <c:txPr>
    <a:bodyPr rot="0" spcFirstLastPara="1" vertOverflow="ellipsis" wrap="square" anchor="ctr" anchorCtr="1"/>
    <a:lstStyle/>
    <a:p>
      <a:pPr>
        <a:defRPr sz="1300" b="0" kern="0">
          <a:solidFill>
            <a:srgbClr val="666E7F"/>
          </a:solidFill>
          <a:latin typeface="Rethink Sans"/>
          <a:ea typeface="Rethink Sans"/>
          <a:cs typeface="Rethink Sans"/>
        </a:defRPr>
      </a:pPr>
      <a:endParaRPr lang="cs-CZ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c:style val="2"/>
  <c:chart>
    <c:title>
      <c:tx>
        <c:rich>
          <a:bodyPr rot="0" spcFirstLastPara="1" vertOverflow="ellipsis" wrap="square" anchor="ctr" anchorCtr="1"/>
          <a:lstStyle/>
          <a:p>
            <a:pPr>
              <a:defRPr sz="1300" b="0" kern="0">
                <a:solidFill>
                  <a:srgbClr val="252525"/>
                </a:solidFill>
                <a:latin typeface="Rethink Sans SemiBold"/>
                <a:ea typeface="Rethink Sans SemiBold"/>
                <a:cs typeface="Rethink Sans SemiBold"/>
              </a:defRPr>
            </a:pPr>
            <a:r>
              <a:rPr lang="cs-CZ" sz="1300" b="0">
                <a:solidFill>
                  <a:srgbClr val="252525"/>
                </a:solidFill>
                <a:latin typeface="Rethink Sans SemiBold"/>
              </a:rPr>
              <a:t>Hodnota 100 000 Kč (tis. Kč)</a:t>
            </a:r>
          </a:p>
        </c:rich>
      </c:tx>
      <c:layout>
        <c:manualLayout>
          <c:xMode val="edge"/>
          <c:yMode val="edge"/>
          <c:x val="0"/>
          <c:y val="0"/>
        </c:manualLayout>
      </c:layout>
      <c:overlay val="0"/>
      <c:spPr>
        <a:noFill/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9.5454545454545459E-2"/>
          <c:y val="0.13313609467455623"/>
          <c:w val="0.88636363636363635"/>
          <c:h val="0.6804733727810651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Akciové portfolio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</c:spPr>
          <c:marker>
            <c:symbol val="none"/>
          </c:marker>
          <c:dPt>
            <c:idx val="10"/>
            <c:marker>
              <c:symbol val="circle"/>
              <c:size val="7"/>
              <c:spPr>
                <a:solidFill>
                  <a:schemeClr val="accent1"/>
                </a:solidFill>
                <a:ln w="25400">
                  <a:solidFill>
                    <a:srgbClr val="F3F5F8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3D55-41F4-BA75-F4F0CF3BEEE3}"/>
              </c:ext>
            </c:extLst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108</c:v>
                </c:pt>
                <c:pt idx="2">
                  <c:v>104</c:v>
                </c:pt>
                <c:pt idx="3">
                  <c:v>118</c:v>
                </c:pt>
                <c:pt idx="4">
                  <c:v>112</c:v>
                </c:pt>
                <c:pt idx="5">
                  <c:v>138</c:v>
                </c:pt>
                <c:pt idx="6">
                  <c:v>150</c:v>
                </c:pt>
                <c:pt idx="7">
                  <c:v>170</c:v>
                </c:pt>
                <c:pt idx="8">
                  <c:v>150</c:v>
                </c:pt>
                <c:pt idx="9">
                  <c:v>175</c:v>
                </c:pt>
                <c:pt idx="10">
                  <c:v>196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55-41F4-BA75-F4F0CF3BEE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Spořicí účet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</c:spPr>
          <c:marker>
            <c:symbol val="none"/>
          </c:marker>
          <c:dPt>
            <c:idx val="10"/>
            <c:marker>
              <c:symbol val="circle"/>
              <c:size val="7"/>
              <c:spPr>
                <a:solidFill>
                  <a:schemeClr val="accent2"/>
                </a:solidFill>
                <a:ln w="25400">
                  <a:solidFill>
                    <a:srgbClr val="F3F5F8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D55-41F4-BA75-F4F0CF3BEEE3}"/>
              </c:ext>
            </c:extLst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101</c:v>
                </c:pt>
                <c:pt idx="2">
                  <c:v>101.5</c:v>
                </c:pt>
                <c:pt idx="3">
                  <c:v>102</c:v>
                </c:pt>
                <c:pt idx="4">
                  <c:v>103</c:v>
                </c:pt>
                <c:pt idx="5">
                  <c:v>103.5</c:v>
                </c:pt>
                <c:pt idx="6">
                  <c:v>104</c:v>
                </c:pt>
                <c:pt idx="7">
                  <c:v>106</c:v>
                </c:pt>
                <c:pt idx="8">
                  <c:v>111</c:v>
                </c:pt>
                <c:pt idx="9">
                  <c:v>115</c:v>
                </c:pt>
                <c:pt idx="10">
                  <c:v>118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D55-41F4-BA75-F4F0CF3BEE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areaChart>
        <c:grouping val="standard"/>
        <c:varyColors val="0"/>
        <c:ser>
          <c:idx val="2"/>
          <c:order val="2"/>
          <c:tx>
            <c:v>Plocha pod čarou (automaticky)</c:v>
          </c:tx>
          <c:spPr>
            <a:gradFill rotWithShape="1">
              <a:gsLst>
                <a:gs pos="0">
                  <a:srgbClr val="05B33F">
                    <a:alpha val="18000"/>
                  </a:srgbClr>
                </a:gs>
                <a:gs pos="100000">
                  <a:srgbClr val="05B33F">
                    <a:alpha val="0"/>
                  </a:srgbClr>
                </a:gs>
              </a:gsLst>
              <a:lin ang="5400000" scaled="0"/>
            </a:gra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108</c:v>
                </c:pt>
                <c:pt idx="2">
                  <c:v>104</c:v>
                </c:pt>
                <c:pt idx="3">
                  <c:v>118</c:v>
                </c:pt>
                <c:pt idx="4">
                  <c:v>112</c:v>
                </c:pt>
                <c:pt idx="5">
                  <c:v>138</c:v>
                </c:pt>
                <c:pt idx="6">
                  <c:v>150</c:v>
                </c:pt>
                <c:pt idx="7">
                  <c:v>170</c:v>
                </c:pt>
                <c:pt idx="8">
                  <c:v>150</c:v>
                </c:pt>
                <c:pt idx="9">
                  <c:v>175</c:v>
                </c:pt>
                <c:pt idx="10">
                  <c:v>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D55-41F4-BA75-F4F0CF3BEE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8791784"/>
        <c:axId val="2140495176"/>
      </c:area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2700" cap="rnd">
            <a:solidFill>
              <a:srgbClr val="D4D6DB"/>
            </a:solidFill>
            <a:round/>
          </a:ln>
        </c:spPr>
        <c:txPr>
          <a:bodyPr rot="0" spcFirstLastPara="1" vertOverflow="ellipsis" wrap="square" anchor="ctr" anchorCtr="1"/>
          <a:lstStyle/>
          <a:p>
            <a:pPr>
              <a:defRPr sz="1300" b="0" kern="0">
                <a:solidFill>
                  <a:srgbClr val="666E7F"/>
                </a:solidFill>
                <a:latin typeface="Rethink Sans"/>
                <a:ea typeface="Rethink Sans"/>
                <a:cs typeface="Rethink Sans"/>
              </a:defRPr>
            </a:pPr>
            <a:endParaRPr lang="cs-CZ"/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orientation val="minMax"/>
          <c:max val="200"/>
          <c:min val="0"/>
        </c:scaling>
        <c:delete val="0"/>
        <c:axPos val="l"/>
        <c:majorGridlines>
          <c:spPr>
            <a:ln w="6350">
              <a:solidFill>
                <a:srgbClr val="E1E3E8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rot="0" spcFirstLastPara="1" vertOverflow="ellipsis" wrap="square" anchor="ctr" anchorCtr="1"/>
          <a:lstStyle/>
          <a:p>
            <a:pPr>
              <a:defRPr sz="1300" b="0" kern="0">
                <a:solidFill>
                  <a:srgbClr val="666E7F"/>
                </a:solidFill>
                <a:latin typeface="Rethink Sans"/>
                <a:ea typeface="Rethink Sans"/>
                <a:cs typeface="Rethink Sans"/>
              </a:defRPr>
            </a:pPr>
            <a:endParaRPr lang="cs-CZ"/>
          </a:p>
        </c:txPr>
        <c:crossAx val="2118791784"/>
        <c:crosses val="autoZero"/>
        <c:crossBetween val="midCat"/>
        <c:majorUnit val="50"/>
      </c:valAx>
      <c:spPr>
        <a:noFill/>
        <a:ln>
          <a:noFill/>
        </a:ln>
      </c:spPr>
    </c:plotArea>
    <c:legend>
      <c:legendPos val="b"/>
      <c:legendEntry>
        <c:idx val="2"/>
        <c:delete val="1"/>
      </c:legendEntry>
      <c:layout>
        <c:manualLayout>
          <c:xMode val="edge"/>
          <c:yMode val="edge"/>
          <c:x val="0"/>
          <c:y val="0.94082840236686394"/>
          <c:w val="0.8"/>
          <c:h val="5.9171597633136092E-2"/>
        </c:manualLayout>
      </c:layout>
      <c:overlay val="0"/>
      <c:spPr>
        <a:noFill/>
        <a:ln>
          <a:noFill/>
        </a:ln>
      </c:spPr>
      <c:txPr>
        <a:bodyPr rot="0" spcFirstLastPara="1" vertOverflow="ellipsis" wrap="square" anchor="ctr" anchorCtr="1"/>
        <a:lstStyle/>
        <a:p>
          <a:pPr>
            <a:defRPr sz="1300" b="0" kern="0">
              <a:solidFill>
                <a:srgbClr val="252525"/>
              </a:solidFill>
              <a:latin typeface="Rethink Sans"/>
              <a:ea typeface="Rethink Sans"/>
              <a:cs typeface="Rethink Sans"/>
            </a:defRPr>
          </a:pPr>
          <a:endParaRPr lang="cs-CZ"/>
        </a:p>
      </c:txPr>
    </c:legend>
    <c:plotVisOnly val="1"/>
    <c:dispBlanksAs val="gap"/>
    <c:showDLblsOverMax val="0"/>
  </c:chart>
  <c:spPr>
    <a:noFill/>
    <a:ln>
      <a:noFill/>
    </a:ln>
  </c:spPr>
  <c:txPr>
    <a:bodyPr rot="0" spcFirstLastPara="1" vertOverflow="ellipsis" wrap="square" anchor="ctr" anchorCtr="1"/>
    <a:lstStyle/>
    <a:p>
      <a:pPr>
        <a:defRPr sz="1300" b="0" kern="0">
          <a:solidFill>
            <a:srgbClr val="666E7F"/>
          </a:solidFill>
          <a:latin typeface="Rethink Sans"/>
          <a:ea typeface="Rethink Sans"/>
          <a:cs typeface="Rethink Sans"/>
        </a:defRPr>
      </a:pPr>
      <a:endParaRPr lang="cs-CZ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hyperlink" Target="https://www.portu.cz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ní – tmavá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35000"/>
            <a:ext cx="1123950" cy="381000"/>
          </a:xfrm>
          <a:prstGeom prst="rect">
            <a:avLst/>
          </a:prstGeom>
        </p:spPr>
      </p:pic>
      <p:sp>
        <p:nvSpPr>
          <p:cNvPr id="4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260600"/>
            <a:ext cx="2819718" cy="2921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WEBINÁŘ · INVESTIČNÍ KONZULTACE</a:t>
            </a:r>
          </a:p>
        </p:txBody>
      </p:sp>
      <p:sp>
        <p:nvSpPr>
          <p:cNvPr id="5" name="Nadpis"/>
          <p:cNvSpPr>
            <a:spLocks noGrp="1"/>
          </p:cNvSpPr>
          <p:nvPr>
            <p:ph type="title" hasCustomPrompt="1"/>
          </p:nvPr>
        </p:nvSpPr>
        <p:spPr>
          <a:xfrm>
            <a:off x="762000" y="2755900"/>
            <a:ext cx="7530465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Název prezentace, klidně i na dva řádky</a:t>
            </a:r>
          </a:p>
        </p:txBody>
      </p:sp>
      <p:sp>
        <p:nvSpPr>
          <p:cNvPr id="6" name="Podtitul"/>
          <p:cNvSpPr>
            <a:spLocks noGrp="1"/>
          </p:cNvSpPr>
          <p:nvPr>
            <p:ph type="body" idx="14" hasCustomPrompt="1"/>
          </p:nvPr>
        </p:nvSpPr>
        <p:spPr>
          <a:xfrm>
            <a:off x="762000" y="4321366"/>
            <a:ext cx="779272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500" b="0" kern="0" cap="none" spc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defRPr>
            </a:lvl1pPr>
          </a:lstStyle>
          <a:p>
            <a:r>
              <a:rPr lang="cs-CZ" dirty="0"/>
              <a:t>Podtitul – jednou větou, o čem dnes budeme mluvit</a:t>
            </a:r>
          </a:p>
        </p:txBody>
      </p:sp>
      <p:sp>
        <p:nvSpPr>
          <p:cNvPr id="7" name="Fotka"/>
          <p:cNvSpPr>
            <a:spLocks noGrp="1"/>
          </p:cNvSpPr>
          <p:nvPr>
            <p:ph type="pic" idx="20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Jméno a role"/>
          <p:cNvSpPr>
            <a:spLocks noGrp="1"/>
          </p:cNvSpPr>
          <p:nvPr>
            <p:ph type="body" idx="100" hasCustomPrompt="1"/>
          </p:nvPr>
        </p:nvSpPr>
        <p:spPr>
          <a:xfrm>
            <a:off x="1346200" y="5818645"/>
            <a:ext cx="11134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9" name="Fotka"/>
          <p:cNvSpPr>
            <a:spLocks noGrp="1"/>
          </p:cNvSpPr>
          <p:nvPr>
            <p:ph type="pic" idx="21"/>
          </p:nvPr>
        </p:nvSpPr>
        <p:spPr>
          <a:xfrm>
            <a:off x="27622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Jméno a role"/>
          <p:cNvSpPr>
            <a:spLocks noGrp="1"/>
          </p:cNvSpPr>
          <p:nvPr>
            <p:ph type="body" idx="101" hasCustomPrompt="1"/>
          </p:nvPr>
        </p:nvSpPr>
        <p:spPr>
          <a:xfrm>
            <a:off x="3346450" y="5818645"/>
            <a:ext cx="13801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1" name="Fotka"/>
          <p:cNvSpPr>
            <a:spLocks noGrp="1"/>
          </p:cNvSpPr>
          <p:nvPr>
            <p:ph type="pic" idx="22"/>
          </p:nvPr>
        </p:nvSpPr>
        <p:spPr>
          <a:xfrm>
            <a:off x="50165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Jméno a role"/>
          <p:cNvSpPr>
            <a:spLocks noGrp="1"/>
          </p:cNvSpPr>
          <p:nvPr>
            <p:ph type="body" idx="102" hasCustomPrompt="1"/>
          </p:nvPr>
        </p:nvSpPr>
        <p:spPr>
          <a:xfrm>
            <a:off x="5600700" y="5818645"/>
            <a:ext cx="103346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sp>
        <p:nvSpPr>
          <p:cNvPr id="13" name="Datum"/>
          <p:cNvSpPr>
            <a:spLocks noGrp="1"/>
          </p:cNvSpPr>
          <p:nvPr>
            <p:ph type="body" idx="103" hasCustomPrompt="1"/>
          </p:nvPr>
        </p:nvSpPr>
        <p:spPr>
          <a:xfrm>
            <a:off x="762000" y="5463045"/>
            <a:ext cx="766762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D4D6DB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ní – tmavá, kocou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35000"/>
            <a:ext cx="1123950" cy="381000"/>
          </a:xfrm>
          <a:prstGeom prst="rect">
            <a:avLst/>
          </a:prstGeom>
        </p:spPr>
      </p:pic>
      <p:sp>
        <p:nvSpPr>
          <p:cNvPr id="4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260600"/>
            <a:ext cx="2819718" cy="2921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WEBINÁŘ · INVESTIČNÍ KONZULTACE</a:t>
            </a:r>
          </a:p>
        </p:txBody>
      </p:sp>
      <p:sp>
        <p:nvSpPr>
          <p:cNvPr id="5" name="Nadpis"/>
          <p:cNvSpPr>
            <a:spLocks noGrp="1"/>
          </p:cNvSpPr>
          <p:nvPr>
            <p:ph type="title" hasCustomPrompt="1"/>
          </p:nvPr>
        </p:nvSpPr>
        <p:spPr>
          <a:xfrm>
            <a:off x="762000" y="2755900"/>
            <a:ext cx="7530465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Název prezentace, klidně i na dva řádky</a:t>
            </a:r>
          </a:p>
        </p:txBody>
      </p:sp>
      <p:sp>
        <p:nvSpPr>
          <p:cNvPr id="6" name="Podtitul"/>
          <p:cNvSpPr>
            <a:spLocks noGrp="1"/>
          </p:cNvSpPr>
          <p:nvPr>
            <p:ph type="body" idx="14" hasCustomPrompt="1"/>
          </p:nvPr>
        </p:nvSpPr>
        <p:spPr>
          <a:xfrm>
            <a:off x="762000" y="4321366"/>
            <a:ext cx="779272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500" b="0" kern="0" cap="none" spc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defRPr>
            </a:lvl1pPr>
          </a:lstStyle>
          <a:p>
            <a:r>
              <a:rPr lang="cs-CZ" dirty="0"/>
              <a:t>Podtitul – jednou větou, o čem dnes budeme mluvit</a:t>
            </a:r>
          </a:p>
        </p:txBody>
      </p:sp>
      <p:sp>
        <p:nvSpPr>
          <p:cNvPr id="7" name="Fotka"/>
          <p:cNvSpPr>
            <a:spLocks noGrp="1"/>
          </p:cNvSpPr>
          <p:nvPr>
            <p:ph type="pic" idx="20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Jméno a role"/>
          <p:cNvSpPr>
            <a:spLocks noGrp="1"/>
          </p:cNvSpPr>
          <p:nvPr>
            <p:ph type="body" idx="100" hasCustomPrompt="1"/>
          </p:nvPr>
        </p:nvSpPr>
        <p:spPr>
          <a:xfrm>
            <a:off x="1346200" y="5818645"/>
            <a:ext cx="11134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9" name="Fotka"/>
          <p:cNvSpPr>
            <a:spLocks noGrp="1"/>
          </p:cNvSpPr>
          <p:nvPr>
            <p:ph type="pic" idx="21"/>
          </p:nvPr>
        </p:nvSpPr>
        <p:spPr>
          <a:xfrm>
            <a:off x="27622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Jméno a role"/>
          <p:cNvSpPr>
            <a:spLocks noGrp="1"/>
          </p:cNvSpPr>
          <p:nvPr>
            <p:ph type="body" idx="101" hasCustomPrompt="1"/>
          </p:nvPr>
        </p:nvSpPr>
        <p:spPr>
          <a:xfrm>
            <a:off x="3346450" y="5818645"/>
            <a:ext cx="13801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1" name="Fotka"/>
          <p:cNvSpPr>
            <a:spLocks noGrp="1"/>
          </p:cNvSpPr>
          <p:nvPr>
            <p:ph type="pic" idx="22"/>
          </p:nvPr>
        </p:nvSpPr>
        <p:spPr>
          <a:xfrm>
            <a:off x="50165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Jméno a role"/>
          <p:cNvSpPr>
            <a:spLocks noGrp="1"/>
          </p:cNvSpPr>
          <p:nvPr>
            <p:ph type="body" idx="102" hasCustomPrompt="1"/>
          </p:nvPr>
        </p:nvSpPr>
        <p:spPr>
          <a:xfrm>
            <a:off x="5600700" y="5818645"/>
            <a:ext cx="103346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sp>
        <p:nvSpPr>
          <p:cNvPr id="13" name="Datum"/>
          <p:cNvSpPr>
            <a:spLocks noGrp="1"/>
          </p:cNvSpPr>
          <p:nvPr>
            <p:ph type="body" idx="103" hasCustomPrompt="1"/>
          </p:nvPr>
        </p:nvSpPr>
        <p:spPr>
          <a:xfrm>
            <a:off x="762000" y="5463045"/>
            <a:ext cx="766762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D4D6DB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ní – tmavá s obrázkem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35000"/>
            <a:ext cx="1123950" cy="381000"/>
          </a:xfrm>
          <a:prstGeom prst="rect">
            <a:avLst/>
          </a:prstGeom>
        </p:spPr>
      </p:pic>
      <p:sp>
        <p:nvSpPr>
          <p:cNvPr id="4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552700"/>
            <a:ext cx="2139950" cy="2921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NÁZEV KONFERENCE 2026</a:t>
            </a:r>
          </a:p>
        </p:txBody>
      </p:sp>
      <p:sp>
        <p:nvSpPr>
          <p:cNvPr id="5" name="Nadpis"/>
          <p:cNvSpPr>
            <a:spLocks noGrp="1"/>
          </p:cNvSpPr>
          <p:nvPr>
            <p:ph type="title" hasCustomPrompt="1"/>
          </p:nvPr>
        </p:nvSpPr>
        <p:spPr>
          <a:xfrm>
            <a:off x="762000" y="3048000"/>
            <a:ext cx="6604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Název přednášky</a:t>
            </a:r>
          </a:p>
        </p:txBody>
      </p:sp>
      <p:sp>
        <p:nvSpPr>
          <p:cNvPr id="6" name="Podtitul"/>
          <p:cNvSpPr>
            <a:spLocks noGrp="1"/>
          </p:cNvSpPr>
          <p:nvPr>
            <p:ph type="body" idx="100" hasCustomPrompt="1"/>
          </p:nvPr>
        </p:nvSpPr>
        <p:spPr>
          <a:xfrm>
            <a:off x="762000" y="3937000"/>
            <a:ext cx="6604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Podtitul s jedním </a:t>
            </a:r>
            <a:r>
              <a:rPr lang="cs-CZ" sz="2600" b="0" kern="0" cap="none" spc="-50" dirty="0">
                <a:gradFill rotWithShape="1">
                  <a:gsLst>
                    <a:gs pos="0">
                      <a:srgbClr val="05CB4B"/>
                    </a:gs>
                    <a:gs pos="100000">
                      <a:srgbClr val="D8FF15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zeleným</a:t>
            </a:r>
            <a:r>
              <a:rPr lang="cs-CZ" sz="2600" b="0" kern="0" cap="none" spc="-5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 slovem</a:t>
            </a:r>
          </a:p>
        </p:txBody>
      </p:sp>
      <p:sp>
        <p:nvSpPr>
          <p:cNvPr id="7" name="Obrázek / mockup produktu"/>
          <p:cNvSpPr>
            <a:spLocks noGrp="1"/>
          </p:cNvSpPr>
          <p:nvPr>
            <p:ph type="pic" idx="20" hasCustomPrompt="1"/>
          </p:nvPr>
        </p:nvSpPr>
        <p:spPr>
          <a:xfrm>
            <a:off x="7112000" y="254000"/>
            <a:ext cx="4826000" cy="6350000"/>
          </a:xfrm>
          <a:prstGeom prst="roundRect">
            <a:avLst>
              <a:gd name="adj" fmla="val 4211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 wrap="square" lIns="152400" tIns="152400" rIns="152400" bIns="152400" rtlCol="0" anchor="ctr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Klikněte na ikonu a vložte obrázek</a:t>
            </a:r>
          </a:p>
        </p:txBody>
      </p:sp>
      <p:sp>
        <p:nvSpPr>
          <p:cNvPr id="8" name="Fotka"/>
          <p:cNvSpPr>
            <a:spLocks noGrp="1"/>
          </p:cNvSpPr>
          <p:nvPr>
            <p:ph type="pic" idx="21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Jméno a role"/>
          <p:cNvSpPr>
            <a:spLocks noGrp="1"/>
          </p:cNvSpPr>
          <p:nvPr>
            <p:ph type="body" idx="101" hasCustomPrompt="1"/>
          </p:nvPr>
        </p:nvSpPr>
        <p:spPr>
          <a:xfrm>
            <a:off x="1346200" y="5818645"/>
            <a:ext cx="11134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10" name="Fotka"/>
          <p:cNvSpPr>
            <a:spLocks noGrp="1"/>
          </p:cNvSpPr>
          <p:nvPr>
            <p:ph type="pic" idx="22"/>
          </p:nvPr>
        </p:nvSpPr>
        <p:spPr>
          <a:xfrm>
            <a:off x="27622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Jméno a role"/>
          <p:cNvSpPr>
            <a:spLocks noGrp="1"/>
          </p:cNvSpPr>
          <p:nvPr>
            <p:ph type="body" idx="102" hasCustomPrompt="1"/>
          </p:nvPr>
        </p:nvSpPr>
        <p:spPr>
          <a:xfrm>
            <a:off x="3346450" y="5818645"/>
            <a:ext cx="13801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2" name="Fotka"/>
          <p:cNvSpPr>
            <a:spLocks noGrp="1"/>
          </p:cNvSpPr>
          <p:nvPr>
            <p:ph type="pic" idx="23"/>
          </p:nvPr>
        </p:nvSpPr>
        <p:spPr>
          <a:xfrm>
            <a:off x="50165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Jméno a role"/>
          <p:cNvSpPr>
            <a:spLocks noGrp="1"/>
          </p:cNvSpPr>
          <p:nvPr>
            <p:ph type="body" idx="103" hasCustomPrompt="1"/>
          </p:nvPr>
        </p:nvSpPr>
        <p:spPr>
          <a:xfrm>
            <a:off x="5600700" y="5818645"/>
            <a:ext cx="103346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sp>
        <p:nvSpPr>
          <p:cNvPr id="14" name="Datum"/>
          <p:cNvSpPr>
            <a:spLocks noGrp="1"/>
          </p:cNvSpPr>
          <p:nvPr>
            <p:ph type="body" idx="104" hasCustomPrompt="1"/>
          </p:nvPr>
        </p:nvSpPr>
        <p:spPr>
          <a:xfrm>
            <a:off x="762000" y="5463045"/>
            <a:ext cx="766762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D4D6DB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ní – světlá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lustrace (zamčená)" descr="dekorace"/>
          <p:cNvPicPr>
            <a:picLocks noGrp="1" noSelect="1" noChangeAspect="1" noMove="1" noResize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112000" y="254000"/>
            <a:ext cx="4826000" cy="6350000"/>
          </a:xfrm>
          <a:prstGeom prst="rect">
            <a:avLst/>
          </a:prstGeom>
        </p:spPr>
      </p:pic>
      <p:pic>
        <p:nvPicPr>
          <p:cNvPr id="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35000"/>
            <a:ext cx="1123950" cy="381000"/>
          </a:xfrm>
          <a:prstGeom prst="rect">
            <a:avLst/>
          </a:prstGeom>
        </p:spPr>
      </p:pic>
      <p:sp>
        <p:nvSpPr>
          <p:cNvPr id="5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603500"/>
            <a:ext cx="21463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PREZENTACE PRO KLIENTY</a:t>
            </a:r>
          </a:p>
        </p:txBody>
      </p:sp>
      <p:sp>
        <p:nvSpPr>
          <p:cNvPr id="6" name="Nadpis"/>
          <p:cNvSpPr>
            <a:spLocks noGrp="1"/>
          </p:cNvSpPr>
          <p:nvPr>
            <p:ph type="title" hasCustomPrompt="1"/>
          </p:nvPr>
        </p:nvSpPr>
        <p:spPr>
          <a:xfrm>
            <a:off x="762000" y="3098800"/>
            <a:ext cx="58115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rgbClr val="05CB4B"/>
                    </a:gs>
                    <a:gs pos="100000">
                      <a:srgbClr val="00832E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7" name="Podtitul"/>
          <p:cNvSpPr>
            <a:spLocks noGrp="1"/>
          </p:cNvSpPr>
          <p:nvPr>
            <p:ph type="body" idx="14" hasCustomPrompt="1"/>
          </p:nvPr>
        </p:nvSpPr>
        <p:spPr>
          <a:xfrm>
            <a:off x="762000" y="3978466"/>
            <a:ext cx="581152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500" b="0" kern="0" cap="none" spc="0">
                <a:solidFill>
                  <a:schemeClr val="tx1">
                    <a:alpha val="75000"/>
                  </a:schemeClr>
                </a:solidFill>
                <a:latin typeface="Rethink Sans Medium"/>
                <a:ea typeface="Rethink Sans Medium"/>
                <a:cs typeface="Rethink Sans Medium"/>
              </a:defRPr>
            </a:lvl1pPr>
          </a:lstStyle>
          <a:p>
            <a:r>
              <a:rPr lang="cs-CZ" dirty="0"/>
              <a:t>Podtitul – jednou větou, o čem dnes budeme mluvit</a:t>
            </a:r>
          </a:p>
        </p:txBody>
      </p:sp>
      <p:sp>
        <p:nvSpPr>
          <p:cNvPr id="8" name="Fotka"/>
          <p:cNvSpPr>
            <a:spLocks noGrp="1"/>
          </p:cNvSpPr>
          <p:nvPr>
            <p:ph type="pic" idx="20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Jméno a role"/>
          <p:cNvSpPr>
            <a:spLocks noGrp="1"/>
          </p:cNvSpPr>
          <p:nvPr>
            <p:ph type="body" idx="100" hasCustomPrompt="1"/>
          </p:nvPr>
        </p:nvSpPr>
        <p:spPr>
          <a:xfrm>
            <a:off x="1346200" y="5818645"/>
            <a:ext cx="11134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10" name="Fotka"/>
          <p:cNvSpPr>
            <a:spLocks noGrp="1"/>
          </p:cNvSpPr>
          <p:nvPr>
            <p:ph type="pic" idx="21"/>
          </p:nvPr>
        </p:nvSpPr>
        <p:spPr>
          <a:xfrm>
            <a:off x="26098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Jméno a role"/>
          <p:cNvSpPr>
            <a:spLocks noGrp="1"/>
          </p:cNvSpPr>
          <p:nvPr>
            <p:ph type="body" idx="101" hasCustomPrompt="1"/>
          </p:nvPr>
        </p:nvSpPr>
        <p:spPr>
          <a:xfrm>
            <a:off x="3194050" y="5818645"/>
            <a:ext cx="13801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2" name="Fotka"/>
          <p:cNvSpPr>
            <a:spLocks noGrp="1"/>
          </p:cNvSpPr>
          <p:nvPr>
            <p:ph type="pic" idx="22"/>
          </p:nvPr>
        </p:nvSpPr>
        <p:spPr>
          <a:xfrm>
            <a:off x="47117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Jméno a role"/>
          <p:cNvSpPr>
            <a:spLocks noGrp="1"/>
          </p:cNvSpPr>
          <p:nvPr>
            <p:ph type="body" idx="102" hasCustomPrompt="1"/>
          </p:nvPr>
        </p:nvSpPr>
        <p:spPr>
          <a:xfrm>
            <a:off x="5295900" y="5818645"/>
            <a:ext cx="103346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sp>
        <p:nvSpPr>
          <p:cNvPr id="14" name="Datum"/>
          <p:cNvSpPr>
            <a:spLocks noGrp="1"/>
          </p:cNvSpPr>
          <p:nvPr>
            <p:ph type="body" idx="103" hasCustomPrompt="1"/>
          </p:nvPr>
        </p:nvSpPr>
        <p:spPr>
          <a:xfrm>
            <a:off x="762000" y="5463045"/>
            <a:ext cx="766762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ní – partnerská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ázek / mockup produktu"/>
          <p:cNvSpPr>
            <a:spLocks noGrp="1"/>
          </p:cNvSpPr>
          <p:nvPr>
            <p:ph type="pic" idx="20" hasCustomPrompt="1"/>
          </p:nvPr>
        </p:nvSpPr>
        <p:spPr>
          <a:xfrm>
            <a:off x="7112000" y="254000"/>
            <a:ext cx="4826000" cy="6350000"/>
          </a:xfrm>
          <a:prstGeom prst="roundRect">
            <a:avLst>
              <a:gd name="adj" fmla="val 4211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square" lIns="152400" tIns="152400" rIns="152400" bIns="152400" rtlCol="0" anchor="ctr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Klikněte na ikonu a vložte obrázek</a:t>
            </a:r>
          </a:p>
        </p:txBody>
      </p:sp>
      <p:sp>
        <p:nvSpPr>
          <p:cNvPr id="4" name="Spojka"/>
          <p:cNvSpPr>
            <a:spLocks noGrp="1"/>
          </p:cNvSpPr>
          <p:nvPr>
            <p:ph type="body" idx="100" hasCustomPrompt="1"/>
          </p:nvPr>
        </p:nvSpPr>
        <p:spPr>
          <a:xfrm>
            <a:off x="2089150" y="641350"/>
            <a:ext cx="215900" cy="368300"/>
          </a:xfrm>
          <a:prstGeom prst="rect">
            <a:avLst/>
          </a:prstGeom>
          <a:noFill/>
          <a:ln>
            <a:noFill/>
          </a:ln>
        </p:spPr>
        <p:txBody>
          <a:bodyPr wrap="none" lIns="0" tIns="30810" rIns="0" bIns="0" rtlCol="0" anchor="t" anchorCtr="0">
            <a:no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rgbClr val="D4D6DB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rgbClr val="D4D6DB"/>
                </a:solidFill>
                <a:latin typeface="Rethink Sans SemiBold"/>
                <a:ea typeface="Rethink Sans SemiBold"/>
                <a:cs typeface="Rethink Sans SemiBold"/>
              </a:rPr>
              <a:t>×</a:t>
            </a:r>
          </a:p>
        </p:txBody>
      </p:sp>
      <p:sp>
        <p:nvSpPr>
          <p:cNvPr id="5" name="Logo partnera"/>
          <p:cNvSpPr>
            <a:spLocks noGrp="1"/>
          </p:cNvSpPr>
          <p:nvPr>
            <p:ph type="pic" idx="21" hasCustomPrompt="1"/>
          </p:nvPr>
        </p:nvSpPr>
        <p:spPr>
          <a:xfrm>
            <a:off x="2501900" y="641350"/>
            <a:ext cx="1111250" cy="368300"/>
          </a:xfrm>
          <a:prstGeom prst="roundRect">
            <a:avLst>
              <a:gd name="adj" fmla="val 18966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6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603500"/>
            <a:ext cx="19240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PARTNERSKÁ SCHŮZKA</a:t>
            </a:r>
          </a:p>
        </p:txBody>
      </p:sp>
      <p:sp>
        <p:nvSpPr>
          <p:cNvPr id="7" name="Nadpis"/>
          <p:cNvSpPr>
            <a:spLocks noGrp="1"/>
          </p:cNvSpPr>
          <p:nvPr>
            <p:ph type="title" hasCustomPrompt="1"/>
          </p:nvPr>
        </p:nvSpPr>
        <p:spPr>
          <a:xfrm>
            <a:off x="762000" y="3098800"/>
            <a:ext cx="58115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rgbClr val="05CB4B"/>
                    </a:gs>
                    <a:gs pos="100000">
                      <a:srgbClr val="00832E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Portu × Partner</a:t>
            </a:r>
          </a:p>
        </p:txBody>
      </p:sp>
      <p:sp>
        <p:nvSpPr>
          <p:cNvPr id="8" name="Podtitul"/>
          <p:cNvSpPr>
            <a:spLocks noGrp="1"/>
          </p:cNvSpPr>
          <p:nvPr>
            <p:ph type="body" idx="14" hasCustomPrompt="1"/>
          </p:nvPr>
        </p:nvSpPr>
        <p:spPr>
          <a:xfrm>
            <a:off x="762000" y="3978466"/>
            <a:ext cx="581152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500" b="0" kern="0" cap="none" spc="0">
                <a:solidFill>
                  <a:schemeClr val="tx1">
                    <a:alpha val="75000"/>
                  </a:schemeClr>
                </a:solidFill>
                <a:latin typeface="Rethink Sans Medium"/>
                <a:ea typeface="Rethink Sans Medium"/>
                <a:cs typeface="Rethink Sans Medium"/>
              </a:defRPr>
            </a:lvl1pPr>
          </a:lstStyle>
          <a:p>
            <a:r>
              <a:rPr lang="cs-CZ" dirty="0"/>
              <a:t>Podtitul – jednou větou, o čem dnes budeme mluvit</a:t>
            </a:r>
          </a:p>
        </p:txBody>
      </p:sp>
      <p:sp>
        <p:nvSpPr>
          <p:cNvPr id="9" name="Fotka"/>
          <p:cNvSpPr>
            <a:spLocks noGrp="1"/>
          </p:cNvSpPr>
          <p:nvPr>
            <p:ph type="pic" idx="22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Jméno a role"/>
          <p:cNvSpPr>
            <a:spLocks noGrp="1"/>
          </p:cNvSpPr>
          <p:nvPr>
            <p:ph type="body" idx="101" hasCustomPrompt="1"/>
          </p:nvPr>
        </p:nvSpPr>
        <p:spPr>
          <a:xfrm>
            <a:off x="1346200" y="5818645"/>
            <a:ext cx="11134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11" name="Fotka"/>
          <p:cNvSpPr>
            <a:spLocks noGrp="1"/>
          </p:cNvSpPr>
          <p:nvPr>
            <p:ph type="pic" idx="23"/>
          </p:nvPr>
        </p:nvSpPr>
        <p:spPr>
          <a:xfrm>
            <a:off x="26098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Jméno a role"/>
          <p:cNvSpPr>
            <a:spLocks noGrp="1"/>
          </p:cNvSpPr>
          <p:nvPr>
            <p:ph type="body" idx="102" hasCustomPrompt="1"/>
          </p:nvPr>
        </p:nvSpPr>
        <p:spPr>
          <a:xfrm>
            <a:off x="3194050" y="5818645"/>
            <a:ext cx="138017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3" name="Fotka"/>
          <p:cNvSpPr>
            <a:spLocks noGrp="1"/>
          </p:cNvSpPr>
          <p:nvPr>
            <p:ph type="pic" idx="24"/>
          </p:nvPr>
        </p:nvSpPr>
        <p:spPr>
          <a:xfrm>
            <a:off x="47117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Jméno a role"/>
          <p:cNvSpPr>
            <a:spLocks noGrp="1"/>
          </p:cNvSpPr>
          <p:nvPr>
            <p:ph type="body" idx="103" hasCustomPrompt="1"/>
          </p:nvPr>
        </p:nvSpPr>
        <p:spPr>
          <a:xfrm>
            <a:off x="5295900" y="5818645"/>
            <a:ext cx="103346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sp>
        <p:nvSpPr>
          <p:cNvPr id="15" name="Datum"/>
          <p:cNvSpPr>
            <a:spLocks noGrp="1"/>
          </p:cNvSpPr>
          <p:nvPr>
            <p:ph type="body" idx="104" hasCustomPrompt="1"/>
          </p:nvPr>
        </p:nvSpPr>
        <p:spPr>
          <a:xfrm>
            <a:off x="762000" y="5463045"/>
            <a:ext cx="766762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do vás dnes prove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2827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PŘEDSTAVENÍ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Kdo vás dnes provede</a:t>
            </a:r>
          </a:p>
        </p:txBody>
      </p:sp>
      <p:sp>
        <p:nvSpPr>
          <p:cNvPr id="5" name="Fotka"/>
          <p:cNvSpPr>
            <a:spLocks noGrp="1"/>
          </p:cNvSpPr>
          <p:nvPr>
            <p:ph type="pic" idx="20"/>
          </p:nvPr>
        </p:nvSpPr>
        <p:spPr>
          <a:xfrm>
            <a:off x="1066800" y="2590800"/>
            <a:ext cx="812800" cy="8128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Jméno a role"/>
          <p:cNvSpPr>
            <a:spLocks noGrp="1"/>
          </p:cNvSpPr>
          <p:nvPr>
            <p:ph type="body" idx="100" hasCustomPrompt="1"/>
          </p:nvPr>
        </p:nvSpPr>
        <p:spPr>
          <a:xfrm>
            <a:off x="1066800" y="3530600"/>
            <a:ext cx="2923393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Investiční konzultant</a:t>
            </a:r>
          </a:p>
        </p:txBody>
      </p:sp>
      <p:sp>
        <p:nvSpPr>
          <p:cNvPr id="7" name="Medailonek"/>
          <p:cNvSpPr>
            <a:spLocks noGrp="1"/>
          </p:cNvSpPr>
          <p:nvPr>
            <p:ph type="body" idx="101" hasCustomPrompt="1"/>
          </p:nvPr>
        </p:nvSpPr>
        <p:spPr>
          <a:xfrm>
            <a:off x="1066800" y="4129545"/>
            <a:ext cx="282500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Dvě až tři věty o zkušenostech a o tom, čemu se v Portu věnuje. Ideálně něco osobního.</a:t>
            </a:r>
          </a:p>
        </p:txBody>
      </p:sp>
      <p:sp>
        <p:nvSpPr>
          <p:cNvPr id="8" name="Fotka"/>
          <p:cNvSpPr>
            <a:spLocks noGrp="1"/>
          </p:cNvSpPr>
          <p:nvPr>
            <p:ph type="pic" idx="21"/>
          </p:nvPr>
        </p:nvSpPr>
        <p:spPr>
          <a:xfrm>
            <a:off x="4690554" y="2590800"/>
            <a:ext cx="812800" cy="8128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Jméno a role"/>
          <p:cNvSpPr>
            <a:spLocks noGrp="1"/>
          </p:cNvSpPr>
          <p:nvPr>
            <p:ph type="body" idx="102" hasCustomPrompt="1"/>
          </p:nvPr>
        </p:nvSpPr>
        <p:spPr>
          <a:xfrm>
            <a:off x="4690554" y="3530600"/>
            <a:ext cx="2923393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Analytik</a:t>
            </a:r>
          </a:p>
        </p:txBody>
      </p:sp>
      <p:sp>
        <p:nvSpPr>
          <p:cNvPr id="10" name="Medailonek"/>
          <p:cNvSpPr>
            <a:spLocks noGrp="1"/>
          </p:cNvSpPr>
          <p:nvPr>
            <p:ph type="body" idx="103" hasCustomPrompt="1"/>
          </p:nvPr>
        </p:nvSpPr>
        <p:spPr>
          <a:xfrm>
            <a:off x="4690554" y="4129545"/>
            <a:ext cx="282500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Dvě až tři věty o zkušenostech a o tom, čemu se v Portu věnuje. Ideálně něco osobního.</a:t>
            </a:r>
          </a:p>
        </p:txBody>
      </p:sp>
      <p:sp>
        <p:nvSpPr>
          <p:cNvPr id="11" name="Fotka"/>
          <p:cNvSpPr>
            <a:spLocks noGrp="1"/>
          </p:cNvSpPr>
          <p:nvPr>
            <p:ph type="body" idx="104" hasCustomPrompt="1"/>
          </p:nvPr>
        </p:nvSpPr>
        <p:spPr>
          <a:xfrm>
            <a:off x="8314246" y="2590800"/>
            <a:ext cx="812800" cy="8128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JP</a:t>
            </a:r>
          </a:p>
        </p:txBody>
      </p:sp>
      <p:sp>
        <p:nvSpPr>
          <p:cNvPr id="12" name="Jméno a role"/>
          <p:cNvSpPr>
            <a:spLocks noGrp="1"/>
          </p:cNvSpPr>
          <p:nvPr>
            <p:ph type="body" idx="105" hasCustomPrompt="1"/>
          </p:nvPr>
        </p:nvSpPr>
        <p:spPr>
          <a:xfrm>
            <a:off x="8314246" y="3530600"/>
            <a:ext cx="2923393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Produktový manažer</a:t>
            </a:r>
          </a:p>
        </p:txBody>
      </p:sp>
      <p:sp>
        <p:nvSpPr>
          <p:cNvPr id="13" name="Medailonek"/>
          <p:cNvSpPr>
            <a:spLocks noGrp="1"/>
          </p:cNvSpPr>
          <p:nvPr>
            <p:ph type="body" idx="106" hasCustomPrompt="1"/>
          </p:nvPr>
        </p:nvSpPr>
        <p:spPr>
          <a:xfrm>
            <a:off x="8314246" y="4129545"/>
            <a:ext cx="282500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Dvě až tři věty o zkušenostech a o tom, čemu se v Portu věnuje. Ideálně něco osobního.</a:t>
            </a:r>
          </a:p>
        </p:txBody>
      </p:sp>
      <p:pic>
        <p:nvPicPr>
          <p:cNvPr id="1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5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nické problémy? Ozvěte se!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3208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NEŽ ZAČNEME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Technické problémy? Ozvěte se!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1701330"/>
            <a:ext cx="79248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Nemůžete se připojit, nejde zvuk nebo nevidíte prezentaci? Napište nám nebo zavolejte.</a:t>
            </a:r>
          </a:p>
        </p:txBody>
      </p:sp>
      <p:sp>
        <p:nvSpPr>
          <p:cNvPr id="6" name="Karta – Nejde zvuk nebo obraz?"/>
          <p:cNvSpPr>
            <a:spLocks noGrp="1"/>
          </p:cNvSpPr>
          <p:nvPr>
            <p:ph type="body" idx="100" hasCustomPrompt="1"/>
          </p:nvPr>
        </p:nvSpPr>
        <p:spPr>
          <a:xfrm>
            <a:off x="762000" y="2857500"/>
            <a:ext cx="3416300" cy="1358900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12001" rIns="290766" bIns="3048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Nejde zvuk nebo obraz?</a:t>
            </a:r>
          </a:p>
          <a:p>
            <a:pPr marL="0" indent="0" algn="l">
              <a:lnSpc>
                <a:spcPts val="16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Zkuste se odpojit a znovu připojit – ve většině případů to pomůže.</a:t>
            </a:r>
          </a:p>
        </p:txBody>
      </p:sp>
      <p:sp>
        <p:nvSpPr>
          <p:cNvPr id="7" name="Karta – Prezentaci vám pošleme"/>
          <p:cNvSpPr>
            <a:spLocks noGrp="1"/>
          </p:cNvSpPr>
          <p:nvPr>
            <p:ph type="body" idx="101" hasCustomPrompt="1"/>
          </p:nvPr>
        </p:nvSpPr>
        <p:spPr>
          <a:xfrm>
            <a:off x="4381500" y="2857500"/>
            <a:ext cx="3416300" cy="1358900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12001" rIns="290766" bIns="3048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Prezentaci vám pošleme</a:t>
            </a:r>
          </a:p>
          <a:p>
            <a:pPr marL="0" indent="0" algn="l">
              <a:lnSpc>
                <a:spcPts val="16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Materiály dostanete po skončení e-mailem, nemusíte si nic zapisovat.</a:t>
            </a:r>
          </a:p>
        </p:txBody>
      </p:sp>
      <p:sp>
        <p:nvSpPr>
          <p:cNvPr id="8" name="Karta – Máte dotaz?"/>
          <p:cNvSpPr>
            <a:spLocks noGrp="1"/>
          </p:cNvSpPr>
          <p:nvPr>
            <p:ph type="body" idx="102" hasCustomPrompt="1"/>
          </p:nvPr>
        </p:nvSpPr>
        <p:spPr>
          <a:xfrm>
            <a:off x="8001000" y="2857500"/>
            <a:ext cx="3416300" cy="1358900"/>
          </a:xfrm>
          <a:prstGeom prst="roundRect">
            <a:avLst>
              <a:gd name="adj" fmla="val 11215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12001" rIns="290766" bIns="3048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Máte dotaz?</a:t>
            </a:r>
          </a:p>
          <a:p>
            <a:pPr marL="0" indent="0" algn="l">
              <a:lnSpc>
                <a:spcPts val="16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Napište ho do chatu. Vrátíme se k němu v části Otázky a odpovědi.</a:t>
            </a:r>
          </a:p>
        </p:txBody>
      </p:sp>
      <p:sp>
        <p:nvSpPr>
          <p:cNvPr id="9" name="E-mail"/>
          <p:cNvSpPr>
            <a:spLocks noGrp="1"/>
          </p:cNvSpPr>
          <p:nvPr>
            <p:ph type="body" idx="103" hasCustomPrompt="1"/>
          </p:nvPr>
        </p:nvSpPr>
        <p:spPr>
          <a:xfrm>
            <a:off x="762000" y="4953000"/>
            <a:ext cx="22336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2100"/>
              </a:lnSpc>
              <a:spcBef>
                <a:spcPts val="2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poradenstvi@portu.cz</a:t>
            </a:r>
          </a:p>
        </p:txBody>
      </p:sp>
      <p:sp>
        <p:nvSpPr>
          <p:cNvPr id="10" name="Telefon"/>
          <p:cNvSpPr>
            <a:spLocks noGrp="1"/>
          </p:cNvSpPr>
          <p:nvPr>
            <p:ph type="body" idx="104" hasCustomPrompt="1"/>
          </p:nvPr>
        </p:nvSpPr>
        <p:spPr>
          <a:xfrm>
            <a:off x="3194050" y="4953000"/>
            <a:ext cx="185356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2100"/>
              </a:lnSpc>
              <a:spcBef>
                <a:spcPts val="2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+420 222 096 622</a:t>
            </a:r>
          </a:p>
        </p:txBody>
      </p:sp>
      <p:pic>
        <p:nvPicPr>
          <p:cNvPr id="11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2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 vás dnes čeká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889000"/>
            <a:ext cx="10604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PROGRAM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333500"/>
            <a:ext cx="39624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Co vás dnes čeká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1955330"/>
            <a:ext cx="382905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Krátce uveďte, jak bude prezentace probíhat a kolik zabere času.</a:t>
            </a:r>
          </a:p>
        </p:txBody>
      </p:sp>
      <p:sp>
        <p:nvSpPr>
          <p:cNvPr id="6" name="Číslo"/>
          <p:cNvSpPr>
            <a:spLocks noGrp="1"/>
          </p:cNvSpPr>
          <p:nvPr>
            <p:ph type="body" idx="100" hasCustomPrompt="1"/>
          </p:nvPr>
        </p:nvSpPr>
        <p:spPr>
          <a:xfrm>
            <a:off x="5334000" y="1016000"/>
            <a:ext cx="42265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01</a:t>
            </a:r>
          </a:p>
        </p:txBody>
      </p:sp>
      <p:sp>
        <p:nvSpPr>
          <p:cNvPr id="7" name="Text"/>
          <p:cNvSpPr>
            <a:spLocks noGrp="1"/>
          </p:cNvSpPr>
          <p:nvPr>
            <p:ph type="body" idx="101" hasCustomPrompt="1"/>
          </p:nvPr>
        </p:nvSpPr>
        <p:spPr>
          <a:xfrm>
            <a:off x="5994400" y="1016000"/>
            <a:ext cx="501904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Úvod a představení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Kdo vás provede a jak bude prezentace probíhat</a:t>
            </a:r>
          </a:p>
        </p:txBody>
      </p:sp>
      <p:sp>
        <p:nvSpPr>
          <p:cNvPr id="8" name="Délka"/>
          <p:cNvSpPr>
            <a:spLocks noGrp="1"/>
          </p:cNvSpPr>
          <p:nvPr>
            <p:ph type="body" idx="102" hasCustomPrompt="1"/>
          </p:nvPr>
        </p:nvSpPr>
        <p:spPr>
          <a:xfrm>
            <a:off x="11074400" y="1011695"/>
            <a:ext cx="37338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5 min</a:t>
            </a:r>
          </a:p>
        </p:txBody>
      </p:sp>
      <p:sp>
        <p:nvSpPr>
          <p:cNvPr id="9" name="Číslo"/>
          <p:cNvSpPr>
            <a:spLocks noGrp="1"/>
          </p:cNvSpPr>
          <p:nvPr>
            <p:ph type="body" idx="103" hasCustomPrompt="1"/>
          </p:nvPr>
        </p:nvSpPr>
        <p:spPr>
          <a:xfrm>
            <a:off x="5334000" y="1924050"/>
            <a:ext cx="42265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02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4" hasCustomPrompt="1"/>
          </p:nvPr>
        </p:nvSpPr>
        <p:spPr>
          <a:xfrm>
            <a:off x="5994400" y="1924050"/>
            <a:ext cx="4933188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Kontext a výchozí situace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Proč se tématem zabýváme právě teď</a:t>
            </a:r>
          </a:p>
        </p:txBody>
      </p:sp>
      <p:sp>
        <p:nvSpPr>
          <p:cNvPr id="11" name="Délka"/>
          <p:cNvSpPr>
            <a:spLocks noGrp="1"/>
          </p:cNvSpPr>
          <p:nvPr>
            <p:ph type="body" idx="105" hasCustomPrompt="1"/>
          </p:nvPr>
        </p:nvSpPr>
        <p:spPr>
          <a:xfrm>
            <a:off x="10991850" y="1919745"/>
            <a:ext cx="460058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10 min</a:t>
            </a:r>
          </a:p>
        </p:txBody>
      </p:sp>
      <p:sp>
        <p:nvSpPr>
          <p:cNvPr id="12" name="Číslo"/>
          <p:cNvSpPr>
            <a:spLocks noGrp="1"/>
          </p:cNvSpPr>
          <p:nvPr>
            <p:ph type="body" idx="106" hasCustomPrompt="1"/>
          </p:nvPr>
        </p:nvSpPr>
        <p:spPr>
          <a:xfrm>
            <a:off x="5334000" y="2832100"/>
            <a:ext cx="42265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03</a:t>
            </a:r>
          </a:p>
        </p:txBody>
      </p:sp>
      <p:sp>
        <p:nvSpPr>
          <p:cNvPr id="13" name="Text"/>
          <p:cNvSpPr>
            <a:spLocks noGrp="1"/>
          </p:cNvSpPr>
          <p:nvPr>
            <p:ph type="body" idx="107" hasCustomPrompt="1"/>
          </p:nvPr>
        </p:nvSpPr>
        <p:spPr>
          <a:xfrm>
            <a:off x="5994400" y="2832100"/>
            <a:ext cx="4933188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Hlavní část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Klíčová zjištění, data a příklady z praxe</a:t>
            </a:r>
          </a:p>
        </p:txBody>
      </p:sp>
      <p:sp>
        <p:nvSpPr>
          <p:cNvPr id="14" name="Délka"/>
          <p:cNvSpPr>
            <a:spLocks noGrp="1"/>
          </p:cNvSpPr>
          <p:nvPr>
            <p:ph type="body" idx="108" hasCustomPrompt="1"/>
          </p:nvPr>
        </p:nvSpPr>
        <p:spPr>
          <a:xfrm>
            <a:off x="10991850" y="2827795"/>
            <a:ext cx="460058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20 min</a:t>
            </a:r>
          </a:p>
        </p:txBody>
      </p:sp>
      <p:sp>
        <p:nvSpPr>
          <p:cNvPr id="15" name="Číslo"/>
          <p:cNvSpPr>
            <a:spLocks noGrp="1"/>
          </p:cNvSpPr>
          <p:nvPr>
            <p:ph type="body" idx="109" hasCustomPrompt="1"/>
          </p:nvPr>
        </p:nvSpPr>
        <p:spPr>
          <a:xfrm>
            <a:off x="5334000" y="3740150"/>
            <a:ext cx="42265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04</a:t>
            </a:r>
          </a:p>
        </p:txBody>
      </p:sp>
      <p:sp>
        <p:nvSpPr>
          <p:cNvPr id="16" name="Text"/>
          <p:cNvSpPr>
            <a:spLocks noGrp="1"/>
          </p:cNvSpPr>
          <p:nvPr>
            <p:ph type="body" idx="110" hasCustomPrompt="1"/>
          </p:nvPr>
        </p:nvSpPr>
        <p:spPr>
          <a:xfrm>
            <a:off x="5994400" y="3740150"/>
            <a:ext cx="4933188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Doporučení a další kroky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Co si odnést a jak postupovat dál</a:t>
            </a:r>
          </a:p>
        </p:txBody>
      </p:sp>
      <p:sp>
        <p:nvSpPr>
          <p:cNvPr id="17" name="Délka"/>
          <p:cNvSpPr>
            <a:spLocks noGrp="1"/>
          </p:cNvSpPr>
          <p:nvPr>
            <p:ph type="body" idx="111" hasCustomPrompt="1"/>
          </p:nvPr>
        </p:nvSpPr>
        <p:spPr>
          <a:xfrm>
            <a:off x="10991850" y="3735845"/>
            <a:ext cx="460058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10 min</a:t>
            </a:r>
          </a:p>
        </p:txBody>
      </p:sp>
      <p:sp>
        <p:nvSpPr>
          <p:cNvPr id="18" name="Číslo"/>
          <p:cNvSpPr>
            <a:spLocks noGrp="1"/>
          </p:cNvSpPr>
          <p:nvPr>
            <p:ph type="body" idx="112" hasCustomPrompt="1"/>
          </p:nvPr>
        </p:nvSpPr>
        <p:spPr>
          <a:xfrm>
            <a:off x="5334000" y="4648200"/>
            <a:ext cx="42265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05</a:t>
            </a:r>
          </a:p>
        </p:txBody>
      </p:sp>
      <p:sp>
        <p:nvSpPr>
          <p:cNvPr id="19" name="Text"/>
          <p:cNvSpPr>
            <a:spLocks noGrp="1"/>
          </p:cNvSpPr>
          <p:nvPr>
            <p:ph type="body" idx="113" hasCustomPrompt="1"/>
          </p:nvPr>
        </p:nvSpPr>
        <p:spPr>
          <a:xfrm>
            <a:off x="5994400" y="4648200"/>
            <a:ext cx="4933188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Otázky a odpovědi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Prostor pro vaše dotazy</a:t>
            </a:r>
          </a:p>
        </p:txBody>
      </p:sp>
      <p:sp>
        <p:nvSpPr>
          <p:cNvPr id="20" name="Délka"/>
          <p:cNvSpPr>
            <a:spLocks noGrp="1"/>
          </p:cNvSpPr>
          <p:nvPr>
            <p:ph type="body" idx="114" hasCustomPrompt="1"/>
          </p:nvPr>
        </p:nvSpPr>
        <p:spPr>
          <a:xfrm>
            <a:off x="10991850" y="4643895"/>
            <a:ext cx="460058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15 min</a:t>
            </a:r>
          </a:p>
        </p:txBody>
      </p:sp>
      <p:pic>
        <p:nvPicPr>
          <p:cNvPr id="21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22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 prezenta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8509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OBSAH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Obsah prezentace</a:t>
            </a:r>
          </a:p>
        </p:txBody>
      </p:sp>
      <p:sp>
        <p:nvSpPr>
          <p:cNvPr id="5" name="Číslo"/>
          <p:cNvSpPr>
            <a:spLocks noGrp="1"/>
          </p:cNvSpPr>
          <p:nvPr>
            <p:ph type="body" idx="100" hasCustomPrompt="1"/>
          </p:nvPr>
        </p:nvSpPr>
        <p:spPr>
          <a:xfrm>
            <a:off x="762000" y="232410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01</a:t>
            </a:r>
          </a:p>
        </p:txBody>
      </p:sp>
      <p:sp>
        <p:nvSpPr>
          <p:cNvPr id="6" name="Kapitola"/>
          <p:cNvSpPr>
            <a:spLocks noGrp="1"/>
          </p:cNvSpPr>
          <p:nvPr>
            <p:ph type="body" idx="101" hasCustomPrompt="1"/>
          </p:nvPr>
        </p:nvSpPr>
        <p:spPr>
          <a:xfrm>
            <a:off x="1270000" y="2324100"/>
            <a:ext cx="451053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Úvod a kontext</a:t>
            </a:r>
          </a:p>
        </p:txBody>
      </p:sp>
      <p:sp>
        <p:nvSpPr>
          <p:cNvPr id="7" name="Strana"/>
          <p:cNvSpPr>
            <a:spLocks noGrp="1"/>
          </p:cNvSpPr>
          <p:nvPr>
            <p:ph type="body" idx="102" hasCustomPrompt="1"/>
          </p:nvPr>
        </p:nvSpPr>
        <p:spPr>
          <a:xfrm>
            <a:off x="5759450" y="2357895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8" name="Číslo"/>
          <p:cNvSpPr>
            <a:spLocks noGrp="1"/>
          </p:cNvSpPr>
          <p:nvPr>
            <p:ph type="body" idx="103" hasCustomPrompt="1"/>
          </p:nvPr>
        </p:nvSpPr>
        <p:spPr>
          <a:xfrm>
            <a:off x="762000" y="292735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02</a:t>
            </a:r>
          </a:p>
        </p:txBody>
      </p:sp>
      <p:sp>
        <p:nvSpPr>
          <p:cNvPr id="9" name="Kapitola"/>
          <p:cNvSpPr>
            <a:spLocks noGrp="1"/>
          </p:cNvSpPr>
          <p:nvPr>
            <p:ph type="body" idx="104" hasCustomPrompt="1"/>
          </p:nvPr>
        </p:nvSpPr>
        <p:spPr>
          <a:xfrm>
            <a:off x="1270000" y="2927350"/>
            <a:ext cx="451053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Výsledky za 3. čtvrtletí</a:t>
            </a:r>
          </a:p>
        </p:txBody>
      </p:sp>
      <p:sp>
        <p:nvSpPr>
          <p:cNvPr id="10" name="Strana"/>
          <p:cNvSpPr>
            <a:spLocks noGrp="1"/>
          </p:cNvSpPr>
          <p:nvPr>
            <p:ph type="body" idx="105" hasCustomPrompt="1"/>
          </p:nvPr>
        </p:nvSpPr>
        <p:spPr>
          <a:xfrm>
            <a:off x="5759450" y="2961145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6</a:t>
            </a:r>
          </a:p>
        </p:txBody>
      </p:sp>
      <p:sp>
        <p:nvSpPr>
          <p:cNvPr id="11" name="Číslo"/>
          <p:cNvSpPr>
            <a:spLocks noGrp="1"/>
          </p:cNvSpPr>
          <p:nvPr>
            <p:ph type="body" idx="106" hasCustomPrompt="1"/>
          </p:nvPr>
        </p:nvSpPr>
        <p:spPr>
          <a:xfrm>
            <a:off x="762000" y="353060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03</a:t>
            </a:r>
          </a:p>
        </p:txBody>
      </p:sp>
      <p:sp>
        <p:nvSpPr>
          <p:cNvPr id="12" name="Kapitola"/>
          <p:cNvSpPr>
            <a:spLocks noGrp="1"/>
          </p:cNvSpPr>
          <p:nvPr>
            <p:ph type="body" idx="107" hasCustomPrompt="1"/>
          </p:nvPr>
        </p:nvSpPr>
        <p:spPr>
          <a:xfrm>
            <a:off x="1270000" y="3530600"/>
            <a:ext cx="451053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Klienti a akvizice</a:t>
            </a:r>
          </a:p>
        </p:txBody>
      </p:sp>
      <p:sp>
        <p:nvSpPr>
          <p:cNvPr id="13" name="Strana"/>
          <p:cNvSpPr>
            <a:spLocks noGrp="1"/>
          </p:cNvSpPr>
          <p:nvPr>
            <p:ph type="body" idx="108" hasCustomPrompt="1"/>
          </p:nvPr>
        </p:nvSpPr>
        <p:spPr>
          <a:xfrm>
            <a:off x="5759450" y="3564395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9</a:t>
            </a:r>
          </a:p>
        </p:txBody>
      </p:sp>
      <p:sp>
        <p:nvSpPr>
          <p:cNvPr id="14" name="Číslo"/>
          <p:cNvSpPr>
            <a:spLocks noGrp="1"/>
          </p:cNvSpPr>
          <p:nvPr>
            <p:ph type="body" idx="109" hasCustomPrompt="1"/>
          </p:nvPr>
        </p:nvSpPr>
        <p:spPr>
          <a:xfrm>
            <a:off x="762000" y="413385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04</a:t>
            </a:r>
          </a:p>
        </p:txBody>
      </p:sp>
      <p:sp>
        <p:nvSpPr>
          <p:cNvPr id="15" name="Kapitola"/>
          <p:cNvSpPr>
            <a:spLocks noGrp="1"/>
          </p:cNvSpPr>
          <p:nvPr>
            <p:ph type="body" idx="110" hasCustomPrompt="1"/>
          </p:nvPr>
        </p:nvSpPr>
        <p:spPr>
          <a:xfrm>
            <a:off x="1270000" y="4133850"/>
            <a:ext cx="442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Produkty a nabídka</a:t>
            </a:r>
          </a:p>
        </p:txBody>
      </p:sp>
      <p:sp>
        <p:nvSpPr>
          <p:cNvPr id="16" name="Strana"/>
          <p:cNvSpPr>
            <a:spLocks noGrp="1"/>
          </p:cNvSpPr>
          <p:nvPr>
            <p:ph type="body" idx="111" hasCustomPrompt="1"/>
          </p:nvPr>
        </p:nvSpPr>
        <p:spPr>
          <a:xfrm>
            <a:off x="5676900" y="4167645"/>
            <a:ext cx="17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12</a:t>
            </a:r>
          </a:p>
        </p:txBody>
      </p:sp>
      <p:sp>
        <p:nvSpPr>
          <p:cNvPr id="17" name="Číslo"/>
          <p:cNvSpPr>
            <a:spLocks noGrp="1"/>
          </p:cNvSpPr>
          <p:nvPr>
            <p:ph type="body" idx="112" hasCustomPrompt="1"/>
          </p:nvPr>
        </p:nvSpPr>
        <p:spPr>
          <a:xfrm>
            <a:off x="762000" y="473710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05</a:t>
            </a:r>
          </a:p>
        </p:txBody>
      </p:sp>
      <p:sp>
        <p:nvSpPr>
          <p:cNvPr id="18" name="Kapitola"/>
          <p:cNvSpPr>
            <a:spLocks noGrp="1"/>
          </p:cNvSpPr>
          <p:nvPr>
            <p:ph type="body" idx="113" hasCustomPrompt="1"/>
          </p:nvPr>
        </p:nvSpPr>
        <p:spPr>
          <a:xfrm>
            <a:off x="1270000" y="4737100"/>
            <a:ext cx="442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Ceny a konkurence</a:t>
            </a:r>
          </a:p>
        </p:txBody>
      </p:sp>
      <p:sp>
        <p:nvSpPr>
          <p:cNvPr id="19" name="Strana"/>
          <p:cNvSpPr>
            <a:spLocks noGrp="1"/>
          </p:cNvSpPr>
          <p:nvPr>
            <p:ph type="body" idx="114" hasCustomPrompt="1"/>
          </p:nvPr>
        </p:nvSpPr>
        <p:spPr>
          <a:xfrm>
            <a:off x="5676900" y="4770895"/>
            <a:ext cx="17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15</a:t>
            </a:r>
          </a:p>
        </p:txBody>
      </p:sp>
      <p:sp>
        <p:nvSpPr>
          <p:cNvPr id="20" name="Číslo"/>
          <p:cNvSpPr>
            <a:spLocks noGrp="1"/>
          </p:cNvSpPr>
          <p:nvPr>
            <p:ph type="body" idx="115" hasCustomPrompt="1"/>
          </p:nvPr>
        </p:nvSpPr>
        <p:spPr>
          <a:xfrm>
            <a:off x="6350000" y="232410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06</a:t>
            </a:r>
          </a:p>
        </p:txBody>
      </p:sp>
      <p:sp>
        <p:nvSpPr>
          <p:cNvPr id="21" name="Kapitola"/>
          <p:cNvSpPr>
            <a:spLocks noGrp="1"/>
          </p:cNvSpPr>
          <p:nvPr>
            <p:ph type="body" idx="116" hasCustomPrompt="1"/>
          </p:nvPr>
        </p:nvSpPr>
        <p:spPr>
          <a:xfrm>
            <a:off x="6858000" y="2324100"/>
            <a:ext cx="442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Partnerství</a:t>
            </a:r>
          </a:p>
        </p:txBody>
      </p:sp>
      <p:sp>
        <p:nvSpPr>
          <p:cNvPr id="22" name="Strana"/>
          <p:cNvSpPr>
            <a:spLocks noGrp="1"/>
          </p:cNvSpPr>
          <p:nvPr>
            <p:ph type="body" idx="117" hasCustomPrompt="1"/>
          </p:nvPr>
        </p:nvSpPr>
        <p:spPr>
          <a:xfrm>
            <a:off x="11264900" y="2357895"/>
            <a:ext cx="17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18</a:t>
            </a:r>
          </a:p>
        </p:txBody>
      </p:sp>
      <p:sp>
        <p:nvSpPr>
          <p:cNvPr id="23" name="Číslo"/>
          <p:cNvSpPr>
            <a:spLocks noGrp="1"/>
          </p:cNvSpPr>
          <p:nvPr>
            <p:ph type="body" idx="118" hasCustomPrompt="1"/>
          </p:nvPr>
        </p:nvSpPr>
        <p:spPr>
          <a:xfrm>
            <a:off x="6350000" y="292735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07</a:t>
            </a:r>
          </a:p>
        </p:txBody>
      </p:sp>
      <p:sp>
        <p:nvSpPr>
          <p:cNvPr id="24" name="Kapitola"/>
          <p:cNvSpPr>
            <a:spLocks noGrp="1"/>
          </p:cNvSpPr>
          <p:nvPr>
            <p:ph type="body" idx="119" hasCustomPrompt="1"/>
          </p:nvPr>
        </p:nvSpPr>
        <p:spPr>
          <a:xfrm>
            <a:off x="6858000" y="2927350"/>
            <a:ext cx="442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Plán na příští rok</a:t>
            </a:r>
          </a:p>
        </p:txBody>
      </p:sp>
      <p:sp>
        <p:nvSpPr>
          <p:cNvPr id="25" name="Strana"/>
          <p:cNvSpPr>
            <a:spLocks noGrp="1"/>
          </p:cNvSpPr>
          <p:nvPr>
            <p:ph type="body" idx="120" hasCustomPrompt="1"/>
          </p:nvPr>
        </p:nvSpPr>
        <p:spPr>
          <a:xfrm>
            <a:off x="11264900" y="2961145"/>
            <a:ext cx="17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21</a:t>
            </a:r>
          </a:p>
        </p:txBody>
      </p:sp>
      <p:sp>
        <p:nvSpPr>
          <p:cNvPr id="26" name="Číslo"/>
          <p:cNvSpPr>
            <a:spLocks noGrp="1"/>
          </p:cNvSpPr>
          <p:nvPr>
            <p:ph type="body" idx="121" hasCustomPrompt="1"/>
          </p:nvPr>
        </p:nvSpPr>
        <p:spPr>
          <a:xfrm>
            <a:off x="6350000" y="353060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08</a:t>
            </a:r>
          </a:p>
        </p:txBody>
      </p:sp>
      <p:sp>
        <p:nvSpPr>
          <p:cNvPr id="27" name="Kapitola"/>
          <p:cNvSpPr>
            <a:spLocks noGrp="1"/>
          </p:cNvSpPr>
          <p:nvPr>
            <p:ph type="body" idx="122" hasCustomPrompt="1"/>
          </p:nvPr>
        </p:nvSpPr>
        <p:spPr>
          <a:xfrm>
            <a:off x="6858000" y="3530600"/>
            <a:ext cx="442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Rizika a příležitosti</a:t>
            </a:r>
          </a:p>
        </p:txBody>
      </p:sp>
      <p:sp>
        <p:nvSpPr>
          <p:cNvPr id="28" name="Strana"/>
          <p:cNvSpPr>
            <a:spLocks noGrp="1"/>
          </p:cNvSpPr>
          <p:nvPr>
            <p:ph type="body" idx="123" hasCustomPrompt="1"/>
          </p:nvPr>
        </p:nvSpPr>
        <p:spPr>
          <a:xfrm>
            <a:off x="11264900" y="3564395"/>
            <a:ext cx="17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24</a:t>
            </a:r>
          </a:p>
        </p:txBody>
      </p:sp>
      <p:sp>
        <p:nvSpPr>
          <p:cNvPr id="29" name="Číslo"/>
          <p:cNvSpPr>
            <a:spLocks noGrp="1"/>
          </p:cNvSpPr>
          <p:nvPr>
            <p:ph type="body" idx="124" hasCustomPrompt="1"/>
          </p:nvPr>
        </p:nvSpPr>
        <p:spPr>
          <a:xfrm>
            <a:off x="6350000" y="413385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09</a:t>
            </a:r>
          </a:p>
        </p:txBody>
      </p:sp>
      <p:sp>
        <p:nvSpPr>
          <p:cNvPr id="30" name="Kapitola"/>
          <p:cNvSpPr>
            <a:spLocks noGrp="1"/>
          </p:cNvSpPr>
          <p:nvPr>
            <p:ph type="body" idx="125" hasCustomPrompt="1"/>
          </p:nvPr>
        </p:nvSpPr>
        <p:spPr>
          <a:xfrm>
            <a:off x="6858000" y="4133850"/>
            <a:ext cx="442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Shrnutí a další kroky</a:t>
            </a:r>
          </a:p>
        </p:txBody>
      </p:sp>
      <p:sp>
        <p:nvSpPr>
          <p:cNvPr id="31" name="Strana"/>
          <p:cNvSpPr>
            <a:spLocks noGrp="1"/>
          </p:cNvSpPr>
          <p:nvPr>
            <p:ph type="body" idx="126" hasCustomPrompt="1"/>
          </p:nvPr>
        </p:nvSpPr>
        <p:spPr>
          <a:xfrm>
            <a:off x="11264900" y="4167645"/>
            <a:ext cx="17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27</a:t>
            </a:r>
          </a:p>
        </p:txBody>
      </p:sp>
      <p:sp>
        <p:nvSpPr>
          <p:cNvPr id="32" name="Číslo"/>
          <p:cNvSpPr>
            <a:spLocks noGrp="1"/>
          </p:cNvSpPr>
          <p:nvPr>
            <p:ph type="body" idx="127" hasCustomPrompt="1"/>
          </p:nvPr>
        </p:nvSpPr>
        <p:spPr>
          <a:xfrm>
            <a:off x="6350000" y="4737100"/>
            <a:ext cx="36982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10</a:t>
            </a:r>
          </a:p>
        </p:txBody>
      </p:sp>
      <p:sp>
        <p:nvSpPr>
          <p:cNvPr id="33" name="Kapitola"/>
          <p:cNvSpPr>
            <a:spLocks noGrp="1"/>
          </p:cNvSpPr>
          <p:nvPr>
            <p:ph type="body" idx="128" hasCustomPrompt="1"/>
          </p:nvPr>
        </p:nvSpPr>
        <p:spPr>
          <a:xfrm>
            <a:off x="6858000" y="4737100"/>
            <a:ext cx="442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Příloha</a:t>
            </a:r>
          </a:p>
        </p:txBody>
      </p:sp>
      <p:sp>
        <p:nvSpPr>
          <p:cNvPr id="34" name="Strana"/>
          <p:cNvSpPr>
            <a:spLocks noGrp="1"/>
          </p:cNvSpPr>
          <p:nvPr>
            <p:ph type="body" idx="129" hasCustomPrompt="1"/>
          </p:nvPr>
        </p:nvSpPr>
        <p:spPr>
          <a:xfrm>
            <a:off x="11264900" y="4770895"/>
            <a:ext cx="17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noFill/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30</a:t>
            </a:r>
          </a:p>
        </p:txBody>
      </p:sp>
      <p:pic>
        <p:nvPicPr>
          <p:cNvPr id="35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36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ár vět o Port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333500"/>
            <a:ext cx="8064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O NÁS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778000"/>
            <a:ext cx="501904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Pár vět o Portu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2399830"/>
            <a:ext cx="485013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Portu vzniklo v roce 2017 jako první robo-advisor ve střední Evropě. Pomáhá lidem jednoduše a bez stresu investovat do nízkonákladových ETF a dalších produktů.</a:t>
            </a:r>
          </a:p>
        </p:txBody>
      </p:sp>
      <p:sp>
        <p:nvSpPr>
          <p:cNvPr id="6" name="Číslo"/>
          <p:cNvSpPr>
            <a:spLocks noGrp="1"/>
          </p:cNvSpPr>
          <p:nvPr>
            <p:ph type="body" idx="100" hasCustomPrompt="1"/>
          </p:nvPr>
        </p:nvSpPr>
        <p:spPr>
          <a:xfrm>
            <a:off x="6096000" y="1333500"/>
            <a:ext cx="2590800" cy="111760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115824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74 mld. Kč</a:t>
            </a:r>
          </a:p>
          <a:p>
            <a:pPr marL="0" indent="0" algn="l">
              <a:lnSpc>
                <a:spcPts val="1600"/>
              </a:lnSpc>
              <a:spcBef>
                <a:spcPts val="133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majetku pod správou</a:t>
            </a:r>
          </a:p>
        </p:txBody>
      </p:sp>
      <p:sp>
        <p:nvSpPr>
          <p:cNvPr id="7" name="Číslo"/>
          <p:cNvSpPr>
            <a:spLocks noGrp="1"/>
          </p:cNvSpPr>
          <p:nvPr>
            <p:ph type="body" idx="101" hasCustomPrompt="1"/>
          </p:nvPr>
        </p:nvSpPr>
        <p:spPr>
          <a:xfrm>
            <a:off x="8839200" y="1333500"/>
            <a:ext cx="2590800" cy="111760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115824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340 000+</a:t>
            </a:r>
          </a:p>
          <a:p>
            <a:pPr marL="0" indent="0" algn="l">
              <a:lnSpc>
                <a:spcPts val="1600"/>
              </a:lnSpc>
              <a:spcBef>
                <a:spcPts val="133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zainvestovaných klientů</a:t>
            </a:r>
          </a:p>
        </p:txBody>
      </p:sp>
      <p:sp>
        <p:nvSpPr>
          <p:cNvPr id="8" name="Číslo"/>
          <p:cNvSpPr>
            <a:spLocks noGrp="1"/>
          </p:cNvSpPr>
          <p:nvPr>
            <p:ph type="body" idx="102" hasCustomPrompt="1"/>
          </p:nvPr>
        </p:nvSpPr>
        <p:spPr>
          <a:xfrm>
            <a:off x="6096000" y="2603500"/>
            <a:ext cx="2590800" cy="1320800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192278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10,34 % p.a</a:t>
            </a:r>
          </a:p>
          <a:p>
            <a:pPr marL="0" indent="0" algn="l">
              <a:lnSpc>
                <a:spcPts val="1600"/>
              </a:lnSpc>
              <a:spcBef>
                <a:spcPts val="133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průměrný výnos akciového portfolia za 10 let</a:t>
            </a:r>
          </a:p>
        </p:txBody>
      </p:sp>
      <p:sp>
        <p:nvSpPr>
          <p:cNvPr id="9" name="Číslo"/>
          <p:cNvSpPr>
            <a:spLocks noGrp="1"/>
          </p:cNvSpPr>
          <p:nvPr>
            <p:ph type="body" idx="103" hasCustomPrompt="1"/>
          </p:nvPr>
        </p:nvSpPr>
        <p:spPr>
          <a:xfrm>
            <a:off x="8839200" y="2603500"/>
            <a:ext cx="2590800" cy="1320800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192278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CZ · SK · PL</a:t>
            </a:r>
          </a:p>
          <a:p>
            <a:pPr marL="0" indent="0" algn="l">
              <a:lnSpc>
                <a:spcPts val="1600"/>
              </a:lnSpc>
              <a:spcBef>
                <a:spcPts val="133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největší robo platforma v regionu CEE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4" hasCustomPrompt="1"/>
          </p:nvPr>
        </p:nvSpPr>
        <p:spPr>
          <a:xfrm>
            <a:off x="8769350" y="4602620"/>
            <a:ext cx="120681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Zlatá koruna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Fintech roku 2025</a:t>
            </a:r>
          </a:p>
        </p:txBody>
      </p:sp>
      <p:sp>
        <p:nvSpPr>
          <p:cNvPr id="11" name="Zdroj"/>
          <p:cNvSpPr>
            <a:spLocks noGrp="1"/>
          </p:cNvSpPr>
          <p:nvPr>
            <p:ph type="body" idx="105" hasCustomPrompt="1"/>
          </p:nvPr>
        </p:nvSpPr>
        <p:spPr>
          <a:xfrm>
            <a:off x="6096000" y="5660492"/>
            <a:ext cx="55473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Údaje k datu DD. MM. RRRR – před použitím ověřte aktuální čísla. Minulé výnosy nejsou zárukou budoucích.</a:t>
            </a:r>
          </a:p>
        </p:txBody>
      </p:sp>
      <p:pic>
        <p:nvPicPr>
          <p:cNvPr id="12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3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 – tmavý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sah"/>
          <p:cNvSpPr>
            <a:spLocks noGrp="1"/>
          </p:cNvSpPr>
          <p:nvPr>
            <p:ph type="body" idx="100" hasCustomPrompt="1"/>
          </p:nvPr>
        </p:nvSpPr>
        <p:spPr>
          <a:xfrm>
            <a:off x="762000" y="2508250"/>
            <a:ext cx="7264400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tIns="92050" rIns="0" bIns="0" rtlCol="0" anchor="t" anchorCtr="0">
            <a:noAutofit/>
          </a:bodyPr>
          <a:lstStyle>
            <a:lvl1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  <a:defRPr sz="4800" b="1" kern="0" cap="none" spc="-10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01</a:t>
            </a:r>
          </a:p>
          <a:p>
            <a:pPr marL="0" indent="0" algn="l">
              <a:lnSpc>
                <a:spcPts val="5400"/>
              </a:lnSpc>
              <a:spcBef>
                <a:spcPts val="1421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Název sekce</a:t>
            </a:r>
          </a:p>
          <a:p>
            <a:pPr marL="0" indent="0" algn="l">
              <a:lnSpc>
                <a:spcPts val="1900"/>
              </a:lnSpc>
              <a:spcBef>
                <a:spcPts val="151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Jedna až dvě věty o tom, co v této části prezentace probereme.</a:t>
            </a:r>
          </a:p>
        </p:txBody>
      </p:sp>
      <p:pic>
        <p:nvPicPr>
          <p:cNvPr id="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5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 – světlý">
    <p:bg>
      <p:bgPr>
        <a:solidFill>
          <a:srgbClr val="EC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lustrace (zamčená)" descr="dekorace"/>
          <p:cNvPicPr>
            <a:picLocks noGrp="1" noSelect="1" noChangeAspect="1" noMove="1" noResize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65900" y="0"/>
            <a:ext cx="5626100" cy="6858000"/>
          </a:xfrm>
          <a:prstGeom prst="rect">
            <a:avLst/>
          </a:prstGeom>
        </p:spPr>
      </p:pic>
      <p:sp>
        <p:nvSpPr>
          <p:cNvPr id="4" name="Obsah"/>
          <p:cNvSpPr>
            <a:spLocks noGrp="1"/>
          </p:cNvSpPr>
          <p:nvPr>
            <p:ph type="body" idx="100" hasCustomPrompt="1"/>
          </p:nvPr>
        </p:nvSpPr>
        <p:spPr>
          <a:xfrm>
            <a:off x="762000" y="2508250"/>
            <a:ext cx="5943600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tIns="92050" rIns="0" bIns="0" rtlCol="0" anchor="t" anchorCtr="0">
            <a:noAutofit/>
          </a:bodyPr>
          <a:lstStyle>
            <a:lvl1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  <a:defRPr sz="4800" b="1" kern="0" cap="none" spc="-10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02</a:t>
            </a:r>
          </a:p>
          <a:p>
            <a:pPr marL="0" indent="0" algn="l">
              <a:lnSpc>
                <a:spcPts val="5400"/>
              </a:lnSpc>
              <a:spcBef>
                <a:spcPts val="1421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rgbClr val="4F46D5"/>
                    </a:gs>
                    <a:gs pos="100000">
                      <a:schemeClr val="tx1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Název sekce</a:t>
            </a:r>
          </a:p>
          <a:p>
            <a:pPr marL="0" indent="0" algn="l">
              <a:lnSpc>
                <a:spcPts val="1900"/>
              </a:lnSpc>
              <a:spcBef>
                <a:spcPts val="151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Jedna až dvě věty o tom, co v této části prezentace probereme.</a:t>
            </a:r>
          </a:p>
        </p:txBody>
      </p:sp>
      <p:pic>
        <p:nvPicPr>
          <p:cNvPr id="5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6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 – tmavý, kocou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4" name="Obsah"/>
          <p:cNvSpPr>
            <a:spLocks noGrp="1"/>
          </p:cNvSpPr>
          <p:nvPr>
            <p:ph type="body" idx="100" hasCustomPrompt="1"/>
          </p:nvPr>
        </p:nvSpPr>
        <p:spPr>
          <a:xfrm>
            <a:off x="762000" y="2508250"/>
            <a:ext cx="7264400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tIns="92050" rIns="0" bIns="0" rtlCol="0" anchor="t" anchorCtr="0">
            <a:noAutofit/>
          </a:bodyPr>
          <a:lstStyle>
            <a:lvl1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  <a:defRPr sz="4800" b="1" kern="0" cap="none" spc="-10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03</a:t>
            </a:r>
          </a:p>
          <a:p>
            <a:pPr marL="0" indent="0" algn="l">
              <a:lnSpc>
                <a:spcPts val="5400"/>
              </a:lnSpc>
              <a:spcBef>
                <a:spcPts val="1421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Název sekce</a:t>
            </a:r>
          </a:p>
          <a:p>
            <a:pPr marL="0" indent="0" algn="l">
              <a:lnSpc>
                <a:spcPts val="1900"/>
              </a:lnSpc>
              <a:spcBef>
                <a:spcPts val="151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Jedna až dvě věty o tom, co v této části prezentace probereme.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 obráze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825500"/>
            <a:ext cx="11811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TÉMA SLIDU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270000"/>
            <a:ext cx="4977765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Nadpis slidu na jeden až dva řádky</a:t>
            </a:r>
          </a:p>
        </p:txBody>
      </p:sp>
      <p:sp>
        <p:nvSpPr>
          <p:cNvPr id="5" name="Perex"/>
          <p:cNvSpPr>
            <a:spLocks noGrp="1"/>
          </p:cNvSpPr>
          <p:nvPr>
            <p:ph type="body" idx="14" hasCustomPrompt="1"/>
          </p:nvPr>
        </p:nvSpPr>
        <p:spPr>
          <a:xfrm>
            <a:off x="762000" y="2378266"/>
            <a:ext cx="515112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500" b="0" kern="0" cap="none" spc="0">
                <a:solidFill>
                  <a:schemeClr val="tx1"/>
                </a:solidFill>
                <a:latin typeface="Rethink Sans Medium"/>
                <a:ea typeface="Rethink Sans Medium"/>
                <a:cs typeface="Rethink Sans Medium"/>
              </a:defRPr>
            </a:lvl1pPr>
          </a:lstStyle>
          <a:p>
            <a:r>
              <a:rPr lang="cs-CZ" dirty="0"/>
              <a:t>Perex – hlavní myšlenka slidu v jedné nebo dvou větách.</a:t>
            </a:r>
          </a:p>
        </p:txBody>
      </p:sp>
      <p:sp>
        <p:nvSpPr>
          <p:cNvPr id="6" name="Odstavec"/>
          <p:cNvSpPr>
            <a:spLocks noGrp="1"/>
          </p:cNvSpPr>
          <p:nvPr>
            <p:ph type="body" idx="100" hasCustomPrompt="1"/>
          </p:nvPr>
        </p:nvSpPr>
        <p:spPr>
          <a:xfrm>
            <a:off x="762000" y="2796045"/>
            <a:ext cx="4977765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odstavec textu. Držte se krátkých vět a jedné myšlenky na slide. Detaily patří do poznámek řečníka, ne na plátno.</a:t>
            </a:r>
          </a:p>
        </p:txBody>
      </p:sp>
      <p:sp>
        <p:nvSpPr>
          <p:cNvPr id="7" name="Text"/>
          <p:cNvSpPr>
            <a:spLocks noGrp="1"/>
          </p:cNvSpPr>
          <p:nvPr>
            <p:ph type="body" idx="101" hasCustomPrompt="1"/>
          </p:nvPr>
        </p:nvSpPr>
        <p:spPr>
          <a:xfrm>
            <a:off x="1143000" y="3358680"/>
            <a:ext cx="47548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První výhoda nebo argument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2" hasCustomPrompt="1"/>
          </p:nvPr>
        </p:nvSpPr>
        <p:spPr>
          <a:xfrm>
            <a:off x="1143000" y="3714280"/>
            <a:ext cx="47548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Druhá výhoda nebo argument</a:t>
            </a:r>
          </a:p>
        </p:txBody>
      </p:sp>
      <p:sp>
        <p:nvSpPr>
          <p:cNvPr id="9" name="Text"/>
          <p:cNvSpPr>
            <a:spLocks noGrp="1"/>
          </p:cNvSpPr>
          <p:nvPr>
            <p:ph type="body" idx="103" hasCustomPrompt="1"/>
          </p:nvPr>
        </p:nvSpPr>
        <p:spPr>
          <a:xfrm>
            <a:off x="1143000" y="4069880"/>
            <a:ext cx="47548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Třetí výhoda nebo argument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4" hasCustomPrompt="1"/>
          </p:nvPr>
        </p:nvSpPr>
        <p:spPr>
          <a:xfrm>
            <a:off x="1143000" y="4425480"/>
            <a:ext cx="47548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Čtvrtá výhoda nebo argument</a:t>
            </a:r>
          </a:p>
        </p:txBody>
      </p:sp>
      <p:sp>
        <p:nvSpPr>
          <p:cNvPr id="11" name="Text"/>
          <p:cNvSpPr>
            <a:spLocks noGrp="1"/>
          </p:cNvSpPr>
          <p:nvPr>
            <p:ph type="body" idx="105" hasCustomPrompt="1"/>
          </p:nvPr>
        </p:nvSpPr>
        <p:spPr>
          <a:xfrm>
            <a:off x="1143000" y="4781080"/>
            <a:ext cx="47548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Pátá výhoda nebo argument</a:t>
            </a:r>
          </a:p>
        </p:txBody>
      </p:sp>
      <p:sp>
        <p:nvSpPr>
          <p:cNvPr id="12" name="Text"/>
          <p:cNvSpPr>
            <a:spLocks noGrp="1"/>
          </p:cNvSpPr>
          <p:nvPr>
            <p:ph type="body" idx="106" hasCustomPrompt="1"/>
          </p:nvPr>
        </p:nvSpPr>
        <p:spPr>
          <a:xfrm>
            <a:off x="1143000" y="5136680"/>
            <a:ext cx="47548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Šestá výhoda nebo argument</a:t>
            </a:r>
          </a:p>
        </p:txBody>
      </p:sp>
      <p:sp>
        <p:nvSpPr>
          <p:cNvPr id="13" name="Obrázek"/>
          <p:cNvSpPr>
            <a:spLocks noGrp="1"/>
          </p:cNvSpPr>
          <p:nvPr>
            <p:ph type="pic" idx="20" hasCustomPrompt="1"/>
          </p:nvPr>
        </p:nvSpPr>
        <p:spPr>
          <a:xfrm>
            <a:off x="6350000" y="762000"/>
            <a:ext cx="5080000" cy="5207000"/>
          </a:xfrm>
          <a:prstGeom prst="roundRect">
            <a:avLst>
              <a:gd name="adj" fmla="val 3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square" lIns="152400" tIns="152400" rIns="152400" bIns="152400" rtlCol="0" anchor="ctr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Klikněte na ikonu a vložte obrázek</a:t>
            </a:r>
          </a:p>
        </p:txBody>
      </p:sp>
      <p:pic>
        <p:nvPicPr>
          <p:cNvPr id="1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5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ě skupiny bodů vedle seb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8351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EXECUTIVE SUMMARY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792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Dvě skupiny bodů vedle sebe</a:t>
            </a:r>
          </a:p>
        </p:txBody>
      </p:sp>
      <p:sp>
        <p:nvSpPr>
          <p:cNvPr id="5" name="Číslo"/>
          <p:cNvSpPr>
            <a:spLocks noGrp="1"/>
          </p:cNvSpPr>
          <p:nvPr>
            <p:ph type="body" idx="100" hasCustomPrompt="1"/>
          </p:nvPr>
        </p:nvSpPr>
        <p:spPr>
          <a:xfrm>
            <a:off x="762000" y="182449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6" name="Text"/>
          <p:cNvSpPr>
            <a:spLocks noGrp="1"/>
          </p:cNvSpPr>
          <p:nvPr>
            <p:ph type="body" idx="101" hasCustomPrompt="1"/>
          </p:nvPr>
        </p:nvSpPr>
        <p:spPr>
          <a:xfrm>
            <a:off x="1143000" y="1815630"/>
            <a:ext cx="726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Klientů přibývá rychleji než loni.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Za 3. čtvrtletí +10 100 nových klientů (+18 % meziročně), tahounem je mobilní aplikace.</a:t>
            </a:r>
          </a:p>
        </p:txBody>
      </p:sp>
      <p:sp>
        <p:nvSpPr>
          <p:cNvPr id="7" name="Číslo"/>
          <p:cNvSpPr>
            <a:spLocks noGrp="1"/>
          </p:cNvSpPr>
          <p:nvPr>
            <p:ph type="body" idx="102" hasCustomPrompt="1"/>
          </p:nvPr>
        </p:nvSpPr>
        <p:spPr>
          <a:xfrm>
            <a:off x="762000" y="244679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3" hasCustomPrompt="1"/>
          </p:nvPr>
        </p:nvSpPr>
        <p:spPr>
          <a:xfrm>
            <a:off x="1143000" y="2437930"/>
            <a:ext cx="726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DIP je nejrychleji rostoucí produkt.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Podíl DIP na nových investicích vzrostl na 31 %, průměrný vklad 2 400 Kč měsíčně.</a:t>
            </a:r>
          </a:p>
        </p:txBody>
      </p:sp>
      <p:sp>
        <p:nvSpPr>
          <p:cNvPr id="9" name="Číslo"/>
          <p:cNvSpPr>
            <a:spLocks noGrp="1"/>
          </p:cNvSpPr>
          <p:nvPr>
            <p:ph type="body" idx="104" hasCustomPrompt="1"/>
          </p:nvPr>
        </p:nvSpPr>
        <p:spPr>
          <a:xfrm>
            <a:off x="762000" y="306909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5" hasCustomPrompt="1"/>
          </p:nvPr>
        </p:nvSpPr>
        <p:spPr>
          <a:xfrm>
            <a:off x="1143000" y="3060230"/>
            <a:ext cx="726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Náklady na akvizici klesají.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CAC se snížil o 12 % díky výkonnostnímu marketingu a doporučením.</a:t>
            </a:r>
          </a:p>
        </p:txBody>
      </p:sp>
      <p:sp>
        <p:nvSpPr>
          <p:cNvPr id="11" name="Číslo"/>
          <p:cNvSpPr>
            <a:spLocks noGrp="1"/>
          </p:cNvSpPr>
          <p:nvPr>
            <p:ph type="body" idx="106" hasCustomPrompt="1"/>
          </p:nvPr>
        </p:nvSpPr>
        <p:spPr>
          <a:xfrm>
            <a:off x="762000" y="369139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12" name="Text"/>
          <p:cNvSpPr>
            <a:spLocks noGrp="1"/>
          </p:cNvSpPr>
          <p:nvPr>
            <p:ph type="body" idx="107" hasCustomPrompt="1"/>
          </p:nvPr>
        </p:nvSpPr>
        <p:spPr>
          <a:xfrm>
            <a:off x="1143000" y="3682530"/>
            <a:ext cx="726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Riziko: konkurence snižuje poplatky.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Dva velcí hráči zlevnili ETF investice, tlak na naši headline sazbu poroste.</a:t>
            </a:r>
          </a:p>
        </p:txBody>
      </p:sp>
      <p:sp>
        <p:nvSpPr>
          <p:cNvPr id="13" name="Číslo"/>
          <p:cNvSpPr>
            <a:spLocks noGrp="1"/>
          </p:cNvSpPr>
          <p:nvPr>
            <p:ph type="body" idx="108" hasCustomPrompt="1"/>
          </p:nvPr>
        </p:nvSpPr>
        <p:spPr>
          <a:xfrm>
            <a:off x="762000" y="431369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5</a:t>
            </a:r>
          </a:p>
        </p:txBody>
      </p:sp>
      <p:sp>
        <p:nvSpPr>
          <p:cNvPr id="14" name="Text"/>
          <p:cNvSpPr>
            <a:spLocks noGrp="1"/>
          </p:cNvSpPr>
          <p:nvPr>
            <p:ph type="body" idx="109" hasCustomPrompt="1"/>
          </p:nvPr>
        </p:nvSpPr>
        <p:spPr>
          <a:xfrm>
            <a:off x="1143000" y="4304830"/>
            <a:ext cx="726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Příležitost: partnerská distribuce.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Pilot s partnerskou bankou může přinést až 20 000 klientů ročně.</a:t>
            </a:r>
          </a:p>
        </p:txBody>
      </p:sp>
      <p:sp>
        <p:nvSpPr>
          <p:cNvPr id="15" name="Číslo"/>
          <p:cNvSpPr>
            <a:spLocks noGrp="1"/>
          </p:cNvSpPr>
          <p:nvPr>
            <p:ph type="body" idx="110" hasCustomPrompt="1"/>
          </p:nvPr>
        </p:nvSpPr>
        <p:spPr>
          <a:xfrm>
            <a:off x="762000" y="4935995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6</a:t>
            </a:r>
          </a:p>
        </p:txBody>
      </p:sp>
      <p:sp>
        <p:nvSpPr>
          <p:cNvPr id="16" name="Text"/>
          <p:cNvSpPr>
            <a:spLocks noGrp="1"/>
          </p:cNvSpPr>
          <p:nvPr>
            <p:ph type="body" idx="111" hasCustomPrompt="1"/>
          </p:nvPr>
        </p:nvSpPr>
        <p:spPr>
          <a:xfrm>
            <a:off x="1143000" y="4927130"/>
            <a:ext cx="726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Příležitost: partnerská distribuce.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Pilot s partnerskou bankou může přinést až 20 000 klientů ročně.</a:t>
            </a:r>
          </a:p>
        </p:txBody>
      </p:sp>
      <p:sp>
        <p:nvSpPr>
          <p:cNvPr id="17" name="Štítek"/>
          <p:cNvSpPr>
            <a:spLocks noGrp="1"/>
          </p:cNvSpPr>
          <p:nvPr>
            <p:ph type="body" idx="112" hasCustomPrompt="1"/>
          </p:nvPr>
        </p:nvSpPr>
        <p:spPr>
          <a:xfrm>
            <a:off x="8940800" y="939800"/>
            <a:ext cx="2271776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DOPORUČUJEME</a:t>
            </a:r>
          </a:p>
        </p:txBody>
      </p:sp>
      <p:sp>
        <p:nvSpPr>
          <p:cNvPr id="18" name="Doporučení"/>
          <p:cNvSpPr>
            <a:spLocks noGrp="1"/>
          </p:cNvSpPr>
          <p:nvPr>
            <p:ph type="body" idx="113" hasCustomPrompt="1"/>
          </p:nvPr>
        </p:nvSpPr>
        <p:spPr>
          <a:xfrm>
            <a:off x="8940800" y="1202195"/>
            <a:ext cx="2195322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174625" indent="-174625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174625" indent="-174625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Navýšit rozpočet na kampaň DIP o 20 %</a:t>
            </a:r>
          </a:p>
          <a:p>
            <a:pPr marL="174625" indent="-174625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Spustit pilot s partnerskou bankou v Q1</a:t>
            </a:r>
          </a:p>
          <a:p>
            <a:pPr marL="174625" indent="-174625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Připravit revizi ceníku do konce roku</a:t>
            </a:r>
          </a:p>
        </p:txBody>
      </p:sp>
      <p:sp>
        <p:nvSpPr>
          <p:cNvPr id="19" name="Rozhodnutí"/>
          <p:cNvSpPr>
            <a:spLocks noGrp="1"/>
          </p:cNvSpPr>
          <p:nvPr>
            <p:ph type="body" idx="114" hasCustomPrompt="1"/>
          </p:nvPr>
        </p:nvSpPr>
        <p:spPr>
          <a:xfrm>
            <a:off x="8940800" y="2451100"/>
            <a:ext cx="2271776" cy="577850"/>
          </a:xfrm>
          <a:prstGeom prst="rect">
            <a:avLst/>
          </a:prstGeom>
          <a:noFill/>
          <a:ln>
            <a:noFill/>
          </a:ln>
        </p:spPr>
        <p:txBody>
          <a:bodyPr wrap="square" lIns="0" tIns="116942" rIns="0" bIns="0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Rozhodnutí potřebujeme do</a:t>
            </a:r>
          </a:p>
          <a:p>
            <a:pPr marL="0" indent="0" algn="l">
              <a:lnSpc>
                <a:spcPts val="2100"/>
              </a:lnSpc>
              <a:spcBef>
                <a:spcPts val="33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DD. MM. RRRR</a:t>
            </a:r>
          </a:p>
        </p:txBody>
      </p:sp>
      <p:sp>
        <p:nvSpPr>
          <p:cNvPr id="20" name="Zdroj"/>
          <p:cNvSpPr>
            <a:spLocks noGrp="1"/>
          </p:cNvSpPr>
          <p:nvPr>
            <p:ph type="body" idx="115" hasCustomPrompt="1"/>
          </p:nvPr>
        </p:nvSpPr>
        <p:spPr>
          <a:xfrm>
            <a:off x="762000" y="5831942"/>
            <a:ext cx="766064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 – nahraďte skutečnými čísly a uveďte zdroj.</a:t>
            </a:r>
          </a:p>
        </p:txBody>
      </p:sp>
      <p:pic>
        <p:nvPicPr>
          <p:cNvPr id="21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22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rnutí podle oblast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8351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EXECUTIVE SUMMARY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792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Shrnutí podle oblastí</a:t>
            </a:r>
          </a:p>
        </p:txBody>
      </p:sp>
      <p:sp>
        <p:nvSpPr>
          <p:cNvPr id="5" name="Tabulka"/>
          <p:cNvSpPr>
            <a:spLocks noGrp="1"/>
          </p:cNvSpPr>
          <p:nvPr>
            <p:ph type="tbl" idx="100" hasCustomPrompt="1"/>
          </p:nvPr>
        </p:nvSpPr>
        <p:spPr>
          <a:xfrm>
            <a:off x="762000" y="1752600"/>
            <a:ext cx="10668000" cy="408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cs-CZ"/>
              <a:t>Klikněte na ikonu a vložte tabulku</a:t>
            </a:r>
          </a:p>
        </p:txBody>
      </p:sp>
      <p:sp>
        <p:nvSpPr>
          <p:cNvPr id="6" name="Zdroj"/>
          <p:cNvSpPr>
            <a:spLocks noGrp="1"/>
          </p:cNvSpPr>
          <p:nvPr>
            <p:ph type="body" idx="101" hasCustomPrompt="1"/>
          </p:nvPr>
        </p:nvSpPr>
        <p:spPr>
          <a:xfrm>
            <a:off x="762000" y="5984342"/>
            <a:ext cx="1109472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 – nahraďte skutečnými čísly a uveďte zdroj.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dyž je potřeba víc vysvětl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1303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PODROBNĚ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792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Když je potřeba víc vysvětlit</a:t>
            </a:r>
          </a:p>
        </p:txBody>
      </p:sp>
      <p:sp>
        <p:nvSpPr>
          <p:cNvPr id="5" name="Odstavec – Výchozí situace"/>
          <p:cNvSpPr>
            <a:spLocks noGrp="1"/>
          </p:cNvSpPr>
          <p:nvPr>
            <p:ph type="body" idx="100" hasCustomPrompt="1"/>
          </p:nvPr>
        </p:nvSpPr>
        <p:spPr>
          <a:xfrm>
            <a:off x="762000" y="1748295"/>
            <a:ext cx="3586543" cy="1282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Výchozí situace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Portu dnes spravuje majetek stovek tisíc klientů. Většina z nich investuje pravidelně a dlouhodobě, ale roste i skupina, která chce mít část peněz dostupnou během několika let. Pro ně hledáme řešení, které spojí rozumné zhodnocení s dobrou likviditou.</a:t>
            </a:r>
          </a:p>
        </p:txBody>
      </p:sp>
      <p:sp>
        <p:nvSpPr>
          <p:cNvPr id="6" name="Odstavec – Co jsme zjistili"/>
          <p:cNvSpPr>
            <a:spLocks noGrp="1"/>
          </p:cNvSpPr>
          <p:nvPr>
            <p:ph type="body" idx="101" hasCustomPrompt="1"/>
          </p:nvPr>
        </p:nvSpPr>
        <p:spPr>
          <a:xfrm>
            <a:off x="762000" y="3234195"/>
            <a:ext cx="3586543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jsme zjistili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 rozhovorů s klienty vyplývá, že nejčastěji srovnávají investice se spořicím účtem. Rozhoduje pro ně jednoduchost, jistota a to, jak rychle se k penězům dostanou. Výnos je až na třetím místě.</a:t>
            </a:r>
          </a:p>
        </p:txBody>
      </p:sp>
      <p:sp>
        <p:nvSpPr>
          <p:cNvPr id="7" name="Odstavec – Rizika"/>
          <p:cNvSpPr>
            <a:spLocks noGrp="1"/>
          </p:cNvSpPr>
          <p:nvPr>
            <p:ph type="body" idx="102" hasCustomPrompt="1"/>
          </p:nvPr>
        </p:nvSpPr>
        <p:spPr>
          <a:xfrm>
            <a:off x="762000" y="4516895"/>
            <a:ext cx="3586543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Rizika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Hlavním rizikem je, že klienti zamění krátkodobé výkyvy za skutečné riziko a investici předčasně ukončí. Proto chceme horizont komunikovat hned na začátku a připomínat ho i v aplikaci.</a:t>
            </a:r>
          </a:p>
        </p:txBody>
      </p:sp>
      <p:sp>
        <p:nvSpPr>
          <p:cNvPr id="8" name="Odstavec – Navrhované řešení"/>
          <p:cNvSpPr>
            <a:spLocks noGrp="1"/>
          </p:cNvSpPr>
          <p:nvPr>
            <p:ph type="body" idx="103" hasCustomPrompt="1"/>
          </p:nvPr>
        </p:nvSpPr>
        <p:spPr>
          <a:xfrm>
            <a:off x="4686300" y="1748295"/>
            <a:ext cx="3586543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Navrhované řešení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Doporučujeme komunikovat produkty podle investičního horizontu, ne podle typu aktiva. Klient si zvolí, kdy bude peníze potřebovat, a my mu nabídneme vhodnou kombinaci rezervy, dluhopisů a akcií.</a:t>
            </a:r>
          </a:p>
        </p:txBody>
      </p:sp>
      <p:sp>
        <p:nvSpPr>
          <p:cNvPr id="9" name="Odstavec – Další kroky"/>
          <p:cNvSpPr>
            <a:spLocks noGrp="1"/>
          </p:cNvSpPr>
          <p:nvPr>
            <p:ph type="body" idx="104" hasCustomPrompt="1"/>
          </p:nvPr>
        </p:nvSpPr>
        <p:spPr>
          <a:xfrm>
            <a:off x="4686300" y="3030995"/>
            <a:ext cx="3586543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Další kroky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 konce kvartálu připravíme úpravu webu a registrační cesty, otestujeme nové texty na vybraném vzorku klientů a výsledky vyhodnotíme společně s produktovým týmem.</a:t>
            </a:r>
          </a:p>
        </p:txBody>
      </p:sp>
      <p:sp>
        <p:nvSpPr>
          <p:cNvPr id="10" name="Odstavec – Co od vás potřebujeme"/>
          <p:cNvSpPr>
            <a:spLocks noGrp="1"/>
          </p:cNvSpPr>
          <p:nvPr>
            <p:ph type="body" idx="105" hasCustomPrompt="1"/>
          </p:nvPr>
        </p:nvSpPr>
        <p:spPr>
          <a:xfrm>
            <a:off x="4686300" y="4313695"/>
            <a:ext cx="3586543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od vás potřebujeme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Zpětnou vazbu na navržené texty do konce měsíce, kapacitu vývoje na úpravu registrace a souhlas compliance s novou podobou produktových stránek.</a:t>
            </a:r>
          </a:p>
        </p:txBody>
      </p:sp>
      <p:sp>
        <p:nvSpPr>
          <p:cNvPr id="11" name="Štítek"/>
          <p:cNvSpPr>
            <a:spLocks noGrp="1"/>
          </p:cNvSpPr>
          <p:nvPr>
            <p:ph type="body" idx="106" hasCustomPrompt="1"/>
          </p:nvPr>
        </p:nvSpPr>
        <p:spPr>
          <a:xfrm>
            <a:off x="8940800" y="939800"/>
            <a:ext cx="2271776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VE ZKRATCE</a:t>
            </a:r>
          </a:p>
        </p:txBody>
      </p:sp>
      <p:sp>
        <p:nvSpPr>
          <p:cNvPr id="12" name="Číslo"/>
          <p:cNvSpPr>
            <a:spLocks noGrp="1"/>
          </p:cNvSpPr>
          <p:nvPr>
            <p:ph type="body" idx="107" hasCustomPrompt="1"/>
          </p:nvPr>
        </p:nvSpPr>
        <p:spPr>
          <a:xfrm>
            <a:off x="8940800" y="1227595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13" name="Text"/>
          <p:cNvSpPr>
            <a:spLocks noGrp="1"/>
          </p:cNvSpPr>
          <p:nvPr>
            <p:ph type="body" idx="108" hasCustomPrompt="1"/>
          </p:nvPr>
        </p:nvSpPr>
        <p:spPr>
          <a:xfrm>
            <a:off x="9124950" y="1227595"/>
            <a:ext cx="2010251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Klienti srovnávají se spořicím účtem</a:t>
            </a:r>
          </a:p>
        </p:txBody>
      </p:sp>
      <p:sp>
        <p:nvSpPr>
          <p:cNvPr id="14" name="Číslo"/>
          <p:cNvSpPr>
            <a:spLocks noGrp="1"/>
          </p:cNvSpPr>
          <p:nvPr>
            <p:ph type="body" idx="109" hasCustomPrompt="1"/>
          </p:nvPr>
        </p:nvSpPr>
        <p:spPr>
          <a:xfrm>
            <a:off x="8940800" y="1735595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15" name="Text"/>
          <p:cNvSpPr>
            <a:spLocks noGrp="1"/>
          </p:cNvSpPr>
          <p:nvPr>
            <p:ph type="body" idx="110" hasCustomPrompt="1"/>
          </p:nvPr>
        </p:nvSpPr>
        <p:spPr>
          <a:xfrm>
            <a:off x="9124950" y="1735595"/>
            <a:ext cx="2010251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Rozhoduje jednoduchost a likvidita</a:t>
            </a:r>
          </a:p>
        </p:txBody>
      </p:sp>
      <p:sp>
        <p:nvSpPr>
          <p:cNvPr id="16" name="Číslo"/>
          <p:cNvSpPr>
            <a:spLocks noGrp="1"/>
          </p:cNvSpPr>
          <p:nvPr>
            <p:ph type="body" idx="111" hasCustomPrompt="1"/>
          </p:nvPr>
        </p:nvSpPr>
        <p:spPr>
          <a:xfrm>
            <a:off x="8940800" y="2243595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7" name="Text"/>
          <p:cNvSpPr>
            <a:spLocks noGrp="1"/>
          </p:cNvSpPr>
          <p:nvPr>
            <p:ph type="body" idx="112" hasCustomPrompt="1"/>
          </p:nvPr>
        </p:nvSpPr>
        <p:spPr>
          <a:xfrm>
            <a:off x="9124950" y="2243595"/>
            <a:ext cx="2010251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Nabídku stavíme podle horizontu</a:t>
            </a:r>
          </a:p>
        </p:txBody>
      </p:sp>
      <p:sp>
        <p:nvSpPr>
          <p:cNvPr id="18" name="Číslo"/>
          <p:cNvSpPr>
            <a:spLocks noGrp="1"/>
          </p:cNvSpPr>
          <p:nvPr>
            <p:ph type="body" idx="113" hasCustomPrompt="1"/>
          </p:nvPr>
        </p:nvSpPr>
        <p:spPr>
          <a:xfrm>
            <a:off x="8940800" y="2751595"/>
            <a:ext cx="95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19" name="Text"/>
          <p:cNvSpPr>
            <a:spLocks noGrp="1"/>
          </p:cNvSpPr>
          <p:nvPr>
            <p:ph type="body" idx="114" hasCustomPrompt="1"/>
          </p:nvPr>
        </p:nvSpPr>
        <p:spPr>
          <a:xfrm>
            <a:off x="9124950" y="2751595"/>
            <a:ext cx="2010251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Výsledky testu do konce kvartálu</a:t>
            </a:r>
          </a:p>
        </p:txBody>
      </p:sp>
      <p:sp>
        <p:nvSpPr>
          <p:cNvPr id="20" name="Zdroj"/>
          <p:cNvSpPr>
            <a:spLocks noGrp="1"/>
          </p:cNvSpPr>
          <p:nvPr>
            <p:ph type="body" idx="115" hasCustomPrompt="1"/>
          </p:nvPr>
        </p:nvSpPr>
        <p:spPr>
          <a:xfrm>
            <a:off x="762000" y="5692242"/>
            <a:ext cx="779272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Zdroj: interní data Portu, klientský výzkum (MM/RRRR). Detailní čísla najdete v příloze. Více na </a:t>
            </a:r>
            <a:r>
              <a:rPr lang="cs-CZ" sz="800" b="0" u="sng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  <a:hlinkClick r:id="rId2"/>
              </a:rPr>
              <a:t>portu.cz</a:t>
            </a:r>
            <a:endParaRPr lang="cs-CZ" sz="800" b="0" kern="0" cap="none" spc="0" dirty="0">
              <a:solidFill>
                <a:schemeClr val="accent6"/>
              </a:solidFill>
              <a:latin typeface="Rethink Sans"/>
              <a:ea typeface="Rethink Sans"/>
              <a:cs typeface="Rethink Sans"/>
            </a:endParaRPr>
          </a:p>
        </p:txBody>
      </p:sp>
      <p:pic>
        <p:nvPicPr>
          <p:cNvPr id="21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22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dyž je potřeba víc vysvětlit (2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1303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PODROBNĚ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792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Když je potřeba víc vysvětlit</a:t>
            </a:r>
          </a:p>
        </p:txBody>
      </p:sp>
      <p:sp>
        <p:nvSpPr>
          <p:cNvPr id="5" name="Odrážky"/>
          <p:cNvSpPr>
            <a:spLocks noGrp="1"/>
          </p:cNvSpPr>
          <p:nvPr>
            <p:ph type="body" idx="100" hasCustomPrompt="1"/>
          </p:nvPr>
        </p:nvSpPr>
        <p:spPr>
          <a:xfrm>
            <a:off x="762000" y="1790230"/>
            <a:ext cx="5009674" cy="337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První hlavní bod – jedna myšlenka na jeden řádek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Druhý hlavní bod, klidně o něco delší, když je potřeba něco vysvětlit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Třetí hlavní bod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Čtvrtý hlavní bod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 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 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</p:txBody>
      </p:sp>
      <p:sp>
        <p:nvSpPr>
          <p:cNvPr id="6" name="Odrážky"/>
          <p:cNvSpPr>
            <a:spLocks noGrp="1"/>
          </p:cNvSpPr>
          <p:nvPr>
            <p:ph type="body" idx="101" hasCustomPrompt="1"/>
          </p:nvPr>
        </p:nvSpPr>
        <p:spPr>
          <a:xfrm>
            <a:off x="6254750" y="1790230"/>
            <a:ext cx="5009674" cy="337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První hlavní bod – jedna myšlenka na jeden řádek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Druhý hlavní bod, klidně o něco delší, když je potřeba něco vysvětlit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Třetí hlavní bod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Čtvrtý hlavní bod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 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 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skupiny bodů v mříž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1811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TÉMA SLIDU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792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Čtyři skupiny bodů v mřížce</a:t>
            </a:r>
          </a:p>
        </p:txBody>
      </p:sp>
      <p:sp>
        <p:nvSpPr>
          <p:cNvPr id="5" name="Sloupec – Co funguje"/>
          <p:cNvSpPr>
            <a:spLocks noGrp="1"/>
          </p:cNvSpPr>
          <p:nvPr>
            <p:ph type="body" idx="100" hasCustomPrompt="1"/>
          </p:nvPr>
        </p:nvSpPr>
        <p:spPr>
          <a:xfrm>
            <a:off x="762000" y="1689100"/>
            <a:ext cx="51054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Co funguje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Klienti oceňují jednoduchost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Rostoucí počet pravidelných vkladů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Silná pozice v mobilní aplikaci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Nízká míra odchodů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Dobré hodnocení na storech</a:t>
            </a:r>
          </a:p>
        </p:txBody>
      </p:sp>
      <p:sp>
        <p:nvSpPr>
          <p:cNvPr id="6" name="Sloupec – Co zlepšit"/>
          <p:cNvSpPr>
            <a:spLocks noGrp="1"/>
          </p:cNvSpPr>
          <p:nvPr>
            <p:ph type="body" idx="101" hasCustomPrompt="1"/>
          </p:nvPr>
        </p:nvSpPr>
        <p:spPr>
          <a:xfrm>
            <a:off x="6350000" y="1689100"/>
            <a:ext cx="51054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Co zlepšit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Delší registrace u nových klientů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Nízké povědomí o DIP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Komunikace poplatků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Onboarding firemních klientů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Propojení s partnery</a:t>
            </a:r>
          </a:p>
        </p:txBody>
      </p:sp>
      <p:sp>
        <p:nvSpPr>
          <p:cNvPr id="7" name="Sloupec – Příležitosti"/>
          <p:cNvSpPr>
            <a:spLocks noGrp="1"/>
          </p:cNvSpPr>
          <p:nvPr>
            <p:ph type="body" idx="102" hasCustomPrompt="1"/>
          </p:nvPr>
        </p:nvSpPr>
        <p:spPr>
          <a:xfrm>
            <a:off x="762000" y="3695700"/>
            <a:ext cx="5105400" cy="13589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Příležitosti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Firemní klienti a zaměstnanecké benefity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Spolupráce s bankami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Nové investiční strategie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Vzdělávací obsah</a:t>
            </a:r>
          </a:p>
        </p:txBody>
      </p:sp>
      <p:sp>
        <p:nvSpPr>
          <p:cNvPr id="8" name="Sloupec – Rizika"/>
          <p:cNvSpPr>
            <a:spLocks noGrp="1"/>
          </p:cNvSpPr>
          <p:nvPr>
            <p:ph type="body" idx="103" hasCustomPrompt="1"/>
          </p:nvPr>
        </p:nvSpPr>
        <p:spPr>
          <a:xfrm>
            <a:off x="6350000" y="3695700"/>
            <a:ext cx="5105400" cy="13589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Rizika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Volatilita trhů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Regulatorní změny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Tlak konkurence na poplatky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Závislost na partnerech</a:t>
            </a:r>
          </a:p>
        </p:txBody>
      </p:sp>
      <p:pic>
        <p:nvPicPr>
          <p:cNvPr id="9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0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ě varianty vedle seb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5556250" y="635000"/>
            <a:ext cx="10795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SROVNÁNÍ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54864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Dvě varianty vedle sebe</a:t>
            </a:r>
          </a:p>
        </p:txBody>
      </p:sp>
      <p:sp>
        <p:nvSpPr>
          <p:cNvPr id="5" name="Nadpis karty"/>
          <p:cNvSpPr>
            <a:spLocks noGrp="1"/>
          </p:cNvSpPr>
          <p:nvPr>
            <p:ph type="body" idx="100" hasCustomPrompt="1"/>
          </p:nvPr>
        </p:nvSpPr>
        <p:spPr>
          <a:xfrm>
            <a:off x="1066800" y="2199145"/>
            <a:ext cx="4807712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Pro většinu z vás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Varianta A</a:t>
            </a:r>
          </a:p>
        </p:txBody>
      </p:sp>
      <p:sp>
        <p:nvSpPr>
          <p:cNvPr id="6" name="Popis"/>
          <p:cNvSpPr>
            <a:spLocks noGrp="1"/>
          </p:cNvSpPr>
          <p:nvPr>
            <p:ph type="body" idx="101" hasCustomPrompt="1"/>
          </p:nvPr>
        </p:nvSpPr>
        <p:spPr>
          <a:xfrm>
            <a:off x="1066800" y="2973845"/>
            <a:ext cx="480771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Krátký popis varianty – pro koho je a proč ji zvolit.</a:t>
            </a:r>
          </a:p>
        </p:txBody>
      </p:sp>
      <p:sp>
        <p:nvSpPr>
          <p:cNvPr id="7" name="Text"/>
          <p:cNvSpPr>
            <a:spLocks noGrp="1"/>
          </p:cNvSpPr>
          <p:nvPr>
            <p:ph type="body" idx="102" hasCustomPrompt="1"/>
          </p:nvPr>
        </p:nvSpPr>
        <p:spPr>
          <a:xfrm>
            <a:off x="1447800" y="3333280"/>
            <a:ext cx="441147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První výhoda varianty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3" hasCustomPrompt="1"/>
          </p:nvPr>
        </p:nvSpPr>
        <p:spPr>
          <a:xfrm>
            <a:off x="1447800" y="3688880"/>
            <a:ext cx="441147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Druhá výhoda varianty</a:t>
            </a:r>
          </a:p>
        </p:txBody>
      </p:sp>
      <p:sp>
        <p:nvSpPr>
          <p:cNvPr id="9" name="Text"/>
          <p:cNvSpPr>
            <a:spLocks noGrp="1"/>
          </p:cNvSpPr>
          <p:nvPr>
            <p:ph type="body" idx="104" hasCustomPrompt="1"/>
          </p:nvPr>
        </p:nvSpPr>
        <p:spPr>
          <a:xfrm>
            <a:off x="1447800" y="4044480"/>
            <a:ext cx="441147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Třetí výhoda varianty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5" hasCustomPrompt="1"/>
          </p:nvPr>
        </p:nvSpPr>
        <p:spPr>
          <a:xfrm>
            <a:off x="1447800" y="4400080"/>
            <a:ext cx="441147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Čtvrtá výhoda varianty</a:t>
            </a:r>
          </a:p>
        </p:txBody>
      </p:sp>
      <p:sp>
        <p:nvSpPr>
          <p:cNvPr id="11" name="Nadpis karty"/>
          <p:cNvSpPr>
            <a:spLocks noGrp="1"/>
          </p:cNvSpPr>
          <p:nvPr>
            <p:ph type="body" idx="106" hasCustomPrompt="1"/>
          </p:nvPr>
        </p:nvSpPr>
        <p:spPr>
          <a:xfrm>
            <a:off x="6515100" y="2211845"/>
            <a:ext cx="4781296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Pro zkušenější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Varianta B</a:t>
            </a:r>
          </a:p>
        </p:txBody>
      </p:sp>
      <p:sp>
        <p:nvSpPr>
          <p:cNvPr id="12" name="Popis"/>
          <p:cNvSpPr>
            <a:spLocks noGrp="1"/>
          </p:cNvSpPr>
          <p:nvPr>
            <p:ph type="body" idx="107" hasCustomPrompt="1"/>
          </p:nvPr>
        </p:nvSpPr>
        <p:spPr>
          <a:xfrm>
            <a:off x="6515100" y="2986545"/>
            <a:ext cx="4781296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Krátký popis varianty – pro koho je a proč ji zvolit.</a:t>
            </a:r>
          </a:p>
        </p:txBody>
      </p:sp>
      <p:sp>
        <p:nvSpPr>
          <p:cNvPr id="13" name="Text"/>
          <p:cNvSpPr>
            <a:spLocks noGrp="1"/>
          </p:cNvSpPr>
          <p:nvPr>
            <p:ph type="body" idx="108" hasCustomPrompt="1"/>
          </p:nvPr>
        </p:nvSpPr>
        <p:spPr>
          <a:xfrm>
            <a:off x="6896100" y="3345980"/>
            <a:ext cx="4385056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První výhoda varianty</a:t>
            </a:r>
          </a:p>
        </p:txBody>
      </p:sp>
      <p:sp>
        <p:nvSpPr>
          <p:cNvPr id="14" name="Text"/>
          <p:cNvSpPr>
            <a:spLocks noGrp="1"/>
          </p:cNvSpPr>
          <p:nvPr>
            <p:ph type="body" idx="109" hasCustomPrompt="1"/>
          </p:nvPr>
        </p:nvSpPr>
        <p:spPr>
          <a:xfrm>
            <a:off x="6896100" y="3701580"/>
            <a:ext cx="4385056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Druhá výhoda varianty</a:t>
            </a:r>
          </a:p>
        </p:txBody>
      </p:sp>
      <p:sp>
        <p:nvSpPr>
          <p:cNvPr id="15" name="Text"/>
          <p:cNvSpPr>
            <a:spLocks noGrp="1"/>
          </p:cNvSpPr>
          <p:nvPr>
            <p:ph type="body" idx="110" hasCustomPrompt="1"/>
          </p:nvPr>
        </p:nvSpPr>
        <p:spPr>
          <a:xfrm>
            <a:off x="6896100" y="4057180"/>
            <a:ext cx="4385056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Třetí výhoda varianty</a:t>
            </a:r>
          </a:p>
        </p:txBody>
      </p:sp>
      <p:sp>
        <p:nvSpPr>
          <p:cNvPr id="16" name="Text"/>
          <p:cNvSpPr>
            <a:spLocks noGrp="1"/>
          </p:cNvSpPr>
          <p:nvPr>
            <p:ph type="body" idx="111" hasCustomPrompt="1"/>
          </p:nvPr>
        </p:nvSpPr>
        <p:spPr>
          <a:xfrm>
            <a:off x="6896100" y="4412780"/>
            <a:ext cx="4385056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Čtvrtá výhoda varianty</a:t>
            </a:r>
          </a:p>
        </p:txBody>
      </p:sp>
      <p:pic>
        <p:nvPicPr>
          <p:cNvPr id="1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rianta A, nebo varianta B?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5556250" y="635000"/>
            <a:ext cx="10795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SROVNÁNÍ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54864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Varianta A, nebo varianta B?</a:t>
            </a:r>
          </a:p>
        </p:txBody>
      </p:sp>
      <p:sp>
        <p:nvSpPr>
          <p:cNvPr id="5" name="Obrázek – Varianta A"/>
          <p:cNvSpPr>
            <a:spLocks noGrp="1"/>
          </p:cNvSpPr>
          <p:nvPr>
            <p:ph type="pic" idx="20" hasCustomPrompt="1"/>
          </p:nvPr>
        </p:nvSpPr>
        <p:spPr>
          <a:xfrm>
            <a:off x="762000" y="1905000"/>
            <a:ext cx="5181600" cy="3048000"/>
          </a:xfrm>
          <a:prstGeom prst="roundRect">
            <a:avLst>
              <a:gd name="adj" fmla="val 5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square" lIns="152400" tIns="152400" rIns="152400" bIns="152400" rtlCol="0" anchor="ctr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Klikněte na ikonu a vložte obrázek</a:t>
            </a:r>
          </a:p>
        </p:txBody>
      </p:sp>
      <p:sp>
        <p:nvSpPr>
          <p:cNvPr id="6" name="Štítek"/>
          <p:cNvSpPr>
            <a:spLocks noGrp="1"/>
          </p:cNvSpPr>
          <p:nvPr>
            <p:ph type="body" idx="100" hasCustomPrompt="1"/>
          </p:nvPr>
        </p:nvSpPr>
        <p:spPr>
          <a:xfrm>
            <a:off x="762000" y="5080000"/>
            <a:ext cx="469900" cy="2921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A</a:t>
            </a:r>
          </a:p>
        </p:txBody>
      </p:sp>
      <p:sp>
        <p:nvSpPr>
          <p:cNvPr id="7" name="Název varianty"/>
          <p:cNvSpPr>
            <a:spLocks noGrp="1"/>
          </p:cNvSpPr>
          <p:nvPr>
            <p:ph type="body" idx="101" hasCustomPrompt="1"/>
          </p:nvPr>
        </p:nvSpPr>
        <p:spPr>
          <a:xfrm>
            <a:off x="1231900" y="5092700"/>
            <a:ext cx="104013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Varianta A</a:t>
            </a:r>
          </a:p>
        </p:txBody>
      </p:sp>
      <p:sp>
        <p:nvSpPr>
          <p:cNvPr id="8" name="Popis"/>
          <p:cNvSpPr>
            <a:spLocks noGrp="1"/>
          </p:cNvSpPr>
          <p:nvPr>
            <p:ph type="body" idx="102" hasCustomPrompt="1"/>
          </p:nvPr>
        </p:nvSpPr>
        <p:spPr>
          <a:xfrm>
            <a:off x="762000" y="5412245"/>
            <a:ext cx="5388864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Krátký popis první varianty – co je na obrázku a v čem je jiná.</a:t>
            </a:r>
          </a:p>
        </p:txBody>
      </p:sp>
      <p:sp>
        <p:nvSpPr>
          <p:cNvPr id="9" name="Obrázek – Varianta B"/>
          <p:cNvSpPr>
            <a:spLocks noGrp="1"/>
          </p:cNvSpPr>
          <p:nvPr>
            <p:ph type="pic" idx="21" hasCustomPrompt="1"/>
          </p:nvPr>
        </p:nvSpPr>
        <p:spPr>
          <a:xfrm>
            <a:off x="6248400" y="1905000"/>
            <a:ext cx="5181600" cy="3048000"/>
          </a:xfrm>
          <a:prstGeom prst="roundRect">
            <a:avLst>
              <a:gd name="adj" fmla="val 5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square" lIns="152400" tIns="152400" rIns="152400" bIns="152400" rtlCol="0" anchor="ctr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Klikněte na ikonu a vložte obrázek</a:t>
            </a:r>
          </a:p>
        </p:txBody>
      </p:sp>
      <p:sp>
        <p:nvSpPr>
          <p:cNvPr id="10" name="Štítek"/>
          <p:cNvSpPr>
            <a:spLocks noGrp="1"/>
          </p:cNvSpPr>
          <p:nvPr>
            <p:ph type="body" idx="103" hasCustomPrompt="1"/>
          </p:nvPr>
        </p:nvSpPr>
        <p:spPr>
          <a:xfrm>
            <a:off x="6248400" y="5080000"/>
            <a:ext cx="4635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B</a:t>
            </a:r>
          </a:p>
        </p:txBody>
      </p:sp>
      <p:sp>
        <p:nvSpPr>
          <p:cNvPr id="11" name="Název varianty"/>
          <p:cNvSpPr>
            <a:spLocks noGrp="1"/>
          </p:cNvSpPr>
          <p:nvPr>
            <p:ph type="body" idx="104" hasCustomPrompt="1"/>
          </p:nvPr>
        </p:nvSpPr>
        <p:spPr>
          <a:xfrm>
            <a:off x="6711950" y="5092700"/>
            <a:ext cx="102679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Varianta B</a:t>
            </a:r>
          </a:p>
        </p:txBody>
      </p:sp>
      <p:sp>
        <p:nvSpPr>
          <p:cNvPr id="12" name="Popis"/>
          <p:cNvSpPr>
            <a:spLocks noGrp="1"/>
          </p:cNvSpPr>
          <p:nvPr>
            <p:ph type="body" idx="105" hasCustomPrompt="1"/>
          </p:nvPr>
        </p:nvSpPr>
        <p:spPr>
          <a:xfrm>
            <a:off x="6248400" y="5412245"/>
            <a:ext cx="5388864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Krátký popis druhé varianty – co je na obrázku a v čem je jiná.</a:t>
            </a:r>
          </a:p>
        </p:txBody>
      </p:sp>
      <p:sp>
        <p:nvSpPr>
          <p:cNvPr id="13" name="VS"/>
          <p:cNvSpPr>
            <a:spLocks noGrp="1"/>
          </p:cNvSpPr>
          <p:nvPr>
            <p:ph type="body" idx="106" hasCustomPrompt="1"/>
          </p:nvPr>
        </p:nvSpPr>
        <p:spPr>
          <a:xfrm>
            <a:off x="5842000" y="3170695"/>
            <a:ext cx="508000" cy="508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50800">
            <a:solidFill>
              <a:schemeClr val="bg1"/>
            </a:solidFill>
            <a:round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vs</a:t>
            </a:r>
          </a:p>
        </p:txBody>
      </p:sp>
      <p:pic>
        <p:nvPicPr>
          <p:cNvPr id="1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5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karty vedle seb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5049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NAŠE PRODUKTY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Tři karty vedle sebe</a:t>
            </a:r>
          </a:p>
        </p:txBody>
      </p:sp>
      <p:sp>
        <p:nvSpPr>
          <p:cNvPr id="5" name="Nadtitulek"/>
          <p:cNvSpPr>
            <a:spLocks noGrp="1"/>
          </p:cNvSpPr>
          <p:nvPr>
            <p:ph type="body" idx="100" hasCustomPrompt="1"/>
          </p:nvPr>
        </p:nvSpPr>
        <p:spPr>
          <a:xfrm>
            <a:off x="1079500" y="2656345"/>
            <a:ext cx="28925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První volba klientů</a:t>
            </a:r>
          </a:p>
        </p:txBody>
      </p:sp>
      <p:sp>
        <p:nvSpPr>
          <p:cNvPr id="6" name="Název"/>
          <p:cNvSpPr>
            <a:spLocks noGrp="1"/>
          </p:cNvSpPr>
          <p:nvPr>
            <p:ph type="body" idx="101" hasCustomPrompt="1"/>
          </p:nvPr>
        </p:nvSpPr>
        <p:spPr>
          <a:xfrm>
            <a:off x="1079500" y="2946400"/>
            <a:ext cx="289255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Portfolio od Portu</a:t>
            </a:r>
          </a:p>
        </p:txBody>
      </p:sp>
      <p:sp>
        <p:nvSpPr>
          <p:cNvPr id="7" name="Popis"/>
          <p:cNvSpPr>
            <a:spLocks noGrp="1"/>
          </p:cNvSpPr>
          <p:nvPr>
            <p:ph type="body" idx="102" hasCustomPrompt="1"/>
          </p:nvPr>
        </p:nvSpPr>
        <p:spPr>
          <a:xfrm>
            <a:off x="1079500" y="3456445"/>
            <a:ext cx="2795206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Portfolio vám poskládáme a hlídáme automaticky – vy jen zvolíte cíl a toleranci k riziku.</a:t>
            </a:r>
          </a:p>
        </p:txBody>
      </p:sp>
      <p:sp>
        <p:nvSpPr>
          <p:cNvPr id="8" name="Nadtitulek"/>
          <p:cNvSpPr>
            <a:spLocks noGrp="1"/>
          </p:cNvSpPr>
          <p:nvPr>
            <p:ph type="body" idx="103" hasCustomPrompt="1"/>
          </p:nvPr>
        </p:nvSpPr>
        <p:spPr>
          <a:xfrm>
            <a:off x="4699000" y="2656345"/>
            <a:ext cx="28925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Finanční polštář</a:t>
            </a:r>
          </a:p>
        </p:txBody>
      </p:sp>
      <p:sp>
        <p:nvSpPr>
          <p:cNvPr id="9" name="Název"/>
          <p:cNvSpPr>
            <a:spLocks noGrp="1"/>
          </p:cNvSpPr>
          <p:nvPr>
            <p:ph type="body" idx="104" hasCustomPrompt="1"/>
          </p:nvPr>
        </p:nvSpPr>
        <p:spPr>
          <a:xfrm>
            <a:off x="4699000" y="2946400"/>
            <a:ext cx="289255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Investiční rezerva</a:t>
            </a:r>
          </a:p>
        </p:txBody>
      </p:sp>
      <p:sp>
        <p:nvSpPr>
          <p:cNvPr id="10" name="Popis"/>
          <p:cNvSpPr>
            <a:spLocks noGrp="1"/>
          </p:cNvSpPr>
          <p:nvPr>
            <p:ph type="body" idx="105" hasCustomPrompt="1"/>
          </p:nvPr>
        </p:nvSpPr>
        <p:spPr>
          <a:xfrm>
            <a:off x="4699000" y="3456445"/>
            <a:ext cx="2795206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Alternativa spořicího účtu. Peníze se zhodnocují a máte je kdykoli k dispozici.</a:t>
            </a:r>
          </a:p>
        </p:txBody>
      </p:sp>
      <p:sp>
        <p:nvSpPr>
          <p:cNvPr id="11" name="Nadtitulek"/>
          <p:cNvSpPr>
            <a:spLocks noGrp="1"/>
          </p:cNvSpPr>
          <p:nvPr>
            <p:ph type="body" idx="106" hasCustomPrompt="1"/>
          </p:nvPr>
        </p:nvSpPr>
        <p:spPr>
          <a:xfrm>
            <a:off x="8318500" y="2656345"/>
            <a:ext cx="28925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Stabilní nemovitosti</a:t>
            </a:r>
          </a:p>
        </p:txBody>
      </p:sp>
      <p:sp>
        <p:nvSpPr>
          <p:cNvPr id="12" name="Název"/>
          <p:cNvSpPr>
            <a:spLocks noGrp="1"/>
          </p:cNvSpPr>
          <p:nvPr>
            <p:ph type="body" idx="107" hasCustomPrompt="1"/>
          </p:nvPr>
        </p:nvSpPr>
        <p:spPr>
          <a:xfrm>
            <a:off x="8318500" y="2946400"/>
            <a:ext cx="289255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Investice do realit</a:t>
            </a:r>
          </a:p>
        </p:txBody>
      </p:sp>
      <p:sp>
        <p:nvSpPr>
          <p:cNvPr id="13" name="Popis"/>
          <p:cNvSpPr>
            <a:spLocks noGrp="1"/>
          </p:cNvSpPr>
          <p:nvPr>
            <p:ph type="body" idx="108" hasCustomPrompt="1"/>
          </p:nvPr>
        </p:nvSpPr>
        <p:spPr>
          <a:xfrm>
            <a:off x="8318500" y="3456445"/>
            <a:ext cx="2795206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Podílejte se na nájmu z nemovitostí bez starostí o nájemníky a správu budov.</a:t>
            </a:r>
          </a:p>
        </p:txBody>
      </p:sp>
      <p:pic>
        <p:nvPicPr>
          <p:cNvPr id="1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5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líčová čísla na jednom místě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587500" cy="2921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PORTU V ČÍSLECH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Klíčová čísla na jednom místě</a:t>
            </a:r>
          </a:p>
        </p:txBody>
      </p:sp>
      <p:sp>
        <p:nvSpPr>
          <p:cNvPr id="5" name="Číslo 1"/>
          <p:cNvSpPr>
            <a:spLocks noGrp="1"/>
          </p:cNvSpPr>
          <p:nvPr>
            <p:ph type="body" idx="100" hasCustomPrompt="1"/>
          </p:nvPr>
        </p:nvSpPr>
        <p:spPr>
          <a:xfrm>
            <a:off x="762000" y="2857500"/>
            <a:ext cx="3447288" cy="1054100"/>
          </a:xfrm>
          <a:prstGeom prst="rect">
            <a:avLst/>
          </a:prstGeom>
          <a:noFill/>
          <a:ln>
            <a:noFill/>
          </a:ln>
        </p:spPr>
        <p:txBody>
          <a:bodyPr wrap="square" lIns="0" tIns="142850" rIns="304800" bIns="50800" rtlCol="0" anchor="t" anchorCtr="0">
            <a:noAutofit/>
          </a:bodyPr>
          <a:lstStyle>
            <a:lvl1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  <a:defRPr sz="4800" b="1" kern="0" cap="none" spc="-10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340 000+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klientů svěřilo Portu své peníze</a:t>
            </a:r>
          </a:p>
        </p:txBody>
      </p:sp>
      <p:sp>
        <p:nvSpPr>
          <p:cNvPr id="6" name="Číslo 2"/>
          <p:cNvSpPr>
            <a:spLocks noGrp="1"/>
          </p:cNvSpPr>
          <p:nvPr>
            <p:ph type="body" idx="101" hasCustomPrompt="1"/>
          </p:nvPr>
        </p:nvSpPr>
        <p:spPr>
          <a:xfrm>
            <a:off x="4076700" y="2857500"/>
            <a:ext cx="3823716" cy="1054100"/>
          </a:xfrm>
          <a:prstGeom prst="rect">
            <a:avLst/>
          </a:prstGeom>
          <a:noFill/>
          <a:ln>
            <a:noFill/>
          </a:ln>
        </p:spPr>
        <p:txBody>
          <a:bodyPr wrap="square" lIns="355600" tIns="142850" rIns="304800" bIns="50800" rtlCol="0" anchor="t" anchorCtr="0">
            <a:noAutofit/>
          </a:bodyPr>
          <a:lstStyle>
            <a:lvl1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  <a:defRPr sz="4800" b="1" kern="0" cap="none" spc="-10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73 mld. Kč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spravovaného majetku klientů</a:t>
            </a:r>
          </a:p>
        </p:txBody>
      </p:sp>
      <p:sp>
        <p:nvSpPr>
          <p:cNvPr id="7" name="Číslo 3"/>
          <p:cNvSpPr>
            <a:spLocks noGrp="1"/>
          </p:cNvSpPr>
          <p:nvPr>
            <p:ph type="body" idx="102" hasCustomPrompt="1"/>
          </p:nvPr>
        </p:nvSpPr>
        <p:spPr>
          <a:xfrm>
            <a:off x="7753350" y="2857500"/>
            <a:ext cx="3695033" cy="1295400"/>
          </a:xfrm>
          <a:prstGeom prst="rect">
            <a:avLst/>
          </a:prstGeom>
          <a:noFill/>
          <a:ln>
            <a:noFill/>
          </a:ln>
        </p:spPr>
        <p:txBody>
          <a:bodyPr wrap="square" lIns="355600" tIns="142850" rIns="304800" bIns="50800" rtlCol="0" anchor="t" anchorCtr="0">
            <a:noAutofit/>
          </a:bodyPr>
          <a:lstStyle>
            <a:lvl1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  <a:defRPr sz="4800" b="1" kern="0" cap="none" spc="-10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10,04 %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průměrný roční výnos růstového portfolia za 10 let</a:t>
            </a:r>
          </a:p>
        </p:txBody>
      </p:sp>
      <p:sp>
        <p:nvSpPr>
          <p:cNvPr id="8" name="Zdroj a upozornění"/>
          <p:cNvSpPr>
            <a:spLocks noGrp="1"/>
          </p:cNvSpPr>
          <p:nvPr>
            <p:ph type="body" idx="103" hasCustomPrompt="1"/>
          </p:nvPr>
        </p:nvSpPr>
        <p:spPr>
          <a:xfrm>
            <a:off x="762000" y="5577942"/>
            <a:ext cx="7924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Údaje k datu DD. MM. RRRR – před použitím ověřte aktuální čísla. Minulé výnosy nejsou zárukou budoucích výnosů.</a:t>
            </a:r>
          </a:p>
        </p:txBody>
      </p:sp>
      <p:pic>
        <p:nvPicPr>
          <p:cNvPr id="9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0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dno číslo, které si publikum zapamatuj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524000"/>
            <a:ext cx="14732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HLAVNÍ SDĚLENÍ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968500"/>
            <a:ext cx="4977765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Jedno číslo, které si publikum zapamatuje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3072930"/>
            <a:ext cx="4977765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Vysvětlete, co číslo znamená, odkud pochází a proč je pro posluchače důležité.</a:t>
            </a:r>
          </a:p>
        </p:txBody>
      </p:sp>
      <p:sp>
        <p:nvSpPr>
          <p:cNvPr id="6" name="Číslo a popis"/>
          <p:cNvSpPr>
            <a:spLocks noGrp="1"/>
          </p:cNvSpPr>
          <p:nvPr>
            <p:ph type="body" idx="100" hasCustomPrompt="1"/>
          </p:nvPr>
        </p:nvSpPr>
        <p:spPr>
          <a:xfrm>
            <a:off x="6807200" y="3467100"/>
            <a:ext cx="4186428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217170" rIns="0" bIns="0" rtlCol="0" anchor="t" anchorCtr="0">
            <a:noAutofit/>
          </a:bodyPr>
          <a:lstStyle>
            <a:lvl1pPr marL="0" indent="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None/>
              <a:defRPr sz="10000" b="1" kern="0" cap="none" spc="-30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0" b="1" kern="0" cap="none" spc="-3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10,04 </a:t>
            </a: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%</a:t>
            </a:r>
            <a:endParaRPr lang="cs-CZ" sz="10000" b="1" kern="0" cap="none" spc="-300" dirty="0">
              <a:gradFill rotWithShape="1">
                <a:gsLst>
                  <a:gs pos="0">
                    <a:srgbClr val="D8FF15"/>
                  </a:gs>
                  <a:gs pos="100000">
                    <a:srgbClr val="05CB4B"/>
                  </a:gs>
                </a:gsLst>
                <a:lin ang="0" scaled="0"/>
              </a:gradFill>
              <a:latin typeface="Rethink Sans"/>
              <a:ea typeface="Rethink Sans"/>
              <a:cs typeface="Rethink Sans"/>
            </a:endParaRP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Průměrný roční výnos růstového portfolia za posledních 10 let včetně poplatků</a:t>
            </a:r>
          </a:p>
          <a:p>
            <a:pPr marL="0" indent="0" algn="l">
              <a:lnSpc>
                <a:spcPts val="1200"/>
              </a:lnSpc>
              <a:spcBef>
                <a:spcPts val="824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Minulé výnosy nejsou zárukou budoucích výnosů.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ak začít během pár min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5638800" y="1358900"/>
            <a:ext cx="9144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POSTUP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548640" y="18034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Jak začít během pár minut</a:t>
            </a:r>
          </a:p>
        </p:txBody>
      </p:sp>
      <p:sp>
        <p:nvSpPr>
          <p:cNvPr id="5" name="Číslo"/>
          <p:cNvSpPr>
            <a:spLocks noGrp="1"/>
          </p:cNvSpPr>
          <p:nvPr>
            <p:ph type="body" idx="100" hasCustomPrompt="1"/>
          </p:nvPr>
        </p:nvSpPr>
        <p:spPr>
          <a:xfrm>
            <a:off x="1866900" y="303530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6" name="Název kroku"/>
          <p:cNvSpPr>
            <a:spLocks noGrp="1"/>
          </p:cNvSpPr>
          <p:nvPr>
            <p:ph type="body" idx="101" hasCustomPrompt="1"/>
          </p:nvPr>
        </p:nvSpPr>
        <p:spPr>
          <a:xfrm>
            <a:off x="867156" y="3619500"/>
            <a:ext cx="245668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Registrace</a:t>
            </a:r>
          </a:p>
        </p:txBody>
      </p:sp>
      <p:sp>
        <p:nvSpPr>
          <p:cNvPr id="7" name="Popis kroku"/>
          <p:cNvSpPr>
            <a:spLocks noGrp="1"/>
          </p:cNvSpPr>
          <p:nvPr>
            <p:ph type="body" idx="102" hasCustomPrompt="1"/>
          </p:nvPr>
        </p:nvSpPr>
        <p:spPr>
          <a:xfrm>
            <a:off x="908494" y="4002545"/>
            <a:ext cx="2374011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Účet založíte online během pár minut.</a:t>
            </a:r>
          </a:p>
        </p:txBody>
      </p:sp>
      <p:sp>
        <p:nvSpPr>
          <p:cNvPr id="8" name="Číslo"/>
          <p:cNvSpPr>
            <a:spLocks noGrp="1"/>
          </p:cNvSpPr>
          <p:nvPr>
            <p:ph type="body" idx="103" hasCustomPrompt="1"/>
          </p:nvPr>
        </p:nvSpPr>
        <p:spPr>
          <a:xfrm>
            <a:off x="4533900" y="303530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9" name="Název kroku"/>
          <p:cNvSpPr>
            <a:spLocks noGrp="1"/>
          </p:cNvSpPr>
          <p:nvPr>
            <p:ph type="body" idx="104" hasCustomPrompt="1"/>
          </p:nvPr>
        </p:nvSpPr>
        <p:spPr>
          <a:xfrm>
            <a:off x="3534156" y="3619500"/>
            <a:ext cx="245668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Ověření totožnosti</a:t>
            </a:r>
          </a:p>
        </p:txBody>
      </p:sp>
      <p:sp>
        <p:nvSpPr>
          <p:cNvPr id="10" name="Popis kroku"/>
          <p:cNvSpPr>
            <a:spLocks noGrp="1"/>
          </p:cNvSpPr>
          <p:nvPr>
            <p:ph type="body" idx="105" hasCustomPrompt="1"/>
          </p:nvPr>
        </p:nvSpPr>
        <p:spPr>
          <a:xfrm>
            <a:off x="3575495" y="4002545"/>
            <a:ext cx="2374011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Přes bankovní identitu nebo doklady.</a:t>
            </a:r>
          </a:p>
        </p:txBody>
      </p:sp>
      <p:sp>
        <p:nvSpPr>
          <p:cNvPr id="11" name="Číslo"/>
          <p:cNvSpPr>
            <a:spLocks noGrp="1"/>
          </p:cNvSpPr>
          <p:nvPr>
            <p:ph type="body" idx="106" hasCustomPrompt="1"/>
          </p:nvPr>
        </p:nvSpPr>
        <p:spPr>
          <a:xfrm>
            <a:off x="7200900" y="303530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2" name="Název kroku"/>
          <p:cNvSpPr>
            <a:spLocks noGrp="1"/>
          </p:cNvSpPr>
          <p:nvPr>
            <p:ph type="body" idx="107" hasCustomPrompt="1"/>
          </p:nvPr>
        </p:nvSpPr>
        <p:spPr>
          <a:xfrm>
            <a:off x="6201156" y="3619500"/>
            <a:ext cx="245668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Nastavení strategie</a:t>
            </a:r>
          </a:p>
        </p:txBody>
      </p:sp>
      <p:sp>
        <p:nvSpPr>
          <p:cNvPr id="13" name="Popis kroku"/>
          <p:cNvSpPr>
            <a:spLocks noGrp="1"/>
          </p:cNvSpPr>
          <p:nvPr>
            <p:ph type="body" idx="108" hasCustomPrompt="1"/>
          </p:nvPr>
        </p:nvSpPr>
        <p:spPr>
          <a:xfrm>
            <a:off x="6242494" y="4002545"/>
            <a:ext cx="2374011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Zvolíte cíl, horizont a toleranci k riziku.</a:t>
            </a:r>
          </a:p>
        </p:txBody>
      </p:sp>
      <p:sp>
        <p:nvSpPr>
          <p:cNvPr id="14" name="Číslo"/>
          <p:cNvSpPr>
            <a:spLocks noGrp="1"/>
          </p:cNvSpPr>
          <p:nvPr>
            <p:ph type="body" idx="109" hasCustomPrompt="1"/>
          </p:nvPr>
        </p:nvSpPr>
        <p:spPr>
          <a:xfrm>
            <a:off x="9867900" y="303530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15" name="Název kroku"/>
          <p:cNvSpPr>
            <a:spLocks noGrp="1"/>
          </p:cNvSpPr>
          <p:nvPr>
            <p:ph type="body" idx="110" hasCustomPrompt="1"/>
          </p:nvPr>
        </p:nvSpPr>
        <p:spPr>
          <a:xfrm>
            <a:off x="8868156" y="3619500"/>
            <a:ext cx="245668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První vklad</a:t>
            </a:r>
          </a:p>
        </p:txBody>
      </p:sp>
      <p:sp>
        <p:nvSpPr>
          <p:cNvPr id="16" name="Popis kroku"/>
          <p:cNvSpPr>
            <a:spLocks noGrp="1"/>
          </p:cNvSpPr>
          <p:nvPr>
            <p:ph type="body" idx="111" hasCustomPrompt="1"/>
          </p:nvPr>
        </p:nvSpPr>
        <p:spPr>
          <a:xfrm>
            <a:off x="8909494" y="4002545"/>
            <a:ext cx="2374011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Pošlete peníze a o zbytek se postaráme.</a:t>
            </a:r>
          </a:p>
        </p:txBody>
      </p:sp>
      <p:pic>
        <p:nvPicPr>
          <p:cNvPr id="1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m s penězi na 3 až 8 l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8605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SROVNÁNÍ PRODUKTŮ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Kam s penězi na 3 až 8 let</a:t>
            </a:r>
          </a:p>
        </p:txBody>
      </p:sp>
      <p:sp>
        <p:nvSpPr>
          <p:cNvPr id="5" name="Tabulka"/>
          <p:cNvSpPr>
            <a:spLocks noGrp="1"/>
          </p:cNvSpPr>
          <p:nvPr>
            <p:ph type="tbl" idx="100" hasCustomPrompt="1"/>
          </p:nvPr>
        </p:nvSpPr>
        <p:spPr>
          <a:xfrm>
            <a:off x="762000" y="2032000"/>
            <a:ext cx="10668000" cy="302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cs-CZ"/>
              <a:t>Klikněte na ikonu a vložte tabulku</a:t>
            </a:r>
          </a:p>
        </p:txBody>
      </p:sp>
      <p:sp>
        <p:nvSpPr>
          <p:cNvPr id="6" name="Poznámka pod tabulkou"/>
          <p:cNvSpPr>
            <a:spLocks noGrp="1"/>
          </p:cNvSpPr>
          <p:nvPr>
            <p:ph type="body" idx="101" hasCustomPrompt="1"/>
          </p:nvPr>
        </p:nvSpPr>
        <p:spPr>
          <a:xfrm>
            <a:off x="762000" y="5203292"/>
            <a:ext cx="1109472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údaje. Očekávané výnosy nejsou zaručené, minulé výnosy nejsou zárukou budoucích.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as je největší přítel investo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270000"/>
            <a:ext cx="7239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DATA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714500"/>
            <a:ext cx="3956685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Čas je největší přítel investora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2590330"/>
            <a:ext cx="395668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Při zhodnocení 6 % ročně vyroste 100 000 Kč za 8 let na 159 385 Kč. Výnosy se dál zhodnocují – to je složené úročení.</a:t>
            </a:r>
          </a:p>
        </p:txBody>
      </p:sp>
      <p:sp>
        <p:nvSpPr>
          <p:cNvPr id="6" name="Graf"/>
          <p:cNvSpPr>
            <a:spLocks noGrp="1"/>
          </p:cNvSpPr>
          <p:nvPr>
            <p:ph type="chart" idx="100" hasCustomPrompt="1"/>
          </p:nvPr>
        </p:nvSpPr>
        <p:spPr>
          <a:xfrm>
            <a:off x="5384800" y="1460500"/>
            <a:ext cx="5740400" cy="363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cs-CZ"/>
              <a:t>Klikněte na ikonu a vložte graf</a:t>
            </a:r>
          </a:p>
        </p:txBody>
      </p:sp>
      <p:sp>
        <p:nvSpPr>
          <p:cNvPr id="7" name="Poznámka"/>
          <p:cNvSpPr>
            <a:spLocks noGrp="1"/>
          </p:cNvSpPr>
          <p:nvPr>
            <p:ph type="body" idx="101" hasCustomPrompt="1"/>
          </p:nvPr>
        </p:nvSpPr>
        <p:spPr>
          <a:xfrm>
            <a:off x="762000" y="5577942"/>
            <a:ext cx="4094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výpočet, nezohledňuje poplatky ani daně.</a:t>
            </a:r>
          </a:p>
        </p:txBody>
      </p:sp>
      <p:pic>
        <p:nvPicPr>
          <p:cNvPr id="8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9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ví klienti a nové DIP úč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270000"/>
            <a:ext cx="16129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SLOUPCOVÝ GRAF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714500"/>
            <a:ext cx="331851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Noví klienti a nové DIP účty</a:t>
            </a:r>
          </a:p>
        </p:txBody>
      </p:sp>
      <p:sp>
        <p:nvSpPr>
          <p:cNvPr id="5" name="Hlavní sdělení"/>
          <p:cNvSpPr>
            <a:spLocks noGrp="1"/>
          </p:cNvSpPr>
          <p:nvPr>
            <p:ph type="body" idx="14" hasCustomPrompt="1"/>
          </p:nvPr>
        </p:nvSpPr>
        <p:spPr>
          <a:xfrm>
            <a:off x="762000" y="2590330"/>
            <a:ext cx="331851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Oba ukazatele rostou, nejsilnější bylo 4. čtvrtletí díky daňové motivaci na konci roku.</a:t>
            </a:r>
          </a:p>
        </p:txBody>
      </p:sp>
      <p:sp>
        <p:nvSpPr>
          <p:cNvPr id="6" name="Graf"/>
          <p:cNvSpPr>
            <a:spLocks noGrp="1"/>
          </p:cNvSpPr>
          <p:nvPr>
            <p:ph type="chart" idx="100" hasCustomPrompt="1"/>
          </p:nvPr>
        </p:nvSpPr>
        <p:spPr>
          <a:xfrm>
            <a:off x="4876800" y="1727200"/>
            <a:ext cx="6248400" cy="300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cs-CZ"/>
              <a:t>Klikněte na ikonu a vložte graf</a:t>
            </a:r>
          </a:p>
        </p:txBody>
      </p:sp>
      <p:sp>
        <p:nvSpPr>
          <p:cNvPr id="7" name="Poznámka"/>
          <p:cNvSpPr>
            <a:spLocks noGrp="1"/>
          </p:cNvSpPr>
          <p:nvPr>
            <p:ph type="body" idx="101" hasCustomPrompt="1"/>
          </p:nvPr>
        </p:nvSpPr>
        <p:spPr>
          <a:xfrm>
            <a:off x="762000" y="5577942"/>
            <a:ext cx="34340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 – nahraďte skutečnými čísly a uveďte zdroj.</a:t>
            </a:r>
          </a:p>
        </p:txBody>
      </p:sp>
      <p:pic>
        <p:nvPicPr>
          <p:cNvPr id="8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9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ůměrný roční výnos podle typu invest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4351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PRUHOVÝ GRAF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Průměrný roční výnos podle typu investice</a:t>
            </a:r>
          </a:p>
        </p:txBody>
      </p:sp>
      <p:sp>
        <p:nvSpPr>
          <p:cNvPr id="5" name="Graf"/>
          <p:cNvSpPr>
            <a:spLocks noGrp="1"/>
          </p:cNvSpPr>
          <p:nvPr>
            <p:ph type="chart" idx="100" hasCustomPrompt="1"/>
          </p:nvPr>
        </p:nvSpPr>
        <p:spPr>
          <a:xfrm>
            <a:off x="762000" y="2095500"/>
            <a:ext cx="10668000" cy="335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cs-CZ"/>
              <a:t>Klikněte na ikonu a vložte graf</a:t>
            </a:r>
          </a:p>
        </p:txBody>
      </p:sp>
      <p:sp>
        <p:nvSpPr>
          <p:cNvPr id="6" name="Poznámka"/>
          <p:cNvSpPr>
            <a:spLocks noGrp="1"/>
          </p:cNvSpPr>
          <p:nvPr>
            <p:ph type="body" idx="101" hasCustomPrompt="1"/>
          </p:nvPr>
        </p:nvSpPr>
        <p:spPr>
          <a:xfrm>
            <a:off x="762000" y="5755742"/>
            <a:ext cx="1109472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 za posledních 10 let. Zvýrazněte vždy jen jeden pruh, ke kterému se vztahuje sdělení. Minulé výnosy nejsou zárukou budoucích.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ožení ukázkového portfol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5367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KOLÁČOVÝ GRAF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Složení ukázkového portfolia</a:t>
            </a:r>
          </a:p>
        </p:txBody>
      </p:sp>
      <p:sp>
        <p:nvSpPr>
          <p:cNvPr id="5" name="Graf"/>
          <p:cNvSpPr>
            <a:spLocks noGrp="1"/>
          </p:cNvSpPr>
          <p:nvPr>
            <p:ph type="chart" idx="100" hasCustomPrompt="1"/>
          </p:nvPr>
        </p:nvSpPr>
        <p:spPr>
          <a:xfrm>
            <a:off x="1143000" y="2032000"/>
            <a:ext cx="3556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cs-CZ"/>
              <a:t>Klikněte na ikonu a vložte graf</a:t>
            </a:r>
          </a:p>
        </p:txBody>
      </p:sp>
      <p:sp>
        <p:nvSpPr>
          <p:cNvPr id="6" name="Střed"/>
          <p:cNvSpPr>
            <a:spLocks noGrp="1"/>
          </p:cNvSpPr>
          <p:nvPr>
            <p:ph type="body" idx="101" hasCustomPrompt="1"/>
          </p:nvPr>
        </p:nvSpPr>
        <p:spPr>
          <a:xfrm>
            <a:off x="1968500" y="3467100"/>
            <a:ext cx="200025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48666" rIns="0" bIns="0" rtlCol="0" anchor="t" anchorCtr="0">
            <a:noAutofit/>
          </a:bodyPr>
          <a:lstStyle>
            <a:lvl1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60 %</a:t>
            </a:r>
          </a:p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akcie</a:t>
            </a:r>
          </a:p>
        </p:txBody>
      </p:sp>
      <p:sp>
        <p:nvSpPr>
          <p:cNvPr id="7" name="Poznámka"/>
          <p:cNvSpPr>
            <a:spLocks noGrp="1"/>
          </p:cNvSpPr>
          <p:nvPr>
            <p:ph type="body" idx="102" hasCustomPrompt="1"/>
          </p:nvPr>
        </p:nvSpPr>
        <p:spPr>
          <a:xfrm>
            <a:off x="6604000" y="5247742"/>
            <a:ext cx="501904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Ukázková data. Barvy používejte v tomto pořadí; víc než 6 položek slučte do „Ostatní“.</a:t>
            </a:r>
          </a:p>
        </p:txBody>
      </p:sp>
      <p:pic>
        <p:nvPicPr>
          <p:cNvPr id="8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9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vestice vs. spořicí úč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270000"/>
            <a:ext cx="16637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SPOJNICOVÝ GRAF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714500"/>
            <a:ext cx="331851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Investice vs. spořicí účet</a:t>
            </a:r>
          </a:p>
        </p:txBody>
      </p:sp>
      <p:sp>
        <p:nvSpPr>
          <p:cNvPr id="5" name="Hlavní sdělení"/>
          <p:cNvSpPr>
            <a:spLocks noGrp="1"/>
          </p:cNvSpPr>
          <p:nvPr>
            <p:ph type="body" idx="14" hasCustomPrompt="1"/>
          </p:nvPr>
        </p:nvSpPr>
        <p:spPr>
          <a:xfrm>
            <a:off x="762000" y="2590330"/>
            <a:ext cx="331851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Za 10 let vyrostlo 100 000 Kč v akciovém portfoliu na 196 000 Kč, na spořicím účtu na 118 000 Kč.</a:t>
            </a:r>
          </a:p>
        </p:txBody>
      </p:sp>
      <p:sp>
        <p:nvSpPr>
          <p:cNvPr id="6" name="Graf"/>
          <p:cNvSpPr>
            <a:spLocks noGrp="1"/>
          </p:cNvSpPr>
          <p:nvPr>
            <p:ph type="chart" idx="100" hasCustomPrompt="1"/>
          </p:nvPr>
        </p:nvSpPr>
        <p:spPr>
          <a:xfrm>
            <a:off x="5461000" y="1803400"/>
            <a:ext cx="49530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cs-CZ"/>
              <a:t>Klikněte na ikonu a vložte graf</a:t>
            </a:r>
          </a:p>
        </p:txBody>
      </p:sp>
      <p:sp>
        <p:nvSpPr>
          <p:cNvPr id="7" name="Popisek – Spořicí účet"/>
          <p:cNvSpPr>
            <a:spLocks noGrp="1"/>
          </p:cNvSpPr>
          <p:nvPr>
            <p:ph type="body" idx="101" hasCustomPrompt="1"/>
          </p:nvPr>
        </p:nvSpPr>
        <p:spPr>
          <a:xfrm>
            <a:off x="10553700" y="2987815"/>
            <a:ext cx="59340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118 tis.</a:t>
            </a:r>
          </a:p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Spořicí účet</a:t>
            </a:r>
          </a:p>
        </p:txBody>
      </p:sp>
      <p:sp>
        <p:nvSpPr>
          <p:cNvPr id="8" name="Popisek – Akciové portfolio"/>
          <p:cNvSpPr>
            <a:spLocks noGrp="1"/>
          </p:cNvSpPr>
          <p:nvPr>
            <p:ph type="body" idx="102" hasCustomPrompt="1"/>
          </p:nvPr>
        </p:nvSpPr>
        <p:spPr>
          <a:xfrm>
            <a:off x="10553700" y="1700035"/>
            <a:ext cx="83343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196 tis.</a:t>
            </a:r>
          </a:p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Akciové portfolio</a:t>
            </a:r>
          </a:p>
        </p:txBody>
      </p:sp>
      <p:sp>
        <p:nvSpPr>
          <p:cNvPr id="9" name="Upozornění"/>
          <p:cNvSpPr>
            <a:spLocks noGrp="1"/>
          </p:cNvSpPr>
          <p:nvPr>
            <p:ph type="body" idx="103" hasCustomPrompt="1"/>
          </p:nvPr>
        </p:nvSpPr>
        <p:spPr>
          <a:xfrm>
            <a:off x="762000" y="5577942"/>
            <a:ext cx="34340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data. Minulé výnosy nejsou zárukou budoucích výnosů.</a:t>
            </a:r>
          </a:p>
        </p:txBody>
      </p:sp>
      <p:pic>
        <p:nvPicPr>
          <p:cNvPr id="10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1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á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lustrace (zamčená)" descr="dekorace"/>
          <p:cNvPicPr>
            <a:picLocks noGrp="1" noSelect="1" noChangeAspect="1" noMove="1" noResize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47000" y="0"/>
            <a:ext cx="4445000" cy="6858000"/>
          </a:xfrm>
          <a:prstGeom prst="rect">
            <a:avLst/>
          </a:prstGeom>
        </p:spPr>
      </p:pic>
      <p:sp>
        <p:nvSpPr>
          <p:cNvPr id="4" name="Text citace"/>
          <p:cNvSpPr>
            <a:spLocks noGrp="1"/>
          </p:cNvSpPr>
          <p:nvPr>
            <p:ph type="title" hasCustomPrompt="1"/>
          </p:nvPr>
        </p:nvSpPr>
        <p:spPr>
          <a:xfrm>
            <a:off x="762000" y="2832100"/>
            <a:ext cx="8296275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Citace klienta nebo odborníka – jedna silná věta, která shrne hlavní myšlenku.</a:t>
            </a:r>
          </a:p>
        </p:txBody>
      </p:sp>
      <p:sp>
        <p:nvSpPr>
          <p:cNvPr id="5" name="Fotka"/>
          <p:cNvSpPr>
            <a:spLocks noGrp="1"/>
          </p:cNvSpPr>
          <p:nvPr>
            <p:ph type="body" idx="100" hasCustomPrompt="1"/>
          </p:nvPr>
        </p:nvSpPr>
        <p:spPr>
          <a:xfrm>
            <a:off x="762000" y="4021595"/>
            <a:ext cx="508000" cy="508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JP</a:t>
            </a:r>
          </a:p>
        </p:txBody>
      </p:sp>
      <p:sp>
        <p:nvSpPr>
          <p:cNvPr id="6" name="Jméno a role"/>
          <p:cNvSpPr>
            <a:spLocks noGrp="1"/>
          </p:cNvSpPr>
          <p:nvPr>
            <p:ph type="body" idx="101" hasCustomPrompt="1"/>
          </p:nvPr>
        </p:nvSpPr>
        <p:spPr>
          <a:xfrm>
            <a:off x="1397000" y="4066045"/>
            <a:ext cx="1726882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Klient Portu od roku 2019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ak jsme se vyvíjel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9906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HISTORIE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Jak jsme se vyvíjeli</a:t>
            </a:r>
          </a:p>
        </p:txBody>
      </p:sp>
      <p:sp>
        <p:nvSpPr>
          <p:cNvPr id="5" name="Rok"/>
          <p:cNvSpPr>
            <a:spLocks noGrp="1"/>
          </p:cNvSpPr>
          <p:nvPr>
            <p:ph type="body" idx="100" hasCustomPrompt="1"/>
          </p:nvPr>
        </p:nvSpPr>
        <p:spPr>
          <a:xfrm>
            <a:off x="1400175" y="3175000"/>
            <a:ext cx="526732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2018</a:t>
            </a:r>
          </a:p>
        </p:txBody>
      </p:sp>
      <p:sp>
        <p:nvSpPr>
          <p:cNvPr id="6" name="Název"/>
          <p:cNvSpPr>
            <a:spLocks noGrp="1"/>
          </p:cNvSpPr>
          <p:nvPr>
            <p:ph type="body" idx="101" hasCustomPrompt="1"/>
          </p:nvPr>
        </p:nvSpPr>
        <p:spPr>
          <a:xfrm>
            <a:off x="832104" y="3792995"/>
            <a:ext cx="163779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Veřejné spuštění</a:t>
            </a:r>
          </a:p>
        </p:txBody>
      </p:sp>
      <p:sp>
        <p:nvSpPr>
          <p:cNvPr id="7" name="Popis"/>
          <p:cNvSpPr>
            <a:spLocks noGrp="1"/>
          </p:cNvSpPr>
          <p:nvPr>
            <p:ph type="body" idx="102" hasCustomPrompt="1"/>
          </p:nvPr>
        </p:nvSpPr>
        <p:spPr>
          <a:xfrm>
            <a:off x="859663" y="4078745"/>
            <a:ext cx="1582674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Spravovaná ETF portfolia pro každého</a:t>
            </a:r>
          </a:p>
        </p:txBody>
      </p:sp>
      <p:sp>
        <p:nvSpPr>
          <p:cNvPr id="8" name="Rok"/>
          <p:cNvSpPr>
            <a:spLocks noGrp="1"/>
          </p:cNvSpPr>
          <p:nvPr>
            <p:ph type="body" idx="103" hasCustomPrompt="1"/>
          </p:nvPr>
        </p:nvSpPr>
        <p:spPr>
          <a:xfrm>
            <a:off x="3178175" y="3175000"/>
            <a:ext cx="526732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2019</a:t>
            </a:r>
          </a:p>
        </p:txBody>
      </p:sp>
      <p:sp>
        <p:nvSpPr>
          <p:cNvPr id="9" name="Název"/>
          <p:cNvSpPr>
            <a:spLocks noGrp="1"/>
          </p:cNvSpPr>
          <p:nvPr>
            <p:ph type="body" idx="104" hasCustomPrompt="1"/>
          </p:nvPr>
        </p:nvSpPr>
        <p:spPr>
          <a:xfrm>
            <a:off x="2610104" y="3792995"/>
            <a:ext cx="163779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Dětské účty</a:t>
            </a:r>
          </a:p>
        </p:txBody>
      </p:sp>
      <p:sp>
        <p:nvSpPr>
          <p:cNvPr id="10" name="Popis"/>
          <p:cNvSpPr>
            <a:spLocks noGrp="1"/>
          </p:cNvSpPr>
          <p:nvPr>
            <p:ph type="body" idx="105" hasCustomPrompt="1"/>
          </p:nvPr>
        </p:nvSpPr>
        <p:spPr>
          <a:xfrm>
            <a:off x="2637663" y="4078745"/>
            <a:ext cx="1582674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Investice pro děti a jejich rodiče</a:t>
            </a:r>
          </a:p>
        </p:txBody>
      </p:sp>
      <p:sp>
        <p:nvSpPr>
          <p:cNvPr id="11" name="Rok"/>
          <p:cNvSpPr>
            <a:spLocks noGrp="1"/>
          </p:cNvSpPr>
          <p:nvPr>
            <p:ph type="body" idx="106" hasCustomPrompt="1"/>
          </p:nvPr>
        </p:nvSpPr>
        <p:spPr>
          <a:xfrm>
            <a:off x="4956175" y="3175000"/>
            <a:ext cx="526732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2021</a:t>
            </a:r>
          </a:p>
        </p:txBody>
      </p:sp>
      <p:sp>
        <p:nvSpPr>
          <p:cNvPr id="12" name="Název"/>
          <p:cNvSpPr>
            <a:spLocks noGrp="1"/>
          </p:cNvSpPr>
          <p:nvPr>
            <p:ph type="body" idx="107" hasCustomPrompt="1"/>
          </p:nvPr>
        </p:nvSpPr>
        <p:spPr>
          <a:xfrm>
            <a:off x="4388104" y="3792995"/>
            <a:ext cx="163779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Tematické investice</a:t>
            </a:r>
          </a:p>
        </p:txBody>
      </p:sp>
      <p:sp>
        <p:nvSpPr>
          <p:cNvPr id="13" name="Popis"/>
          <p:cNvSpPr>
            <a:spLocks noGrp="1"/>
          </p:cNvSpPr>
          <p:nvPr>
            <p:ph type="body" idx="108" hasCustomPrompt="1"/>
          </p:nvPr>
        </p:nvSpPr>
        <p:spPr>
          <a:xfrm>
            <a:off x="4415663" y="4078745"/>
            <a:ext cx="1582674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Sestavte si portfolio podle sebe</a:t>
            </a:r>
          </a:p>
        </p:txBody>
      </p:sp>
      <p:sp>
        <p:nvSpPr>
          <p:cNvPr id="14" name="Rok"/>
          <p:cNvSpPr>
            <a:spLocks noGrp="1"/>
          </p:cNvSpPr>
          <p:nvPr>
            <p:ph type="body" idx="109" hasCustomPrompt="1"/>
          </p:nvPr>
        </p:nvSpPr>
        <p:spPr>
          <a:xfrm>
            <a:off x="6734175" y="3175000"/>
            <a:ext cx="526732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2022</a:t>
            </a:r>
          </a:p>
        </p:txBody>
      </p:sp>
      <p:sp>
        <p:nvSpPr>
          <p:cNvPr id="15" name="Název"/>
          <p:cNvSpPr>
            <a:spLocks noGrp="1"/>
          </p:cNvSpPr>
          <p:nvPr>
            <p:ph type="body" idx="110" hasCustomPrompt="1"/>
          </p:nvPr>
        </p:nvSpPr>
        <p:spPr>
          <a:xfrm>
            <a:off x="6166104" y="3792995"/>
            <a:ext cx="163779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Investiční rezerva</a:t>
            </a:r>
          </a:p>
        </p:txBody>
      </p:sp>
      <p:sp>
        <p:nvSpPr>
          <p:cNvPr id="16" name="Popis"/>
          <p:cNvSpPr>
            <a:spLocks noGrp="1"/>
          </p:cNvSpPr>
          <p:nvPr>
            <p:ph type="body" idx="111" hasCustomPrompt="1"/>
          </p:nvPr>
        </p:nvSpPr>
        <p:spPr>
          <a:xfrm>
            <a:off x="6193663" y="4078745"/>
            <a:ext cx="1582674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Alternativa spořicího účtu</a:t>
            </a:r>
          </a:p>
        </p:txBody>
      </p:sp>
      <p:sp>
        <p:nvSpPr>
          <p:cNvPr id="17" name="Rok"/>
          <p:cNvSpPr>
            <a:spLocks noGrp="1"/>
          </p:cNvSpPr>
          <p:nvPr>
            <p:ph type="body" idx="112" hasCustomPrompt="1"/>
          </p:nvPr>
        </p:nvSpPr>
        <p:spPr>
          <a:xfrm>
            <a:off x="8512175" y="3175000"/>
            <a:ext cx="526732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2024</a:t>
            </a:r>
          </a:p>
        </p:txBody>
      </p:sp>
      <p:sp>
        <p:nvSpPr>
          <p:cNvPr id="18" name="Název"/>
          <p:cNvSpPr>
            <a:spLocks noGrp="1"/>
          </p:cNvSpPr>
          <p:nvPr>
            <p:ph type="body" idx="113" hasCustomPrompt="1"/>
          </p:nvPr>
        </p:nvSpPr>
        <p:spPr>
          <a:xfrm>
            <a:off x="7944104" y="3792995"/>
            <a:ext cx="163779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DIP</a:t>
            </a:r>
          </a:p>
        </p:txBody>
      </p:sp>
      <p:sp>
        <p:nvSpPr>
          <p:cNvPr id="19" name="Popis"/>
          <p:cNvSpPr>
            <a:spLocks noGrp="1"/>
          </p:cNvSpPr>
          <p:nvPr>
            <p:ph type="body" idx="114" hasCustomPrompt="1"/>
          </p:nvPr>
        </p:nvSpPr>
        <p:spPr>
          <a:xfrm>
            <a:off x="7971663" y="4078745"/>
            <a:ext cx="1582674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Dlouhodobý investiční produkt</a:t>
            </a:r>
          </a:p>
        </p:txBody>
      </p:sp>
      <p:sp>
        <p:nvSpPr>
          <p:cNvPr id="20" name="Rok"/>
          <p:cNvSpPr>
            <a:spLocks noGrp="1"/>
          </p:cNvSpPr>
          <p:nvPr>
            <p:ph type="body" idx="115" hasCustomPrompt="1"/>
          </p:nvPr>
        </p:nvSpPr>
        <p:spPr>
          <a:xfrm>
            <a:off x="10290175" y="3175000"/>
            <a:ext cx="526732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2026</a:t>
            </a:r>
          </a:p>
        </p:txBody>
      </p:sp>
      <p:sp>
        <p:nvSpPr>
          <p:cNvPr id="21" name="Název"/>
          <p:cNvSpPr>
            <a:spLocks noGrp="1"/>
          </p:cNvSpPr>
          <p:nvPr>
            <p:ph type="body" idx="116" hasCustomPrompt="1"/>
          </p:nvPr>
        </p:nvSpPr>
        <p:spPr>
          <a:xfrm>
            <a:off x="9722104" y="3792995"/>
            <a:ext cx="163779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Brokerage</a:t>
            </a:r>
          </a:p>
        </p:txBody>
      </p:sp>
      <p:sp>
        <p:nvSpPr>
          <p:cNvPr id="22" name="Popis"/>
          <p:cNvSpPr>
            <a:spLocks noGrp="1"/>
          </p:cNvSpPr>
          <p:nvPr>
            <p:ph type="body" idx="117" hasCustomPrompt="1"/>
          </p:nvPr>
        </p:nvSpPr>
        <p:spPr>
          <a:xfrm>
            <a:off x="9749663" y="4078745"/>
            <a:ext cx="1582674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Nákup jednotlivých akcií a ETF</a:t>
            </a:r>
          </a:p>
        </p:txBody>
      </p:sp>
      <p:pic>
        <p:nvPicPr>
          <p:cNvPr id="2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24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 nás čeká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1430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ROADMAPA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Co nás čeká</a:t>
            </a:r>
          </a:p>
        </p:txBody>
      </p:sp>
      <p:sp>
        <p:nvSpPr>
          <p:cNvPr id="5" name="Fáze"/>
          <p:cNvSpPr>
            <a:spLocks noGrp="1"/>
          </p:cNvSpPr>
          <p:nvPr>
            <p:ph type="body" idx="100" hasCustomPrompt="1"/>
          </p:nvPr>
        </p:nvSpPr>
        <p:spPr>
          <a:xfrm>
            <a:off x="1219200" y="2336800"/>
            <a:ext cx="993457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TEĎ · Q1 2026</a:t>
            </a:r>
          </a:p>
        </p:txBody>
      </p:sp>
      <p:sp>
        <p:nvSpPr>
          <p:cNvPr id="6" name="Položka"/>
          <p:cNvSpPr>
            <a:spLocks noGrp="1"/>
          </p:cNvSpPr>
          <p:nvPr>
            <p:ph type="body" idx="101" hasCustomPrompt="1"/>
          </p:nvPr>
        </p:nvSpPr>
        <p:spPr>
          <a:xfrm>
            <a:off x="1066800" y="2628900"/>
            <a:ext cx="2820734" cy="1009650"/>
          </a:xfrm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Nový produkt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Krátký popis toho, na čem právě pracujeme.</a:t>
            </a:r>
          </a:p>
        </p:txBody>
      </p:sp>
      <p:sp>
        <p:nvSpPr>
          <p:cNvPr id="7" name="Položka"/>
          <p:cNvSpPr>
            <a:spLocks noGrp="1"/>
          </p:cNvSpPr>
          <p:nvPr>
            <p:ph type="body" idx="102" hasCustomPrompt="1"/>
          </p:nvPr>
        </p:nvSpPr>
        <p:spPr>
          <a:xfrm>
            <a:off x="1066800" y="3638550"/>
            <a:ext cx="2918968" cy="806450"/>
          </a:xfrm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Integrace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Dokončení propojení se stávajícím řešením.</a:t>
            </a:r>
          </a:p>
        </p:txBody>
      </p:sp>
      <p:sp>
        <p:nvSpPr>
          <p:cNvPr id="8" name="Fáze"/>
          <p:cNvSpPr>
            <a:spLocks noGrp="1"/>
          </p:cNvSpPr>
          <p:nvPr>
            <p:ph type="body" idx="103" hasCustomPrompt="1"/>
          </p:nvPr>
        </p:nvSpPr>
        <p:spPr>
          <a:xfrm>
            <a:off x="4838700" y="2336800"/>
            <a:ext cx="1500188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PŘÍŠTĚ · Q2–Q3 2026</a:t>
            </a:r>
          </a:p>
        </p:txBody>
      </p:sp>
      <p:sp>
        <p:nvSpPr>
          <p:cNvPr id="9" name="Položka"/>
          <p:cNvSpPr>
            <a:spLocks noGrp="1"/>
          </p:cNvSpPr>
          <p:nvPr>
            <p:ph type="body" idx="104" hasCustomPrompt="1"/>
          </p:nvPr>
        </p:nvSpPr>
        <p:spPr>
          <a:xfrm>
            <a:off x="4686300" y="2628900"/>
            <a:ext cx="2918968" cy="806450"/>
          </a:xfrm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Rodinné účty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Výhody podle majetku celé rodiny.</a:t>
            </a:r>
          </a:p>
        </p:txBody>
      </p:sp>
      <p:sp>
        <p:nvSpPr>
          <p:cNvPr id="10" name="Položka"/>
          <p:cNvSpPr>
            <a:spLocks noGrp="1"/>
          </p:cNvSpPr>
          <p:nvPr>
            <p:ph type="body" idx="105" hasCustomPrompt="1"/>
          </p:nvPr>
        </p:nvSpPr>
        <p:spPr>
          <a:xfrm>
            <a:off x="4686300" y="3435350"/>
            <a:ext cx="2918968" cy="806450"/>
          </a:xfrm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Rozšíření nabídky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investice pro pokročilé klienty.</a:t>
            </a:r>
          </a:p>
        </p:txBody>
      </p:sp>
      <p:sp>
        <p:nvSpPr>
          <p:cNvPr id="11" name="Fáze"/>
          <p:cNvSpPr>
            <a:spLocks noGrp="1"/>
          </p:cNvSpPr>
          <p:nvPr>
            <p:ph type="body" idx="106" hasCustomPrompt="1"/>
          </p:nvPr>
        </p:nvSpPr>
        <p:spPr>
          <a:xfrm>
            <a:off x="8458200" y="2336800"/>
            <a:ext cx="10668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POZDĚJI · 2027</a:t>
            </a:r>
          </a:p>
        </p:txBody>
      </p:sp>
      <p:sp>
        <p:nvSpPr>
          <p:cNvPr id="12" name="Položka"/>
          <p:cNvSpPr>
            <a:spLocks noGrp="1"/>
          </p:cNvSpPr>
          <p:nvPr>
            <p:ph type="body" idx="107" hasCustomPrompt="1"/>
          </p:nvPr>
        </p:nvSpPr>
        <p:spPr>
          <a:xfrm>
            <a:off x="8305800" y="2628900"/>
            <a:ext cx="2820734" cy="1009650"/>
          </a:xfrm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AI v poradenství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Personalizace a automatizovaná doporučení.</a:t>
            </a:r>
          </a:p>
        </p:txBody>
      </p:sp>
      <p:sp>
        <p:nvSpPr>
          <p:cNvPr id="13" name="Položka"/>
          <p:cNvSpPr>
            <a:spLocks noGrp="1"/>
          </p:cNvSpPr>
          <p:nvPr>
            <p:ph type="body" idx="108" hasCustomPrompt="1"/>
          </p:nvPr>
        </p:nvSpPr>
        <p:spPr>
          <a:xfrm>
            <a:off x="8305800" y="3638550"/>
            <a:ext cx="2820734" cy="1009650"/>
          </a:xfrm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Výběry v penzi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Postupné snižování rizika a pravidelné výběry.</a:t>
            </a:r>
          </a:p>
        </p:txBody>
      </p:sp>
      <p:pic>
        <p:nvPicPr>
          <p:cNvPr id="1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5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uace, problém a řešen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0033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KONTEXT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Situace, problém a řešení</a:t>
            </a:r>
          </a:p>
        </p:txBody>
      </p:sp>
      <p:sp>
        <p:nvSpPr>
          <p:cNvPr id="5" name="Karta – Situace"/>
          <p:cNvSpPr>
            <a:spLocks noGrp="1"/>
          </p:cNvSpPr>
          <p:nvPr>
            <p:ph type="body" idx="100" hasCustomPrompt="1"/>
          </p:nvPr>
        </p:nvSpPr>
        <p:spPr>
          <a:xfrm>
            <a:off x="762000" y="2159000"/>
            <a:ext cx="3183446" cy="1854200"/>
          </a:xfrm>
          <a:prstGeom prst="roundRect">
            <a:avLst>
              <a:gd name="adj" fmla="val 8219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04927" rIns="291931" bIns="30480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SITUACE</a:t>
            </a:r>
          </a:p>
          <a:p>
            <a:pPr marL="0" indent="0" algn="l">
              <a:lnSpc>
                <a:spcPts val="2100"/>
              </a:lnSpc>
              <a:spcBef>
                <a:spcPts val="8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se děje</a:t>
            </a:r>
          </a:p>
          <a:p>
            <a:pPr marL="0" indent="0" algn="l">
              <a:lnSpc>
                <a:spcPts val="1600"/>
              </a:lnSpc>
              <a:spcBef>
                <a:spcPts val="6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Popište výchozí stav – fakta, čísla, kontext. Např. produkt je mezi klienty oblíbený.</a:t>
            </a:r>
          </a:p>
        </p:txBody>
      </p:sp>
      <p:sp>
        <p:nvSpPr>
          <p:cNvPr id="6" name="Karta – Problém"/>
          <p:cNvSpPr>
            <a:spLocks noGrp="1"/>
          </p:cNvSpPr>
          <p:nvPr>
            <p:ph type="body" idx="101" hasCustomPrompt="1"/>
          </p:nvPr>
        </p:nvSpPr>
        <p:spPr>
          <a:xfrm>
            <a:off x="4504246" y="2159000"/>
            <a:ext cx="3183446" cy="1854200"/>
          </a:xfrm>
          <a:prstGeom prst="roundRect">
            <a:avLst>
              <a:gd name="adj" fmla="val 8219"/>
            </a:avLst>
          </a:prstGeom>
          <a:solidFill>
            <a:srgbClr val="FBE7F0"/>
          </a:solidFill>
          <a:ln>
            <a:noFill/>
          </a:ln>
        </p:spPr>
        <p:txBody>
          <a:bodyPr wrap="square" lIns="304800" tIns="304927" rIns="291931" bIns="30480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rgbClr val="D60F69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D60F69"/>
                </a:solidFill>
                <a:latin typeface="Rethink Sans SemiBold"/>
                <a:ea typeface="Rethink Sans SemiBold"/>
                <a:cs typeface="Rethink Sans SemiBold"/>
              </a:rPr>
              <a:t>PROBLÉM</a:t>
            </a:r>
          </a:p>
          <a:p>
            <a:pPr marL="0" indent="0" algn="l">
              <a:lnSpc>
                <a:spcPts val="2100"/>
              </a:lnSpc>
              <a:spcBef>
                <a:spcPts val="8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nefunguje</a:t>
            </a:r>
          </a:p>
          <a:p>
            <a:pPr marL="0" indent="0" algn="l">
              <a:lnSpc>
                <a:spcPts val="1600"/>
              </a:lnSpc>
              <a:spcBef>
                <a:spcPts val="6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Co brání růstu nebo co klienty trápí. Např. klienti produkt v aplikaci nevidí.</a:t>
            </a:r>
          </a:p>
        </p:txBody>
      </p:sp>
      <p:sp>
        <p:nvSpPr>
          <p:cNvPr id="7" name="Karta – Řešení"/>
          <p:cNvSpPr>
            <a:spLocks noGrp="1"/>
          </p:cNvSpPr>
          <p:nvPr>
            <p:ph type="body" idx="102" hasCustomPrompt="1"/>
          </p:nvPr>
        </p:nvSpPr>
        <p:spPr>
          <a:xfrm>
            <a:off x="8246554" y="2159000"/>
            <a:ext cx="3183446" cy="1854200"/>
          </a:xfrm>
          <a:prstGeom prst="roundRect">
            <a:avLst>
              <a:gd name="adj" fmla="val 8219"/>
            </a:avLst>
          </a:prstGeom>
          <a:solidFill>
            <a:srgbClr val="E6F7EC"/>
          </a:solidFill>
          <a:ln>
            <a:noFill/>
          </a:ln>
        </p:spPr>
        <p:txBody>
          <a:bodyPr wrap="square" lIns="304800" tIns="304927" rIns="291931" bIns="30480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ŘEŠENÍ</a:t>
            </a:r>
          </a:p>
          <a:p>
            <a:pPr marL="0" indent="0" algn="l">
              <a:lnSpc>
                <a:spcPts val="2100"/>
              </a:lnSpc>
              <a:spcBef>
                <a:spcPts val="8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navrhujeme</a:t>
            </a:r>
          </a:p>
          <a:p>
            <a:pPr marL="0" indent="0" algn="l">
              <a:lnSpc>
                <a:spcPts val="1600"/>
              </a:lnSpc>
              <a:spcBef>
                <a:spcPts val="6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Konkrétní návrh a jeho přínos. Např. pár nových obrazovek, spuštění do měsíce.</a:t>
            </a:r>
          </a:p>
        </p:txBody>
      </p:sp>
      <p:sp>
        <p:nvSpPr>
          <p:cNvPr id="8" name="Výzva"/>
          <p:cNvSpPr>
            <a:spLocks noGrp="1"/>
          </p:cNvSpPr>
          <p:nvPr>
            <p:ph type="body" idx="103" hasCustomPrompt="1"/>
          </p:nvPr>
        </p:nvSpPr>
        <p:spPr>
          <a:xfrm>
            <a:off x="762000" y="4597400"/>
            <a:ext cx="10668000" cy="876300"/>
          </a:xfrm>
          <a:prstGeom prst="roundRect">
            <a:avLst>
              <a:gd name="adj" fmla="val 14493"/>
            </a:avLst>
          </a:prstGeom>
          <a:solidFill>
            <a:srgbClr val="ECEBF8"/>
          </a:solidFill>
          <a:ln>
            <a:noFill/>
          </a:ln>
        </p:spPr>
        <p:txBody>
          <a:bodyPr wrap="square" lIns="304800" tIns="312001" rIns="0" bIns="297599" rtlCol="0" anchor="ctr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Jdete do toho s námi? Navrhujeme spustit pilot do konce Q1.</a:t>
            </a:r>
          </a:p>
        </p:txBody>
      </p:sp>
      <p:pic>
        <p:nvPicPr>
          <p:cNvPr id="9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0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 umíme a co ještě 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451100"/>
            <a:ext cx="7112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STAV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2895600"/>
            <a:ext cx="369824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Co umíme a co ještě ne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3403130"/>
            <a:ext cx="357378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Přehled funkcí, výhod a nevýhod nebo plusů a mínusů jednoho řešení.</a:t>
            </a:r>
          </a:p>
        </p:txBody>
      </p:sp>
      <p:sp>
        <p:nvSpPr>
          <p:cNvPr id="6" name="Nadpis seznamu"/>
          <p:cNvSpPr>
            <a:spLocks noGrp="1"/>
          </p:cNvSpPr>
          <p:nvPr>
            <p:ph type="body" idx="100" hasCustomPrompt="1"/>
          </p:nvPr>
        </p:nvSpPr>
        <p:spPr>
          <a:xfrm>
            <a:off x="5003800" y="2171700"/>
            <a:ext cx="278688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Umíme</a:t>
            </a:r>
          </a:p>
        </p:txBody>
      </p:sp>
      <p:sp>
        <p:nvSpPr>
          <p:cNvPr id="7" name="Text"/>
          <p:cNvSpPr>
            <a:spLocks noGrp="1"/>
          </p:cNvSpPr>
          <p:nvPr>
            <p:ph type="body" idx="101" hasCustomPrompt="1"/>
          </p:nvPr>
        </p:nvSpPr>
        <p:spPr>
          <a:xfrm>
            <a:off x="5334000" y="25522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Kontrola zůstatku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2" hasCustomPrompt="1"/>
          </p:nvPr>
        </p:nvSpPr>
        <p:spPr>
          <a:xfrm>
            <a:off x="5334000" y="29205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Vklad peněz</a:t>
            </a:r>
          </a:p>
        </p:txBody>
      </p:sp>
      <p:sp>
        <p:nvSpPr>
          <p:cNvPr id="9" name="Text"/>
          <p:cNvSpPr>
            <a:spLocks noGrp="1"/>
          </p:cNvSpPr>
          <p:nvPr>
            <p:ph type="body" idx="103" hasCustomPrompt="1"/>
          </p:nvPr>
        </p:nvSpPr>
        <p:spPr>
          <a:xfrm>
            <a:off x="5334000" y="32888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Registrace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4" hasCustomPrompt="1"/>
          </p:nvPr>
        </p:nvSpPr>
        <p:spPr>
          <a:xfrm>
            <a:off x="5334000" y="36571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Založení investice</a:t>
            </a:r>
          </a:p>
        </p:txBody>
      </p:sp>
      <p:sp>
        <p:nvSpPr>
          <p:cNvPr id="11" name="Text"/>
          <p:cNvSpPr>
            <a:spLocks noGrp="1"/>
          </p:cNvSpPr>
          <p:nvPr>
            <p:ph type="body" idx="105" hasCustomPrompt="1"/>
          </p:nvPr>
        </p:nvSpPr>
        <p:spPr>
          <a:xfrm>
            <a:off x="5334000" y="40254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Převody a výběry</a:t>
            </a:r>
          </a:p>
        </p:txBody>
      </p:sp>
      <p:sp>
        <p:nvSpPr>
          <p:cNvPr id="12" name="Nadpis seznamu"/>
          <p:cNvSpPr>
            <a:spLocks noGrp="1"/>
          </p:cNvSpPr>
          <p:nvPr>
            <p:ph type="body" idx="106" hasCustomPrompt="1"/>
          </p:nvPr>
        </p:nvSpPr>
        <p:spPr>
          <a:xfrm>
            <a:off x="8445500" y="2171700"/>
            <a:ext cx="278688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rgbClr val="D60F69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rgbClr val="D60F69"/>
                </a:solidFill>
                <a:latin typeface="Rethink Sans SemiBold"/>
                <a:ea typeface="Rethink Sans SemiBold"/>
                <a:cs typeface="Rethink Sans SemiBold"/>
              </a:rPr>
              <a:t>Zatím neumíme</a:t>
            </a:r>
          </a:p>
        </p:txBody>
      </p:sp>
      <p:sp>
        <p:nvSpPr>
          <p:cNvPr id="13" name="Text"/>
          <p:cNvSpPr>
            <a:spLocks noGrp="1"/>
          </p:cNvSpPr>
          <p:nvPr>
            <p:ph type="body" idx="107" hasCustomPrompt="1"/>
          </p:nvPr>
        </p:nvSpPr>
        <p:spPr>
          <a:xfrm>
            <a:off x="8775700" y="25522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Hybridní poradenství</a:t>
            </a:r>
          </a:p>
        </p:txBody>
      </p:sp>
      <p:sp>
        <p:nvSpPr>
          <p:cNvPr id="14" name="Text"/>
          <p:cNvSpPr>
            <a:spLocks noGrp="1"/>
          </p:cNvSpPr>
          <p:nvPr>
            <p:ph type="body" idx="108" hasCustomPrompt="1"/>
          </p:nvPr>
        </p:nvSpPr>
        <p:spPr>
          <a:xfrm>
            <a:off x="8775700" y="29205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Zakládání firemních účtů</a:t>
            </a:r>
          </a:p>
        </p:txBody>
      </p:sp>
      <p:sp>
        <p:nvSpPr>
          <p:cNvPr id="15" name="Text"/>
          <p:cNvSpPr>
            <a:spLocks noGrp="1"/>
          </p:cNvSpPr>
          <p:nvPr>
            <p:ph type="body" idx="109" hasCustomPrompt="1"/>
          </p:nvPr>
        </p:nvSpPr>
        <p:spPr>
          <a:xfrm>
            <a:off x="8775700" y="3288830"/>
            <a:ext cx="24434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Výpověď účtu</a:t>
            </a:r>
          </a:p>
        </p:txBody>
      </p:sp>
      <p:pic>
        <p:nvPicPr>
          <p:cNvPr id="16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7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likace hraje klíčovou roli v získávání i 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6446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MOBILNÍ APLIKACE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6764655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Aplikace hraje klíčovou roli v získávání i udržení klientů</a:t>
            </a:r>
          </a:p>
        </p:txBody>
      </p:sp>
      <p:sp>
        <p:nvSpPr>
          <p:cNvPr id="5" name="Číslo"/>
          <p:cNvSpPr>
            <a:spLocks noGrp="1"/>
          </p:cNvSpPr>
          <p:nvPr>
            <p:ph type="body" idx="100" hasCustomPrompt="1"/>
          </p:nvPr>
        </p:nvSpPr>
        <p:spPr>
          <a:xfrm>
            <a:off x="762000" y="1968500"/>
            <a:ext cx="3302000" cy="133350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87376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42 %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přímých registrací</a:t>
            </a:r>
          </a:p>
          <a:p>
            <a:pPr marL="0" indent="0" algn="l">
              <a:lnSpc>
                <a:spcPts val="16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začíná rovnou v aplikaci</a:t>
            </a:r>
          </a:p>
        </p:txBody>
      </p:sp>
      <p:sp>
        <p:nvSpPr>
          <p:cNvPr id="6" name="Číslo"/>
          <p:cNvSpPr>
            <a:spLocks noGrp="1"/>
          </p:cNvSpPr>
          <p:nvPr>
            <p:ph type="body" idx="101" hasCustomPrompt="1"/>
          </p:nvPr>
        </p:nvSpPr>
        <p:spPr>
          <a:xfrm>
            <a:off x="4191000" y="1968500"/>
            <a:ext cx="3302000" cy="133350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87376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300 000+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stažení</a:t>
            </a:r>
          </a:p>
          <a:p>
            <a:pPr marL="0" indent="0" algn="l">
              <a:lnSpc>
                <a:spcPts val="16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celkem iOS a Android</a:t>
            </a:r>
          </a:p>
        </p:txBody>
      </p:sp>
      <p:sp>
        <p:nvSpPr>
          <p:cNvPr id="7" name="Číslo"/>
          <p:cNvSpPr>
            <a:spLocks noGrp="1"/>
          </p:cNvSpPr>
          <p:nvPr>
            <p:ph type="body" idx="102" hasCustomPrompt="1"/>
          </p:nvPr>
        </p:nvSpPr>
        <p:spPr>
          <a:xfrm>
            <a:off x="762000" y="3429000"/>
            <a:ext cx="3302000" cy="133350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87376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70 000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aktivních uživatelů</a:t>
            </a:r>
          </a:p>
          <a:p>
            <a:pPr marL="0" indent="0" algn="l">
              <a:lnSpc>
                <a:spcPts val="16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každý měsíc</a:t>
            </a:r>
          </a:p>
        </p:txBody>
      </p:sp>
      <p:sp>
        <p:nvSpPr>
          <p:cNvPr id="8" name="Číslo"/>
          <p:cNvSpPr>
            <a:spLocks noGrp="1"/>
          </p:cNvSpPr>
          <p:nvPr>
            <p:ph type="body" idx="103" hasCustomPrompt="1"/>
          </p:nvPr>
        </p:nvSpPr>
        <p:spPr>
          <a:xfrm>
            <a:off x="4191000" y="3429000"/>
            <a:ext cx="3302000" cy="133350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87376" bIns="20320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4,4 / 5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hodnocení v App Store</a:t>
            </a:r>
          </a:p>
          <a:p>
            <a:pPr marL="0" indent="0" algn="l">
              <a:lnSpc>
                <a:spcPts val="16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dlouhodobě vysoká spokojenost</a:t>
            </a:r>
          </a:p>
        </p:txBody>
      </p:sp>
      <p:sp>
        <p:nvSpPr>
          <p:cNvPr id="9" name="Zdroj"/>
          <p:cNvSpPr>
            <a:spLocks noGrp="1"/>
          </p:cNvSpPr>
          <p:nvPr>
            <p:ph type="body" idx="104" hasCustomPrompt="1"/>
          </p:nvPr>
        </p:nvSpPr>
        <p:spPr>
          <a:xfrm>
            <a:off x="762000" y="4904842"/>
            <a:ext cx="700024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Údaje k datu DD. MM. RRRR – před použitím ověřte aktuální čísla.</a:t>
            </a:r>
          </a:p>
        </p:txBody>
      </p:sp>
      <p:sp>
        <p:nvSpPr>
          <p:cNvPr id="10" name="Obrazovka (Fill → Image)"/>
          <p:cNvSpPr>
            <a:spLocks noGrp="1"/>
          </p:cNvSpPr>
          <p:nvPr>
            <p:ph type="pic" idx="20" hasCustomPrompt="1"/>
          </p:nvPr>
        </p:nvSpPr>
        <p:spPr>
          <a:xfrm>
            <a:off x="8680450" y="996950"/>
            <a:ext cx="2197100" cy="4743450"/>
          </a:xfrm>
          <a:prstGeom prst="roundRect">
            <a:avLst>
              <a:gd name="adj" fmla="val 15318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square" lIns="152400" tIns="152400" rIns="152400" bIns="152400" rtlCol="0" anchor="ctr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Klikněte na ikonu a vložte obrázek</a:t>
            </a:r>
          </a:p>
        </p:txBody>
      </p:sp>
      <p:pic>
        <p:nvPicPr>
          <p:cNvPr id="11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2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ak to vypadá v aplikaci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9144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UKÁZKA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Jak to vypadá v aplikaci</a:t>
            </a:r>
          </a:p>
        </p:txBody>
      </p:sp>
      <p:sp>
        <p:nvSpPr>
          <p:cNvPr id="5" name="Obrazovka (Fill → Image)"/>
          <p:cNvSpPr>
            <a:spLocks noGrp="1"/>
          </p:cNvSpPr>
          <p:nvPr>
            <p:ph type="pic" idx="20"/>
          </p:nvPr>
        </p:nvSpPr>
        <p:spPr>
          <a:xfrm>
            <a:off x="838200" y="1981200"/>
            <a:ext cx="1498600" cy="3238500"/>
          </a:xfrm>
          <a:prstGeom prst="roundRect">
            <a:avLst>
              <a:gd name="adj" fmla="val 15254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opisek"/>
          <p:cNvSpPr>
            <a:spLocks noGrp="1"/>
          </p:cNvSpPr>
          <p:nvPr>
            <p:ph type="body" idx="100" hasCustomPrompt="1"/>
          </p:nvPr>
        </p:nvSpPr>
        <p:spPr>
          <a:xfrm>
            <a:off x="885825" y="5418595"/>
            <a:ext cx="1473518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1. Přehled</a:t>
            </a:r>
          </a:p>
          <a:p>
            <a:pPr marL="0" indent="0" algn="ctr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Souhrn všech investic</a:t>
            </a:r>
          </a:p>
        </p:txBody>
      </p:sp>
      <p:sp>
        <p:nvSpPr>
          <p:cNvPr id="7" name="Obrazovka (Fill → Image)"/>
          <p:cNvSpPr>
            <a:spLocks noGrp="1"/>
          </p:cNvSpPr>
          <p:nvPr>
            <p:ph type="pic" idx="21"/>
          </p:nvPr>
        </p:nvSpPr>
        <p:spPr>
          <a:xfrm>
            <a:off x="3843846" y="1981200"/>
            <a:ext cx="1498600" cy="3238500"/>
          </a:xfrm>
          <a:prstGeom prst="roundRect">
            <a:avLst>
              <a:gd name="adj" fmla="val 15254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opisek"/>
          <p:cNvSpPr>
            <a:spLocks noGrp="1"/>
          </p:cNvSpPr>
          <p:nvPr>
            <p:ph type="body" idx="101" hasCustomPrompt="1"/>
          </p:nvPr>
        </p:nvSpPr>
        <p:spPr>
          <a:xfrm>
            <a:off x="4027996" y="5418595"/>
            <a:ext cx="118681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2. Detail produktu</a:t>
            </a:r>
          </a:p>
          <a:p>
            <a:pPr marL="0" indent="0" algn="ctr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Výnos a složení</a:t>
            </a:r>
          </a:p>
        </p:txBody>
      </p:sp>
      <p:sp>
        <p:nvSpPr>
          <p:cNvPr id="9" name="Obrazovka (Fill → Image)"/>
          <p:cNvSpPr>
            <a:spLocks noGrp="1"/>
          </p:cNvSpPr>
          <p:nvPr>
            <p:ph type="pic" idx="22"/>
          </p:nvPr>
        </p:nvSpPr>
        <p:spPr>
          <a:xfrm>
            <a:off x="6849554" y="1981200"/>
            <a:ext cx="1498600" cy="3238500"/>
          </a:xfrm>
          <a:prstGeom prst="roundRect">
            <a:avLst>
              <a:gd name="adj" fmla="val 15254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opisek"/>
          <p:cNvSpPr>
            <a:spLocks noGrp="1"/>
          </p:cNvSpPr>
          <p:nvPr>
            <p:ph type="body" idx="102" hasCustomPrompt="1"/>
          </p:nvPr>
        </p:nvSpPr>
        <p:spPr>
          <a:xfrm>
            <a:off x="6817804" y="5418595"/>
            <a:ext cx="164020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3. Vklad</a:t>
            </a:r>
          </a:p>
          <a:p>
            <a:pPr marL="0" indent="0" algn="ctr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Platba během pár vteřin</a:t>
            </a:r>
          </a:p>
        </p:txBody>
      </p:sp>
      <p:sp>
        <p:nvSpPr>
          <p:cNvPr id="11" name="Obrazovka (Fill → Image)"/>
          <p:cNvSpPr>
            <a:spLocks noGrp="1"/>
          </p:cNvSpPr>
          <p:nvPr>
            <p:ph type="pic" idx="23"/>
          </p:nvPr>
        </p:nvSpPr>
        <p:spPr>
          <a:xfrm>
            <a:off x="9855200" y="1981200"/>
            <a:ext cx="1498600" cy="3238500"/>
          </a:xfrm>
          <a:prstGeom prst="roundRect">
            <a:avLst>
              <a:gd name="adj" fmla="val 15254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opisek"/>
          <p:cNvSpPr>
            <a:spLocks noGrp="1"/>
          </p:cNvSpPr>
          <p:nvPr>
            <p:ph type="body" idx="103" hasCustomPrompt="1"/>
          </p:nvPr>
        </p:nvSpPr>
        <p:spPr>
          <a:xfrm>
            <a:off x="9988550" y="5418595"/>
            <a:ext cx="129349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4. Potvrzení</a:t>
            </a:r>
          </a:p>
          <a:p>
            <a:pPr marL="0" indent="0" algn="ctr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Hotovo, investujete</a:t>
            </a:r>
          </a:p>
        </p:txBody>
      </p:sp>
      <p:pic>
        <p:nvPicPr>
          <p:cNvPr id="1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4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 koho je produkt a kam chceme rů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5049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CÍLOVÁ SKUPINA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Pro koho je produkt a kam chceme růst</a:t>
            </a:r>
          </a:p>
        </p:txBody>
      </p:sp>
      <p:sp>
        <p:nvSpPr>
          <p:cNvPr id="5" name="Dnes"/>
          <p:cNvSpPr>
            <a:spLocks noGrp="1"/>
          </p:cNvSpPr>
          <p:nvPr>
            <p:ph type="body" idx="100" hasCustomPrompt="1"/>
          </p:nvPr>
        </p:nvSpPr>
        <p:spPr>
          <a:xfrm>
            <a:off x="762000" y="1968500"/>
            <a:ext cx="3556000" cy="3187700"/>
          </a:xfrm>
          <a:prstGeom prst="roundRect">
            <a:avLst>
              <a:gd name="adj" fmla="val 4781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04927" rIns="290068" bIns="30480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DNES</a:t>
            </a:r>
          </a:p>
          <a:p>
            <a:pPr marL="0" indent="0" algn="l">
              <a:lnSpc>
                <a:spcPts val="2100"/>
              </a:lnSpc>
              <a:spcBef>
                <a:spcPts val="10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Naši současní klienti</a:t>
            </a:r>
          </a:p>
          <a:p>
            <a:pPr marL="0" indent="0" algn="l">
              <a:lnSpc>
                <a:spcPts val="1600"/>
              </a:lnSpc>
              <a:spcBef>
                <a:spcPts val="8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• Vzdělanější a finančně jistější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• Žijí ve větších městech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• Digitálně zdatní early adopteři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• Zkušení investoři, kteří si Portu našli sami</a:t>
            </a:r>
          </a:p>
        </p:txBody>
      </p:sp>
      <p:sp>
        <p:nvSpPr>
          <p:cNvPr id="6" name="Štítek"/>
          <p:cNvSpPr>
            <a:spLocks noGrp="1"/>
          </p:cNvSpPr>
          <p:nvPr>
            <p:ph type="body" idx="101" hasCustomPrompt="1"/>
          </p:nvPr>
        </p:nvSpPr>
        <p:spPr>
          <a:xfrm>
            <a:off x="4826000" y="2273300"/>
            <a:ext cx="136017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KAM CHCEME RŮST</a:t>
            </a:r>
          </a:p>
        </p:txBody>
      </p:sp>
      <p:sp>
        <p:nvSpPr>
          <p:cNvPr id="7" name="Název"/>
          <p:cNvSpPr>
            <a:spLocks noGrp="1"/>
          </p:cNvSpPr>
          <p:nvPr>
            <p:ph type="body" idx="102" hasCustomPrompt="1"/>
          </p:nvPr>
        </p:nvSpPr>
        <p:spPr>
          <a:xfrm>
            <a:off x="4826000" y="2590800"/>
            <a:ext cx="655116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Širší a běžnější populace</a:t>
            </a:r>
          </a:p>
        </p:txBody>
      </p:sp>
      <p:sp>
        <p:nvSpPr>
          <p:cNvPr id="8" name="Popis"/>
          <p:cNvSpPr>
            <a:spLocks noGrp="1"/>
          </p:cNvSpPr>
          <p:nvPr>
            <p:ph type="body" idx="103" hasCustomPrompt="1"/>
          </p:nvPr>
        </p:nvSpPr>
        <p:spPr>
          <a:xfrm>
            <a:off x="4826000" y="2999245"/>
            <a:ext cx="6551168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Méně zkušení klienti s nižší finanční jistotou, více žen a rodin s konkrétními potřebami.</a:t>
            </a:r>
          </a:p>
        </p:txBody>
      </p:sp>
      <p:sp>
        <p:nvSpPr>
          <p:cNvPr id="9" name="Co chtějí"/>
          <p:cNvSpPr>
            <a:spLocks noGrp="1"/>
          </p:cNvSpPr>
          <p:nvPr>
            <p:ph type="body" idx="104" hasCustomPrompt="1"/>
          </p:nvPr>
        </p:nvSpPr>
        <p:spPr>
          <a:xfrm>
            <a:off x="4826000" y="3365500"/>
            <a:ext cx="3086100" cy="1485900"/>
          </a:xfrm>
          <a:prstGeom prst="roundRect">
            <a:avLst>
              <a:gd name="adj" fmla="val 683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 wrap="square" lIns="203200" tIns="198895" rIns="189802" bIns="203200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Co chtějí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Důvěryhodného dlouhodobého partnera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Klid, bezpečí a srozumitelnost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Nemuset nic sledovat</a:t>
            </a:r>
          </a:p>
        </p:txBody>
      </p:sp>
      <p:sp>
        <p:nvSpPr>
          <p:cNvPr id="10" name="Čeho se bojí"/>
          <p:cNvSpPr>
            <a:spLocks noGrp="1"/>
          </p:cNvSpPr>
          <p:nvPr>
            <p:ph type="body" idx="105" hasCustomPrompt="1"/>
          </p:nvPr>
        </p:nvSpPr>
        <p:spPr>
          <a:xfrm>
            <a:off x="8039100" y="3365500"/>
            <a:ext cx="3086100" cy="1485900"/>
          </a:xfrm>
          <a:prstGeom prst="roundRect">
            <a:avLst>
              <a:gd name="adj" fmla="val 683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 wrap="square" lIns="203200" tIns="198895" rIns="189802" bIns="203200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Čeho se bojí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Že udělají chybu nebo naletí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Skrytých poplatků a pastí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Že na to nemají znalosti</a:t>
            </a:r>
          </a:p>
        </p:txBody>
      </p:sp>
      <p:pic>
        <p:nvPicPr>
          <p:cNvPr id="11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2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 si navzájem přináší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2763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PARTNERSTVÍ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Co si navzájem přinášíme</a:t>
            </a:r>
          </a:p>
        </p:txBody>
      </p:sp>
      <p:sp>
        <p:nvSpPr>
          <p:cNvPr id="5" name="Název"/>
          <p:cNvSpPr>
            <a:spLocks noGrp="1"/>
          </p:cNvSpPr>
          <p:nvPr>
            <p:ph type="body" idx="100" hasCustomPrompt="1"/>
          </p:nvPr>
        </p:nvSpPr>
        <p:spPr>
          <a:xfrm>
            <a:off x="1066800" y="2667000"/>
            <a:ext cx="456996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přináší Portu</a:t>
            </a:r>
          </a:p>
        </p:txBody>
      </p:sp>
      <p:sp>
        <p:nvSpPr>
          <p:cNvPr id="6" name="Text"/>
          <p:cNvSpPr>
            <a:spLocks noGrp="1"/>
          </p:cNvSpPr>
          <p:nvPr>
            <p:ph type="body" idx="101" hasCustomPrompt="1"/>
          </p:nvPr>
        </p:nvSpPr>
        <p:spPr>
          <a:xfrm>
            <a:off x="1447800" y="30792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340 000 aktivních retailových klientů</a:t>
            </a:r>
          </a:p>
        </p:txBody>
      </p:sp>
      <p:sp>
        <p:nvSpPr>
          <p:cNvPr id="7" name="Text"/>
          <p:cNvSpPr>
            <a:spLocks noGrp="1"/>
          </p:cNvSpPr>
          <p:nvPr>
            <p:ph type="body" idx="102" hasCustomPrompt="1"/>
          </p:nvPr>
        </p:nvSpPr>
        <p:spPr>
          <a:xfrm>
            <a:off x="1447800" y="34348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Silná a důvěryhodná spotřebitelská značka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3" hasCustomPrompt="1"/>
          </p:nvPr>
        </p:nvSpPr>
        <p:spPr>
          <a:xfrm>
            <a:off x="1447800" y="37904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Digitální distribuce a data o chování klientů</a:t>
            </a:r>
          </a:p>
        </p:txBody>
      </p:sp>
      <p:sp>
        <p:nvSpPr>
          <p:cNvPr id="9" name="Text"/>
          <p:cNvSpPr>
            <a:spLocks noGrp="1"/>
          </p:cNvSpPr>
          <p:nvPr>
            <p:ph type="body" idx="104" hasCustomPrompt="1"/>
          </p:nvPr>
        </p:nvSpPr>
        <p:spPr>
          <a:xfrm>
            <a:off x="1447800" y="41460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Schopnost vysvětlit produkt ve správnou chvíli</a:t>
            </a:r>
          </a:p>
        </p:txBody>
      </p:sp>
      <p:sp>
        <p:nvSpPr>
          <p:cNvPr id="10" name="Plus"/>
          <p:cNvSpPr>
            <a:spLocks noGrp="1"/>
          </p:cNvSpPr>
          <p:nvPr>
            <p:ph type="body" idx="105" hasCustomPrompt="1"/>
          </p:nvPr>
        </p:nvSpPr>
        <p:spPr>
          <a:xfrm>
            <a:off x="5918200" y="3130550"/>
            <a:ext cx="355600" cy="355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+</a:t>
            </a:r>
          </a:p>
        </p:txBody>
      </p:sp>
      <p:sp>
        <p:nvSpPr>
          <p:cNvPr id="11" name="Logo partnera"/>
          <p:cNvSpPr>
            <a:spLocks noGrp="1"/>
          </p:cNvSpPr>
          <p:nvPr>
            <p:ph type="pic" idx="20" hasCustomPrompt="1"/>
          </p:nvPr>
        </p:nvSpPr>
        <p:spPr>
          <a:xfrm>
            <a:off x="6737350" y="2216150"/>
            <a:ext cx="889000" cy="292100"/>
          </a:xfrm>
          <a:prstGeom prst="roundRect">
            <a:avLst>
              <a:gd name="adj" fmla="val 2391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12" name="Název"/>
          <p:cNvSpPr>
            <a:spLocks noGrp="1"/>
          </p:cNvSpPr>
          <p:nvPr>
            <p:ph type="body" idx="106" hasCustomPrompt="1"/>
          </p:nvPr>
        </p:nvSpPr>
        <p:spPr>
          <a:xfrm>
            <a:off x="6731000" y="2667000"/>
            <a:ext cx="456996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přináší partner</a:t>
            </a:r>
          </a:p>
        </p:txBody>
      </p:sp>
      <p:sp>
        <p:nvSpPr>
          <p:cNvPr id="13" name="Text"/>
          <p:cNvSpPr>
            <a:spLocks noGrp="1"/>
          </p:cNvSpPr>
          <p:nvPr>
            <p:ph type="body" idx="107" hasCustomPrompt="1"/>
          </p:nvPr>
        </p:nvSpPr>
        <p:spPr>
          <a:xfrm>
            <a:off x="7112000" y="30792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Know-how a hluboká znalost produktu</a:t>
            </a:r>
          </a:p>
        </p:txBody>
      </p:sp>
      <p:sp>
        <p:nvSpPr>
          <p:cNvPr id="14" name="Text"/>
          <p:cNvSpPr>
            <a:spLocks noGrp="1"/>
          </p:cNvSpPr>
          <p:nvPr>
            <p:ph type="body" idx="108" hasCustomPrompt="1"/>
          </p:nvPr>
        </p:nvSpPr>
        <p:spPr>
          <a:xfrm>
            <a:off x="7112000" y="34348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Důvěryhodnost a silné institucionální zázemí</a:t>
            </a:r>
          </a:p>
        </p:txBody>
      </p:sp>
      <p:sp>
        <p:nvSpPr>
          <p:cNvPr id="15" name="Text"/>
          <p:cNvSpPr>
            <a:spLocks noGrp="1"/>
          </p:cNvSpPr>
          <p:nvPr>
            <p:ph type="body" idx="109" hasCustomPrompt="1"/>
          </p:nvPr>
        </p:nvSpPr>
        <p:spPr>
          <a:xfrm>
            <a:off x="7112000" y="37904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Unikátní produkty a investiční příležitosti</a:t>
            </a:r>
          </a:p>
        </p:txBody>
      </p:sp>
      <p:sp>
        <p:nvSpPr>
          <p:cNvPr id="16" name="Text"/>
          <p:cNvSpPr>
            <a:spLocks noGrp="1"/>
          </p:cNvSpPr>
          <p:nvPr>
            <p:ph type="body" idx="110" hasCustomPrompt="1"/>
          </p:nvPr>
        </p:nvSpPr>
        <p:spPr>
          <a:xfrm>
            <a:off x="7112000" y="4146080"/>
            <a:ext cx="4173728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Řešení pro náročnější klienty</a:t>
            </a:r>
          </a:p>
        </p:txBody>
      </p:sp>
      <p:sp>
        <p:nvSpPr>
          <p:cNvPr id="17" name="Shrnutí"/>
          <p:cNvSpPr>
            <a:spLocks noGrp="1"/>
          </p:cNvSpPr>
          <p:nvPr>
            <p:ph type="body" idx="111" hasCustomPrompt="1"/>
          </p:nvPr>
        </p:nvSpPr>
        <p:spPr>
          <a:xfrm>
            <a:off x="762000" y="5207000"/>
            <a:ext cx="10668000" cy="647700"/>
          </a:xfrm>
          <a:prstGeom prst="roundRect">
            <a:avLst>
              <a:gd name="adj" fmla="val 19608"/>
            </a:avLst>
          </a:prstGeom>
          <a:solidFill>
            <a:srgbClr val="ECEBF8"/>
          </a:solidFill>
          <a:ln>
            <a:noFill/>
          </a:ln>
        </p:spPr>
        <p:txBody>
          <a:bodyPr wrap="square" lIns="203200" tIns="190030" rIns="0" bIns="216370" rtlCol="0" anchor="ctr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Společně nabídneme klientům relevantní řešení ve chvíli, kdy ho potřebují – v prostředí, kterému důvěřují.</a:t>
            </a:r>
          </a:p>
        </p:txBody>
      </p:sp>
      <p:pic>
        <p:nvPicPr>
          <p:cNvPr id="18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9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ím víc investujete, tím méně platí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0731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POPLATKY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Čím víc investujete, tím méně platíte</a:t>
            </a:r>
          </a:p>
        </p:txBody>
      </p:sp>
      <p:sp>
        <p:nvSpPr>
          <p:cNvPr id="5" name="Záhlaví"/>
          <p:cNvSpPr>
            <a:spLocks noGrp="1"/>
          </p:cNvSpPr>
          <p:nvPr>
            <p:ph type="body" idx="100" hasCustomPrompt="1"/>
          </p:nvPr>
        </p:nvSpPr>
        <p:spPr>
          <a:xfrm>
            <a:off x="965200" y="2235200"/>
            <a:ext cx="225361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Start</a:t>
            </a:r>
          </a:p>
        </p:txBody>
      </p:sp>
      <p:sp>
        <p:nvSpPr>
          <p:cNvPr id="6" name="Rozsah"/>
          <p:cNvSpPr>
            <a:spLocks noGrp="1"/>
          </p:cNvSpPr>
          <p:nvPr>
            <p:ph type="body" idx="101" hasCustomPrompt="1"/>
          </p:nvPr>
        </p:nvSpPr>
        <p:spPr>
          <a:xfrm>
            <a:off x="965200" y="25928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 500 000 Kč</a:t>
            </a:r>
          </a:p>
        </p:txBody>
      </p:sp>
      <p:sp>
        <p:nvSpPr>
          <p:cNvPr id="7" name="Poplatek"/>
          <p:cNvSpPr>
            <a:spLocks noGrp="1"/>
          </p:cNvSpPr>
          <p:nvPr>
            <p:ph type="body" idx="102" hasCustomPrompt="1"/>
          </p:nvPr>
        </p:nvSpPr>
        <p:spPr>
          <a:xfrm>
            <a:off x="965200" y="2908300"/>
            <a:ext cx="223215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48666" rIns="0" bIns="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1,0 %</a:t>
            </a:r>
          </a:p>
        </p:txBody>
      </p:sp>
      <p:sp>
        <p:nvSpPr>
          <p:cNvPr id="8" name="Jednotka"/>
          <p:cNvSpPr>
            <a:spLocks noGrp="1"/>
          </p:cNvSpPr>
          <p:nvPr>
            <p:ph type="body" idx="103" hasCustomPrompt="1"/>
          </p:nvPr>
        </p:nvSpPr>
        <p:spPr>
          <a:xfrm>
            <a:off x="965200" y="34310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ročně z objemu majetku</a:t>
            </a:r>
          </a:p>
        </p:txBody>
      </p:sp>
      <p:sp>
        <p:nvSpPr>
          <p:cNvPr id="9" name="Text"/>
          <p:cNvSpPr>
            <a:spLocks noGrp="1"/>
          </p:cNvSpPr>
          <p:nvPr>
            <p:ph type="body" idx="104" hasCustomPrompt="1"/>
          </p:nvPr>
        </p:nvSpPr>
        <p:spPr>
          <a:xfrm>
            <a:off x="1346200" y="38158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Výhoda úrovně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5" hasCustomPrompt="1"/>
          </p:nvPr>
        </p:nvSpPr>
        <p:spPr>
          <a:xfrm>
            <a:off x="1346200" y="41460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Další výhoda</a:t>
            </a:r>
          </a:p>
        </p:txBody>
      </p:sp>
      <p:sp>
        <p:nvSpPr>
          <p:cNvPr id="11" name="Název úrovně"/>
          <p:cNvSpPr>
            <a:spLocks noGrp="1"/>
          </p:cNvSpPr>
          <p:nvPr>
            <p:ph type="body" idx="106" hasCustomPrompt="1"/>
          </p:nvPr>
        </p:nvSpPr>
        <p:spPr>
          <a:xfrm>
            <a:off x="3670300" y="2247900"/>
            <a:ext cx="926782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Standard</a:t>
            </a:r>
          </a:p>
        </p:txBody>
      </p:sp>
      <p:sp>
        <p:nvSpPr>
          <p:cNvPr id="12" name="Štítek"/>
          <p:cNvSpPr>
            <a:spLocks noGrp="1"/>
          </p:cNvSpPr>
          <p:nvPr>
            <p:ph type="body" idx="107" hasCustomPrompt="1"/>
          </p:nvPr>
        </p:nvSpPr>
        <p:spPr>
          <a:xfrm>
            <a:off x="4648200" y="2235200"/>
            <a:ext cx="1270000" cy="2921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NEJČASTĚJŠÍ</a:t>
            </a:r>
          </a:p>
        </p:txBody>
      </p:sp>
      <p:sp>
        <p:nvSpPr>
          <p:cNvPr id="13" name="Rozsah"/>
          <p:cNvSpPr>
            <a:spLocks noGrp="1"/>
          </p:cNvSpPr>
          <p:nvPr>
            <p:ph type="body" idx="108" hasCustomPrompt="1"/>
          </p:nvPr>
        </p:nvSpPr>
        <p:spPr>
          <a:xfrm>
            <a:off x="3670300" y="26182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500 000 – 2 mil. Kč</a:t>
            </a:r>
          </a:p>
        </p:txBody>
      </p:sp>
      <p:sp>
        <p:nvSpPr>
          <p:cNvPr id="14" name="Poplatek"/>
          <p:cNvSpPr>
            <a:spLocks noGrp="1"/>
          </p:cNvSpPr>
          <p:nvPr>
            <p:ph type="body" idx="109" hasCustomPrompt="1"/>
          </p:nvPr>
        </p:nvSpPr>
        <p:spPr>
          <a:xfrm>
            <a:off x="3670300" y="2933700"/>
            <a:ext cx="223215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48666" rIns="0" bIns="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0,9 %</a:t>
            </a:r>
          </a:p>
        </p:txBody>
      </p:sp>
      <p:sp>
        <p:nvSpPr>
          <p:cNvPr id="15" name="Jednotka"/>
          <p:cNvSpPr>
            <a:spLocks noGrp="1"/>
          </p:cNvSpPr>
          <p:nvPr>
            <p:ph type="body" idx="110" hasCustomPrompt="1"/>
          </p:nvPr>
        </p:nvSpPr>
        <p:spPr>
          <a:xfrm>
            <a:off x="3670300" y="34564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ročně z objemu majetku</a:t>
            </a:r>
          </a:p>
        </p:txBody>
      </p:sp>
      <p:sp>
        <p:nvSpPr>
          <p:cNvPr id="16" name="Text"/>
          <p:cNvSpPr>
            <a:spLocks noGrp="1"/>
          </p:cNvSpPr>
          <p:nvPr>
            <p:ph type="body" idx="111" hasCustomPrompt="1"/>
          </p:nvPr>
        </p:nvSpPr>
        <p:spPr>
          <a:xfrm>
            <a:off x="4051300" y="38412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Výhoda úrovně</a:t>
            </a:r>
          </a:p>
        </p:txBody>
      </p:sp>
      <p:sp>
        <p:nvSpPr>
          <p:cNvPr id="17" name="Text"/>
          <p:cNvSpPr>
            <a:spLocks noGrp="1"/>
          </p:cNvSpPr>
          <p:nvPr>
            <p:ph type="body" idx="112" hasCustomPrompt="1"/>
          </p:nvPr>
        </p:nvSpPr>
        <p:spPr>
          <a:xfrm>
            <a:off x="4051300" y="41714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Další výhoda</a:t>
            </a:r>
          </a:p>
        </p:txBody>
      </p:sp>
      <p:sp>
        <p:nvSpPr>
          <p:cNvPr id="18" name="Záhlaví"/>
          <p:cNvSpPr>
            <a:spLocks noGrp="1"/>
          </p:cNvSpPr>
          <p:nvPr>
            <p:ph type="body" idx="113" hasCustomPrompt="1"/>
          </p:nvPr>
        </p:nvSpPr>
        <p:spPr>
          <a:xfrm>
            <a:off x="6375400" y="2235200"/>
            <a:ext cx="225361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Plus</a:t>
            </a:r>
          </a:p>
        </p:txBody>
      </p:sp>
      <p:sp>
        <p:nvSpPr>
          <p:cNvPr id="19" name="Rozsah"/>
          <p:cNvSpPr>
            <a:spLocks noGrp="1"/>
          </p:cNvSpPr>
          <p:nvPr>
            <p:ph type="body" idx="114" hasCustomPrompt="1"/>
          </p:nvPr>
        </p:nvSpPr>
        <p:spPr>
          <a:xfrm>
            <a:off x="6375400" y="25928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2 – 5 mil. Kč</a:t>
            </a:r>
          </a:p>
        </p:txBody>
      </p:sp>
      <p:sp>
        <p:nvSpPr>
          <p:cNvPr id="20" name="Poplatek"/>
          <p:cNvSpPr>
            <a:spLocks noGrp="1"/>
          </p:cNvSpPr>
          <p:nvPr>
            <p:ph type="body" idx="115" hasCustomPrompt="1"/>
          </p:nvPr>
        </p:nvSpPr>
        <p:spPr>
          <a:xfrm>
            <a:off x="6375400" y="2908300"/>
            <a:ext cx="223215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48666" rIns="0" bIns="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0,8 %</a:t>
            </a:r>
          </a:p>
        </p:txBody>
      </p:sp>
      <p:sp>
        <p:nvSpPr>
          <p:cNvPr id="21" name="Jednotka"/>
          <p:cNvSpPr>
            <a:spLocks noGrp="1"/>
          </p:cNvSpPr>
          <p:nvPr>
            <p:ph type="body" idx="116" hasCustomPrompt="1"/>
          </p:nvPr>
        </p:nvSpPr>
        <p:spPr>
          <a:xfrm>
            <a:off x="6375400" y="34310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ročně z objemu majetku</a:t>
            </a:r>
          </a:p>
        </p:txBody>
      </p:sp>
      <p:sp>
        <p:nvSpPr>
          <p:cNvPr id="22" name="Text"/>
          <p:cNvSpPr>
            <a:spLocks noGrp="1"/>
          </p:cNvSpPr>
          <p:nvPr>
            <p:ph type="body" idx="117" hasCustomPrompt="1"/>
          </p:nvPr>
        </p:nvSpPr>
        <p:spPr>
          <a:xfrm>
            <a:off x="6756400" y="38158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Výhoda úrovně</a:t>
            </a:r>
          </a:p>
        </p:txBody>
      </p:sp>
      <p:sp>
        <p:nvSpPr>
          <p:cNvPr id="23" name="Text"/>
          <p:cNvSpPr>
            <a:spLocks noGrp="1"/>
          </p:cNvSpPr>
          <p:nvPr>
            <p:ph type="body" idx="118" hasCustomPrompt="1"/>
          </p:nvPr>
        </p:nvSpPr>
        <p:spPr>
          <a:xfrm>
            <a:off x="6756400" y="41460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Další výhoda</a:t>
            </a:r>
          </a:p>
        </p:txBody>
      </p:sp>
      <p:sp>
        <p:nvSpPr>
          <p:cNvPr id="24" name="Záhlaví"/>
          <p:cNvSpPr>
            <a:spLocks noGrp="1"/>
          </p:cNvSpPr>
          <p:nvPr>
            <p:ph type="body" idx="119" hasCustomPrompt="1"/>
          </p:nvPr>
        </p:nvSpPr>
        <p:spPr>
          <a:xfrm>
            <a:off x="9080500" y="2235200"/>
            <a:ext cx="225361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ctr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Premium</a:t>
            </a:r>
          </a:p>
        </p:txBody>
      </p:sp>
      <p:sp>
        <p:nvSpPr>
          <p:cNvPr id="25" name="Rozsah"/>
          <p:cNvSpPr>
            <a:spLocks noGrp="1"/>
          </p:cNvSpPr>
          <p:nvPr>
            <p:ph type="body" idx="120" hasCustomPrompt="1"/>
          </p:nvPr>
        </p:nvSpPr>
        <p:spPr>
          <a:xfrm>
            <a:off x="9080500" y="25928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nad 5 mil. Kč</a:t>
            </a:r>
          </a:p>
        </p:txBody>
      </p:sp>
      <p:sp>
        <p:nvSpPr>
          <p:cNvPr id="26" name="Poplatek"/>
          <p:cNvSpPr>
            <a:spLocks noGrp="1"/>
          </p:cNvSpPr>
          <p:nvPr>
            <p:ph type="body" idx="121" hasCustomPrompt="1"/>
          </p:nvPr>
        </p:nvSpPr>
        <p:spPr>
          <a:xfrm>
            <a:off x="9080500" y="2908300"/>
            <a:ext cx="223215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48666" rIns="0" bIns="0" rtlCol="0" anchor="t" anchorCtr="0">
            <a:noAutofit/>
          </a:bodyPr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  <a:defRPr sz="3200" b="1" kern="0" cap="none" spc="-75">
                <a:solidFill>
                  <a:schemeClr val="accent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0,6 %</a:t>
            </a:r>
          </a:p>
        </p:txBody>
      </p:sp>
      <p:sp>
        <p:nvSpPr>
          <p:cNvPr id="27" name="Jednotka"/>
          <p:cNvSpPr>
            <a:spLocks noGrp="1"/>
          </p:cNvSpPr>
          <p:nvPr>
            <p:ph type="body" idx="122" hasCustomPrompt="1"/>
          </p:nvPr>
        </p:nvSpPr>
        <p:spPr>
          <a:xfrm>
            <a:off x="9080500" y="3431045"/>
            <a:ext cx="2232152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ročně z objemu majetku</a:t>
            </a:r>
          </a:p>
        </p:txBody>
      </p:sp>
      <p:sp>
        <p:nvSpPr>
          <p:cNvPr id="28" name="Text"/>
          <p:cNvSpPr>
            <a:spLocks noGrp="1"/>
          </p:cNvSpPr>
          <p:nvPr>
            <p:ph type="body" idx="123" hasCustomPrompt="1"/>
          </p:nvPr>
        </p:nvSpPr>
        <p:spPr>
          <a:xfrm>
            <a:off x="9461500" y="38158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Výhoda úrovně</a:t>
            </a:r>
          </a:p>
        </p:txBody>
      </p:sp>
      <p:sp>
        <p:nvSpPr>
          <p:cNvPr id="29" name="Text"/>
          <p:cNvSpPr>
            <a:spLocks noGrp="1"/>
          </p:cNvSpPr>
          <p:nvPr>
            <p:ph type="body" idx="124" hasCustomPrompt="1"/>
          </p:nvPr>
        </p:nvSpPr>
        <p:spPr>
          <a:xfrm>
            <a:off x="9461500" y="4146080"/>
            <a:ext cx="1835912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tx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Další výhoda</a:t>
            </a:r>
          </a:p>
        </p:txBody>
      </p:sp>
      <p:sp>
        <p:nvSpPr>
          <p:cNvPr id="30" name="Poznámka"/>
          <p:cNvSpPr>
            <a:spLocks noGrp="1"/>
          </p:cNvSpPr>
          <p:nvPr>
            <p:ph type="body" idx="125" hasCustomPrompt="1"/>
          </p:nvPr>
        </p:nvSpPr>
        <p:spPr>
          <a:xfrm>
            <a:off x="762000" y="4777842"/>
            <a:ext cx="1109472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ceník – nahraďte aktuálními hodnotami. Platný ceník najdete na portu.cz.</a:t>
            </a:r>
          </a:p>
        </p:txBody>
      </p:sp>
      <p:pic>
        <p:nvPicPr>
          <p:cNvPr id="31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32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ik můžete mít za 30 let?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8161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MODELOVÝ VÝPOČET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Kolik můžete mít za 30 let?</a:t>
            </a:r>
          </a:p>
        </p:txBody>
      </p:sp>
      <p:sp>
        <p:nvSpPr>
          <p:cNvPr id="5" name="Vstup – Měsíční investice"/>
          <p:cNvSpPr>
            <a:spLocks noGrp="1"/>
          </p:cNvSpPr>
          <p:nvPr>
            <p:ph type="body" idx="100" hasCustomPrompt="1"/>
          </p:nvPr>
        </p:nvSpPr>
        <p:spPr>
          <a:xfrm>
            <a:off x="762000" y="2139950"/>
            <a:ext cx="3556000" cy="1028700"/>
          </a:xfrm>
          <a:prstGeom prst="roundRect">
            <a:avLst>
              <a:gd name="adj" fmla="val 1234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192545" rIns="77216" bIns="203200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Měsíční investice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4 000 Kč</a:t>
            </a:r>
          </a:p>
        </p:txBody>
      </p:sp>
      <p:sp>
        <p:nvSpPr>
          <p:cNvPr id="6" name="Vstup – Investiční horizont"/>
          <p:cNvSpPr>
            <a:spLocks noGrp="1"/>
          </p:cNvSpPr>
          <p:nvPr>
            <p:ph type="body" idx="101" hasCustomPrompt="1"/>
          </p:nvPr>
        </p:nvSpPr>
        <p:spPr>
          <a:xfrm>
            <a:off x="762000" y="3295650"/>
            <a:ext cx="3556000" cy="1028700"/>
          </a:xfrm>
          <a:prstGeom prst="roundRect">
            <a:avLst>
              <a:gd name="adj" fmla="val 1234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192545" rIns="77216" bIns="203200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Investiční horizont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30 let</a:t>
            </a:r>
          </a:p>
        </p:txBody>
      </p:sp>
      <p:sp>
        <p:nvSpPr>
          <p:cNvPr id="7" name="Vstup – Modelové zhodnocení"/>
          <p:cNvSpPr>
            <a:spLocks noGrp="1"/>
          </p:cNvSpPr>
          <p:nvPr>
            <p:ph type="body" idx="102" hasCustomPrompt="1"/>
          </p:nvPr>
        </p:nvSpPr>
        <p:spPr>
          <a:xfrm>
            <a:off x="762000" y="4451350"/>
            <a:ext cx="3556000" cy="1028700"/>
          </a:xfrm>
          <a:prstGeom prst="roundRect">
            <a:avLst>
              <a:gd name="adj" fmla="val 1234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192545" rIns="77216" bIns="203200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Modelové zhodnocení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9 % p.a.</a:t>
            </a:r>
          </a:p>
        </p:txBody>
      </p:sp>
      <p:sp>
        <p:nvSpPr>
          <p:cNvPr id="8" name="Obsah výsledku"/>
          <p:cNvSpPr>
            <a:spLocks noGrp="1"/>
          </p:cNvSpPr>
          <p:nvPr>
            <p:ph type="body" idx="103" hasCustomPrompt="1"/>
          </p:nvPr>
        </p:nvSpPr>
        <p:spPr>
          <a:xfrm>
            <a:off x="5537200" y="3054350"/>
            <a:ext cx="5705856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VÝSLEDNÁ HODNOTA</a:t>
            </a:r>
          </a:p>
          <a:p>
            <a:pPr marL="0" indent="0" algn="l">
              <a:lnSpc>
                <a:spcPts val="4800"/>
              </a:lnSpc>
              <a:spcBef>
                <a:spcPts val="1324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7,3 mil. Kč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z toho vaše vklady 1,44 mil. Kč, zbytek je zhodnocení</a:t>
            </a:r>
          </a:p>
        </p:txBody>
      </p:sp>
      <p:sp>
        <p:nvSpPr>
          <p:cNvPr id="9" name="Upozornění"/>
          <p:cNvSpPr>
            <a:spLocks noGrp="1"/>
          </p:cNvSpPr>
          <p:nvPr>
            <p:ph type="body" idx="104" hasCustomPrompt="1"/>
          </p:nvPr>
        </p:nvSpPr>
        <p:spPr>
          <a:xfrm>
            <a:off x="762000" y="5768442"/>
            <a:ext cx="1109472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výpočet s měsíčním připisováním výnosu, nezohledňuje poplatky ani daně. Minulé ani modelové výnosy nejsou zárukou budoucích výnosů.</a:t>
            </a:r>
          </a:p>
        </p:txBody>
      </p:sp>
      <p:pic>
        <p:nvPicPr>
          <p:cNvPr id="10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1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lupracujeme s nejlepším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0223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PARTNEŘI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1109472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Spolupracujeme s nejlepšími</a:t>
            </a:r>
          </a:p>
        </p:txBody>
      </p:sp>
      <p:sp>
        <p:nvSpPr>
          <p:cNvPr id="5" name="Logo partnera"/>
          <p:cNvSpPr>
            <a:spLocks noGrp="1"/>
          </p:cNvSpPr>
          <p:nvPr>
            <p:ph type="pic" idx="20" hasCustomPrompt="1"/>
          </p:nvPr>
        </p:nvSpPr>
        <p:spPr>
          <a:xfrm>
            <a:off x="102489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6" name="Logo partnera"/>
          <p:cNvSpPr>
            <a:spLocks noGrp="1"/>
          </p:cNvSpPr>
          <p:nvPr>
            <p:ph type="pic" idx="21" hasCustomPrompt="1"/>
          </p:nvPr>
        </p:nvSpPr>
        <p:spPr>
          <a:xfrm>
            <a:off x="318897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7" name="Logo partnera"/>
          <p:cNvSpPr>
            <a:spLocks noGrp="1"/>
          </p:cNvSpPr>
          <p:nvPr>
            <p:ph type="pic" idx="22" hasCustomPrompt="1"/>
          </p:nvPr>
        </p:nvSpPr>
        <p:spPr>
          <a:xfrm>
            <a:off x="535305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8" name="Logo partnera"/>
          <p:cNvSpPr>
            <a:spLocks noGrp="1"/>
          </p:cNvSpPr>
          <p:nvPr>
            <p:ph type="pic" idx="23" hasCustomPrompt="1"/>
          </p:nvPr>
        </p:nvSpPr>
        <p:spPr>
          <a:xfrm>
            <a:off x="751713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9" name="Logo partnera"/>
          <p:cNvSpPr>
            <a:spLocks noGrp="1"/>
          </p:cNvSpPr>
          <p:nvPr>
            <p:ph type="pic" idx="24" hasCustomPrompt="1"/>
          </p:nvPr>
        </p:nvSpPr>
        <p:spPr>
          <a:xfrm>
            <a:off x="968121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10" name="Logo partnera"/>
          <p:cNvSpPr>
            <a:spLocks noGrp="1"/>
          </p:cNvSpPr>
          <p:nvPr>
            <p:ph type="pic" idx="25" hasCustomPrompt="1"/>
          </p:nvPr>
        </p:nvSpPr>
        <p:spPr>
          <a:xfrm>
            <a:off x="102489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11" name="Logo partnera"/>
          <p:cNvSpPr>
            <a:spLocks noGrp="1"/>
          </p:cNvSpPr>
          <p:nvPr>
            <p:ph type="pic" idx="26" hasCustomPrompt="1"/>
          </p:nvPr>
        </p:nvSpPr>
        <p:spPr>
          <a:xfrm>
            <a:off x="318897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12" name="Logo partnera"/>
          <p:cNvSpPr>
            <a:spLocks noGrp="1"/>
          </p:cNvSpPr>
          <p:nvPr>
            <p:ph type="pic" idx="27" hasCustomPrompt="1"/>
          </p:nvPr>
        </p:nvSpPr>
        <p:spPr>
          <a:xfrm>
            <a:off x="535305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13" name="Logo partnera"/>
          <p:cNvSpPr>
            <a:spLocks noGrp="1"/>
          </p:cNvSpPr>
          <p:nvPr>
            <p:ph type="pic" idx="28" hasCustomPrompt="1"/>
          </p:nvPr>
        </p:nvSpPr>
        <p:spPr>
          <a:xfrm>
            <a:off x="751713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sp>
        <p:nvSpPr>
          <p:cNvPr id="14" name="Logo partnera"/>
          <p:cNvSpPr>
            <a:spLocks noGrp="1"/>
          </p:cNvSpPr>
          <p:nvPr>
            <p:ph type="pic" idx="29" hasCustomPrompt="1"/>
          </p:nvPr>
        </p:nvSpPr>
        <p:spPr>
          <a:xfrm>
            <a:off x="968121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 wrap="square" lIns="50800" tIns="0" rIns="50800" bIns="0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Logo partnera</a:t>
            </a:r>
          </a:p>
        </p:txBody>
      </p:sp>
      <p:pic>
        <p:nvPicPr>
          <p:cNvPr id="15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6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rnutí a další krok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270000"/>
            <a:ext cx="9588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SHRNUTÍ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714500"/>
            <a:ext cx="357378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Shrnutí a další kroky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2818930"/>
            <a:ext cx="357378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Na čem jsme se dohodli, kdo co udělá a do kdy.</a:t>
            </a:r>
          </a:p>
        </p:txBody>
      </p:sp>
      <p:sp>
        <p:nvSpPr>
          <p:cNvPr id="6" name="Číslo"/>
          <p:cNvSpPr>
            <a:spLocks noGrp="1"/>
          </p:cNvSpPr>
          <p:nvPr>
            <p:ph type="body" idx="100" hasCustomPrompt="1"/>
          </p:nvPr>
        </p:nvSpPr>
        <p:spPr>
          <a:xfrm>
            <a:off x="4699000" y="180544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7" name="Text"/>
          <p:cNvSpPr>
            <a:spLocks noGrp="1"/>
          </p:cNvSpPr>
          <p:nvPr>
            <p:ph type="body" idx="101" hasCustomPrompt="1"/>
          </p:nvPr>
        </p:nvSpPr>
        <p:spPr>
          <a:xfrm>
            <a:off x="5156200" y="1714500"/>
            <a:ext cx="472186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Připravit návrh smlouvy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Včetně ceníku a podmínek spolupráce.</a:t>
            </a:r>
          </a:p>
        </p:txBody>
      </p:sp>
      <p:sp>
        <p:nvSpPr>
          <p:cNvPr id="8" name="Odpovídá"/>
          <p:cNvSpPr>
            <a:spLocks noGrp="1"/>
          </p:cNvSpPr>
          <p:nvPr>
            <p:ph type="body" idx="102" hasCustomPrompt="1"/>
          </p:nvPr>
        </p:nvSpPr>
        <p:spPr>
          <a:xfrm>
            <a:off x="9848850" y="1816100"/>
            <a:ext cx="8318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PORTU</a:t>
            </a:r>
          </a:p>
        </p:txBody>
      </p:sp>
      <p:sp>
        <p:nvSpPr>
          <p:cNvPr id="9" name="Termín"/>
          <p:cNvSpPr>
            <a:spLocks noGrp="1"/>
          </p:cNvSpPr>
          <p:nvPr>
            <p:ph type="body" idx="103" hasCustomPrompt="1"/>
          </p:nvPr>
        </p:nvSpPr>
        <p:spPr>
          <a:xfrm>
            <a:off x="10703560" y="1862595"/>
            <a:ext cx="72644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do 15. 2.</a:t>
            </a:r>
          </a:p>
        </p:txBody>
      </p:sp>
      <p:sp>
        <p:nvSpPr>
          <p:cNvPr id="10" name="Číslo"/>
          <p:cNvSpPr>
            <a:spLocks noGrp="1"/>
          </p:cNvSpPr>
          <p:nvPr>
            <p:ph type="body" idx="104" hasCustomPrompt="1"/>
          </p:nvPr>
        </p:nvSpPr>
        <p:spPr>
          <a:xfrm>
            <a:off x="4699000" y="266269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11" name="Text"/>
          <p:cNvSpPr>
            <a:spLocks noGrp="1"/>
          </p:cNvSpPr>
          <p:nvPr>
            <p:ph type="body" idx="105" hasCustomPrompt="1"/>
          </p:nvPr>
        </p:nvSpPr>
        <p:spPr>
          <a:xfrm>
            <a:off x="5156200" y="2571750"/>
            <a:ext cx="4569968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Technická analýza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Posoudit rozsah integrace a náročnost vývoje.</a:t>
            </a:r>
          </a:p>
        </p:txBody>
      </p:sp>
      <p:sp>
        <p:nvSpPr>
          <p:cNvPr id="12" name="Odpovídá"/>
          <p:cNvSpPr>
            <a:spLocks noGrp="1"/>
          </p:cNvSpPr>
          <p:nvPr>
            <p:ph type="body" idx="106" hasCustomPrompt="1"/>
          </p:nvPr>
        </p:nvSpPr>
        <p:spPr>
          <a:xfrm>
            <a:off x="9702800" y="2673350"/>
            <a:ext cx="9779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PARTNER</a:t>
            </a:r>
          </a:p>
        </p:txBody>
      </p:sp>
      <p:sp>
        <p:nvSpPr>
          <p:cNvPr id="13" name="Termín"/>
          <p:cNvSpPr>
            <a:spLocks noGrp="1"/>
          </p:cNvSpPr>
          <p:nvPr>
            <p:ph type="body" idx="107" hasCustomPrompt="1"/>
          </p:nvPr>
        </p:nvSpPr>
        <p:spPr>
          <a:xfrm>
            <a:off x="10703560" y="2719845"/>
            <a:ext cx="72644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do 28. 2.</a:t>
            </a:r>
          </a:p>
        </p:txBody>
      </p:sp>
      <p:sp>
        <p:nvSpPr>
          <p:cNvPr id="14" name="Číslo"/>
          <p:cNvSpPr>
            <a:spLocks noGrp="1"/>
          </p:cNvSpPr>
          <p:nvPr>
            <p:ph type="body" idx="108" hasCustomPrompt="1"/>
          </p:nvPr>
        </p:nvSpPr>
        <p:spPr>
          <a:xfrm>
            <a:off x="4699000" y="351994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5" name="Text"/>
          <p:cNvSpPr>
            <a:spLocks noGrp="1"/>
          </p:cNvSpPr>
          <p:nvPr>
            <p:ph type="body" idx="109" hasCustomPrompt="1"/>
          </p:nvPr>
        </p:nvSpPr>
        <p:spPr>
          <a:xfrm>
            <a:off x="5156200" y="3429000"/>
            <a:ext cx="4893564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Pilotní spuštění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Omezený okruh klientů, vyhodnocení po 3 měsících.</a:t>
            </a:r>
          </a:p>
        </p:txBody>
      </p:sp>
      <p:sp>
        <p:nvSpPr>
          <p:cNvPr id="16" name="Odpovídá"/>
          <p:cNvSpPr>
            <a:spLocks noGrp="1"/>
          </p:cNvSpPr>
          <p:nvPr>
            <p:ph type="body" idx="110" hasCustomPrompt="1"/>
          </p:nvPr>
        </p:nvSpPr>
        <p:spPr>
          <a:xfrm>
            <a:off x="10013950" y="3530600"/>
            <a:ext cx="6667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OBA</a:t>
            </a:r>
          </a:p>
        </p:txBody>
      </p:sp>
      <p:sp>
        <p:nvSpPr>
          <p:cNvPr id="17" name="Termín"/>
          <p:cNvSpPr>
            <a:spLocks noGrp="1"/>
          </p:cNvSpPr>
          <p:nvPr>
            <p:ph type="body" idx="111" hasCustomPrompt="1"/>
          </p:nvPr>
        </p:nvSpPr>
        <p:spPr>
          <a:xfrm>
            <a:off x="10703560" y="3577095"/>
            <a:ext cx="72644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Q2 2026</a:t>
            </a:r>
          </a:p>
        </p:txBody>
      </p:sp>
      <p:sp>
        <p:nvSpPr>
          <p:cNvPr id="18" name="Číslo"/>
          <p:cNvSpPr>
            <a:spLocks noGrp="1"/>
          </p:cNvSpPr>
          <p:nvPr>
            <p:ph type="body" idx="112" hasCustomPrompt="1"/>
          </p:nvPr>
        </p:nvSpPr>
        <p:spPr>
          <a:xfrm>
            <a:off x="4699000" y="437719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19" name="Text"/>
          <p:cNvSpPr>
            <a:spLocks noGrp="1"/>
          </p:cNvSpPr>
          <p:nvPr>
            <p:ph type="body" idx="113" hasCustomPrompt="1"/>
          </p:nvPr>
        </p:nvSpPr>
        <p:spPr>
          <a:xfrm>
            <a:off x="5156200" y="4286250"/>
            <a:ext cx="4371848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Společná komunikace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Case study, PR a kampaň v kanálech obou značek.</a:t>
            </a:r>
          </a:p>
        </p:txBody>
      </p:sp>
      <p:sp>
        <p:nvSpPr>
          <p:cNvPr id="20" name="Odpovídá"/>
          <p:cNvSpPr>
            <a:spLocks noGrp="1"/>
          </p:cNvSpPr>
          <p:nvPr>
            <p:ph type="body" idx="114" hasCustomPrompt="1"/>
          </p:nvPr>
        </p:nvSpPr>
        <p:spPr>
          <a:xfrm>
            <a:off x="9512300" y="4387850"/>
            <a:ext cx="11684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MARKETING</a:t>
            </a:r>
          </a:p>
        </p:txBody>
      </p:sp>
      <p:sp>
        <p:nvSpPr>
          <p:cNvPr id="21" name="Termín"/>
          <p:cNvSpPr>
            <a:spLocks noGrp="1"/>
          </p:cNvSpPr>
          <p:nvPr>
            <p:ph type="body" idx="115" hasCustomPrompt="1"/>
          </p:nvPr>
        </p:nvSpPr>
        <p:spPr>
          <a:xfrm>
            <a:off x="10703560" y="4434345"/>
            <a:ext cx="72644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Q3 2026</a:t>
            </a:r>
          </a:p>
        </p:txBody>
      </p:sp>
      <p:pic>
        <p:nvPicPr>
          <p:cNvPr id="22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23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ázky a odpovědi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070100"/>
            <a:ext cx="679450" cy="2921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Q&amp;A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2565400"/>
            <a:ext cx="485013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Otázky a odpovědi</a:t>
            </a:r>
          </a:p>
        </p:txBody>
      </p:sp>
      <p:sp>
        <p:nvSpPr>
          <p:cNvPr id="5" name="Podtitul"/>
          <p:cNvSpPr>
            <a:spLocks noGrp="1"/>
          </p:cNvSpPr>
          <p:nvPr>
            <p:ph type="body" idx="14" hasCustomPrompt="1"/>
          </p:nvPr>
        </p:nvSpPr>
        <p:spPr>
          <a:xfrm>
            <a:off x="762000" y="4130866"/>
            <a:ext cx="501904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500" b="0" kern="0" cap="none" spc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defRPr>
            </a:lvl1pPr>
          </a:lstStyle>
          <a:p>
            <a:r>
              <a:rPr lang="cs-CZ" dirty="0"/>
              <a:t>Ptejte se na cokoli – i na to, co jsme nestihli.</a:t>
            </a:r>
          </a:p>
        </p:txBody>
      </p:sp>
      <p:sp>
        <p:nvSpPr>
          <p:cNvPr id="6" name="Ikona"/>
          <p:cNvSpPr>
            <a:spLocks noGrp="1"/>
          </p:cNvSpPr>
          <p:nvPr>
            <p:ph type="body" idx="100" hasCustomPrompt="1"/>
          </p:nvPr>
        </p:nvSpPr>
        <p:spPr>
          <a:xfrm>
            <a:off x="6435725" y="1999120"/>
            <a:ext cx="889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7" name="Text otázky"/>
          <p:cNvSpPr>
            <a:spLocks noGrp="1"/>
          </p:cNvSpPr>
          <p:nvPr>
            <p:ph type="body" idx="101" hasCustomPrompt="1"/>
          </p:nvPr>
        </p:nvSpPr>
        <p:spPr>
          <a:xfrm>
            <a:off x="6638925" y="1964855"/>
            <a:ext cx="4761484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Pro koho je tato možnost vhodná?</a:t>
            </a:r>
          </a:p>
        </p:txBody>
      </p:sp>
      <p:sp>
        <p:nvSpPr>
          <p:cNvPr id="8" name="Ikona"/>
          <p:cNvSpPr>
            <a:spLocks noGrp="1"/>
          </p:cNvSpPr>
          <p:nvPr>
            <p:ph type="body" idx="102" hasCustomPrompt="1"/>
          </p:nvPr>
        </p:nvSpPr>
        <p:spPr>
          <a:xfrm>
            <a:off x="6435725" y="2792870"/>
            <a:ext cx="889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9" name="Text otázky"/>
          <p:cNvSpPr>
            <a:spLocks noGrp="1"/>
          </p:cNvSpPr>
          <p:nvPr>
            <p:ph type="body" idx="103" hasCustomPrompt="1"/>
          </p:nvPr>
        </p:nvSpPr>
        <p:spPr>
          <a:xfrm>
            <a:off x="6638925" y="2758605"/>
            <a:ext cx="4761484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Jaký je rozdíl mezi variantou A a B?</a:t>
            </a:r>
          </a:p>
        </p:txBody>
      </p:sp>
      <p:sp>
        <p:nvSpPr>
          <p:cNvPr id="10" name="Ikona"/>
          <p:cNvSpPr>
            <a:spLocks noGrp="1"/>
          </p:cNvSpPr>
          <p:nvPr>
            <p:ph type="body" idx="104" hasCustomPrompt="1"/>
          </p:nvPr>
        </p:nvSpPr>
        <p:spPr>
          <a:xfrm>
            <a:off x="6435725" y="3586620"/>
            <a:ext cx="889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11" name="Text otázky"/>
          <p:cNvSpPr>
            <a:spLocks noGrp="1"/>
          </p:cNvSpPr>
          <p:nvPr>
            <p:ph type="body" idx="105" hasCustomPrompt="1"/>
          </p:nvPr>
        </p:nvSpPr>
        <p:spPr>
          <a:xfrm>
            <a:off x="6638925" y="3552355"/>
            <a:ext cx="4761484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Co přesně znamená střednědobý horizont?</a:t>
            </a:r>
          </a:p>
        </p:txBody>
      </p:sp>
      <p:sp>
        <p:nvSpPr>
          <p:cNvPr id="12" name="Ikona"/>
          <p:cNvSpPr>
            <a:spLocks noGrp="1"/>
          </p:cNvSpPr>
          <p:nvPr>
            <p:ph type="body" idx="106" hasCustomPrompt="1"/>
          </p:nvPr>
        </p:nvSpPr>
        <p:spPr>
          <a:xfrm>
            <a:off x="6435725" y="4380370"/>
            <a:ext cx="889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13" name="Text otázky"/>
          <p:cNvSpPr>
            <a:spLocks noGrp="1"/>
          </p:cNvSpPr>
          <p:nvPr>
            <p:ph type="body" idx="107" hasCustomPrompt="1"/>
          </p:nvPr>
        </p:nvSpPr>
        <p:spPr>
          <a:xfrm>
            <a:off x="6638925" y="4346105"/>
            <a:ext cx="4761484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Jak rychle se dostanu ke svým penězům?</a:t>
            </a:r>
          </a:p>
        </p:txBody>
      </p:sp>
      <p:pic>
        <p:nvPicPr>
          <p:cNvPr id="14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5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 – tmavý, nadpis s přechodem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079500"/>
            <a:ext cx="908050" cy="292100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SOUTĚŽ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524000"/>
            <a:ext cx="6254115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Tipněte si a vyhrajte vstupenky na konferenci</a:t>
            </a:r>
          </a:p>
        </p:txBody>
      </p:sp>
      <p:sp>
        <p:nvSpPr>
          <p:cNvPr id="5" name="Text"/>
          <p:cNvSpPr>
            <a:spLocks noGrp="1"/>
          </p:cNvSpPr>
          <p:nvPr>
            <p:ph type="body" idx="100" hasCustomPrompt="1"/>
          </p:nvPr>
        </p:nvSpPr>
        <p:spPr>
          <a:xfrm>
            <a:off x="1143000" y="2634780"/>
            <a:ext cx="60756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Pošlete svůj tip na e-mail soutez@portu.cz</a:t>
            </a:r>
          </a:p>
        </p:txBody>
      </p:sp>
      <p:sp>
        <p:nvSpPr>
          <p:cNvPr id="6" name="Text"/>
          <p:cNvSpPr>
            <a:spLocks noGrp="1"/>
          </p:cNvSpPr>
          <p:nvPr>
            <p:ph type="body" idx="101" hasCustomPrompt="1"/>
          </p:nvPr>
        </p:nvSpPr>
        <p:spPr>
          <a:xfrm>
            <a:off x="1143000" y="2990380"/>
            <a:ext cx="60756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Nejpozději do 30. 8. 2026</a:t>
            </a:r>
          </a:p>
        </p:txBody>
      </p:sp>
      <p:sp>
        <p:nvSpPr>
          <p:cNvPr id="7" name="Text"/>
          <p:cNvSpPr>
            <a:spLocks noGrp="1"/>
          </p:cNvSpPr>
          <p:nvPr>
            <p:ph type="body" idx="102" hasCustomPrompt="1"/>
          </p:nvPr>
        </p:nvSpPr>
        <p:spPr>
          <a:xfrm>
            <a:off x="1143000" y="3345980"/>
            <a:ext cx="607568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bg1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Tři nejbližší tipy vyhrávají</a:t>
            </a:r>
          </a:p>
        </p:txBody>
      </p:sp>
      <p:sp>
        <p:nvSpPr>
          <p:cNvPr id="8" name="Pravidla"/>
          <p:cNvSpPr>
            <a:spLocks noGrp="1"/>
          </p:cNvSpPr>
          <p:nvPr>
            <p:ph type="body" idx="103" hasCustomPrompt="1"/>
          </p:nvPr>
        </p:nvSpPr>
        <p:spPr>
          <a:xfrm>
            <a:off x="762000" y="3749142"/>
            <a:ext cx="647192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Pravidla soutěže najdete na portu.cz/soutez</a:t>
            </a:r>
          </a:p>
        </p:txBody>
      </p:sp>
      <p:sp>
        <p:nvSpPr>
          <p:cNvPr id="9" name="QR kód (Fill → Image)"/>
          <p:cNvSpPr>
            <a:spLocks noGrp="1"/>
          </p:cNvSpPr>
          <p:nvPr>
            <p:ph type="pic" idx="20" hasCustomPrompt="1"/>
          </p:nvPr>
        </p:nvSpPr>
        <p:spPr>
          <a:xfrm>
            <a:off x="8813800" y="1765300"/>
            <a:ext cx="2286000" cy="2286000"/>
          </a:xfrm>
          <a:prstGeom prst="roundRect">
            <a:avLst>
              <a:gd name="adj" fmla="val 3333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 wrap="square" lIns="152400" tIns="152400" rIns="152400" bIns="152400" rtlCol="0" anchor="ctr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Klikněte na ikonu a vložte obrázek</a:t>
            </a:r>
          </a:p>
        </p:txBody>
      </p:sp>
      <p:sp>
        <p:nvSpPr>
          <p:cNvPr id="10" name="Popisek"/>
          <p:cNvSpPr>
            <a:spLocks noGrp="1"/>
          </p:cNvSpPr>
          <p:nvPr>
            <p:ph type="body" idx="104" hasCustomPrompt="1"/>
          </p:nvPr>
        </p:nvSpPr>
        <p:spPr>
          <a:xfrm>
            <a:off x="9207500" y="4173995"/>
            <a:ext cx="157353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Naskenujte a zapojte se</a:t>
            </a:r>
          </a:p>
        </p:txBody>
      </p:sp>
      <p:sp>
        <p:nvSpPr>
          <p:cNvPr id="11" name="Odkaz"/>
          <p:cNvSpPr>
            <a:spLocks noGrp="1"/>
          </p:cNvSpPr>
          <p:nvPr>
            <p:ph type="body" idx="105" hasCustomPrompt="1"/>
          </p:nvPr>
        </p:nvSpPr>
        <p:spPr>
          <a:xfrm>
            <a:off x="9451975" y="4485145"/>
            <a:ext cx="1060132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2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portu.cz/soutez</a:t>
            </a:r>
          </a:p>
        </p:txBody>
      </p:sp>
      <p:pic>
        <p:nvPicPr>
          <p:cNvPr id="12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3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ěr – poděkování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35000"/>
            <a:ext cx="1123950" cy="381000"/>
          </a:xfrm>
          <a:prstGeom prst="rect">
            <a:avLst/>
          </a:prstGeom>
        </p:spPr>
      </p:pic>
      <p:sp>
        <p:nvSpPr>
          <p:cNvPr id="4" name="Obsah"/>
          <p:cNvSpPr>
            <a:spLocks noGrp="1"/>
          </p:cNvSpPr>
          <p:nvPr>
            <p:ph type="body" idx="100" hasCustomPrompt="1"/>
          </p:nvPr>
        </p:nvSpPr>
        <p:spPr>
          <a:xfrm>
            <a:off x="762000" y="2095500"/>
            <a:ext cx="7019925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Děkujeme za pozornost</a:t>
            </a:r>
          </a:p>
          <a:p>
            <a:pPr marL="0" indent="0" algn="l">
              <a:lnSpc>
                <a:spcPts val="2100"/>
              </a:lnSpc>
              <a:spcBef>
                <a:spcPts val="581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rPr>
              <a:t>S konkrétní situací se ozvěte, rádi ji s vámi probereme.</a:t>
            </a:r>
          </a:p>
        </p:txBody>
      </p:sp>
      <p:sp>
        <p:nvSpPr>
          <p:cNvPr id="5" name="E-mail"/>
          <p:cNvSpPr>
            <a:spLocks noGrp="1"/>
          </p:cNvSpPr>
          <p:nvPr>
            <p:ph type="body" idx="101" hasCustomPrompt="1"/>
          </p:nvPr>
        </p:nvSpPr>
        <p:spPr>
          <a:xfrm>
            <a:off x="762000" y="4826000"/>
            <a:ext cx="2233612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poradenstvi@portu.cz</a:t>
            </a:r>
          </a:p>
        </p:txBody>
      </p:sp>
      <p:sp>
        <p:nvSpPr>
          <p:cNvPr id="6" name="Telefon"/>
          <p:cNvSpPr>
            <a:spLocks noGrp="1"/>
          </p:cNvSpPr>
          <p:nvPr>
            <p:ph type="body" idx="102" hasCustomPrompt="1"/>
          </p:nvPr>
        </p:nvSpPr>
        <p:spPr>
          <a:xfrm>
            <a:off x="3397250" y="4826000"/>
            <a:ext cx="1853565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+420 222 096 622</a:t>
            </a:r>
          </a:p>
        </p:txBody>
      </p:sp>
      <p:sp>
        <p:nvSpPr>
          <p:cNvPr id="7" name="Web"/>
          <p:cNvSpPr>
            <a:spLocks noGrp="1"/>
          </p:cNvSpPr>
          <p:nvPr>
            <p:ph type="body" idx="103" hasCustomPrompt="1"/>
          </p:nvPr>
        </p:nvSpPr>
        <p:spPr>
          <a:xfrm>
            <a:off x="5670550" y="4826000"/>
            <a:ext cx="813435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WEB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portu.cz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ěr – poděkování, kocou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35000"/>
            <a:ext cx="1123950" cy="381000"/>
          </a:xfrm>
          <a:prstGeom prst="rect">
            <a:avLst/>
          </a:prstGeom>
        </p:spPr>
      </p:pic>
      <p:sp>
        <p:nvSpPr>
          <p:cNvPr id="4" name="Obsah"/>
          <p:cNvSpPr>
            <a:spLocks noGrp="1"/>
          </p:cNvSpPr>
          <p:nvPr>
            <p:ph type="body" idx="100" hasCustomPrompt="1"/>
          </p:nvPr>
        </p:nvSpPr>
        <p:spPr>
          <a:xfrm>
            <a:off x="762000" y="2095500"/>
            <a:ext cx="7019925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5600" b="0" kern="0" cap="none" spc="-10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Děkujeme za pozornost</a:t>
            </a:r>
          </a:p>
          <a:p>
            <a:pPr marL="0" indent="0" algn="l">
              <a:lnSpc>
                <a:spcPts val="2100"/>
              </a:lnSpc>
              <a:spcBef>
                <a:spcPts val="581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rPr>
              <a:t>S konkrétní situací se ozvěte, rádi ji s vámi probereme.</a:t>
            </a:r>
          </a:p>
        </p:txBody>
      </p:sp>
      <p:sp>
        <p:nvSpPr>
          <p:cNvPr id="5" name="E-mail"/>
          <p:cNvSpPr>
            <a:spLocks noGrp="1"/>
          </p:cNvSpPr>
          <p:nvPr>
            <p:ph type="body" idx="101" hasCustomPrompt="1"/>
          </p:nvPr>
        </p:nvSpPr>
        <p:spPr>
          <a:xfrm>
            <a:off x="762000" y="4826000"/>
            <a:ext cx="2233612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poradenstvi@portu.cz</a:t>
            </a:r>
          </a:p>
        </p:txBody>
      </p:sp>
      <p:sp>
        <p:nvSpPr>
          <p:cNvPr id="6" name="Telefon"/>
          <p:cNvSpPr>
            <a:spLocks noGrp="1"/>
          </p:cNvSpPr>
          <p:nvPr>
            <p:ph type="body" idx="102" hasCustomPrompt="1"/>
          </p:nvPr>
        </p:nvSpPr>
        <p:spPr>
          <a:xfrm>
            <a:off x="3397250" y="4826000"/>
            <a:ext cx="1853565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+420 222 096 622</a:t>
            </a:r>
          </a:p>
        </p:txBody>
      </p:sp>
      <p:sp>
        <p:nvSpPr>
          <p:cNvPr id="7" name="Web"/>
          <p:cNvSpPr>
            <a:spLocks noGrp="1"/>
          </p:cNvSpPr>
          <p:nvPr>
            <p:ph type="body" idx="103" hasCustomPrompt="1"/>
          </p:nvPr>
        </p:nvSpPr>
        <p:spPr>
          <a:xfrm>
            <a:off x="5670550" y="4826000"/>
            <a:ext cx="813435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WEB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portu.cz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ěkujeme! Máte dotazy?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1905000"/>
            <a:ext cx="10033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KONTAKT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2349500"/>
            <a:ext cx="3733324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Děkujeme!  Máte dotazy?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3453930"/>
            <a:ext cx="386334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Ozvěte se nám – rádi vše probereme osobně.</a:t>
            </a:r>
          </a:p>
        </p:txBody>
      </p:sp>
      <p:sp>
        <p:nvSpPr>
          <p:cNvPr id="6" name="Fotka"/>
          <p:cNvSpPr>
            <a:spLocks noGrp="1"/>
          </p:cNvSpPr>
          <p:nvPr>
            <p:ph type="pic" idx="20"/>
          </p:nvPr>
        </p:nvSpPr>
        <p:spPr>
          <a:xfrm>
            <a:off x="7169150" y="1841500"/>
            <a:ext cx="1016000" cy="10160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Jméno a role"/>
          <p:cNvSpPr>
            <a:spLocks noGrp="1"/>
          </p:cNvSpPr>
          <p:nvPr>
            <p:ph type="body" idx="100" hasCustomPrompt="1"/>
          </p:nvPr>
        </p:nvSpPr>
        <p:spPr>
          <a:xfrm>
            <a:off x="7169150" y="3009900"/>
            <a:ext cx="2403856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Head of Product</a:t>
            </a:r>
          </a:p>
        </p:txBody>
      </p:sp>
      <p:sp>
        <p:nvSpPr>
          <p:cNvPr id="8" name="E-mail"/>
          <p:cNvSpPr>
            <a:spLocks noGrp="1"/>
          </p:cNvSpPr>
          <p:nvPr>
            <p:ph type="body" idx="101" hasCustomPrompt="1"/>
          </p:nvPr>
        </p:nvSpPr>
        <p:spPr>
          <a:xfrm>
            <a:off x="7169150" y="3644900"/>
            <a:ext cx="2403856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jmeno.prijmeni@portu.cz</a:t>
            </a:r>
          </a:p>
        </p:txBody>
      </p:sp>
      <p:sp>
        <p:nvSpPr>
          <p:cNvPr id="9" name="Telefon"/>
          <p:cNvSpPr>
            <a:spLocks noGrp="1"/>
          </p:cNvSpPr>
          <p:nvPr>
            <p:ph type="body" idx="102" hasCustomPrompt="1"/>
          </p:nvPr>
        </p:nvSpPr>
        <p:spPr>
          <a:xfrm>
            <a:off x="7169150" y="4229100"/>
            <a:ext cx="2403856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+420 000 000 000</a:t>
            </a:r>
          </a:p>
        </p:txBody>
      </p:sp>
      <p:pic>
        <p:nvPicPr>
          <p:cNvPr id="10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1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ěkujeme! Máte dotazy? (2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635000"/>
            <a:ext cx="10033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KONTAKT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079500"/>
            <a:ext cx="7924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Děkujeme! Máte dotazy?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1701330"/>
            <a:ext cx="79248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Ozvěte se nám – rádi vše probereme osobně.</a:t>
            </a:r>
          </a:p>
        </p:txBody>
      </p:sp>
      <p:sp>
        <p:nvSpPr>
          <p:cNvPr id="6" name="Fotka"/>
          <p:cNvSpPr>
            <a:spLocks noGrp="1"/>
          </p:cNvSpPr>
          <p:nvPr>
            <p:ph type="pic" idx="20"/>
          </p:nvPr>
        </p:nvSpPr>
        <p:spPr>
          <a:xfrm>
            <a:off x="1066800" y="2908300"/>
            <a:ext cx="609600" cy="6096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Jméno a role"/>
          <p:cNvSpPr>
            <a:spLocks noGrp="1"/>
          </p:cNvSpPr>
          <p:nvPr>
            <p:ph type="body" idx="100" hasCustomPrompt="1"/>
          </p:nvPr>
        </p:nvSpPr>
        <p:spPr>
          <a:xfrm>
            <a:off x="1803400" y="2971800"/>
            <a:ext cx="2192528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Head of Product</a:t>
            </a:r>
          </a:p>
        </p:txBody>
      </p:sp>
      <p:sp>
        <p:nvSpPr>
          <p:cNvPr id="8" name="E-mail"/>
          <p:cNvSpPr>
            <a:spLocks noGrp="1"/>
          </p:cNvSpPr>
          <p:nvPr>
            <p:ph type="body" idx="101" hasCustomPrompt="1"/>
          </p:nvPr>
        </p:nvSpPr>
        <p:spPr>
          <a:xfrm>
            <a:off x="1066800" y="3644900"/>
            <a:ext cx="295859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jmeno.prijmeni@portu.cz</a:t>
            </a:r>
          </a:p>
        </p:txBody>
      </p:sp>
      <p:sp>
        <p:nvSpPr>
          <p:cNvPr id="9" name="Telefon"/>
          <p:cNvSpPr>
            <a:spLocks noGrp="1"/>
          </p:cNvSpPr>
          <p:nvPr>
            <p:ph type="body" idx="102" hasCustomPrompt="1"/>
          </p:nvPr>
        </p:nvSpPr>
        <p:spPr>
          <a:xfrm>
            <a:off x="1066800" y="4203700"/>
            <a:ext cx="295859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+420 000 000 000</a:t>
            </a:r>
          </a:p>
        </p:txBody>
      </p:sp>
      <p:sp>
        <p:nvSpPr>
          <p:cNvPr id="10" name="Fotka"/>
          <p:cNvSpPr>
            <a:spLocks noGrp="1"/>
          </p:cNvSpPr>
          <p:nvPr>
            <p:ph type="pic" idx="21"/>
          </p:nvPr>
        </p:nvSpPr>
        <p:spPr>
          <a:xfrm>
            <a:off x="4673600" y="2908300"/>
            <a:ext cx="609600" cy="6096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Jméno a role"/>
          <p:cNvSpPr>
            <a:spLocks noGrp="1"/>
          </p:cNvSpPr>
          <p:nvPr>
            <p:ph type="body" idx="103" hasCustomPrompt="1"/>
          </p:nvPr>
        </p:nvSpPr>
        <p:spPr>
          <a:xfrm>
            <a:off x="5410200" y="2971800"/>
            <a:ext cx="2192528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Investiční konzultant</a:t>
            </a:r>
          </a:p>
        </p:txBody>
      </p:sp>
      <p:sp>
        <p:nvSpPr>
          <p:cNvPr id="12" name="E-mail"/>
          <p:cNvSpPr>
            <a:spLocks noGrp="1"/>
          </p:cNvSpPr>
          <p:nvPr>
            <p:ph type="body" idx="104" hasCustomPrompt="1"/>
          </p:nvPr>
        </p:nvSpPr>
        <p:spPr>
          <a:xfrm>
            <a:off x="4673600" y="3644900"/>
            <a:ext cx="295859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jmeno.prijmeni@portu.cz</a:t>
            </a:r>
          </a:p>
        </p:txBody>
      </p:sp>
      <p:sp>
        <p:nvSpPr>
          <p:cNvPr id="13" name="Telefon"/>
          <p:cNvSpPr>
            <a:spLocks noGrp="1"/>
          </p:cNvSpPr>
          <p:nvPr>
            <p:ph type="body" idx="105" hasCustomPrompt="1"/>
          </p:nvPr>
        </p:nvSpPr>
        <p:spPr>
          <a:xfrm>
            <a:off x="4673600" y="4203700"/>
            <a:ext cx="295859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+420 000 000 000</a:t>
            </a:r>
          </a:p>
        </p:txBody>
      </p:sp>
      <p:sp>
        <p:nvSpPr>
          <p:cNvPr id="14" name="Fotka"/>
          <p:cNvSpPr>
            <a:spLocks noGrp="1"/>
          </p:cNvSpPr>
          <p:nvPr>
            <p:ph type="pic" idx="22"/>
          </p:nvPr>
        </p:nvSpPr>
        <p:spPr>
          <a:xfrm>
            <a:off x="8280400" y="2908300"/>
            <a:ext cx="609600" cy="6096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Jméno a role"/>
          <p:cNvSpPr>
            <a:spLocks noGrp="1"/>
          </p:cNvSpPr>
          <p:nvPr>
            <p:ph type="body" idx="106" hasCustomPrompt="1"/>
          </p:nvPr>
        </p:nvSpPr>
        <p:spPr>
          <a:xfrm>
            <a:off x="9017000" y="2971800"/>
            <a:ext cx="2192528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>
            <a:lvl1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  <a:defRPr sz="1700" b="0" kern="0" cap="none" spc="-2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Analytik</a:t>
            </a:r>
          </a:p>
        </p:txBody>
      </p:sp>
      <p:sp>
        <p:nvSpPr>
          <p:cNvPr id="16" name="E-mail"/>
          <p:cNvSpPr>
            <a:spLocks noGrp="1"/>
          </p:cNvSpPr>
          <p:nvPr>
            <p:ph type="body" idx="107" hasCustomPrompt="1"/>
          </p:nvPr>
        </p:nvSpPr>
        <p:spPr>
          <a:xfrm>
            <a:off x="8280400" y="3644900"/>
            <a:ext cx="295859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jmeno.prijmeni@portu.cz</a:t>
            </a:r>
          </a:p>
        </p:txBody>
      </p:sp>
      <p:sp>
        <p:nvSpPr>
          <p:cNvPr id="17" name="Telefon"/>
          <p:cNvSpPr>
            <a:spLocks noGrp="1"/>
          </p:cNvSpPr>
          <p:nvPr>
            <p:ph type="body" idx="108" hasCustomPrompt="1"/>
          </p:nvPr>
        </p:nvSpPr>
        <p:spPr>
          <a:xfrm>
            <a:off x="8280400" y="4203700"/>
            <a:ext cx="2958592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+420 000 000 000</a:t>
            </a:r>
          </a:p>
        </p:txBody>
      </p:sp>
      <p:pic>
        <p:nvPicPr>
          <p:cNvPr id="18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19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íloh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lustrace (zamčená)" descr="dekorace"/>
          <p:cNvPicPr>
            <a:picLocks noGrp="1" noSelect="1" noChangeAspect="1" noMove="1" noResize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77000" y="0"/>
            <a:ext cx="5715000" cy="6858000"/>
          </a:xfrm>
          <a:prstGeom prst="rect">
            <a:avLst/>
          </a:prstGeom>
        </p:spPr>
      </p:pic>
      <p:sp>
        <p:nvSpPr>
          <p:cNvPr id="4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2286000"/>
            <a:ext cx="95885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PŘÍLOHA</a:t>
            </a:r>
          </a:p>
        </p:txBody>
      </p:sp>
      <p:sp>
        <p:nvSpPr>
          <p:cNvPr id="5" name="Nadpis"/>
          <p:cNvSpPr>
            <a:spLocks noGrp="1"/>
          </p:cNvSpPr>
          <p:nvPr>
            <p:ph type="title" hasCustomPrompt="1"/>
          </p:nvPr>
        </p:nvSpPr>
        <p:spPr>
          <a:xfrm>
            <a:off x="762000" y="2730500"/>
            <a:ext cx="5943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>
            <a:lvl1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  <a:defRPr sz="3600" b="0" kern="0" cap="none" spc="-75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Příloha</a:t>
            </a:r>
          </a:p>
        </p:txBody>
      </p:sp>
      <p:sp>
        <p:nvSpPr>
          <p:cNvPr id="6" name="Popis"/>
          <p:cNvSpPr>
            <a:spLocks noGrp="1"/>
          </p:cNvSpPr>
          <p:nvPr>
            <p:ph type="body" idx="14" hasCustomPrompt="1"/>
          </p:nvPr>
        </p:nvSpPr>
        <p:spPr>
          <a:xfrm>
            <a:off x="762000" y="3352330"/>
            <a:ext cx="59436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>
            <a:lvl1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  <a:defRPr sz="13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Doplňující data, podklady a detaily k prezentaci.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vní upozorněn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 hasCustomPrompt="1"/>
          </p:nvPr>
        </p:nvSpPr>
        <p:spPr>
          <a:xfrm>
            <a:off x="762000" y="889000"/>
            <a:ext cx="1930400" cy="292100"/>
          </a:xfrm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>
            <a:lvl1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000" b="0" kern="0" cap="all" spc="75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DŮLEŽITÉ UPOZORNĚNÍ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 hasCustomPrompt="1"/>
          </p:nvPr>
        </p:nvSpPr>
        <p:spPr>
          <a:xfrm>
            <a:off x="762000" y="1333500"/>
            <a:ext cx="8585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Právní upozornění</a:t>
            </a:r>
          </a:p>
        </p:txBody>
      </p:sp>
      <p:sp>
        <p:nvSpPr>
          <p:cNvPr id="5" name="Text upozornění"/>
          <p:cNvSpPr>
            <a:spLocks noGrp="1"/>
          </p:cNvSpPr>
          <p:nvPr>
            <p:ph type="body" idx="100" hasCustomPrompt="1"/>
          </p:nvPr>
        </p:nvSpPr>
        <p:spPr>
          <a:xfrm>
            <a:off x="762000" y="1843545"/>
            <a:ext cx="8296275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1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Tento materiál připravila společnost WOOD Retail Investments a.s. na základě historických finančních a statistických dat, aniž by provedla jejich nezávislé ověření. Dokument má pouze informativní charakter, nepředstavuje daňové ani právní poradenství a nejde o investiční doporučení ani nabídku k nákupu či prodeji cenných papírů. Rozhodnutí učiněná na základě tohoto dokumentu činí příjemce na vlastní riziko. Dokument a veškeré informace v něm obsažené jsou přísně důvěrné a nesmí být bez předchozího písemného souhlasu WOOD &amp; Co. reprodukovány, kopírovány, zveřejňovány ani jinak šířeny.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cs-CZ" sz="1100" b="0" kern="0" cap="none" spc="0" dirty="0">
              <a:solidFill>
                <a:schemeClr val="accent6"/>
              </a:solidFill>
              <a:latin typeface="Rethink Sans"/>
              <a:ea typeface="Rethink Sans"/>
              <a:cs typeface="Rethink Sans"/>
            </a:endParaRP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Investování je spojeno s rizikem. Hodnota investice může kolísat a není zaručena návratnost původně investované částky. Minulé výnosy nejsou zárukou budoucích výnosů.</a:t>
            </a:r>
          </a:p>
        </p:txBody>
      </p:sp>
      <p:sp>
        <p:nvSpPr>
          <p:cNvPr id="6" name="Copyright"/>
          <p:cNvSpPr>
            <a:spLocks noGrp="1"/>
          </p:cNvSpPr>
          <p:nvPr>
            <p:ph type="body" idx="101" hasCustomPrompt="1"/>
          </p:nvPr>
        </p:nvSpPr>
        <p:spPr>
          <a:xfrm>
            <a:off x="762000" y="3622142"/>
            <a:ext cx="8585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© 2026 WOOD Retail Investments a.s.</a:t>
            </a:r>
          </a:p>
        </p:txBody>
      </p:sp>
      <p:pic>
        <p:nvPicPr>
          <p:cNvPr id="7" name="Logo Portu" descr="Portu"/>
          <p:cNvPicPr>
            <a:picLocks noGrp="1" noSelect="1" noChangeAspect="1" noMove="1" noResize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6210300"/>
            <a:ext cx="749300" cy="254000"/>
          </a:xfrm>
          <a:prstGeom prst="rect">
            <a:avLst/>
          </a:prstGeom>
        </p:spPr>
      </p:pic>
      <p:sp>
        <p:nvSpPr>
          <p:cNvPr id="8" name="Patička"/>
          <p:cNvSpPr>
            <a:spLocks noGrp="1"/>
          </p:cNvSpPr>
          <p:nvPr>
            <p:ph type="ftr" idx="11" hasCustomPrompt="1"/>
          </p:nvPr>
        </p:nvSpPr>
        <p:spPr>
          <a:xfrm>
            <a:off x="6146800" y="6251042"/>
            <a:ext cx="5283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>
            <a:lvl1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00" b="0" kern="0" cap="none" spc="0">
                <a:solidFill>
                  <a:schemeClr val="accent6"/>
                </a:solidFill>
                <a:latin typeface="Rethink Sans"/>
                <a:ea typeface="Rethink Sans"/>
                <a:cs typeface="Rethink Sans"/>
              </a:defRPr>
            </a:lvl1pPr>
          </a:lstStyle>
          <a:p>
            <a:r>
              <a:rPr lang="cs-CZ" dirty="0"/>
              <a:t>Název prezentace  ·  Datum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klady – obrázky a ikon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ocour – varianty podle produk"/>
          <p:cNvSpPr>
            <a:spLocks noGrp="1"/>
          </p:cNvSpPr>
          <p:nvPr>
            <p:ph type="title" hasCustomPrompt="1"/>
          </p:nvPr>
        </p:nvSpPr>
        <p:spPr>
          <a:xfrm>
            <a:off x="508000" y="381000"/>
            <a:ext cx="5080635" cy="368300"/>
          </a:xfrm>
          <a:prstGeom prst="rect">
            <a:avLst/>
          </a:prstGeom>
          <a:noFill/>
          <a:ln>
            <a:noFill/>
          </a:ln>
        </p:spPr>
        <p:txBody>
          <a:bodyPr wrap="none" lIns="0" tIns="30810" rIns="0" bIns="0" rtlCol="0" anchor="t" anchorCtr="0">
            <a:normAutofit/>
          </a:bodyPr>
          <a:lstStyle>
            <a:lvl1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  <a:defRPr sz="2600" b="0" kern="0" cap="none" spc="-5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defRPr>
            </a:lvl1pPr>
          </a:lstStyle>
          <a:p>
            <a:r>
              <a:rPr lang="cs-CZ" dirty="0"/>
              <a:t>Kocour – varianty podle produktu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ort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1079500"/>
            <a:ext cx="10668000" cy="73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2095500"/>
            <a:ext cx="10668000" cy="35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0000" y="6261100"/>
            <a:ext cx="50800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</p:sldLayoutIdLst>
  <p:txStyles>
    <p:titleStyle>
      <a:lvl1pPr marL="0" indent="0" algn="l" defTabSz="304800" rtl="0" eaLnBrk="1" latinLnBrk="0" hangingPunct="1">
        <a:lnSpc>
          <a:spcPts val="2900"/>
        </a:lnSpc>
        <a:spcBef>
          <a:spcPts val="0"/>
        </a:spcBef>
        <a:buNone/>
        <a:defRPr sz="2600" b="0" kern="0" spc="-50">
          <a:solidFill>
            <a:schemeClr val="accent2"/>
          </a:solidFill>
          <a:latin typeface="+mj-lt"/>
          <a:ea typeface="+mj-lt"/>
          <a:cs typeface="+mj-lt"/>
        </a:defRPr>
      </a:lvl1pPr>
    </p:titleStyle>
    <p:bodyStyle>
      <a:lvl1pPr marL="0" indent="0" algn="l" defTabSz="304800" rtl="0" eaLnBrk="1" latinLnBrk="0" hangingPunct="1">
        <a:lnSpc>
          <a:spcPts val="1900"/>
        </a:lnSpc>
        <a:spcBef>
          <a:spcPts val="600"/>
        </a:spcBef>
        <a:buNone/>
        <a:defRPr sz="1300" b="0" kern="0">
          <a:solidFill>
            <a:schemeClr val="tx1"/>
          </a:solidFill>
          <a:latin typeface="+mn-lt"/>
          <a:ea typeface="+mn-lt"/>
          <a:cs typeface="+mn-lt"/>
        </a:defRPr>
      </a:lvl1pPr>
      <a:lvl2pPr marL="203200" indent="-206375" algn="l" defTabSz="304800" rtl="0" eaLnBrk="1" latinLnBrk="0" hangingPunct="1">
        <a:lnSpc>
          <a:spcPts val="1900"/>
        </a:lnSpc>
        <a:spcBef>
          <a:spcPts val="600"/>
        </a:spcBef>
        <a:buClr>
          <a:schemeClr val="accent2"/>
        </a:buClr>
        <a:buFont typeface="Arial"/>
        <a:buChar char="•"/>
        <a:defRPr sz="1300" b="0" kern="0">
          <a:solidFill>
            <a:schemeClr val="accent6"/>
          </a:solidFill>
          <a:latin typeface="+mn-lt"/>
          <a:ea typeface="+mn-lt"/>
          <a:cs typeface="+mn-lt"/>
        </a:defRPr>
      </a:lvl2pPr>
      <a:lvl3pPr marL="406400" indent="-206375" algn="l" defTabSz="304800" rtl="0" eaLnBrk="1" latinLnBrk="0" hangingPunct="1">
        <a:lnSpc>
          <a:spcPts val="1900"/>
        </a:lnSpc>
        <a:spcBef>
          <a:spcPts val="600"/>
        </a:spcBef>
        <a:buClr>
          <a:schemeClr val="accent2"/>
        </a:buClr>
        <a:buFont typeface="Arial"/>
        <a:buChar char="•"/>
        <a:defRPr sz="1300" b="0" kern="0">
          <a:solidFill>
            <a:schemeClr val="accent6"/>
          </a:solidFill>
          <a:latin typeface="+mn-lt"/>
          <a:ea typeface="+mn-lt"/>
          <a:cs typeface="+mn-lt"/>
        </a:defRPr>
      </a:lvl3pPr>
      <a:lvl4pPr marL="609600" indent="-206375" algn="l" defTabSz="304800" rtl="0" eaLnBrk="1" latinLnBrk="0" hangingPunct="1">
        <a:lnSpc>
          <a:spcPts val="1900"/>
        </a:lnSpc>
        <a:spcBef>
          <a:spcPts val="600"/>
        </a:spcBef>
        <a:buClr>
          <a:schemeClr val="accent2"/>
        </a:buClr>
        <a:buFont typeface="Arial"/>
        <a:buChar char="•"/>
        <a:defRPr sz="1300" b="0" kern="0">
          <a:solidFill>
            <a:schemeClr val="accent6"/>
          </a:solidFill>
          <a:latin typeface="+mn-lt"/>
          <a:ea typeface="+mn-lt"/>
          <a:cs typeface="+mn-lt"/>
        </a:defRPr>
      </a:lvl4pPr>
      <a:lvl5pPr marL="812800" indent="-206375" algn="l" defTabSz="304800" rtl="0" eaLnBrk="1" latinLnBrk="0" hangingPunct="1">
        <a:lnSpc>
          <a:spcPts val="1900"/>
        </a:lnSpc>
        <a:spcBef>
          <a:spcPts val="600"/>
        </a:spcBef>
        <a:buClr>
          <a:schemeClr val="accent2"/>
        </a:buClr>
        <a:buFont typeface="Arial"/>
        <a:buChar char="•"/>
        <a:defRPr sz="1300" b="0" kern="0">
          <a:solidFill>
            <a:schemeClr val="accent6"/>
          </a:solidFill>
          <a:latin typeface="+mn-lt"/>
          <a:ea typeface="+mn-lt"/>
          <a:cs typeface="+mn-lt"/>
        </a:defRPr>
      </a:lvl5pPr>
    </p:bodyStyle>
    <p:otherStyle>
      <a:defPPr>
        <a:defRPr lang="cs-CZ"/>
      </a:defPPr>
      <a:lvl1pPr marL="0" indent="0" algn="l" defTabSz="304800" rtl="0" eaLnBrk="1" latinLnBrk="0" hangingPunct="1">
        <a:lnSpc>
          <a:spcPts val="1600"/>
        </a:lnSpc>
        <a:spcBef>
          <a:spcPts val="0"/>
        </a:spcBef>
        <a:buNone/>
        <a:defRPr sz="1100" b="0" kern="0">
          <a:solidFill>
            <a:schemeClr val="tx1"/>
          </a:solidFill>
          <a:latin typeface="+mn-lt"/>
          <a:ea typeface="+mn-lt"/>
          <a:cs typeface="+mn-lt"/>
        </a:defRPr>
      </a:lvl1pPr>
      <a:lvl2pPr marL="0" indent="0" algn="l" defTabSz="304800" rtl="0" eaLnBrk="1" latinLnBrk="0" hangingPunct="1">
        <a:lnSpc>
          <a:spcPts val="1600"/>
        </a:lnSpc>
        <a:spcBef>
          <a:spcPts val="0"/>
        </a:spcBef>
        <a:buNone/>
        <a:defRPr sz="1100" b="0" kern="0">
          <a:solidFill>
            <a:schemeClr val="tx1"/>
          </a:solidFill>
          <a:latin typeface="+mn-lt"/>
          <a:ea typeface="+mn-lt"/>
          <a:cs typeface="+mn-lt"/>
        </a:defRPr>
      </a:lvl2pPr>
      <a:lvl3pPr marL="0" indent="0" algn="l" defTabSz="304800" rtl="0" eaLnBrk="1" latinLnBrk="0" hangingPunct="1">
        <a:lnSpc>
          <a:spcPts val="1600"/>
        </a:lnSpc>
        <a:spcBef>
          <a:spcPts val="0"/>
        </a:spcBef>
        <a:buNone/>
        <a:defRPr sz="1100" b="0" kern="0">
          <a:solidFill>
            <a:schemeClr val="tx1"/>
          </a:solidFill>
          <a:latin typeface="+mn-lt"/>
          <a:ea typeface="+mn-lt"/>
          <a:cs typeface="+mn-lt"/>
        </a:defRPr>
      </a:lvl3pPr>
      <a:lvl4pPr marL="0" indent="0" algn="l" defTabSz="304800" rtl="0" eaLnBrk="1" latinLnBrk="0" hangingPunct="1">
        <a:lnSpc>
          <a:spcPts val="1600"/>
        </a:lnSpc>
        <a:spcBef>
          <a:spcPts val="0"/>
        </a:spcBef>
        <a:buNone/>
        <a:defRPr sz="1100" b="0" kern="0">
          <a:solidFill>
            <a:schemeClr val="tx1"/>
          </a:solidFill>
          <a:latin typeface="+mn-lt"/>
          <a:ea typeface="+mn-lt"/>
          <a:cs typeface="+mn-lt"/>
        </a:defRPr>
      </a:lvl4pPr>
      <a:lvl5pPr marL="0" indent="0" algn="l" defTabSz="304800" rtl="0" eaLnBrk="1" latinLnBrk="0" hangingPunct="1">
        <a:lnSpc>
          <a:spcPts val="1600"/>
        </a:lnSpc>
        <a:spcBef>
          <a:spcPts val="0"/>
        </a:spcBef>
        <a:buNone/>
        <a:defRPr sz="1100" b="0" kern="0">
          <a:solidFill>
            <a:schemeClr val="tx1"/>
          </a:solidFill>
          <a:latin typeface="+mn-lt"/>
          <a:ea typeface="+mn-lt"/>
          <a:cs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rtu.cz" TargetMode="Externa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7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0.png"/><Relationship Id="rId7" Type="http://schemas.openxmlformats.org/officeDocument/2006/relationships/image" Target="../media/image4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13" Type="http://schemas.openxmlformats.org/officeDocument/2006/relationships/image" Target="../media/image53.svg"/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12" Type="http://schemas.openxmlformats.org/officeDocument/2006/relationships/image" Target="../media/image52.svg"/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46.svg"/><Relationship Id="rId11" Type="http://schemas.openxmlformats.org/officeDocument/2006/relationships/image" Target="../media/image51.svg"/><Relationship Id="rId5" Type="http://schemas.openxmlformats.org/officeDocument/2006/relationships/image" Target="../media/image45.svg"/><Relationship Id="rId10" Type="http://schemas.openxmlformats.org/officeDocument/2006/relationships/image" Target="../media/image50.svg"/><Relationship Id="rId4" Type="http://schemas.openxmlformats.org/officeDocument/2006/relationships/image" Target="../media/image44.svg"/><Relationship Id="rId9" Type="http://schemas.openxmlformats.org/officeDocument/2006/relationships/image" Target="../media/image49.svg"/><Relationship Id="rId14" Type="http://schemas.openxmlformats.org/officeDocument/2006/relationships/image" Target="../media/image54.svg"/></Relationships>
</file>

<file path=ppt/slides/_rels/slide5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9.svg"/><Relationship Id="rId21" Type="http://schemas.openxmlformats.org/officeDocument/2006/relationships/image" Target="../media/image74.svg"/><Relationship Id="rId42" Type="http://schemas.openxmlformats.org/officeDocument/2006/relationships/image" Target="../media/image95.svg"/><Relationship Id="rId47" Type="http://schemas.openxmlformats.org/officeDocument/2006/relationships/image" Target="../media/image100.svg"/><Relationship Id="rId63" Type="http://schemas.openxmlformats.org/officeDocument/2006/relationships/image" Target="../media/image116.svg"/><Relationship Id="rId68" Type="http://schemas.openxmlformats.org/officeDocument/2006/relationships/image" Target="../media/image121.svg"/><Relationship Id="rId16" Type="http://schemas.openxmlformats.org/officeDocument/2006/relationships/image" Target="../media/image69.svg"/><Relationship Id="rId11" Type="http://schemas.openxmlformats.org/officeDocument/2006/relationships/image" Target="../media/image64.svg"/><Relationship Id="rId32" Type="http://schemas.openxmlformats.org/officeDocument/2006/relationships/image" Target="../media/image85.svg"/><Relationship Id="rId37" Type="http://schemas.openxmlformats.org/officeDocument/2006/relationships/image" Target="../media/image90.svg"/><Relationship Id="rId53" Type="http://schemas.openxmlformats.org/officeDocument/2006/relationships/image" Target="../media/image106.svg"/><Relationship Id="rId58" Type="http://schemas.openxmlformats.org/officeDocument/2006/relationships/image" Target="../media/image111.svg"/><Relationship Id="rId74" Type="http://schemas.openxmlformats.org/officeDocument/2006/relationships/image" Target="../media/image127.svg"/><Relationship Id="rId79" Type="http://schemas.openxmlformats.org/officeDocument/2006/relationships/image" Target="../media/image132.svg"/><Relationship Id="rId5" Type="http://schemas.openxmlformats.org/officeDocument/2006/relationships/image" Target="../media/image58.svg"/><Relationship Id="rId61" Type="http://schemas.openxmlformats.org/officeDocument/2006/relationships/image" Target="../media/image114.svg"/><Relationship Id="rId82" Type="http://schemas.openxmlformats.org/officeDocument/2006/relationships/image" Target="../media/image135.svg"/><Relationship Id="rId19" Type="http://schemas.openxmlformats.org/officeDocument/2006/relationships/image" Target="../media/image72.svg"/><Relationship Id="rId14" Type="http://schemas.openxmlformats.org/officeDocument/2006/relationships/image" Target="../media/image67.svg"/><Relationship Id="rId22" Type="http://schemas.openxmlformats.org/officeDocument/2006/relationships/image" Target="../media/image75.svg"/><Relationship Id="rId27" Type="http://schemas.openxmlformats.org/officeDocument/2006/relationships/image" Target="../media/image80.svg"/><Relationship Id="rId30" Type="http://schemas.openxmlformats.org/officeDocument/2006/relationships/image" Target="../media/image83.svg"/><Relationship Id="rId35" Type="http://schemas.openxmlformats.org/officeDocument/2006/relationships/image" Target="../media/image88.svg"/><Relationship Id="rId43" Type="http://schemas.openxmlformats.org/officeDocument/2006/relationships/image" Target="../media/image96.svg"/><Relationship Id="rId48" Type="http://schemas.openxmlformats.org/officeDocument/2006/relationships/image" Target="../media/image101.svg"/><Relationship Id="rId56" Type="http://schemas.openxmlformats.org/officeDocument/2006/relationships/image" Target="../media/image109.svg"/><Relationship Id="rId64" Type="http://schemas.openxmlformats.org/officeDocument/2006/relationships/image" Target="../media/image117.svg"/><Relationship Id="rId69" Type="http://schemas.openxmlformats.org/officeDocument/2006/relationships/image" Target="../media/image122.svg"/><Relationship Id="rId77" Type="http://schemas.openxmlformats.org/officeDocument/2006/relationships/image" Target="../media/image130.svg"/><Relationship Id="rId8" Type="http://schemas.openxmlformats.org/officeDocument/2006/relationships/image" Target="../media/image61.svg"/><Relationship Id="rId51" Type="http://schemas.openxmlformats.org/officeDocument/2006/relationships/image" Target="../media/image104.svg"/><Relationship Id="rId72" Type="http://schemas.openxmlformats.org/officeDocument/2006/relationships/image" Target="../media/image125.svg"/><Relationship Id="rId80" Type="http://schemas.openxmlformats.org/officeDocument/2006/relationships/image" Target="../media/image133.svg"/><Relationship Id="rId3" Type="http://schemas.openxmlformats.org/officeDocument/2006/relationships/image" Target="../media/image56.svg"/><Relationship Id="rId12" Type="http://schemas.openxmlformats.org/officeDocument/2006/relationships/image" Target="../media/image65.svg"/><Relationship Id="rId17" Type="http://schemas.openxmlformats.org/officeDocument/2006/relationships/image" Target="../media/image70.svg"/><Relationship Id="rId25" Type="http://schemas.openxmlformats.org/officeDocument/2006/relationships/image" Target="../media/image78.svg"/><Relationship Id="rId33" Type="http://schemas.openxmlformats.org/officeDocument/2006/relationships/image" Target="../media/image86.svg"/><Relationship Id="rId38" Type="http://schemas.openxmlformats.org/officeDocument/2006/relationships/image" Target="../media/image91.svg"/><Relationship Id="rId46" Type="http://schemas.openxmlformats.org/officeDocument/2006/relationships/image" Target="../media/image99.svg"/><Relationship Id="rId59" Type="http://schemas.openxmlformats.org/officeDocument/2006/relationships/image" Target="../media/image112.svg"/><Relationship Id="rId67" Type="http://schemas.openxmlformats.org/officeDocument/2006/relationships/image" Target="../media/image120.svg"/><Relationship Id="rId20" Type="http://schemas.openxmlformats.org/officeDocument/2006/relationships/image" Target="../media/image73.svg"/><Relationship Id="rId41" Type="http://schemas.openxmlformats.org/officeDocument/2006/relationships/image" Target="../media/image94.svg"/><Relationship Id="rId54" Type="http://schemas.openxmlformats.org/officeDocument/2006/relationships/image" Target="../media/image107.svg"/><Relationship Id="rId62" Type="http://schemas.openxmlformats.org/officeDocument/2006/relationships/image" Target="../media/image115.svg"/><Relationship Id="rId70" Type="http://schemas.openxmlformats.org/officeDocument/2006/relationships/image" Target="../media/image123.svg"/><Relationship Id="rId75" Type="http://schemas.openxmlformats.org/officeDocument/2006/relationships/image" Target="../media/image128.sv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59.svg"/><Relationship Id="rId15" Type="http://schemas.openxmlformats.org/officeDocument/2006/relationships/image" Target="../media/image68.svg"/><Relationship Id="rId23" Type="http://schemas.openxmlformats.org/officeDocument/2006/relationships/image" Target="../media/image76.svg"/><Relationship Id="rId28" Type="http://schemas.openxmlformats.org/officeDocument/2006/relationships/image" Target="../media/image81.svg"/><Relationship Id="rId36" Type="http://schemas.openxmlformats.org/officeDocument/2006/relationships/image" Target="../media/image89.svg"/><Relationship Id="rId49" Type="http://schemas.openxmlformats.org/officeDocument/2006/relationships/image" Target="../media/image102.svg"/><Relationship Id="rId57" Type="http://schemas.openxmlformats.org/officeDocument/2006/relationships/image" Target="../media/image110.svg"/><Relationship Id="rId10" Type="http://schemas.openxmlformats.org/officeDocument/2006/relationships/image" Target="../media/image63.svg"/><Relationship Id="rId31" Type="http://schemas.openxmlformats.org/officeDocument/2006/relationships/image" Target="../media/image84.svg"/><Relationship Id="rId44" Type="http://schemas.openxmlformats.org/officeDocument/2006/relationships/image" Target="../media/image97.svg"/><Relationship Id="rId52" Type="http://schemas.openxmlformats.org/officeDocument/2006/relationships/image" Target="../media/image105.svg"/><Relationship Id="rId60" Type="http://schemas.openxmlformats.org/officeDocument/2006/relationships/image" Target="../media/image113.svg"/><Relationship Id="rId65" Type="http://schemas.openxmlformats.org/officeDocument/2006/relationships/image" Target="../media/image118.svg"/><Relationship Id="rId73" Type="http://schemas.openxmlformats.org/officeDocument/2006/relationships/image" Target="../media/image126.svg"/><Relationship Id="rId78" Type="http://schemas.openxmlformats.org/officeDocument/2006/relationships/image" Target="../media/image131.svg"/><Relationship Id="rId81" Type="http://schemas.openxmlformats.org/officeDocument/2006/relationships/image" Target="../media/image134.svg"/><Relationship Id="rId4" Type="http://schemas.openxmlformats.org/officeDocument/2006/relationships/image" Target="../media/image57.svg"/><Relationship Id="rId9" Type="http://schemas.openxmlformats.org/officeDocument/2006/relationships/image" Target="../media/image62.svg"/><Relationship Id="rId13" Type="http://schemas.openxmlformats.org/officeDocument/2006/relationships/image" Target="../media/image66.svg"/><Relationship Id="rId18" Type="http://schemas.openxmlformats.org/officeDocument/2006/relationships/image" Target="../media/image71.svg"/><Relationship Id="rId39" Type="http://schemas.openxmlformats.org/officeDocument/2006/relationships/image" Target="../media/image92.svg"/><Relationship Id="rId34" Type="http://schemas.openxmlformats.org/officeDocument/2006/relationships/image" Target="../media/image87.svg"/><Relationship Id="rId50" Type="http://schemas.openxmlformats.org/officeDocument/2006/relationships/image" Target="../media/image103.svg"/><Relationship Id="rId55" Type="http://schemas.openxmlformats.org/officeDocument/2006/relationships/image" Target="../media/image108.svg"/><Relationship Id="rId76" Type="http://schemas.openxmlformats.org/officeDocument/2006/relationships/image" Target="../media/image129.svg"/><Relationship Id="rId7" Type="http://schemas.openxmlformats.org/officeDocument/2006/relationships/image" Target="../media/image60.svg"/><Relationship Id="rId71" Type="http://schemas.openxmlformats.org/officeDocument/2006/relationships/image" Target="../media/image124.svg"/><Relationship Id="rId2" Type="http://schemas.openxmlformats.org/officeDocument/2006/relationships/image" Target="../media/image55.svg"/><Relationship Id="rId29" Type="http://schemas.openxmlformats.org/officeDocument/2006/relationships/image" Target="../media/image82.svg"/><Relationship Id="rId24" Type="http://schemas.openxmlformats.org/officeDocument/2006/relationships/image" Target="../media/image77.svg"/><Relationship Id="rId40" Type="http://schemas.openxmlformats.org/officeDocument/2006/relationships/image" Target="../media/image93.svg"/><Relationship Id="rId45" Type="http://schemas.openxmlformats.org/officeDocument/2006/relationships/image" Target="../media/image98.svg"/><Relationship Id="rId66" Type="http://schemas.openxmlformats.org/officeDocument/2006/relationships/image" Target="../media/image1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ázev prezentace, klidně i na dva řád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WEBINÁŘ · INVESTIČNÍ KONZULTACE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/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Název prezentace, klidně i na dva řádky</a:t>
            </a:r>
          </a:p>
        </p:txBody>
      </p:sp>
      <p:sp>
        <p:nvSpPr>
          <p:cNvPr id="5" name="Podtitul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rPr>
              <a:t>Podtitul – jednou větou, o čem dnes budeme mluvit</a:t>
            </a:r>
          </a:p>
        </p:txBody>
      </p:sp>
      <p:sp>
        <p:nvSpPr>
          <p:cNvPr id="6" name="Fotka"/>
          <p:cNvSpPr>
            <a:spLocks noGrp="1"/>
          </p:cNvSpPr>
          <p:nvPr>
            <p:ph type="pic" idx="20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Jméno a role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8" name="Fotka"/>
          <p:cNvSpPr>
            <a:spLocks noGrp="1"/>
          </p:cNvSpPr>
          <p:nvPr>
            <p:ph type="pic" idx="21"/>
          </p:nvPr>
        </p:nvSpPr>
        <p:spPr>
          <a:xfrm>
            <a:off x="27622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Jméno a role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0" name="Fotka"/>
          <p:cNvSpPr>
            <a:spLocks noGrp="1"/>
          </p:cNvSpPr>
          <p:nvPr>
            <p:ph type="pic" idx="22"/>
          </p:nvPr>
        </p:nvSpPr>
        <p:spPr>
          <a:xfrm>
            <a:off x="50165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Jméno a role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sp>
        <p:nvSpPr>
          <p:cNvPr id="12" name="Datum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ázev prezentace, klidně i na dva řád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WEBINÁŘ · INVESTIČNÍ KONZULTACE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/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Název prezentace, klidně i na dva řádky</a:t>
            </a:r>
          </a:p>
        </p:txBody>
      </p:sp>
      <p:sp>
        <p:nvSpPr>
          <p:cNvPr id="5" name="Podtitul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rPr>
              <a:t>Podtitul – jednou větou, o čem dnes budeme mluvit</a:t>
            </a:r>
          </a:p>
        </p:txBody>
      </p:sp>
      <p:sp>
        <p:nvSpPr>
          <p:cNvPr id="6" name="Fotka"/>
          <p:cNvSpPr>
            <a:spLocks noGrp="1"/>
          </p:cNvSpPr>
          <p:nvPr>
            <p:ph type="pic" idx="20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Jméno a role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8" name="Fotka"/>
          <p:cNvSpPr>
            <a:spLocks noGrp="1"/>
          </p:cNvSpPr>
          <p:nvPr>
            <p:ph type="pic" idx="21"/>
          </p:nvPr>
        </p:nvSpPr>
        <p:spPr>
          <a:xfrm>
            <a:off x="27622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Jméno a role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0" name="Fotka"/>
          <p:cNvSpPr>
            <a:spLocks noGrp="1"/>
          </p:cNvSpPr>
          <p:nvPr>
            <p:ph type="pic" idx="22"/>
          </p:nvPr>
        </p:nvSpPr>
        <p:spPr>
          <a:xfrm>
            <a:off x="50165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Jméno a role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pic>
        <p:nvPicPr>
          <p:cNvPr id="12" name="Kocour (stojici)"/>
          <p:cNvPicPr>
            <a:picLocks noGrp="1"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10706" y="698500"/>
            <a:ext cx="4330337" cy="6477000"/>
          </a:xfrm>
          <a:prstGeom prst="rect">
            <a:avLst/>
          </a:prstGeom>
        </p:spPr>
      </p:pic>
      <p:sp>
        <p:nvSpPr>
          <p:cNvPr id="13" name="Datum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ázev přednáš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NÁZEV KONFERENCE 2026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/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Název přednášky</a:t>
            </a:r>
          </a:p>
        </p:txBody>
      </p:sp>
      <p:sp>
        <p:nvSpPr>
          <p:cNvPr id="5" name="Podtitul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Podtitul s jedním </a:t>
            </a:r>
            <a:r>
              <a:rPr lang="cs-CZ" sz="2600" b="0" kern="0" cap="none" spc="-50" dirty="0">
                <a:gradFill rotWithShape="1">
                  <a:gsLst>
                    <a:gs pos="0">
                      <a:srgbClr val="05CB4B"/>
                    </a:gs>
                    <a:gs pos="100000">
                      <a:srgbClr val="D8FF15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zeleným</a:t>
            </a:r>
            <a:r>
              <a:rPr lang="cs-CZ" sz="2600" b="0" kern="0" cap="none" spc="-5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 slovem</a:t>
            </a:r>
          </a:p>
        </p:txBody>
      </p:sp>
      <p:sp>
        <p:nvSpPr>
          <p:cNvPr id="6" name="Obrázek / mockup produktu"/>
          <p:cNvSpPr>
            <a:spLocks noGrp="1"/>
          </p:cNvSpPr>
          <p:nvPr>
            <p:ph type="pic" idx="20"/>
          </p:nvPr>
        </p:nvSpPr>
        <p:spPr>
          <a:xfrm>
            <a:off x="7112000" y="254000"/>
            <a:ext cx="4826000" cy="6350000"/>
          </a:xfrm>
          <a:prstGeom prst="roundRect">
            <a:avLst>
              <a:gd name="adj" fmla="val 4211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Fotka"/>
          <p:cNvSpPr>
            <a:spLocks noGrp="1"/>
          </p:cNvSpPr>
          <p:nvPr>
            <p:ph type="pic" idx="21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Jméno a role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9" name="Fotka"/>
          <p:cNvSpPr>
            <a:spLocks noGrp="1"/>
          </p:cNvSpPr>
          <p:nvPr>
            <p:ph type="pic" idx="22"/>
          </p:nvPr>
        </p:nvSpPr>
        <p:spPr>
          <a:xfrm>
            <a:off x="27622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Jméno a role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1" name="Fotka"/>
          <p:cNvSpPr>
            <a:spLocks noGrp="1"/>
          </p:cNvSpPr>
          <p:nvPr>
            <p:ph type="pic" idx="23"/>
          </p:nvPr>
        </p:nvSpPr>
        <p:spPr>
          <a:xfrm>
            <a:off x="50165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Jméno a role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sp>
        <p:nvSpPr>
          <p:cNvPr id="13" name="Datum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4D6DB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ázev prezent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PREZENTACE PRO KLIENTY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/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rgbClr val="05CB4B"/>
                    </a:gs>
                    <a:gs pos="100000">
                      <a:srgbClr val="00832E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Název prezentace</a:t>
            </a:r>
          </a:p>
        </p:txBody>
      </p:sp>
      <p:sp>
        <p:nvSpPr>
          <p:cNvPr id="5" name="Podtitul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tx1">
                    <a:alpha val="75000"/>
                  </a:schemeClr>
                </a:solidFill>
                <a:latin typeface="Rethink Sans Medium"/>
                <a:ea typeface="Rethink Sans Medium"/>
                <a:cs typeface="Rethink Sans Medium"/>
              </a:rPr>
              <a:t>Podtitul – jednou větou, o čem dnes budeme mluvit</a:t>
            </a:r>
          </a:p>
        </p:txBody>
      </p:sp>
      <p:sp>
        <p:nvSpPr>
          <p:cNvPr id="6" name="Fotka"/>
          <p:cNvSpPr>
            <a:spLocks noGrp="1"/>
          </p:cNvSpPr>
          <p:nvPr>
            <p:ph type="pic" idx="20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Jméno a role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8" name="Fotka"/>
          <p:cNvSpPr>
            <a:spLocks noGrp="1"/>
          </p:cNvSpPr>
          <p:nvPr>
            <p:ph type="pic" idx="21"/>
          </p:nvPr>
        </p:nvSpPr>
        <p:spPr>
          <a:xfrm>
            <a:off x="26098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Jméno a role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0" name="Fotka"/>
          <p:cNvSpPr>
            <a:spLocks noGrp="1"/>
          </p:cNvSpPr>
          <p:nvPr>
            <p:ph type="pic" idx="22"/>
          </p:nvPr>
        </p:nvSpPr>
        <p:spPr>
          <a:xfrm>
            <a:off x="47117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Jméno a role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sp>
        <p:nvSpPr>
          <p:cNvPr id="12" name="Datum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rtu × 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ázek / mockup produktu"/>
          <p:cNvSpPr>
            <a:spLocks noGrp="1"/>
          </p:cNvSpPr>
          <p:nvPr>
            <p:ph type="pic" idx="20"/>
          </p:nvPr>
        </p:nvSpPr>
        <p:spPr>
          <a:xfrm>
            <a:off x="7112000" y="254000"/>
            <a:ext cx="4826000" cy="6350000"/>
          </a:xfrm>
          <a:prstGeom prst="roundRect">
            <a:avLst>
              <a:gd name="adj" fmla="val 4211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Logo Portu" descr="Portu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62000" y="635000"/>
            <a:ext cx="1123950" cy="381000"/>
          </a:xfrm>
          <a:prstGeom prst="rect">
            <a:avLst/>
          </a:prstGeom>
        </p:spPr>
      </p:pic>
      <p:sp>
        <p:nvSpPr>
          <p:cNvPr id="5" name="Spojka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30810" rIns="0" bIns="0" rtlCol="0" anchor="t" anchorCtr="0">
            <a:no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rgbClr val="D4D6DB"/>
                </a:solidFill>
                <a:latin typeface="Rethink Sans SemiBold"/>
                <a:ea typeface="Rethink Sans SemiBold"/>
                <a:cs typeface="Rethink Sans SemiBold"/>
              </a:rPr>
              <a:t>×</a:t>
            </a:r>
          </a:p>
        </p:txBody>
      </p:sp>
      <p:sp>
        <p:nvSpPr>
          <p:cNvPr id="6" name="Logo partnera"/>
          <p:cNvSpPr>
            <a:spLocks noGrp="1"/>
          </p:cNvSpPr>
          <p:nvPr>
            <p:ph type="pic" idx="21"/>
          </p:nvPr>
        </p:nvSpPr>
        <p:spPr>
          <a:xfrm>
            <a:off x="2501900" y="641350"/>
            <a:ext cx="1111250" cy="368300"/>
          </a:xfrm>
          <a:prstGeom prst="roundRect">
            <a:avLst>
              <a:gd name="adj" fmla="val 18966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PARTNERSKÁ SCHŮZKA</a:t>
            </a:r>
          </a:p>
        </p:txBody>
      </p:sp>
      <p:sp>
        <p:nvSpPr>
          <p:cNvPr id="8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/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rgbClr val="05CB4B"/>
                    </a:gs>
                    <a:gs pos="100000">
                      <a:srgbClr val="00832E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Portu × Partner</a:t>
            </a:r>
          </a:p>
        </p:txBody>
      </p:sp>
      <p:sp>
        <p:nvSpPr>
          <p:cNvPr id="9" name="Podtitul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tx1">
                    <a:alpha val="75000"/>
                  </a:schemeClr>
                </a:solidFill>
                <a:latin typeface="Rethink Sans Medium"/>
                <a:ea typeface="Rethink Sans Medium"/>
                <a:cs typeface="Rethink Sans Medium"/>
              </a:rPr>
              <a:t>Podtitul – jednou větou, o čem dnes budeme mluvit</a:t>
            </a:r>
          </a:p>
        </p:txBody>
      </p:sp>
      <p:sp>
        <p:nvSpPr>
          <p:cNvPr id="10" name="Fotka"/>
          <p:cNvSpPr>
            <a:spLocks noGrp="1"/>
          </p:cNvSpPr>
          <p:nvPr>
            <p:ph type="pic" idx="22"/>
          </p:nvPr>
        </p:nvSpPr>
        <p:spPr>
          <a:xfrm>
            <a:off x="7620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Jméno a role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Head of Product</a:t>
            </a:r>
          </a:p>
        </p:txBody>
      </p:sp>
      <p:sp>
        <p:nvSpPr>
          <p:cNvPr id="12" name="Fotka"/>
          <p:cNvSpPr>
            <a:spLocks noGrp="1"/>
          </p:cNvSpPr>
          <p:nvPr>
            <p:ph type="pic" idx="23"/>
          </p:nvPr>
        </p:nvSpPr>
        <p:spPr>
          <a:xfrm>
            <a:off x="260985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Jméno a role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Investiční konzultant</a:t>
            </a:r>
          </a:p>
        </p:txBody>
      </p:sp>
      <p:sp>
        <p:nvSpPr>
          <p:cNvPr id="14" name="Fotka"/>
          <p:cNvSpPr>
            <a:spLocks noGrp="1"/>
          </p:cNvSpPr>
          <p:nvPr>
            <p:ph type="pic" idx="24"/>
          </p:nvPr>
        </p:nvSpPr>
        <p:spPr>
          <a:xfrm>
            <a:off x="4711700" y="5803900"/>
            <a:ext cx="457200" cy="457200"/>
          </a:xfrm>
          <a:prstGeom prst="roundRect">
            <a:avLst>
              <a:gd name="adj" fmla="val 50000"/>
            </a:avLst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Jméno a role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Analytik</a:t>
            </a:r>
          </a:p>
        </p:txBody>
      </p:sp>
      <p:sp>
        <p:nvSpPr>
          <p:cNvPr id="16" name="Datum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leden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do vás dnes prov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PŘEDSTAVENÍ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Kdo vás dnes provede</a:t>
            </a:r>
          </a:p>
        </p:txBody>
      </p:sp>
      <p:sp>
        <p:nvSpPr>
          <p:cNvPr id="5" name="Karta – Investiční konzultant"/>
          <p:cNvSpPr/>
          <p:nvPr/>
        </p:nvSpPr>
        <p:spPr>
          <a:xfrm>
            <a:off x="762000" y="2286000"/>
            <a:ext cx="3420554" cy="2768600"/>
          </a:xfrm>
          <a:prstGeom prst="roundRect">
            <a:avLst>
              <a:gd name="adj" fmla="val 5505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Fotka"/>
          <p:cNvSpPr>
            <a:spLocks noGrp="1"/>
          </p:cNvSpPr>
          <p:nvPr>
            <p:ph type="pic" idx="20"/>
          </p:nvPr>
        </p:nvSpPr>
        <p:spPr>
          <a:xfrm>
            <a:off x="1066800" y="2590800"/>
            <a:ext cx="812800" cy="8128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Jméno a role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Investiční konzultant</a:t>
            </a:r>
          </a:p>
        </p:txBody>
      </p:sp>
      <p:sp>
        <p:nvSpPr>
          <p:cNvPr id="8" name="Medailonek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Dvě až tři věty o zkušenostech a o tom, čemu se v Portu věnuje. Ideálně něco osobního.</a:t>
            </a:r>
          </a:p>
        </p:txBody>
      </p:sp>
      <p:sp>
        <p:nvSpPr>
          <p:cNvPr id="9" name="Karta – Analytik"/>
          <p:cNvSpPr/>
          <p:nvPr/>
        </p:nvSpPr>
        <p:spPr>
          <a:xfrm>
            <a:off x="4385754" y="2286000"/>
            <a:ext cx="3420554" cy="2768600"/>
          </a:xfrm>
          <a:prstGeom prst="roundRect">
            <a:avLst>
              <a:gd name="adj" fmla="val 5505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Fotka"/>
          <p:cNvSpPr>
            <a:spLocks noGrp="1"/>
          </p:cNvSpPr>
          <p:nvPr>
            <p:ph type="pic" idx="21"/>
          </p:nvPr>
        </p:nvSpPr>
        <p:spPr>
          <a:xfrm>
            <a:off x="4690554" y="2590800"/>
            <a:ext cx="812800" cy="8128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Jméno a role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Analytik</a:t>
            </a:r>
          </a:p>
        </p:txBody>
      </p:sp>
      <p:sp>
        <p:nvSpPr>
          <p:cNvPr id="12" name="Medailonek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Dvě až tři věty o zkušenostech a o tom, čemu se v Portu věnuje. Ideálně něco osobního.</a:t>
            </a:r>
          </a:p>
        </p:txBody>
      </p:sp>
      <p:sp>
        <p:nvSpPr>
          <p:cNvPr id="13" name="Karta – Produktový manažer"/>
          <p:cNvSpPr/>
          <p:nvPr/>
        </p:nvSpPr>
        <p:spPr>
          <a:xfrm>
            <a:off x="8009446" y="2286000"/>
            <a:ext cx="3420554" cy="2768600"/>
          </a:xfrm>
          <a:prstGeom prst="roundRect">
            <a:avLst>
              <a:gd name="adj" fmla="val 5505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otka"/>
          <p:cNvSpPr>
            <a:spLocks noGrp="1"/>
          </p:cNvSpPr>
          <p:nvPr>
            <p:ph type="body" idx="104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0" tIns="7201" rIns="0" bIns="0" rtlCol="0" anchor="ctr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JP</a:t>
            </a:r>
          </a:p>
        </p:txBody>
      </p:sp>
      <p:sp>
        <p:nvSpPr>
          <p:cNvPr id="15" name="Jméno a role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Produktový manažer</a:t>
            </a:r>
          </a:p>
        </p:txBody>
      </p:sp>
      <p:sp>
        <p:nvSpPr>
          <p:cNvPr id="16" name="Medailonek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Dvě až tři věty o zkušenostech a o tom, čemu se v Portu věnuje. Ideálně něco osobního.</a:t>
            </a:r>
          </a:p>
        </p:txBody>
      </p:sp>
      <p:sp>
        <p:nvSpPr>
          <p:cNvPr id="17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nické problémy? Ozvěte se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NEŽ ZAČNEME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Technické problémy? Ozvěte se!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Nemůžete se připojit, nejde zvuk nebo nevidíte prezentaci? Napište nám nebo zavolejte.</a:t>
            </a:r>
          </a:p>
        </p:txBody>
      </p:sp>
      <p:sp>
        <p:nvSpPr>
          <p:cNvPr id="6" name="Karta – Nejde zvuk nebo obraz?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11215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12001" rIns="290766" bIns="30480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Nejde zvuk nebo obraz?</a:t>
            </a:r>
          </a:p>
          <a:p>
            <a:pPr marL="0" indent="0" algn="l">
              <a:lnSpc>
                <a:spcPts val="16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Zkuste se odpojit a znovu připojit – ve většině případů to pomůže.</a:t>
            </a:r>
          </a:p>
        </p:txBody>
      </p:sp>
      <p:sp>
        <p:nvSpPr>
          <p:cNvPr id="7" name="Karta – Prezentaci vám pošleme"/>
          <p:cNvSpPr>
            <a:spLocks noGrp="1"/>
          </p:cNvSpPr>
          <p:nvPr>
            <p:ph type="body" idx="101"/>
          </p:nvPr>
        </p:nvSpPr>
        <p:spPr>
          <a:prstGeom prst="roundRect">
            <a:avLst>
              <a:gd name="adj" fmla="val 11215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12001" rIns="290766" bIns="30480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Prezentaci vám pošleme</a:t>
            </a:r>
          </a:p>
          <a:p>
            <a:pPr marL="0" indent="0" algn="l">
              <a:lnSpc>
                <a:spcPts val="16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Materiály dostanete po skončení e-mailem, nemusíte si nic zapisovat.</a:t>
            </a:r>
          </a:p>
        </p:txBody>
      </p:sp>
      <p:sp>
        <p:nvSpPr>
          <p:cNvPr id="8" name="Karta – Máte dotaz?"/>
          <p:cNvSpPr>
            <a:spLocks noGrp="1"/>
          </p:cNvSpPr>
          <p:nvPr>
            <p:ph type="body" idx="102"/>
          </p:nvPr>
        </p:nvSpPr>
        <p:spPr>
          <a:prstGeom prst="roundRect">
            <a:avLst>
              <a:gd name="adj" fmla="val 11215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12001" rIns="290766" bIns="30480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Máte dotaz?</a:t>
            </a:r>
          </a:p>
          <a:p>
            <a:pPr marL="0" indent="0" algn="l">
              <a:lnSpc>
                <a:spcPts val="16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Napište ho do chatu. Vrátíme se k němu v části Otázky a odpovědi.</a:t>
            </a:r>
          </a:p>
        </p:txBody>
      </p:sp>
      <p:sp>
        <p:nvSpPr>
          <p:cNvPr id="9" name="E-mail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2100"/>
              </a:lnSpc>
              <a:spcBef>
                <a:spcPts val="2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poradenstvi@portu.cz</a:t>
            </a:r>
          </a:p>
        </p:txBody>
      </p:sp>
      <p:sp>
        <p:nvSpPr>
          <p:cNvPr id="10" name="Telefon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2100"/>
              </a:lnSpc>
              <a:spcBef>
                <a:spcPts val="2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+420 222 096 622</a:t>
            </a:r>
          </a:p>
        </p:txBody>
      </p:sp>
      <p:sp>
        <p:nvSpPr>
          <p:cNvPr id="11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 vás dnes ček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PROGRAM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Co vás dnes čeká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Krátce uveďte, jak bude prezentace probíhat a kolik zabere času.</a:t>
            </a:r>
          </a:p>
        </p:txBody>
      </p:sp>
      <p:sp>
        <p:nvSpPr>
          <p:cNvPr id="6" name="Bod 1 – linka"/>
          <p:cNvSpPr/>
          <p:nvPr/>
        </p:nvSpPr>
        <p:spPr>
          <a:xfrm>
            <a:off x="5334000" y="1727200"/>
            <a:ext cx="6096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Číslo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01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Úvod a představení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Kdo vás provede a jak bude prezentace probíhat</a:t>
            </a:r>
          </a:p>
        </p:txBody>
      </p:sp>
      <p:sp>
        <p:nvSpPr>
          <p:cNvPr id="9" name="Délka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5 min</a:t>
            </a:r>
          </a:p>
        </p:txBody>
      </p:sp>
      <p:sp>
        <p:nvSpPr>
          <p:cNvPr id="10" name="Bod 2 – linka"/>
          <p:cNvSpPr/>
          <p:nvPr/>
        </p:nvSpPr>
        <p:spPr>
          <a:xfrm>
            <a:off x="5334000" y="2635250"/>
            <a:ext cx="6096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Číslo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02</a:t>
            </a:r>
          </a:p>
        </p:txBody>
      </p:sp>
      <p:sp>
        <p:nvSpPr>
          <p:cNvPr id="12" name="Text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Kontext a výchozí situace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Proč se tématem zabýváme právě teď</a:t>
            </a:r>
          </a:p>
        </p:txBody>
      </p:sp>
      <p:sp>
        <p:nvSpPr>
          <p:cNvPr id="13" name="Délka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10 min</a:t>
            </a:r>
          </a:p>
        </p:txBody>
      </p:sp>
      <p:sp>
        <p:nvSpPr>
          <p:cNvPr id="14" name="Bod 3 – linka"/>
          <p:cNvSpPr/>
          <p:nvPr/>
        </p:nvSpPr>
        <p:spPr>
          <a:xfrm>
            <a:off x="5334000" y="3543300"/>
            <a:ext cx="6096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Číslo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03</a:t>
            </a:r>
          </a:p>
        </p:txBody>
      </p:sp>
      <p:sp>
        <p:nvSpPr>
          <p:cNvPr id="16" name="Text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Hlavní část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Klíčová zjištění, data a příklady z praxe</a:t>
            </a:r>
          </a:p>
        </p:txBody>
      </p:sp>
      <p:sp>
        <p:nvSpPr>
          <p:cNvPr id="17" name="Délka"/>
          <p:cNvSpPr>
            <a:spLocks noGrp="1"/>
          </p:cNvSpPr>
          <p:nvPr>
            <p:ph type="body" idx="10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20 min</a:t>
            </a:r>
          </a:p>
        </p:txBody>
      </p:sp>
      <p:sp>
        <p:nvSpPr>
          <p:cNvPr id="18" name="Bod 4 – linka"/>
          <p:cNvSpPr/>
          <p:nvPr/>
        </p:nvSpPr>
        <p:spPr>
          <a:xfrm>
            <a:off x="5334000" y="4451350"/>
            <a:ext cx="6096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Číslo"/>
          <p:cNvSpPr>
            <a:spLocks noGrp="1"/>
          </p:cNvSpPr>
          <p:nvPr>
            <p:ph type="body" idx="109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04</a:t>
            </a:r>
          </a:p>
        </p:txBody>
      </p:sp>
      <p:sp>
        <p:nvSpPr>
          <p:cNvPr id="20" name="Text"/>
          <p:cNvSpPr>
            <a:spLocks noGrp="1"/>
          </p:cNvSpPr>
          <p:nvPr>
            <p:ph type="body" idx="1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Doporučení a další kroky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Co si odnést a jak postupovat dál</a:t>
            </a:r>
          </a:p>
        </p:txBody>
      </p:sp>
      <p:sp>
        <p:nvSpPr>
          <p:cNvPr id="21" name="Délka"/>
          <p:cNvSpPr>
            <a:spLocks noGrp="1"/>
          </p:cNvSpPr>
          <p:nvPr>
            <p:ph type="body" idx="1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10 min</a:t>
            </a:r>
          </a:p>
        </p:txBody>
      </p:sp>
      <p:sp>
        <p:nvSpPr>
          <p:cNvPr id="22" name="Bod 5 – linka"/>
          <p:cNvSpPr/>
          <p:nvPr/>
        </p:nvSpPr>
        <p:spPr>
          <a:xfrm>
            <a:off x="5334000" y="5359400"/>
            <a:ext cx="6096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Číslo"/>
          <p:cNvSpPr>
            <a:spLocks noGrp="1"/>
          </p:cNvSpPr>
          <p:nvPr>
            <p:ph type="body" idx="1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05</a:t>
            </a:r>
          </a:p>
        </p:txBody>
      </p:sp>
      <p:sp>
        <p:nvSpPr>
          <p:cNvPr id="24" name="Text"/>
          <p:cNvSpPr>
            <a:spLocks noGrp="1"/>
          </p:cNvSpPr>
          <p:nvPr>
            <p:ph type="body" idx="11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Otázky a odpovědi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Prostor pro vaše dotazy</a:t>
            </a:r>
          </a:p>
        </p:txBody>
      </p:sp>
      <p:sp>
        <p:nvSpPr>
          <p:cNvPr id="25" name="Délka"/>
          <p:cNvSpPr>
            <a:spLocks noGrp="1"/>
          </p:cNvSpPr>
          <p:nvPr>
            <p:ph type="body" idx="1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15 min</a:t>
            </a:r>
          </a:p>
        </p:txBody>
      </p:sp>
      <p:sp>
        <p:nvSpPr>
          <p:cNvPr id="26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bsah prezent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OBSAH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Obsah prezentace</a:t>
            </a:r>
          </a:p>
        </p:txBody>
      </p:sp>
      <p:sp>
        <p:nvSpPr>
          <p:cNvPr id="5" name="Kapitola 1 – linka"/>
          <p:cNvSpPr/>
          <p:nvPr/>
        </p:nvSpPr>
        <p:spPr>
          <a:xfrm>
            <a:off x="762000" y="2755900"/>
            <a:ext cx="5080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Číslo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01</a:t>
            </a:r>
          </a:p>
        </p:txBody>
      </p:sp>
      <p:sp>
        <p:nvSpPr>
          <p:cNvPr id="7" name="Kapitola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Úvod a kontext</a:t>
            </a:r>
          </a:p>
        </p:txBody>
      </p:sp>
      <p:sp>
        <p:nvSpPr>
          <p:cNvPr id="8" name="Strana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9" name="Kapitola 2 – linka"/>
          <p:cNvSpPr/>
          <p:nvPr/>
        </p:nvSpPr>
        <p:spPr>
          <a:xfrm>
            <a:off x="762000" y="3359150"/>
            <a:ext cx="5080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Číslo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02</a:t>
            </a:r>
          </a:p>
        </p:txBody>
      </p:sp>
      <p:sp>
        <p:nvSpPr>
          <p:cNvPr id="11" name="Kapitola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Výsledky za 3. čtvrtletí</a:t>
            </a:r>
          </a:p>
        </p:txBody>
      </p:sp>
      <p:sp>
        <p:nvSpPr>
          <p:cNvPr id="12" name="Strana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6</a:t>
            </a:r>
          </a:p>
        </p:txBody>
      </p:sp>
      <p:sp>
        <p:nvSpPr>
          <p:cNvPr id="13" name="Kapitola 3 – linka"/>
          <p:cNvSpPr/>
          <p:nvPr/>
        </p:nvSpPr>
        <p:spPr>
          <a:xfrm>
            <a:off x="762000" y="3962400"/>
            <a:ext cx="5080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Číslo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03</a:t>
            </a:r>
          </a:p>
        </p:txBody>
      </p:sp>
      <p:sp>
        <p:nvSpPr>
          <p:cNvPr id="15" name="Kapitola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Klienti a akvizice</a:t>
            </a:r>
          </a:p>
        </p:txBody>
      </p:sp>
      <p:sp>
        <p:nvSpPr>
          <p:cNvPr id="16" name="Strana"/>
          <p:cNvSpPr>
            <a:spLocks noGrp="1"/>
          </p:cNvSpPr>
          <p:nvPr>
            <p:ph type="body" idx="10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9</a:t>
            </a:r>
          </a:p>
        </p:txBody>
      </p:sp>
      <p:sp>
        <p:nvSpPr>
          <p:cNvPr id="17" name="Kapitola 4 – linka"/>
          <p:cNvSpPr/>
          <p:nvPr/>
        </p:nvSpPr>
        <p:spPr>
          <a:xfrm>
            <a:off x="762000" y="4565650"/>
            <a:ext cx="5080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Číslo"/>
          <p:cNvSpPr>
            <a:spLocks noGrp="1"/>
          </p:cNvSpPr>
          <p:nvPr>
            <p:ph type="body" idx="109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04</a:t>
            </a:r>
          </a:p>
        </p:txBody>
      </p:sp>
      <p:sp>
        <p:nvSpPr>
          <p:cNvPr id="19" name="Kapitola"/>
          <p:cNvSpPr>
            <a:spLocks noGrp="1"/>
          </p:cNvSpPr>
          <p:nvPr>
            <p:ph type="body" idx="1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Produkty a nabídka</a:t>
            </a:r>
          </a:p>
        </p:txBody>
      </p:sp>
      <p:sp>
        <p:nvSpPr>
          <p:cNvPr id="20" name="Strana"/>
          <p:cNvSpPr>
            <a:spLocks noGrp="1"/>
          </p:cNvSpPr>
          <p:nvPr>
            <p:ph type="body" idx="1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12</a:t>
            </a:r>
          </a:p>
        </p:txBody>
      </p:sp>
      <p:sp>
        <p:nvSpPr>
          <p:cNvPr id="21" name="Kapitola 5 – linka"/>
          <p:cNvSpPr/>
          <p:nvPr/>
        </p:nvSpPr>
        <p:spPr>
          <a:xfrm>
            <a:off x="762000" y="5168900"/>
            <a:ext cx="5080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Číslo"/>
          <p:cNvSpPr>
            <a:spLocks noGrp="1"/>
          </p:cNvSpPr>
          <p:nvPr>
            <p:ph type="body" idx="1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05</a:t>
            </a:r>
          </a:p>
        </p:txBody>
      </p:sp>
      <p:sp>
        <p:nvSpPr>
          <p:cNvPr id="23" name="Kapitola"/>
          <p:cNvSpPr>
            <a:spLocks noGrp="1"/>
          </p:cNvSpPr>
          <p:nvPr>
            <p:ph type="body" idx="11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Ceny a konkurence</a:t>
            </a:r>
          </a:p>
        </p:txBody>
      </p:sp>
      <p:sp>
        <p:nvSpPr>
          <p:cNvPr id="24" name="Strana"/>
          <p:cNvSpPr>
            <a:spLocks noGrp="1"/>
          </p:cNvSpPr>
          <p:nvPr>
            <p:ph type="body" idx="1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15</a:t>
            </a:r>
          </a:p>
        </p:txBody>
      </p:sp>
      <p:sp>
        <p:nvSpPr>
          <p:cNvPr id="25" name="Kapitola 6 – linka"/>
          <p:cNvSpPr/>
          <p:nvPr/>
        </p:nvSpPr>
        <p:spPr>
          <a:xfrm>
            <a:off x="6350000" y="2755900"/>
            <a:ext cx="5080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Číslo"/>
          <p:cNvSpPr>
            <a:spLocks noGrp="1"/>
          </p:cNvSpPr>
          <p:nvPr>
            <p:ph type="body" idx="11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06</a:t>
            </a:r>
          </a:p>
        </p:txBody>
      </p:sp>
      <p:sp>
        <p:nvSpPr>
          <p:cNvPr id="27" name="Kapitola"/>
          <p:cNvSpPr>
            <a:spLocks noGrp="1"/>
          </p:cNvSpPr>
          <p:nvPr>
            <p:ph type="body" idx="11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Partnerství</a:t>
            </a:r>
          </a:p>
        </p:txBody>
      </p:sp>
      <p:sp>
        <p:nvSpPr>
          <p:cNvPr id="28" name="Strana"/>
          <p:cNvSpPr>
            <a:spLocks noGrp="1"/>
          </p:cNvSpPr>
          <p:nvPr>
            <p:ph type="body" idx="11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18</a:t>
            </a:r>
          </a:p>
        </p:txBody>
      </p:sp>
      <p:sp>
        <p:nvSpPr>
          <p:cNvPr id="29" name="Kapitola 7 – linka"/>
          <p:cNvSpPr/>
          <p:nvPr/>
        </p:nvSpPr>
        <p:spPr>
          <a:xfrm>
            <a:off x="6350000" y="3359150"/>
            <a:ext cx="5080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Číslo"/>
          <p:cNvSpPr>
            <a:spLocks noGrp="1"/>
          </p:cNvSpPr>
          <p:nvPr>
            <p:ph type="body" idx="11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07</a:t>
            </a:r>
          </a:p>
        </p:txBody>
      </p:sp>
      <p:sp>
        <p:nvSpPr>
          <p:cNvPr id="31" name="Kapitola"/>
          <p:cNvSpPr>
            <a:spLocks noGrp="1"/>
          </p:cNvSpPr>
          <p:nvPr>
            <p:ph type="body" idx="119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Plán na příští rok</a:t>
            </a:r>
          </a:p>
        </p:txBody>
      </p:sp>
      <p:sp>
        <p:nvSpPr>
          <p:cNvPr id="32" name="Strana"/>
          <p:cNvSpPr>
            <a:spLocks noGrp="1"/>
          </p:cNvSpPr>
          <p:nvPr>
            <p:ph type="body" idx="12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21</a:t>
            </a:r>
          </a:p>
        </p:txBody>
      </p:sp>
      <p:sp>
        <p:nvSpPr>
          <p:cNvPr id="33" name="Kapitola 8 – linka"/>
          <p:cNvSpPr/>
          <p:nvPr/>
        </p:nvSpPr>
        <p:spPr>
          <a:xfrm>
            <a:off x="6350000" y="3962400"/>
            <a:ext cx="5080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Číslo"/>
          <p:cNvSpPr>
            <a:spLocks noGrp="1"/>
          </p:cNvSpPr>
          <p:nvPr>
            <p:ph type="body" idx="12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08</a:t>
            </a:r>
          </a:p>
        </p:txBody>
      </p:sp>
      <p:sp>
        <p:nvSpPr>
          <p:cNvPr id="35" name="Kapitola"/>
          <p:cNvSpPr>
            <a:spLocks noGrp="1"/>
          </p:cNvSpPr>
          <p:nvPr>
            <p:ph type="body" idx="12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Rizika a příležitosti</a:t>
            </a:r>
          </a:p>
        </p:txBody>
      </p:sp>
      <p:sp>
        <p:nvSpPr>
          <p:cNvPr id="36" name="Strana"/>
          <p:cNvSpPr>
            <a:spLocks noGrp="1"/>
          </p:cNvSpPr>
          <p:nvPr>
            <p:ph type="body" idx="12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24</a:t>
            </a:r>
          </a:p>
        </p:txBody>
      </p:sp>
      <p:sp>
        <p:nvSpPr>
          <p:cNvPr id="37" name="Kapitola 9 – linka"/>
          <p:cNvSpPr/>
          <p:nvPr/>
        </p:nvSpPr>
        <p:spPr>
          <a:xfrm>
            <a:off x="6350000" y="4565650"/>
            <a:ext cx="5080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Číslo"/>
          <p:cNvSpPr>
            <a:spLocks noGrp="1"/>
          </p:cNvSpPr>
          <p:nvPr>
            <p:ph type="body" idx="12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09</a:t>
            </a:r>
          </a:p>
        </p:txBody>
      </p:sp>
      <p:sp>
        <p:nvSpPr>
          <p:cNvPr id="39" name="Kapitola"/>
          <p:cNvSpPr>
            <a:spLocks noGrp="1"/>
          </p:cNvSpPr>
          <p:nvPr>
            <p:ph type="body" idx="12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Shrnutí a další kroky</a:t>
            </a:r>
          </a:p>
        </p:txBody>
      </p:sp>
      <p:sp>
        <p:nvSpPr>
          <p:cNvPr id="40" name="Strana"/>
          <p:cNvSpPr>
            <a:spLocks noGrp="1"/>
          </p:cNvSpPr>
          <p:nvPr>
            <p:ph type="body" idx="12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27</a:t>
            </a:r>
          </a:p>
        </p:txBody>
      </p:sp>
      <p:sp>
        <p:nvSpPr>
          <p:cNvPr id="41" name="Kapitola 10 – linka"/>
          <p:cNvSpPr/>
          <p:nvPr/>
        </p:nvSpPr>
        <p:spPr>
          <a:xfrm>
            <a:off x="6350000" y="5168900"/>
            <a:ext cx="5080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Číslo"/>
          <p:cNvSpPr>
            <a:spLocks noGrp="1"/>
          </p:cNvSpPr>
          <p:nvPr>
            <p:ph type="body" idx="12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10</a:t>
            </a:r>
          </a:p>
        </p:txBody>
      </p:sp>
      <p:sp>
        <p:nvSpPr>
          <p:cNvPr id="43" name="Kapitola"/>
          <p:cNvSpPr>
            <a:spLocks noGrp="1"/>
          </p:cNvSpPr>
          <p:nvPr>
            <p:ph type="body" idx="12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Příloha</a:t>
            </a:r>
          </a:p>
        </p:txBody>
      </p:sp>
      <p:sp>
        <p:nvSpPr>
          <p:cNvPr id="44" name="Strana"/>
          <p:cNvSpPr>
            <a:spLocks noGrp="1"/>
          </p:cNvSpPr>
          <p:nvPr>
            <p:ph type="body" idx="129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noFill/>
                <a:latin typeface="Rethink Sans SemiBold"/>
                <a:ea typeface="Rethink Sans SemiBold"/>
                <a:cs typeface="Rethink Sans SemiBold"/>
              </a:rPr>
              <a:t>30</a:t>
            </a:r>
          </a:p>
        </p:txBody>
      </p:sp>
      <p:sp>
        <p:nvSpPr>
          <p:cNvPr id="45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ár vět o Por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O NÁS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Pár vět o Portu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Portu vzniklo v roce 2017 jako první robo-advisor ve střední Evropě. Pomáhá lidem jednoduše a bez stresu investovat do nízkonákladových ETF a dalších produktů.</a:t>
            </a:r>
          </a:p>
        </p:txBody>
      </p:sp>
      <p:sp>
        <p:nvSpPr>
          <p:cNvPr id="6" name="Číslo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1363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115824" bIns="203200" rtlCol="0" anchor="t" anchorCtr="0">
            <a:noAutofit/>
          </a:bodyPr>
          <a:lstStyle/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74 mld. Kč</a:t>
            </a:r>
          </a:p>
          <a:p>
            <a:pPr marL="0" indent="0" algn="l">
              <a:lnSpc>
                <a:spcPts val="1600"/>
              </a:lnSpc>
              <a:spcBef>
                <a:spcPts val="133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majetku pod správou</a:t>
            </a:r>
          </a:p>
        </p:txBody>
      </p:sp>
      <p:sp>
        <p:nvSpPr>
          <p:cNvPr id="7" name="Číslo"/>
          <p:cNvSpPr>
            <a:spLocks noGrp="1"/>
          </p:cNvSpPr>
          <p:nvPr>
            <p:ph type="body" idx="101"/>
          </p:nvPr>
        </p:nvSpPr>
        <p:spPr>
          <a:prstGeom prst="roundRect">
            <a:avLst>
              <a:gd name="adj" fmla="val 1363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115824" bIns="203200" rtlCol="0" anchor="t" anchorCtr="0">
            <a:noAutofit/>
          </a:bodyPr>
          <a:lstStyle/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340 000+</a:t>
            </a:r>
          </a:p>
          <a:p>
            <a:pPr marL="0" indent="0" algn="l">
              <a:lnSpc>
                <a:spcPts val="1600"/>
              </a:lnSpc>
              <a:spcBef>
                <a:spcPts val="133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zainvestovaných klientů</a:t>
            </a:r>
          </a:p>
        </p:txBody>
      </p:sp>
      <p:sp>
        <p:nvSpPr>
          <p:cNvPr id="8" name="Číslo"/>
          <p:cNvSpPr>
            <a:spLocks noGrp="1"/>
          </p:cNvSpPr>
          <p:nvPr>
            <p:ph type="body" idx="102"/>
          </p:nvPr>
        </p:nvSpPr>
        <p:spPr>
          <a:prstGeom prst="roundRect">
            <a:avLst>
              <a:gd name="adj" fmla="val 11538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192278" bIns="203200" rtlCol="0" anchor="t" anchorCtr="0">
            <a:noAutofit/>
          </a:bodyPr>
          <a:lstStyle/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10,34 % p.a</a:t>
            </a:r>
          </a:p>
          <a:p>
            <a:pPr marL="0" indent="0" algn="l">
              <a:lnSpc>
                <a:spcPts val="1600"/>
              </a:lnSpc>
              <a:spcBef>
                <a:spcPts val="133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průměrný výnos akciového portfolia za 10 let</a:t>
            </a:r>
          </a:p>
        </p:txBody>
      </p:sp>
      <p:sp>
        <p:nvSpPr>
          <p:cNvPr id="9" name="Číslo"/>
          <p:cNvSpPr>
            <a:spLocks noGrp="1"/>
          </p:cNvSpPr>
          <p:nvPr>
            <p:ph type="body" idx="103"/>
          </p:nvPr>
        </p:nvSpPr>
        <p:spPr>
          <a:prstGeom prst="roundRect">
            <a:avLst>
              <a:gd name="adj" fmla="val 11538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192278" bIns="203200" rtlCol="0" anchor="t" anchorCtr="0">
            <a:noAutofit/>
          </a:bodyPr>
          <a:lstStyle/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CZ · SK · PL</a:t>
            </a:r>
          </a:p>
          <a:p>
            <a:pPr marL="0" indent="0" algn="l">
              <a:lnSpc>
                <a:spcPts val="1600"/>
              </a:lnSpc>
              <a:spcBef>
                <a:spcPts val="133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největší robo platforma v regionu CEE</a:t>
            </a:r>
          </a:p>
        </p:txBody>
      </p:sp>
      <p:sp>
        <p:nvSpPr>
          <p:cNvPr id="10" name="Ocenění"/>
          <p:cNvSpPr/>
          <p:nvPr/>
        </p:nvSpPr>
        <p:spPr>
          <a:xfrm>
            <a:off x="6096000" y="4076700"/>
            <a:ext cx="5334000" cy="1441450"/>
          </a:xfrm>
          <a:prstGeom prst="roundRect">
            <a:avLst>
              <a:gd name="adj" fmla="val 8811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ZK_Fintech_2025 2"/>
          <p:cNvPicPr>
            <a:picLocks noGrp="1"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07300" y="4279900"/>
            <a:ext cx="1035050" cy="1035050"/>
          </a:xfrm>
          <a:prstGeom prst="rect">
            <a:avLst/>
          </a:prstGeom>
        </p:spPr>
      </p:pic>
      <p:sp>
        <p:nvSpPr>
          <p:cNvPr id="12" name="Text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Zlatá koruna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Fintech roku 2025</a:t>
            </a:r>
          </a:p>
        </p:txBody>
      </p:sp>
      <p:sp>
        <p:nvSpPr>
          <p:cNvPr id="13" name="Zdroj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Údaje k datu DD. MM. RRRR – před použitím ověřte aktuální čísla. Minulé výnosy nejsou zárukou budoucích.</a:t>
            </a:r>
          </a:p>
        </p:txBody>
      </p:sp>
      <p:sp>
        <p:nvSpPr>
          <p:cNvPr id="14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ázev sek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sah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92050" rIns="0" bIns="0" rtlCol="0" anchor="t" anchorCtr="0">
            <a:noAutofit/>
          </a:bodyPr>
          <a:lstStyle/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01</a:t>
            </a:r>
          </a:p>
          <a:p>
            <a:pPr marL="0" indent="0" algn="l">
              <a:lnSpc>
                <a:spcPts val="5400"/>
              </a:lnSpc>
              <a:spcBef>
                <a:spcPts val="1421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Název sekce</a:t>
            </a:r>
          </a:p>
          <a:p>
            <a:pPr marL="0" indent="0" algn="l">
              <a:lnSpc>
                <a:spcPts val="1900"/>
              </a:lnSpc>
              <a:spcBef>
                <a:spcPts val="151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Jedna až dvě věty o tom, co v této části prezentace probereme.</a:t>
            </a:r>
          </a:p>
        </p:txBody>
      </p:sp>
      <p:sp>
        <p:nvSpPr>
          <p:cNvPr id="4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ázev sek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sah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92050" rIns="0" bIns="0" rtlCol="0" anchor="t" anchorCtr="0">
            <a:noAutofit/>
          </a:bodyPr>
          <a:lstStyle/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02</a:t>
            </a:r>
          </a:p>
          <a:p>
            <a:pPr marL="0" indent="0" algn="l">
              <a:lnSpc>
                <a:spcPts val="5400"/>
              </a:lnSpc>
              <a:spcBef>
                <a:spcPts val="1421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rgbClr val="4F46D5"/>
                    </a:gs>
                    <a:gs pos="100000">
                      <a:schemeClr val="tx1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Název sekce</a:t>
            </a:r>
          </a:p>
          <a:p>
            <a:pPr marL="0" indent="0" algn="l">
              <a:lnSpc>
                <a:spcPts val="1900"/>
              </a:lnSpc>
              <a:spcBef>
                <a:spcPts val="151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Jedna až dvě věty o tom, co v této části prezentace probereme.</a:t>
            </a:r>
          </a:p>
        </p:txBody>
      </p:sp>
      <p:sp>
        <p:nvSpPr>
          <p:cNvPr id="4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ázev sek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ocour (lezici)"/>
          <p:cNvPicPr>
            <a:picLocks noGrp="1"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24600" y="2794138"/>
            <a:ext cx="6546850" cy="4063723"/>
          </a:xfrm>
          <a:prstGeom prst="rect">
            <a:avLst/>
          </a:prstGeom>
        </p:spPr>
      </p:pic>
      <p:sp>
        <p:nvSpPr>
          <p:cNvPr id="4" name="Obsah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92050" rIns="0" bIns="0" rtlCol="0" anchor="t" anchorCtr="0">
            <a:noAutofit/>
          </a:bodyPr>
          <a:lstStyle/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03</a:t>
            </a:r>
          </a:p>
          <a:p>
            <a:pPr marL="0" indent="0" algn="l">
              <a:lnSpc>
                <a:spcPts val="5400"/>
              </a:lnSpc>
              <a:spcBef>
                <a:spcPts val="1421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Název sekce</a:t>
            </a:r>
          </a:p>
          <a:p>
            <a:pPr marL="0" indent="0" algn="l">
              <a:lnSpc>
                <a:spcPts val="1900"/>
              </a:lnSpc>
              <a:spcBef>
                <a:spcPts val="151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Jedna až dvě věty o tom, co v této části prezentace probereme.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dpis slidu na jeden až dva řád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TÉMA SLIDU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Nadpis slidu na jeden až dva řádky</a:t>
            </a:r>
          </a:p>
        </p:txBody>
      </p:sp>
      <p:sp>
        <p:nvSpPr>
          <p:cNvPr id="5" name="Perex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tx1"/>
                </a:solidFill>
                <a:latin typeface="Rethink Sans Medium"/>
                <a:ea typeface="Rethink Sans Medium"/>
                <a:cs typeface="Rethink Sans Medium"/>
              </a:rPr>
              <a:t>Perex – hlavní myšlenka slidu v jedné nebo dvou větách.</a:t>
            </a:r>
          </a:p>
        </p:txBody>
      </p:sp>
      <p:sp>
        <p:nvSpPr>
          <p:cNvPr id="6" name="Odstavec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odstavec textu. Držte se krátkých vět a jedné myšlenky na slide. Detaily patří do poznámek řečníka, ne na plátno.</a:t>
            </a:r>
          </a:p>
        </p:txBody>
      </p:sp>
      <p:pic>
        <p:nvPicPr>
          <p:cNvPr id="7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3365500"/>
            <a:ext cx="254000" cy="254000"/>
          </a:xfrm>
          <a:prstGeom prst="rect">
            <a:avLst/>
          </a:prstGeom>
        </p:spPr>
      </p:pic>
      <p:sp>
        <p:nvSpPr>
          <p:cNvPr id="8" name="Text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První výhoda nebo argument</a:t>
            </a:r>
          </a:p>
        </p:txBody>
      </p:sp>
      <p:pic>
        <p:nvPicPr>
          <p:cNvPr id="9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3721100"/>
            <a:ext cx="254000" cy="254000"/>
          </a:xfrm>
          <a:prstGeom prst="rect">
            <a:avLst/>
          </a:prstGeom>
        </p:spPr>
      </p:pic>
      <p:sp>
        <p:nvSpPr>
          <p:cNvPr id="10" name="Text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Druhá výhoda nebo argument</a:t>
            </a:r>
          </a:p>
        </p:txBody>
      </p:sp>
      <p:pic>
        <p:nvPicPr>
          <p:cNvPr id="11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4076700"/>
            <a:ext cx="254000" cy="254000"/>
          </a:xfrm>
          <a:prstGeom prst="rect">
            <a:avLst/>
          </a:prstGeom>
        </p:spPr>
      </p:pic>
      <p:sp>
        <p:nvSpPr>
          <p:cNvPr id="12" name="Text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Třetí výhoda nebo argument</a:t>
            </a:r>
          </a:p>
        </p:txBody>
      </p:sp>
      <p:pic>
        <p:nvPicPr>
          <p:cNvPr id="13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4432300"/>
            <a:ext cx="254000" cy="254000"/>
          </a:xfrm>
          <a:prstGeom prst="rect">
            <a:avLst/>
          </a:prstGeom>
        </p:spPr>
      </p:pic>
      <p:sp>
        <p:nvSpPr>
          <p:cNvPr id="14" name="Text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Čtvrtá výhoda nebo argument</a:t>
            </a:r>
          </a:p>
        </p:txBody>
      </p:sp>
      <p:pic>
        <p:nvPicPr>
          <p:cNvPr id="15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4787900"/>
            <a:ext cx="254000" cy="254000"/>
          </a:xfrm>
          <a:prstGeom prst="rect">
            <a:avLst/>
          </a:prstGeom>
        </p:spPr>
      </p:pic>
      <p:sp>
        <p:nvSpPr>
          <p:cNvPr id="16" name="Text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Pátá výhoda nebo argument</a:t>
            </a:r>
          </a:p>
        </p:txBody>
      </p:sp>
      <p:pic>
        <p:nvPicPr>
          <p:cNvPr id="17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5143500"/>
            <a:ext cx="254000" cy="254000"/>
          </a:xfrm>
          <a:prstGeom prst="rect">
            <a:avLst/>
          </a:prstGeom>
        </p:spPr>
      </p:pic>
      <p:sp>
        <p:nvSpPr>
          <p:cNvPr id="18" name="Text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Šestá výhoda nebo argument</a:t>
            </a:r>
          </a:p>
        </p:txBody>
      </p:sp>
      <p:sp>
        <p:nvSpPr>
          <p:cNvPr id="19" name="Obrázek"/>
          <p:cNvSpPr>
            <a:spLocks noGrp="1"/>
          </p:cNvSpPr>
          <p:nvPr>
            <p:ph type="pic" idx="20"/>
          </p:nvPr>
        </p:nvSpPr>
        <p:spPr>
          <a:xfrm>
            <a:off x="6350000" y="762000"/>
            <a:ext cx="5080000" cy="5207000"/>
          </a:xfrm>
          <a:prstGeom prst="roundRect">
            <a:avLst>
              <a:gd name="adj" fmla="val 3000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vě skupiny bodů vedle se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EXECUTIVE SUMMARY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Dvě skupiny bodů vedle sebe</a:t>
            </a:r>
          </a:p>
        </p:txBody>
      </p:sp>
      <p:sp>
        <p:nvSpPr>
          <p:cNvPr id="5" name="Číslo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6" name="Text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Klientů přibývá rychleji než loni.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Za 3. čtvrtletí +10 100 nových klientů (+18 % meziročně), tahounem je mobilní aplikace.</a:t>
            </a:r>
          </a:p>
        </p:txBody>
      </p:sp>
      <p:sp>
        <p:nvSpPr>
          <p:cNvPr id="7" name="Číslo"/>
          <p:cNvSpPr>
            <a:spLocks noGrp="1"/>
          </p:cNvSpPr>
          <p:nvPr>
            <p:ph type="body" idx="102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DIP je nejrychleji rostoucí produkt.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Podíl DIP na nových investicích vzrostl na 31 %, průměrný vklad 2 400 Kč měsíčně.</a:t>
            </a:r>
          </a:p>
        </p:txBody>
      </p:sp>
      <p:sp>
        <p:nvSpPr>
          <p:cNvPr id="9" name="Číslo"/>
          <p:cNvSpPr>
            <a:spLocks noGrp="1"/>
          </p:cNvSpPr>
          <p:nvPr>
            <p:ph type="body" idx="104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0" name="Text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Náklady na akvizici klesají.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CAC se snížil o 12 % díky výkonnostnímu marketingu a doporučením.</a:t>
            </a:r>
          </a:p>
        </p:txBody>
      </p:sp>
      <p:sp>
        <p:nvSpPr>
          <p:cNvPr id="11" name="Číslo"/>
          <p:cNvSpPr>
            <a:spLocks noGrp="1"/>
          </p:cNvSpPr>
          <p:nvPr>
            <p:ph type="body" idx="106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12" name="Text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Riziko: konkurence snižuje poplatky.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Dva velcí hráči zlevnili ETF investice, tlak na naši headline sazbu poroste.</a:t>
            </a:r>
          </a:p>
        </p:txBody>
      </p:sp>
      <p:sp>
        <p:nvSpPr>
          <p:cNvPr id="13" name="Číslo"/>
          <p:cNvSpPr>
            <a:spLocks noGrp="1"/>
          </p:cNvSpPr>
          <p:nvPr>
            <p:ph type="body" idx="108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5</a:t>
            </a:r>
          </a:p>
        </p:txBody>
      </p:sp>
      <p:sp>
        <p:nvSpPr>
          <p:cNvPr id="14" name="Text"/>
          <p:cNvSpPr>
            <a:spLocks noGrp="1"/>
          </p:cNvSpPr>
          <p:nvPr>
            <p:ph type="body" idx="109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Příležitost: partnerská distribuce.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Pilot s partnerskou bankou může přinést až 20 000 klientů ročně.</a:t>
            </a:r>
          </a:p>
        </p:txBody>
      </p:sp>
      <p:sp>
        <p:nvSpPr>
          <p:cNvPr id="15" name="Číslo"/>
          <p:cNvSpPr>
            <a:spLocks noGrp="1"/>
          </p:cNvSpPr>
          <p:nvPr>
            <p:ph type="body" idx="110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6</a:t>
            </a:r>
          </a:p>
        </p:txBody>
      </p:sp>
      <p:sp>
        <p:nvSpPr>
          <p:cNvPr id="16" name="Text"/>
          <p:cNvSpPr>
            <a:spLocks noGrp="1"/>
          </p:cNvSpPr>
          <p:nvPr>
            <p:ph type="body" idx="1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Příležitost: partnerská distribuce.</a:t>
            </a:r>
          </a:p>
          <a:p>
            <a:pPr marL="0" indent="0" algn="l">
              <a:lnSpc>
                <a:spcPts val="16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Pilot s partnerskou bankou může přinést až 20 000 klientů ročně.</a:t>
            </a:r>
          </a:p>
        </p:txBody>
      </p:sp>
      <p:sp>
        <p:nvSpPr>
          <p:cNvPr id="17" name="Doporučení (boční panel)"/>
          <p:cNvSpPr/>
          <p:nvPr/>
        </p:nvSpPr>
        <p:spPr>
          <a:xfrm>
            <a:off x="8636000" y="635000"/>
            <a:ext cx="2794000" cy="2698750"/>
          </a:xfrm>
          <a:prstGeom prst="roundRect">
            <a:avLst>
              <a:gd name="adj" fmla="val 5647"/>
            </a:avLst>
          </a:prstGeom>
          <a:solidFill>
            <a:srgbClr val="ECEB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Štítek"/>
          <p:cNvSpPr>
            <a:spLocks noGrp="1"/>
          </p:cNvSpPr>
          <p:nvPr>
            <p:ph type="body" idx="1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DOPORUČUJEME</a:t>
            </a:r>
          </a:p>
        </p:txBody>
      </p:sp>
      <p:sp>
        <p:nvSpPr>
          <p:cNvPr id="19" name="Doporučení"/>
          <p:cNvSpPr>
            <a:spLocks noGrp="1"/>
          </p:cNvSpPr>
          <p:nvPr>
            <p:ph type="body" idx="11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174625" indent="-174625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Navýšit rozpočet na kampaň DIP o 20 %</a:t>
            </a:r>
          </a:p>
          <a:p>
            <a:pPr marL="174625" indent="-174625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Spustit pilot s partnerskou bankou v Q1</a:t>
            </a:r>
          </a:p>
          <a:p>
            <a:pPr marL="174625" indent="-174625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Připravit revizi ceníku do konce roku</a:t>
            </a:r>
          </a:p>
        </p:txBody>
      </p:sp>
      <p:sp>
        <p:nvSpPr>
          <p:cNvPr id="20" name="Rozhodnutí – linka"/>
          <p:cNvSpPr/>
          <p:nvPr/>
        </p:nvSpPr>
        <p:spPr>
          <a:xfrm>
            <a:off x="8940800" y="2451100"/>
            <a:ext cx="21844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ozhodnutí"/>
          <p:cNvSpPr>
            <a:spLocks noGrp="1"/>
          </p:cNvSpPr>
          <p:nvPr>
            <p:ph type="body" idx="1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16942" rIns="0" bIns="0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Rozhodnutí potřebujeme do</a:t>
            </a:r>
          </a:p>
          <a:p>
            <a:pPr marL="0" indent="0" algn="l">
              <a:lnSpc>
                <a:spcPts val="2100"/>
              </a:lnSpc>
              <a:spcBef>
                <a:spcPts val="33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DD. MM. RRRR</a:t>
            </a:r>
          </a:p>
        </p:txBody>
      </p:sp>
      <p:sp>
        <p:nvSpPr>
          <p:cNvPr id="22" name="Zdroj"/>
          <p:cNvSpPr>
            <a:spLocks noGrp="1"/>
          </p:cNvSpPr>
          <p:nvPr>
            <p:ph type="body" idx="11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 – nahraďte skutečnými čísly a uveďte zdroj.</a:t>
            </a:r>
          </a:p>
        </p:txBody>
      </p:sp>
      <p:sp>
        <p:nvSpPr>
          <p:cNvPr id="23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hrnutí podle oblast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EXECUTIVE SUMMARY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Shrnutí podle oblastí</a:t>
            </a:r>
          </a:p>
        </p:txBody>
      </p:sp>
      <p:graphicFrame>
        <p:nvGraphicFramePr>
          <p:cNvPr id="5" name="Tabulka shrnutí"/>
          <p:cNvGraphicFramePr>
            <a:graphicFrameLocks noGrp="1"/>
          </p:cNvGraphicFramePr>
          <p:nvPr>
            <p:ph type="tbl" idx="100"/>
          </p:nvPr>
        </p:nvGraphicFramePr>
        <p:xfrm>
          <a:off x="774700" y="1765300"/>
          <a:ext cx="10642600" cy="4064000"/>
        </p:xfrm>
        <a:graphic>
          <a:graphicData uri="http://schemas.openxmlformats.org/drawingml/2006/table">
            <a:tbl>
              <a:tblPr firstRow="1" bandRow="1">
                <a:tableStyleId>{6E25E649-3F16-4E02-A733-19A2CDBF48F0}</a:tableStyleId>
              </a:tblPr>
              <a:tblGrid>
                <a:gridCol w="227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all" spc="75" dirty="0">
                          <a:solidFill>
                            <a:schemeClr val="bg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OBLAST</a:t>
                      </a:r>
                    </a:p>
                  </a:txBody>
                  <a:tcPr marL="203200" marR="203200" marT="107950" marB="1079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all" spc="75" dirty="0">
                          <a:solidFill>
                            <a:schemeClr val="bg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ZJIŠTĚNÍ</a:t>
                      </a:r>
                    </a:p>
                  </a:txBody>
                  <a:tcPr marL="203200" marR="203200" marT="107950" marB="1079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all" spc="75" dirty="0">
                          <a:solidFill>
                            <a:schemeClr val="bg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DOPAD / DALŠÍ KROK</a:t>
                      </a:r>
                    </a:p>
                  </a:txBody>
                  <a:tcPr marL="203200" marR="203200" marT="107950" marB="1079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Akvizice</a:t>
                      </a:r>
                    </a:p>
                  </a:txBody>
                  <a:tcPr marL="203200" marR="203200" marT="133350" marB="1333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Klientů přibývá o 18 % rychleji než loni, tahounem je aplikace.</a:t>
                      </a:r>
                    </a:p>
                  </a:txBody>
                  <a:tcPr marL="203200" marR="203200" marT="127000" marB="1270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Posílit kampaň v aplikaci, cíl +12 000 klientů v Q4.</a:t>
                      </a:r>
                    </a:p>
                  </a:txBody>
                  <a:tcPr marL="203200" marR="203200" marT="127000" marB="127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Produkty</a:t>
                      </a:r>
                    </a:p>
                  </a:txBody>
                  <a:tcPr marL="203200" marR="203200" marT="133350" marB="1333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DIP tvoří 31 % nových investic, realitní fond stagnuje.</a:t>
                      </a:r>
                    </a:p>
                  </a:txBody>
                  <a:tcPr marL="203200" marR="203200" marT="127000" marB="1270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Komunikovat realitní fond jako doplněk k DIP.</a:t>
                      </a:r>
                    </a:p>
                  </a:txBody>
                  <a:tcPr marL="203200" marR="203200" marT="127000" marB="127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Ceny</a:t>
                      </a:r>
                    </a:p>
                  </a:txBody>
                  <a:tcPr marL="203200" marR="203200" marT="133350" marB="1333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Konkurence zlevnila ETF investice, headline sazba je pod tlakem.</a:t>
                      </a:r>
                    </a:p>
                  </a:txBody>
                  <a:tcPr marL="203200" marR="203200" marT="127000" marB="1270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Revize ceníku a objemových pásem do konce roku.</a:t>
                      </a:r>
                    </a:p>
                  </a:txBody>
                  <a:tcPr marL="203200" marR="203200" marT="127000" marB="127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Partneři</a:t>
                      </a:r>
                    </a:p>
                  </a:txBody>
                  <a:tcPr marL="203200" marR="203200" marT="133350" marB="1333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Partnerská banka má zájem o distribuci DIP a realitního fondu.</a:t>
                      </a:r>
                    </a:p>
                  </a:txBody>
                  <a:tcPr marL="203200" marR="203200" marT="127000" marB="1270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Pilot v Q1, vyhodnocení po 3 měsících.</a:t>
                      </a:r>
                    </a:p>
                  </a:txBody>
                  <a:tcPr marL="203200" marR="203200" marT="127000" marB="127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Provoz</a:t>
                      </a:r>
                    </a:p>
                  </a:txBody>
                  <a:tcPr marL="203200" marR="203200" marT="133350" marB="1333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Doba ověření klienta se zkrátila na 6 minut díky Bank iD.</a:t>
                      </a:r>
                    </a:p>
                  </a:txBody>
                  <a:tcPr marL="203200" marR="203200" marT="127000" marB="1270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Rozšířit Bank iD i na firemní účty.</a:t>
                      </a:r>
                    </a:p>
                  </a:txBody>
                  <a:tcPr marL="203200" marR="203200" marT="127000" marB="127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Provoz</a:t>
                      </a:r>
                    </a:p>
                  </a:txBody>
                  <a:tcPr marL="203200" marR="203200" marT="133350" marB="1333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Doba ověření klienta se zkrátila na 6 minut díky Bank iD.</a:t>
                      </a:r>
                    </a:p>
                  </a:txBody>
                  <a:tcPr marL="203200" marR="203200" marT="127000" marB="1270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Rozšířit Bank iD i na firemní účty.</a:t>
                      </a:r>
                    </a:p>
                  </a:txBody>
                  <a:tcPr marL="203200" marR="203200" marT="127000" marB="127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Provoz</a:t>
                      </a:r>
                    </a:p>
                  </a:txBody>
                  <a:tcPr marL="203200" marR="203200" marT="133350" marB="1333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Doba ověření klienta se zkrátila na 6 minut díky Bank iD.</a:t>
                      </a:r>
                    </a:p>
                  </a:txBody>
                  <a:tcPr marL="203200" marR="203200" marT="127000" marB="1270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Rozšířit Bank iD i na firemní účty.</a:t>
                      </a:r>
                    </a:p>
                  </a:txBody>
                  <a:tcPr marL="203200" marR="203200" marT="127000" marB="127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Provoz</a:t>
                      </a:r>
                    </a:p>
                  </a:txBody>
                  <a:tcPr marL="203200" marR="203200" marT="133350" marB="13335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Doba ověření klienta se zkrátila na 6 minut díky Bank iD.</a:t>
                      </a:r>
                    </a:p>
                  </a:txBody>
                  <a:tcPr marL="203200" marR="203200" marT="127000" marB="1270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Rozšířit Bank iD i na firemní účty.</a:t>
                      </a:r>
                    </a:p>
                  </a:txBody>
                  <a:tcPr marL="203200" marR="203200" marT="127000" marB="127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Zdroj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 – nahraďte skutečnými čísly a uveďte zdroj.</a:t>
            </a:r>
          </a:p>
        </p:txBody>
      </p:sp>
      <p:sp>
        <p:nvSpPr>
          <p:cNvPr id="7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dyž je potřeba víc vysvět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PODROBNĚ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Když je potřeba víc vysvětlit</a:t>
            </a:r>
          </a:p>
        </p:txBody>
      </p:sp>
      <p:sp>
        <p:nvSpPr>
          <p:cNvPr id="5" name="Odstavec – Výchozí situace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Výchozí situace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Portu dnes spravuje majetek stovek tisíc klientů. Většina z nich investuje pravidelně a dlouhodobě, ale roste i skupina, která chce mít část peněz dostupnou během několika let. Pro ně hledáme řešení, které spojí rozumné zhodnocení s dobrou likviditou.</a:t>
            </a:r>
          </a:p>
        </p:txBody>
      </p:sp>
      <p:sp>
        <p:nvSpPr>
          <p:cNvPr id="6" name="Odstavec – Co jsme zjistili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jsme zjistili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 rozhovorů s klienty vyplývá, že nejčastěji srovnávají investice se spořicím účtem. Rozhoduje pro ně jednoduchost, jistota a to, jak rychle se k penězům dostanou. Výnos je až na třetím místě.</a:t>
            </a:r>
          </a:p>
        </p:txBody>
      </p:sp>
      <p:sp>
        <p:nvSpPr>
          <p:cNvPr id="7" name="Odstavec – Rizika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Rizika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Hlavním rizikem je, že klienti zamění krátkodobé výkyvy za skutečné riziko a investici předčasně ukončí. Proto chceme horizont komunikovat hned na začátku a připomínat ho i v aplikaci.</a:t>
            </a:r>
          </a:p>
        </p:txBody>
      </p:sp>
      <p:sp>
        <p:nvSpPr>
          <p:cNvPr id="8" name="Odstavec – Navrhované řešení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Navrhované řešení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Doporučujeme komunikovat produkty podle investičního horizontu, ne podle typu aktiva. Klient si zvolí, kdy bude peníze potřebovat, a my mu nabídneme vhodnou kombinaci rezervy, dluhopisů a akcií.</a:t>
            </a:r>
          </a:p>
        </p:txBody>
      </p:sp>
      <p:sp>
        <p:nvSpPr>
          <p:cNvPr id="9" name="Odstavec – Další kroky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Další kroky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 konce kvartálu připravíme úpravu webu a registrační cesty, otestujeme nové texty na vybraném vzorku klientů a výsledky vyhodnotíme společně s produktovým týmem.</a:t>
            </a:r>
          </a:p>
        </p:txBody>
      </p:sp>
      <p:sp>
        <p:nvSpPr>
          <p:cNvPr id="10" name="Odstavec – Co od vás potřebujeme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od vás potřebujeme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Zpětnou vazbu na navržené texty do konce měsíce, kapacitu vývoje na úpravu registrace a souhlas compliance s novou podobou produktových stránek.</a:t>
            </a:r>
          </a:p>
        </p:txBody>
      </p:sp>
      <p:sp>
        <p:nvSpPr>
          <p:cNvPr id="11" name="Shrnutí (boční panel)"/>
          <p:cNvSpPr/>
          <p:nvPr/>
        </p:nvSpPr>
        <p:spPr>
          <a:xfrm>
            <a:off x="8636000" y="635000"/>
            <a:ext cx="2794000" cy="2806700"/>
          </a:xfrm>
          <a:prstGeom prst="roundRect">
            <a:avLst>
              <a:gd name="adj" fmla="val 5455"/>
            </a:avLst>
          </a:prstGeom>
          <a:solidFill>
            <a:srgbClr val="ECEB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Štítek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VE ZKRATCE</a:t>
            </a:r>
          </a:p>
        </p:txBody>
      </p:sp>
      <p:sp>
        <p:nvSpPr>
          <p:cNvPr id="13" name="Číslo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14" name="Text"/>
          <p:cNvSpPr>
            <a:spLocks noGrp="1"/>
          </p:cNvSpPr>
          <p:nvPr>
            <p:ph type="body" idx="10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Klienti srovnávají se spořicím účtem</a:t>
            </a:r>
          </a:p>
        </p:txBody>
      </p:sp>
      <p:sp>
        <p:nvSpPr>
          <p:cNvPr id="15" name="Číslo"/>
          <p:cNvSpPr>
            <a:spLocks noGrp="1"/>
          </p:cNvSpPr>
          <p:nvPr>
            <p:ph type="body" idx="109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16" name="Text"/>
          <p:cNvSpPr>
            <a:spLocks noGrp="1"/>
          </p:cNvSpPr>
          <p:nvPr>
            <p:ph type="body" idx="1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Rozhoduje jednoduchost a likvidita</a:t>
            </a:r>
          </a:p>
        </p:txBody>
      </p:sp>
      <p:sp>
        <p:nvSpPr>
          <p:cNvPr id="17" name="Číslo"/>
          <p:cNvSpPr>
            <a:spLocks noGrp="1"/>
          </p:cNvSpPr>
          <p:nvPr>
            <p:ph type="body" idx="1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8" name="Text"/>
          <p:cNvSpPr>
            <a:spLocks noGrp="1"/>
          </p:cNvSpPr>
          <p:nvPr>
            <p:ph type="body" idx="1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Nabídku stavíme podle horizontu</a:t>
            </a:r>
          </a:p>
        </p:txBody>
      </p:sp>
      <p:sp>
        <p:nvSpPr>
          <p:cNvPr id="19" name="Číslo"/>
          <p:cNvSpPr>
            <a:spLocks noGrp="1"/>
          </p:cNvSpPr>
          <p:nvPr>
            <p:ph type="body" idx="11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20" name="Text"/>
          <p:cNvSpPr>
            <a:spLocks noGrp="1"/>
          </p:cNvSpPr>
          <p:nvPr>
            <p:ph type="body" idx="1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Výsledky testu do konce kvartálu</a:t>
            </a:r>
          </a:p>
        </p:txBody>
      </p:sp>
      <p:sp>
        <p:nvSpPr>
          <p:cNvPr id="21" name="Zdroj"/>
          <p:cNvSpPr>
            <a:spLocks noGrp="1"/>
          </p:cNvSpPr>
          <p:nvPr>
            <p:ph type="body" idx="11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Zdroj: interní data Portu, klientský výzkum (MM/RRRR). Detailní čísla najdete v příloze. Více na </a:t>
            </a:r>
            <a:r>
              <a:rPr lang="cs-CZ" sz="800" b="0" u="sng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  <a:hlinkClick r:id="rId2"/>
              </a:rPr>
              <a:t>portu.cz</a:t>
            </a:r>
            <a:endParaRPr lang="cs-CZ" sz="800" b="0" kern="0" cap="none" spc="0" dirty="0">
              <a:solidFill>
                <a:schemeClr val="accent6"/>
              </a:solidFill>
              <a:latin typeface="Rethink Sans"/>
              <a:ea typeface="Rethink Sans"/>
              <a:cs typeface="Rethink Sans"/>
            </a:endParaRPr>
          </a:p>
        </p:txBody>
      </p:sp>
      <p:sp>
        <p:nvSpPr>
          <p:cNvPr id="22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dyž je potřeba víc vysvět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PODROBNĚ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Když je potřeba víc vysvětlit</a:t>
            </a:r>
          </a:p>
        </p:txBody>
      </p:sp>
      <p:sp>
        <p:nvSpPr>
          <p:cNvPr id="5" name="Odrážky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První hlavní bod – jedna myšlenka na jeden řádek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Druhý hlavní bod, klidně o něco delší, když je potřeba něco vysvětlit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Třetí hlavní bod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Čtvrtý hlavní bod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 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 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</p:txBody>
      </p:sp>
      <p:sp>
        <p:nvSpPr>
          <p:cNvPr id="6" name="Odrážky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První hlavní bod – jedna myšlenka na jeden řádek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Druhý hlavní bod, klidně o něco delší, když je potřeba něco vysvětlit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Třetí hlavní bod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Čtvrtý hlavní bod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 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 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Pátý hlavní bod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detail k druhému bodu (Tab = odsazení)</a:t>
            </a:r>
          </a:p>
          <a:p>
            <a:pPr marL="412750" lvl="1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detail ke stejnému bodu</a:t>
            </a:r>
          </a:p>
        </p:txBody>
      </p:sp>
      <p:sp>
        <p:nvSpPr>
          <p:cNvPr id="7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Čtyři skupiny bodů v mříž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TÉMA SLIDU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Čtyři skupiny bodů v mřížce</a:t>
            </a:r>
          </a:p>
        </p:txBody>
      </p:sp>
      <p:sp>
        <p:nvSpPr>
          <p:cNvPr id="5" name="Sloupec – Co funguje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Co funguje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Klienti oceňují jednoduchost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Rostoucí počet pravidelných vkladů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Silná pozice v mobilní aplikaci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Nízká míra odchodů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Dobré hodnocení na storech</a:t>
            </a:r>
          </a:p>
        </p:txBody>
      </p:sp>
      <p:sp>
        <p:nvSpPr>
          <p:cNvPr id="6" name="Sloupec – Co zlepšit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Co zlepšit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Delší registrace u nových klientů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Nízké povědomí o DIP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Komunikace poplatků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Onboarding firemních klientů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Propojení s partnery</a:t>
            </a:r>
          </a:p>
        </p:txBody>
      </p:sp>
      <p:sp>
        <p:nvSpPr>
          <p:cNvPr id="7" name="Sloupec – Příležitosti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Příležitosti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Firemní klienti a zaměstnanecké benefity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Spolupráce s bankami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Nové investiční strategie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Vzdělávací obsah</a:t>
            </a:r>
          </a:p>
        </p:txBody>
      </p:sp>
      <p:sp>
        <p:nvSpPr>
          <p:cNvPr id="8" name="Sloupec – Rizika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Rizika</a:t>
            </a:r>
          </a:p>
          <a:p>
            <a:pPr marL="206375" indent="-206375" algn="l">
              <a:lnSpc>
                <a:spcPts val="1900"/>
              </a:lnSpc>
              <a:spcBef>
                <a:spcPts val="84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Volatilita trhů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Regulatorní změny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Tlak konkurence na poplatky</a:t>
            </a:r>
          </a:p>
          <a:p>
            <a:pPr marL="206375" indent="-206375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Závislost na partnerech</a:t>
            </a:r>
          </a:p>
        </p:txBody>
      </p:sp>
      <p:sp>
        <p:nvSpPr>
          <p:cNvPr id="9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vě varianty vedle se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SROVNÁNÍ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Dvě varianty vedle sebe</a:t>
            </a:r>
          </a:p>
        </p:txBody>
      </p:sp>
      <p:sp>
        <p:nvSpPr>
          <p:cNvPr id="5" name="Karta – Varianta A"/>
          <p:cNvSpPr/>
          <p:nvPr/>
        </p:nvSpPr>
        <p:spPr>
          <a:xfrm>
            <a:off x="762000" y="1905000"/>
            <a:ext cx="5232400" cy="3086100"/>
          </a:xfrm>
          <a:prstGeom prst="roundRect">
            <a:avLst>
              <a:gd name="adj" fmla="val 4938"/>
            </a:avLst>
          </a:prstGeom>
          <a:gradFill rotWithShape="1">
            <a:gsLst>
              <a:gs pos="0">
                <a:srgbClr val="3F2485"/>
              </a:gs>
              <a:gs pos="14286">
                <a:srgbClr val="3F2485"/>
              </a:gs>
              <a:gs pos="50000">
                <a:srgbClr val="512DAC"/>
              </a:gs>
              <a:gs pos="85714">
                <a:srgbClr val="7A33C4"/>
              </a:gs>
              <a:gs pos="100000">
                <a:srgbClr val="7A33C4"/>
              </a:gs>
            </a:gsLst>
            <a:lin ang="1831941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Nadpis karty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Pro většinu z vás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Varianta A</a:t>
            </a:r>
          </a:p>
        </p:txBody>
      </p:sp>
      <p:sp>
        <p:nvSpPr>
          <p:cNvPr id="7" name="Popis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Krátký popis varianty – pro koho je a proč ji zvolit.</a:t>
            </a:r>
          </a:p>
        </p:txBody>
      </p:sp>
      <p:pic>
        <p:nvPicPr>
          <p:cNvPr id="8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066800" y="3340100"/>
            <a:ext cx="254000" cy="254000"/>
          </a:xfrm>
          <a:prstGeom prst="rect">
            <a:avLst/>
          </a:prstGeom>
        </p:spPr>
      </p:pic>
      <p:sp>
        <p:nvSpPr>
          <p:cNvPr id="9" name="Text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První výhoda varianty</a:t>
            </a:r>
          </a:p>
        </p:txBody>
      </p:sp>
      <p:pic>
        <p:nvPicPr>
          <p:cNvPr id="10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066800" y="3695700"/>
            <a:ext cx="254000" cy="254000"/>
          </a:xfrm>
          <a:prstGeom prst="rect">
            <a:avLst/>
          </a:prstGeom>
        </p:spPr>
      </p:pic>
      <p:sp>
        <p:nvSpPr>
          <p:cNvPr id="11" name="Text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Druhá výhoda varianty</a:t>
            </a:r>
          </a:p>
        </p:txBody>
      </p:sp>
      <p:pic>
        <p:nvPicPr>
          <p:cNvPr id="12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066800" y="4051300"/>
            <a:ext cx="254000" cy="254000"/>
          </a:xfrm>
          <a:prstGeom prst="rect">
            <a:avLst/>
          </a:prstGeom>
        </p:spPr>
      </p:pic>
      <p:sp>
        <p:nvSpPr>
          <p:cNvPr id="13" name="Text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Třetí výhoda varianty</a:t>
            </a:r>
          </a:p>
        </p:txBody>
      </p:sp>
      <p:pic>
        <p:nvPicPr>
          <p:cNvPr id="14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066800" y="4406900"/>
            <a:ext cx="254000" cy="254000"/>
          </a:xfrm>
          <a:prstGeom prst="rect">
            <a:avLst/>
          </a:prstGeom>
        </p:spPr>
      </p:pic>
      <p:sp>
        <p:nvSpPr>
          <p:cNvPr id="15" name="Text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Čtvrtá výhoda varianty</a:t>
            </a:r>
          </a:p>
        </p:txBody>
      </p:sp>
      <p:sp>
        <p:nvSpPr>
          <p:cNvPr id="16" name="Karta – Varianta B"/>
          <p:cNvSpPr/>
          <p:nvPr/>
        </p:nvSpPr>
        <p:spPr>
          <a:xfrm>
            <a:off x="6197600" y="1905000"/>
            <a:ext cx="5232400" cy="3086100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Nadpis karty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Pro zkušenější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Varianta B</a:t>
            </a:r>
          </a:p>
        </p:txBody>
      </p:sp>
      <p:sp>
        <p:nvSpPr>
          <p:cNvPr id="18" name="Popis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Krátký popis varianty – pro koho je a proč ji zvolit.</a:t>
            </a:r>
          </a:p>
        </p:txBody>
      </p:sp>
      <p:pic>
        <p:nvPicPr>
          <p:cNvPr id="19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515100" y="3352800"/>
            <a:ext cx="254000" cy="254000"/>
          </a:xfrm>
          <a:prstGeom prst="rect">
            <a:avLst/>
          </a:prstGeom>
        </p:spPr>
      </p:pic>
      <p:sp>
        <p:nvSpPr>
          <p:cNvPr id="20" name="Text"/>
          <p:cNvSpPr>
            <a:spLocks noGrp="1"/>
          </p:cNvSpPr>
          <p:nvPr>
            <p:ph type="body" idx="10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První výhoda varianty</a:t>
            </a:r>
          </a:p>
        </p:txBody>
      </p:sp>
      <p:pic>
        <p:nvPicPr>
          <p:cNvPr id="21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515100" y="3708400"/>
            <a:ext cx="254000" cy="254000"/>
          </a:xfrm>
          <a:prstGeom prst="rect">
            <a:avLst/>
          </a:prstGeom>
        </p:spPr>
      </p:pic>
      <p:sp>
        <p:nvSpPr>
          <p:cNvPr id="22" name="Text"/>
          <p:cNvSpPr>
            <a:spLocks noGrp="1"/>
          </p:cNvSpPr>
          <p:nvPr>
            <p:ph type="body" idx="109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Druhá výhoda varianty</a:t>
            </a:r>
          </a:p>
        </p:txBody>
      </p:sp>
      <p:pic>
        <p:nvPicPr>
          <p:cNvPr id="23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515100" y="4064000"/>
            <a:ext cx="254000" cy="254000"/>
          </a:xfrm>
          <a:prstGeom prst="rect">
            <a:avLst/>
          </a:prstGeom>
        </p:spPr>
      </p:pic>
      <p:sp>
        <p:nvSpPr>
          <p:cNvPr id="24" name="Text"/>
          <p:cNvSpPr>
            <a:spLocks noGrp="1"/>
          </p:cNvSpPr>
          <p:nvPr>
            <p:ph type="body" idx="1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Třetí výhoda varianty</a:t>
            </a:r>
          </a:p>
        </p:txBody>
      </p:sp>
      <p:pic>
        <p:nvPicPr>
          <p:cNvPr id="25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515100" y="4419600"/>
            <a:ext cx="254000" cy="254000"/>
          </a:xfrm>
          <a:prstGeom prst="rect">
            <a:avLst/>
          </a:prstGeom>
        </p:spPr>
      </p:pic>
      <p:sp>
        <p:nvSpPr>
          <p:cNvPr id="26" name="Text"/>
          <p:cNvSpPr>
            <a:spLocks noGrp="1"/>
          </p:cNvSpPr>
          <p:nvPr>
            <p:ph type="body" idx="1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Čtvrtá výhoda varianty</a:t>
            </a:r>
          </a:p>
        </p:txBody>
      </p:sp>
      <p:sp>
        <p:nvSpPr>
          <p:cNvPr id="27" name="Karta – Varianta B"/>
          <p:cNvSpPr/>
          <p:nvPr/>
        </p:nvSpPr>
        <p:spPr>
          <a:xfrm>
            <a:off x="6203950" y="1911350"/>
            <a:ext cx="5219700" cy="3073400"/>
          </a:xfrm>
          <a:prstGeom prst="roundRect">
            <a:avLst>
              <a:gd name="adj" fmla="val 4752"/>
            </a:avLst>
          </a:prstGeom>
          <a:noFill/>
          <a:ln w="12700">
            <a:solidFill>
              <a:srgbClr val="E1E3E8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arianta A, nebo varianta B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SROVNÁNÍ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Varianta A, nebo varianta B?</a:t>
            </a:r>
          </a:p>
        </p:txBody>
      </p:sp>
      <p:sp>
        <p:nvSpPr>
          <p:cNvPr id="5" name="Obrázek – Varianta A"/>
          <p:cNvSpPr>
            <a:spLocks noGrp="1"/>
          </p:cNvSpPr>
          <p:nvPr>
            <p:ph type="pic" idx="20"/>
          </p:nvPr>
        </p:nvSpPr>
        <p:spPr>
          <a:xfrm>
            <a:off x="762000" y="1905000"/>
            <a:ext cx="5181600" cy="3048000"/>
          </a:xfrm>
          <a:prstGeom prst="roundRect">
            <a:avLst>
              <a:gd name="adj" fmla="val 5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Štítek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A</a:t>
            </a:r>
          </a:p>
        </p:txBody>
      </p:sp>
      <p:sp>
        <p:nvSpPr>
          <p:cNvPr id="7" name="Název varianty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Varianta A</a:t>
            </a:r>
          </a:p>
        </p:txBody>
      </p:sp>
      <p:sp>
        <p:nvSpPr>
          <p:cNvPr id="8" name="Popis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Krátký popis první varianty – co je na obrázku a v čem je jiná.</a:t>
            </a:r>
          </a:p>
        </p:txBody>
      </p:sp>
      <p:sp>
        <p:nvSpPr>
          <p:cNvPr id="9" name="Obrázek – Varianta B"/>
          <p:cNvSpPr>
            <a:spLocks noGrp="1"/>
          </p:cNvSpPr>
          <p:nvPr>
            <p:ph type="pic" idx="21"/>
          </p:nvPr>
        </p:nvSpPr>
        <p:spPr>
          <a:xfrm>
            <a:off x="6248400" y="1905000"/>
            <a:ext cx="5181600" cy="3048000"/>
          </a:xfrm>
          <a:prstGeom prst="roundRect">
            <a:avLst>
              <a:gd name="adj" fmla="val 5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Štítek"/>
          <p:cNvSpPr>
            <a:spLocks noGrp="1"/>
          </p:cNvSpPr>
          <p:nvPr>
            <p:ph type="body" idx="10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B</a:t>
            </a:r>
          </a:p>
        </p:txBody>
      </p:sp>
      <p:sp>
        <p:nvSpPr>
          <p:cNvPr id="11" name="Název varianty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Varianta B</a:t>
            </a:r>
          </a:p>
        </p:txBody>
      </p:sp>
      <p:sp>
        <p:nvSpPr>
          <p:cNvPr id="12" name="Popis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Krátký popis druhé varianty – co je na obrázku a v čem je jiná.</a:t>
            </a:r>
          </a:p>
        </p:txBody>
      </p:sp>
      <p:sp>
        <p:nvSpPr>
          <p:cNvPr id="13" name="VS"/>
          <p:cNvSpPr>
            <a:spLocks noGrp="1"/>
          </p:cNvSpPr>
          <p:nvPr>
            <p:ph type="body" idx="106"/>
          </p:nvPr>
        </p:nvSpPr>
        <p:spPr>
          <a:prstGeom prst="roundRect">
            <a:avLst>
              <a:gd name="adj" fmla="val 50000"/>
            </a:avLst>
          </a:prstGeom>
          <a:solidFill>
            <a:schemeClr val="tx2"/>
          </a:solidFill>
          <a:ln w="50800">
            <a:solidFill>
              <a:schemeClr val="bg1"/>
            </a:solidFill>
            <a:round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vs</a:t>
            </a:r>
          </a:p>
        </p:txBody>
      </p:sp>
      <p:sp>
        <p:nvSpPr>
          <p:cNvPr id="14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ři karty vedle se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NAŠE PRODUKTY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Tři karty vedle sebe</a:t>
            </a:r>
          </a:p>
        </p:txBody>
      </p:sp>
      <p:sp>
        <p:nvSpPr>
          <p:cNvPr id="5" name="Karta – Portfolio od Portu"/>
          <p:cNvSpPr/>
          <p:nvPr/>
        </p:nvSpPr>
        <p:spPr>
          <a:xfrm>
            <a:off x="762000" y="2349500"/>
            <a:ext cx="3416300" cy="2451100"/>
          </a:xfrm>
          <a:prstGeom prst="roundRect">
            <a:avLst>
              <a:gd name="adj" fmla="val 6218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Nadtitulek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První volba klientů</a:t>
            </a:r>
          </a:p>
        </p:txBody>
      </p:sp>
      <p:sp>
        <p:nvSpPr>
          <p:cNvPr id="7" name="Název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Portfolio od Portu</a:t>
            </a:r>
          </a:p>
        </p:txBody>
      </p:sp>
      <p:sp>
        <p:nvSpPr>
          <p:cNvPr id="8" name="Popis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Portfolio vám poskládáme a hlídáme automaticky – vy jen zvolíte cíl a toleranci k riziku.</a:t>
            </a:r>
          </a:p>
        </p:txBody>
      </p:sp>
      <p:sp>
        <p:nvSpPr>
          <p:cNvPr id="9" name="Ikona"/>
          <p:cNvSpPr/>
          <p:nvPr/>
        </p:nvSpPr>
        <p:spPr>
          <a:xfrm>
            <a:off x="774700" y="4178300"/>
            <a:ext cx="3390900" cy="609600"/>
          </a:xfrm>
          <a:custGeom>
            <a:avLst/>
            <a:gdLst/>
            <a:ahLst/>
            <a:cxnLst/>
            <a:rect l="0" t="0" r="r" b="b"/>
            <a:pathLst>
              <a:path w="3390900" h="609600">
                <a:moveTo>
                  <a:pt x="0" y="0"/>
                </a:moveTo>
                <a:lnTo>
                  <a:pt x="3390900" y="0"/>
                </a:lnTo>
                <a:lnTo>
                  <a:pt x="3390900" y="469900"/>
                </a:lnTo>
                <a:arcTo wR="139700" hR="139700" stAng="0" swAng="5400000"/>
                <a:lnTo>
                  <a:pt x="139700" y="609600"/>
                </a:lnTo>
                <a:arcTo wR="139700" hR="139700" stAng="5400000" swAng="5400000"/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74700" y="4178300"/>
            <a:ext cx="3390900" cy="609600"/>
          </a:xfrm>
          <a:prstGeom prst="rect">
            <a:avLst/>
          </a:prstGeom>
        </p:spPr>
      </p:pic>
      <p:sp>
        <p:nvSpPr>
          <p:cNvPr id="11" name="Karta – Portfolio od Portu"/>
          <p:cNvSpPr/>
          <p:nvPr/>
        </p:nvSpPr>
        <p:spPr>
          <a:xfrm>
            <a:off x="768350" y="2355850"/>
            <a:ext cx="3403600" cy="2438400"/>
          </a:xfrm>
          <a:prstGeom prst="roundRect">
            <a:avLst>
              <a:gd name="adj" fmla="val 5990"/>
            </a:avLst>
          </a:prstGeom>
          <a:noFill/>
          <a:ln w="12700">
            <a:solidFill>
              <a:srgbClr val="E1E3E8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Karta – Investiční rezerva"/>
          <p:cNvSpPr/>
          <p:nvPr/>
        </p:nvSpPr>
        <p:spPr>
          <a:xfrm>
            <a:off x="4381500" y="2349500"/>
            <a:ext cx="3416300" cy="2451100"/>
          </a:xfrm>
          <a:prstGeom prst="roundRect">
            <a:avLst>
              <a:gd name="adj" fmla="val 6218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Nadtitulek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Finanční polštář</a:t>
            </a:r>
          </a:p>
        </p:txBody>
      </p:sp>
      <p:sp>
        <p:nvSpPr>
          <p:cNvPr id="14" name="Název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Investiční rezerva</a:t>
            </a:r>
          </a:p>
        </p:txBody>
      </p:sp>
      <p:sp>
        <p:nvSpPr>
          <p:cNvPr id="15" name="Popis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Alternativa spořicího účtu. Peníze se zhodnocují a máte je kdykoli k dispozici.</a:t>
            </a:r>
          </a:p>
        </p:txBody>
      </p:sp>
      <p:sp>
        <p:nvSpPr>
          <p:cNvPr id="16" name="Ikona"/>
          <p:cNvSpPr/>
          <p:nvPr/>
        </p:nvSpPr>
        <p:spPr>
          <a:xfrm>
            <a:off x="4394200" y="4178300"/>
            <a:ext cx="3390900" cy="609600"/>
          </a:xfrm>
          <a:custGeom>
            <a:avLst/>
            <a:gdLst/>
            <a:ahLst/>
            <a:cxnLst/>
            <a:rect l="0" t="0" r="r" b="b"/>
            <a:pathLst>
              <a:path w="3390900" h="609600">
                <a:moveTo>
                  <a:pt x="0" y="0"/>
                </a:moveTo>
                <a:lnTo>
                  <a:pt x="3390900" y="0"/>
                </a:lnTo>
                <a:lnTo>
                  <a:pt x="3390900" y="469900"/>
                </a:lnTo>
                <a:arcTo wR="139700" hR="139700" stAng="0" swAng="5400000"/>
                <a:lnTo>
                  <a:pt x="139700" y="609600"/>
                </a:lnTo>
                <a:arcTo wR="139700" hR="139700" stAng="5400000" swAng="5400000"/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394200" y="4178300"/>
            <a:ext cx="3390900" cy="609600"/>
          </a:xfrm>
          <a:prstGeom prst="rect">
            <a:avLst/>
          </a:prstGeom>
        </p:spPr>
      </p:pic>
      <p:sp>
        <p:nvSpPr>
          <p:cNvPr id="18" name="Karta – Investiční rezerva"/>
          <p:cNvSpPr/>
          <p:nvPr/>
        </p:nvSpPr>
        <p:spPr>
          <a:xfrm>
            <a:off x="4387850" y="2355850"/>
            <a:ext cx="3403600" cy="2438400"/>
          </a:xfrm>
          <a:prstGeom prst="roundRect">
            <a:avLst>
              <a:gd name="adj" fmla="val 5990"/>
            </a:avLst>
          </a:prstGeom>
          <a:noFill/>
          <a:ln w="12700">
            <a:solidFill>
              <a:srgbClr val="E1E3E8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Karta – Investice do realit"/>
          <p:cNvSpPr/>
          <p:nvPr/>
        </p:nvSpPr>
        <p:spPr>
          <a:xfrm>
            <a:off x="8001000" y="2349500"/>
            <a:ext cx="3416300" cy="2451100"/>
          </a:xfrm>
          <a:prstGeom prst="roundRect">
            <a:avLst>
              <a:gd name="adj" fmla="val 6218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Nadtitulek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Stabilní nemovitosti</a:t>
            </a:r>
          </a:p>
        </p:txBody>
      </p:sp>
      <p:sp>
        <p:nvSpPr>
          <p:cNvPr id="21" name="Název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Investice do realit</a:t>
            </a:r>
          </a:p>
        </p:txBody>
      </p:sp>
      <p:sp>
        <p:nvSpPr>
          <p:cNvPr id="22" name="Popis"/>
          <p:cNvSpPr>
            <a:spLocks noGrp="1"/>
          </p:cNvSpPr>
          <p:nvPr>
            <p:ph type="body" idx="10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Podílejte se na nájmu z nemovitostí bez starostí o nájemníky a správu budov.</a:t>
            </a:r>
          </a:p>
        </p:txBody>
      </p:sp>
      <p:sp>
        <p:nvSpPr>
          <p:cNvPr id="23" name="Ikona"/>
          <p:cNvSpPr/>
          <p:nvPr/>
        </p:nvSpPr>
        <p:spPr>
          <a:xfrm>
            <a:off x="8013700" y="4178300"/>
            <a:ext cx="3390900" cy="609600"/>
          </a:xfrm>
          <a:custGeom>
            <a:avLst/>
            <a:gdLst/>
            <a:ahLst/>
            <a:cxnLst/>
            <a:rect l="0" t="0" r="r" b="b"/>
            <a:pathLst>
              <a:path w="3390900" h="609600">
                <a:moveTo>
                  <a:pt x="0" y="0"/>
                </a:moveTo>
                <a:lnTo>
                  <a:pt x="3390900" y="0"/>
                </a:lnTo>
                <a:lnTo>
                  <a:pt x="3390900" y="469900"/>
                </a:lnTo>
                <a:arcTo wR="139700" hR="139700" stAng="0" swAng="5400000"/>
                <a:lnTo>
                  <a:pt x="139700" y="609600"/>
                </a:lnTo>
                <a:arcTo wR="139700" hR="139700" stAng="5400000" swAng="5400000"/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013700" y="4178300"/>
            <a:ext cx="3390900" cy="609600"/>
          </a:xfrm>
          <a:prstGeom prst="rect">
            <a:avLst/>
          </a:prstGeom>
        </p:spPr>
      </p:pic>
      <p:sp>
        <p:nvSpPr>
          <p:cNvPr id="25" name="Karta – Investice do realit"/>
          <p:cNvSpPr/>
          <p:nvPr/>
        </p:nvSpPr>
        <p:spPr>
          <a:xfrm>
            <a:off x="8007350" y="2355850"/>
            <a:ext cx="3403600" cy="2438400"/>
          </a:xfrm>
          <a:prstGeom prst="roundRect">
            <a:avLst>
              <a:gd name="adj" fmla="val 5990"/>
            </a:avLst>
          </a:prstGeom>
          <a:noFill/>
          <a:ln w="12700">
            <a:solidFill>
              <a:srgbClr val="E1E3E8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líčová čísla na jednom místě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PORTU V ČÍSLECH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Klíčová čísla na jednom místě</a:t>
            </a:r>
          </a:p>
        </p:txBody>
      </p:sp>
      <p:sp>
        <p:nvSpPr>
          <p:cNvPr id="5" name="Číslo 1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42850" rIns="304800" bIns="50800" rtlCol="0" anchor="t" anchorCtr="0">
            <a:noAutofit/>
          </a:bodyPr>
          <a:lstStyle/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340 000+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klientů svěřilo Portu své peníze</a:t>
            </a:r>
          </a:p>
        </p:txBody>
      </p:sp>
      <p:sp>
        <p:nvSpPr>
          <p:cNvPr id="6" name="Číslo 2 – linka"/>
          <p:cNvSpPr/>
          <p:nvPr/>
        </p:nvSpPr>
        <p:spPr>
          <a:xfrm>
            <a:off x="4076700" y="2857500"/>
            <a:ext cx="6350" cy="1054100"/>
          </a:xfrm>
          <a:prstGeom prst="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Číslo 2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355600" tIns="142850" rIns="304800" bIns="50800" rtlCol="0" anchor="t" anchorCtr="0">
            <a:noAutofit/>
          </a:bodyPr>
          <a:lstStyle/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73 mld. Kč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spravovaného majetku klientů</a:t>
            </a:r>
          </a:p>
        </p:txBody>
      </p:sp>
      <p:sp>
        <p:nvSpPr>
          <p:cNvPr id="8" name="Číslo 3 – linka"/>
          <p:cNvSpPr/>
          <p:nvPr/>
        </p:nvSpPr>
        <p:spPr>
          <a:xfrm>
            <a:off x="7753350" y="2857500"/>
            <a:ext cx="6350" cy="1295400"/>
          </a:xfrm>
          <a:prstGeom prst="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Číslo 3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355600" tIns="142850" rIns="304800" bIns="50800" rtlCol="0" anchor="t" anchorCtr="0">
            <a:noAutofit/>
          </a:bodyPr>
          <a:lstStyle/>
          <a:p>
            <a:pPr marL="0" indent="0"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10,04 %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průměrný roční výnos růstového portfolia za 10 let</a:t>
            </a:r>
          </a:p>
        </p:txBody>
      </p:sp>
      <p:sp>
        <p:nvSpPr>
          <p:cNvPr id="10" name="Zdroj a upozornění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Údaje k datu DD. MM. RRRR – před použitím ověřte aktuální čísla. Minulé výnosy nejsou zárukou budoucích výnosů.</a:t>
            </a:r>
          </a:p>
        </p:txBody>
      </p:sp>
      <p:sp>
        <p:nvSpPr>
          <p:cNvPr id="11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edno číslo, které si publikum zapamatu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HLAVNÍ SDĚLENÍ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Jedno číslo, které si publikum zapamatuje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Vysvětlete, co číslo znamená, odkud pochází a proč je pro posluchače důležité.</a:t>
            </a:r>
          </a:p>
        </p:txBody>
      </p:sp>
      <p:pic>
        <p:nvPicPr>
          <p:cNvPr id="6" name="Karta" descr="dekorace"/>
          <p:cNvPicPr>
            <a:picLocks noGrp="1"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000" y="762000"/>
            <a:ext cx="5080000" cy="5207000"/>
          </a:xfrm>
          <a:prstGeom prst="rect">
            <a:avLst/>
          </a:prstGeom>
        </p:spPr>
      </p:pic>
      <p:sp>
        <p:nvSpPr>
          <p:cNvPr id="7" name="Číslo a popis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217170" rIns="0" bIns="0" rtlCol="0" anchor="t" anchorCtr="0">
            <a:noAutofit/>
          </a:bodyPr>
          <a:lstStyle/>
          <a:p>
            <a:pPr marL="0" indent="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0" b="1" kern="0" cap="none" spc="-3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10,04 </a:t>
            </a: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%</a:t>
            </a:r>
            <a:endParaRPr lang="cs-CZ" sz="10000" b="1" kern="0" cap="none" spc="-300" dirty="0">
              <a:gradFill rotWithShape="1">
                <a:gsLst>
                  <a:gs pos="0">
                    <a:srgbClr val="D8FF15"/>
                  </a:gs>
                  <a:gs pos="100000">
                    <a:srgbClr val="05CB4B"/>
                  </a:gs>
                </a:gsLst>
                <a:lin ang="0" scaled="0"/>
              </a:gradFill>
              <a:latin typeface="Rethink Sans"/>
              <a:ea typeface="Rethink Sans"/>
              <a:cs typeface="Rethink Sans"/>
            </a:endParaRP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Průměrný roční výnos růstového portfolia za posledních 10 let včetně poplatků</a:t>
            </a:r>
          </a:p>
          <a:p>
            <a:pPr marL="0" indent="0" algn="l">
              <a:lnSpc>
                <a:spcPts val="1200"/>
              </a:lnSpc>
              <a:spcBef>
                <a:spcPts val="824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Minulé výnosy nejsou zárukou budoucích výnosů.</a:t>
            </a:r>
          </a:p>
        </p:txBody>
      </p:sp>
      <p:sp>
        <p:nvSpPr>
          <p:cNvPr id="8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  <p:pic>
        <p:nvPicPr>
          <p:cNvPr id="9" name="Portu Outlines" descr="dekorac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350250" y="0"/>
            <a:ext cx="3365500" cy="32194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ak začít během pár m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POSTUP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Jak začít během pár minut</a:t>
            </a:r>
          </a:p>
        </p:txBody>
      </p:sp>
      <p:sp>
        <p:nvSpPr>
          <p:cNvPr id="5" name="Spojnice"/>
          <p:cNvSpPr/>
          <p:nvPr/>
        </p:nvSpPr>
        <p:spPr>
          <a:xfrm>
            <a:off x="2095500" y="3251200"/>
            <a:ext cx="8001000" cy="1905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Číslo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50000"/>
            </a:avLst>
          </a:prstGeom>
          <a:solidFill>
            <a:schemeClr val="accent2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7" name="Název kroku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Registrace</a:t>
            </a:r>
          </a:p>
        </p:txBody>
      </p:sp>
      <p:sp>
        <p:nvSpPr>
          <p:cNvPr id="8" name="Popis kroku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Účet založíte online během pár minut.</a:t>
            </a:r>
          </a:p>
        </p:txBody>
      </p:sp>
      <p:sp>
        <p:nvSpPr>
          <p:cNvPr id="9" name="Číslo"/>
          <p:cNvSpPr>
            <a:spLocks noGrp="1"/>
          </p:cNvSpPr>
          <p:nvPr>
            <p:ph type="body" idx="103"/>
          </p:nvPr>
        </p:nvSpPr>
        <p:spPr>
          <a:prstGeom prst="roundRect">
            <a:avLst>
              <a:gd name="adj" fmla="val 50000"/>
            </a:avLst>
          </a:prstGeom>
          <a:solidFill>
            <a:schemeClr val="accent2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10" name="Název kroku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Ověření totožnosti</a:t>
            </a:r>
          </a:p>
        </p:txBody>
      </p:sp>
      <p:sp>
        <p:nvSpPr>
          <p:cNvPr id="11" name="Popis kroku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Přes bankovní identitu nebo doklady.</a:t>
            </a:r>
          </a:p>
        </p:txBody>
      </p:sp>
      <p:sp>
        <p:nvSpPr>
          <p:cNvPr id="12" name="Číslo"/>
          <p:cNvSpPr>
            <a:spLocks noGrp="1"/>
          </p:cNvSpPr>
          <p:nvPr>
            <p:ph type="body" idx="106"/>
          </p:nvPr>
        </p:nvSpPr>
        <p:spPr>
          <a:prstGeom prst="roundRect">
            <a:avLst>
              <a:gd name="adj" fmla="val 50000"/>
            </a:avLst>
          </a:prstGeom>
          <a:solidFill>
            <a:schemeClr val="accent2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3" name="Název kroku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Nastavení strategie</a:t>
            </a:r>
          </a:p>
        </p:txBody>
      </p:sp>
      <p:sp>
        <p:nvSpPr>
          <p:cNvPr id="14" name="Popis kroku"/>
          <p:cNvSpPr>
            <a:spLocks noGrp="1"/>
          </p:cNvSpPr>
          <p:nvPr>
            <p:ph type="body" idx="10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Zvolíte cíl, horizont a toleranci k riziku.</a:t>
            </a:r>
          </a:p>
        </p:txBody>
      </p:sp>
      <p:sp>
        <p:nvSpPr>
          <p:cNvPr id="15" name="Číslo"/>
          <p:cNvSpPr>
            <a:spLocks noGrp="1"/>
          </p:cNvSpPr>
          <p:nvPr>
            <p:ph type="body" idx="109"/>
          </p:nvPr>
        </p:nvSpPr>
        <p:spPr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solidFill>
              <a:schemeClr val="bg2"/>
            </a:solidFill>
            <a:round/>
          </a:ln>
        </p:spPr>
        <p:txBody>
          <a:bodyPr wrap="none" lIns="0" tIns="7201" rIns="0" bIns="0" rtlCol="0" anchor="ctr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16" name="Název kroku"/>
          <p:cNvSpPr>
            <a:spLocks noGrp="1"/>
          </p:cNvSpPr>
          <p:nvPr>
            <p:ph type="body" idx="1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První vklad</a:t>
            </a:r>
          </a:p>
        </p:txBody>
      </p:sp>
      <p:sp>
        <p:nvSpPr>
          <p:cNvPr id="17" name="Popis kroku"/>
          <p:cNvSpPr>
            <a:spLocks noGrp="1"/>
          </p:cNvSpPr>
          <p:nvPr>
            <p:ph type="body" idx="1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Pošlete peníze a o zbytek se postaráme.</a:t>
            </a:r>
          </a:p>
        </p:txBody>
      </p:sp>
      <p:sp>
        <p:nvSpPr>
          <p:cNvPr id="18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am s penězi na 3 až 8 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SROVNÁNÍ PRODUKTŮ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Kam s penězi na 3 až 8 let</a:t>
            </a:r>
          </a:p>
        </p:txBody>
      </p:sp>
      <p:graphicFrame>
        <p:nvGraphicFramePr>
          <p:cNvPr id="5" name="Tabulka"/>
          <p:cNvGraphicFramePr>
            <a:graphicFrameLocks noGrp="1"/>
          </p:cNvGraphicFramePr>
          <p:nvPr>
            <p:ph type="tbl" idx="100"/>
          </p:nvPr>
        </p:nvGraphicFramePr>
        <p:xfrm>
          <a:off x="771525" y="2041525"/>
          <a:ext cx="10668000" cy="3009900"/>
        </p:xfrm>
        <a:graphic>
          <a:graphicData uri="http://schemas.openxmlformats.org/drawingml/2006/table">
            <a:tbl>
              <a:tblPr firstRow="1" bandRow="1">
                <a:tableStyleId>{6E25E649-3F16-4E02-A733-19A2CDBF48F0}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bg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Produkt</a:t>
                      </a:r>
                    </a:p>
                  </a:txBody>
                  <a:tcPr marL="203200" marR="203200" marT="139700" marB="1397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bg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Riziko</a:t>
                      </a:r>
                    </a:p>
                  </a:txBody>
                  <a:tcPr marL="203200" marR="203200" marT="139700" marB="1397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bg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Likvidita</a:t>
                      </a:r>
                    </a:p>
                  </a:txBody>
                  <a:tcPr marL="203200" marR="203200" marT="139700" marB="1397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bg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Očekávaný výnos</a:t>
                      </a:r>
                    </a:p>
                  </a:txBody>
                  <a:tcPr marL="203200" marR="203200" marT="139700" marB="1397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bg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Investiční horizont</a:t>
                      </a:r>
                    </a:p>
                  </a:txBody>
                  <a:tcPr marL="203200" marR="203200" marT="139700" marB="1397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Spořicí účet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Minimální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Okamžitá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1–4 % p.a.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Okamžitý</a:t>
                      </a:r>
                    </a:p>
                  </a:txBody>
                  <a:tcPr marL="203200" marR="203200" marT="152400" marB="152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Termínovaný vklad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Nízké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Omezená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1–3,5 % p.a.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1–12 měsíců</a:t>
                      </a:r>
                    </a:p>
                  </a:txBody>
                  <a:tcPr marL="203200" marR="203200" marT="152400" marB="152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rgbClr val="00832E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Investiční rezerva Portu</a:t>
                      </a:r>
                    </a:p>
                  </a:txBody>
                  <a:tcPr marL="203200" marR="203200" marT="152400" marB="152400" anchor="ctr">
                    <a:solidFill>
                      <a:srgbClr val="E6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Nízké</a:t>
                      </a:r>
                    </a:p>
                  </a:txBody>
                  <a:tcPr marL="203200" marR="203200" marT="152400" marB="152400" anchor="ctr">
                    <a:solidFill>
                      <a:srgbClr val="E6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Lehce omezená</a:t>
                      </a:r>
                    </a:p>
                  </a:txBody>
                  <a:tcPr marL="203200" marR="203200" marT="152400" marB="152400" anchor="ctr">
                    <a:solidFill>
                      <a:srgbClr val="E6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3–3,2 % p.a.</a:t>
                      </a:r>
                    </a:p>
                  </a:txBody>
                  <a:tcPr marL="203200" marR="203200" marT="152400" marB="152400" anchor="ctr">
                    <a:solidFill>
                      <a:srgbClr val="E6F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1–3 roky</a:t>
                      </a:r>
                    </a:p>
                  </a:txBody>
                  <a:tcPr marL="203200" marR="203200" marT="152400" marB="152400" anchor="ctr">
                    <a:solidFill>
                      <a:srgbClr val="E6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Nemovitostní fondy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Nízké až střední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Vysoká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4–9 % p.a.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2–5 let</a:t>
                      </a:r>
                    </a:p>
                  </a:txBody>
                  <a:tcPr marL="203200" marR="203200" marT="152400" marB="152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tx1"/>
                          </a:solidFill>
                          <a:latin typeface="Rethink Sans SemiBold"/>
                          <a:ea typeface="Rethink Sans SemiBold"/>
                          <a:cs typeface="Rethink Sans SemiBold"/>
                        </a:rPr>
                        <a:t>Akcie / ETF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Střední až vyšší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Vysoká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6–15 % p.a.</a:t>
                      </a:r>
                    </a:p>
                  </a:txBody>
                  <a:tcPr marL="203200" marR="203200" marT="152400" marB="152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s-CZ" sz="1100" b="0" kern="0" cap="none" spc="0" dirty="0">
                          <a:solidFill>
                            <a:schemeClr val="accent6"/>
                          </a:solidFill>
                          <a:latin typeface="Rethink Sans"/>
                          <a:ea typeface="Rethink Sans"/>
                          <a:cs typeface="Rethink Sans"/>
                        </a:rPr>
                        <a:t>5 a více let</a:t>
                      </a:r>
                    </a:p>
                  </a:txBody>
                  <a:tcPr marL="203200" marR="203200" marT="152400" marB="152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Poznámka pod tabulkou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údaje. Očekávané výnosy nejsou zaručené, minulé výnosy nejsou zárukou budoucích.</a:t>
            </a:r>
          </a:p>
        </p:txBody>
      </p:sp>
      <p:sp>
        <p:nvSpPr>
          <p:cNvPr id="7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Čas je největší přítel investo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DATA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Čas je největší přítel investora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Při zhodnocení 6 % ročně vyroste 100 000 Kč za 8 let na 159 385 Kč. Výnosy se dál zhodnocují – to je složené úročení.</a:t>
            </a:r>
          </a:p>
        </p:txBody>
      </p:sp>
      <p:sp>
        <p:nvSpPr>
          <p:cNvPr id="6" name="Graf"/>
          <p:cNvSpPr/>
          <p:nvPr/>
        </p:nvSpPr>
        <p:spPr>
          <a:xfrm>
            <a:off x="5080000" y="762000"/>
            <a:ext cx="6350000" cy="5041900"/>
          </a:xfrm>
          <a:prstGeom prst="roundRect">
            <a:avLst>
              <a:gd name="adj" fmla="val 3023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Graf – hodnota investice"/>
          <p:cNvGraphicFramePr>
            <a:graphicFrameLocks noGrp="1"/>
          </p:cNvGraphicFramePr>
          <p:nvPr/>
        </p:nvGraphicFramePr>
        <p:xfrm>
          <a:off x="5384800" y="1066800"/>
          <a:ext cx="5740400" cy="4432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Poznámka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výpočet, nezohledňuje poplatky ani daně.</a:t>
            </a:r>
          </a:p>
        </p:txBody>
      </p:sp>
      <p:sp>
        <p:nvSpPr>
          <p:cNvPr id="8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oví klienti a nové DIP úč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SLOUPCOVÝ GRAF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Noví klienti a nové DIP účty</a:t>
            </a:r>
          </a:p>
        </p:txBody>
      </p:sp>
      <p:sp>
        <p:nvSpPr>
          <p:cNvPr id="5" name="Hlavní sdělení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Oba ukazatele rostou, nejsilnější bylo 4. čtvrtletí díky daňové motivaci na konci roku.</a:t>
            </a:r>
          </a:p>
        </p:txBody>
      </p:sp>
      <p:sp>
        <p:nvSpPr>
          <p:cNvPr id="6" name="Sloupcový graf"/>
          <p:cNvSpPr/>
          <p:nvPr/>
        </p:nvSpPr>
        <p:spPr>
          <a:xfrm>
            <a:off x="4572000" y="762000"/>
            <a:ext cx="6858000" cy="463550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Graf – sloupcový"/>
          <p:cNvGraphicFramePr>
            <a:graphicFrameLocks noGrp="1"/>
          </p:cNvGraphicFramePr>
          <p:nvPr/>
        </p:nvGraphicFramePr>
        <p:xfrm>
          <a:off x="4876800" y="1066800"/>
          <a:ext cx="6248400" cy="4025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Poznámka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 – nahraďte skutečnými čísly a uveďte zdroj.</a:t>
            </a:r>
          </a:p>
        </p:txBody>
      </p:sp>
      <p:sp>
        <p:nvSpPr>
          <p:cNvPr id="8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ůměrný roční výnos podle typu inves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PRUHOVÝ GRAF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Průměrný roční výnos podle typu investice</a:t>
            </a:r>
          </a:p>
        </p:txBody>
      </p:sp>
      <p:graphicFrame>
        <p:nvGraphicFramePr>
          <p:cNvPr id="6" name="Graf – pruhový"/>
          <p:cNvGraphicFramePr>
            <a:graphicFrameLocks noGrp="1"/>
          </p:cNvGraphicFramePr>
          <p:nvPr/>
        </p:nvGraphicFramePr>
        <p:xfrm>
          <a:off x="762000" y="2057400"/>
          <a:ext cx="10668000" cy="349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Poznámka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 za posledních 10 let. Zvýrazněte vždy jen jeden pruh, ke kterému se vztahuje sdělení. Minulé výnosy nejsou zárukou budoucích.</a:t>
            </a:r>
          </a:p>
        </p:txBody>
      </p:sp>
      <p:sp>
        <p:nvSpPr>
          <p:cNvPr id="2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ožení ukázkového portfo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KOLÁČOVÝ GRAF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Složení ukázkového portfolia</a:t>
            </a:r>
          </a:p>
        </p:txBody>
      </p:sp>
      <p:graphicFrame>
        <p:nvGraphicFramePr>
          <p:cNvPr id="7" name="Graf – koláčový"/>
          <p:cNvGraphicFramePr>
            <a:graphicFrameLocks noGrp="1"/>
          </p:cNvGraphicFramePr>
          <p:nvPr/>
        </p:nvGraphicFramePr>
        <p:xfrm>
          <a:off x="1143000" y="2032000"/>
          <a:ext cx="10287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Střed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48666" rIns="0" bIns="0" rtlCol="0" anchor="t" anchorCtr="0">
            <a:noAutofit/>
          </a:bodyPr>
          <a:lstStyle/>
          <a:p>
            <a:pPr marL="0" indent="0" 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60 %</a:t>
            </a:r>
          </a:p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akcie</a:t>
            </a:r>
          </a:p>
        </p:txBody>
      </p:sp>
      <p:sp>
        <p:nvSpPr>
          <p:cNvPr id="6" name="Poznámka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Ukázková data. Barvy používejte v tomto pořadí; víc než 6 položek slučte do „Ostatní“.</a:t>
            </a:r>
          </a:p>
        </p:txBody>
      </p:sp>
      <p:sp>
        <p:nvSpPr>
          <p:cNvPr id="2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vestice vs. spořicí úč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SPOJNICOVÝ GRAF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Investice vs. spořicí účet</a:t>
            </a:r>
          </a:p>
        </p:txBody>
      </p:sp>
      <p:sp>
        <p:nvSpPr>
          <p:cNvPr id="5" name="Hlavní sdělení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Za 10 let vyrostlo 100 000 Kč v akciovém portfoliu na 196 000 Kč, na spořicím účtu na 118 000 Kč.</a:t>
            </a:r>
          </a:p>
        </p:txBody>
      </p:sp>
      <p:sp>
        <p:nvSpPr>
          <p:cNvPr id="6" name="Spojnicový graf"/>
          <p:cNvSpPr/>
          <p:nvPr/>
        </p:nvSpPr>
        <p:spPr>
          <a:xfrm>
            <a:off x="4572000" y="787400"/>
            <a:ext cx="6858000" cy="5080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Graf – spojnicový"/>
          <p:cNvGraphicFramePr>
            <a:graphicFrameLocks noGrp="1"/>
          </p:cNvGraphicFramePr>
          <p:nvPr/>
        </p:nvGraphicFramePr>
        <p:xfrm>
          <a:off x="4927600" y="1092200"/>
          <a:ext cx="5588000" cy="429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Popisek – Spořicí účet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118 tis.</a:t>
            </a:r>
          </a:p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Spořicí účet</a:t>
            </a:r>
          </a:p>
        </p:txBody>
      </p:sp>
      <p:sp>
        <p:nvSpPr>
          <p:cNvPr id="8" name="Popisek – Akciové portfolio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196 tis.</a:t>
            </a:r>
          </a:p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Akciové portfolio</a:t>
            </a:r>
          </a:p>
        </p:txBody>
      </p:sp>
      <p:sp>
        <p:nvSpPr>
          <p:cNvPr id="2" name="Upozornění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data. Minulé výnosy nejsou zárukou budoucích výnosů.</a:t>
            </a:r>
          </a:p>
        </p:txBody>
      </p:sp>
      <p:sp>
        <p:nvSpPr>
          <p:cNvPr id="10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tace klienta nebo odborníka – jedna silná věta, která sh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vozovky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1866900"/>
            <a:ext cx="711200" cy="711200"/>
          </a:xfrm>
          <a:prstGeom prst="rect">
            <a:avLst/>
          </a:prstGeom>
        </p:spPr>
      </p:pic>
      <p:sp>
        <p:nvSpPr>
          <p:cNvPr id="4" name="Text citac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Citace klienta nebo odborníka – jedna silná věta, která shrne hlavní myšlenku.</a:t>
            </a:r>
          </a:p>
        </p:txBody>
      </p:sp>
      <p:sp>
        <p:nvSpPr>
          <p:cNvPr id="5" name="Fotka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JP</a:t>
            </a:r>
          </a:p>
        </p:txBody>
      </p:sp>
      <p:sp>
        <p:nvSpPr>
          <p:cNvPr id="6" name="Jméno a role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Klient Portu od roku 2019</a:t>
            </a:r>
          </a:p>
        </p:txBody>
      </p:sp>
      <p:sp>
        <p:nvSpPr>
          <p:cNvPr id="7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ak jsme se vyvíje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HISTORIE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Jak jsme se vyvíjeli</a:t>
            </a:r>
          </a:p>
        </p:txBody>
      </p:sp>
      <p:sp>
        <p:nvSpPr>
          <p:cNvPr id="5" name="Osa"/>
          <p:cNvSpPr/>
          <p:nvPr/>
        </p:nvSpPr>
        <p:spPr>
          <a:xfrm>
            <a:off x="1651000" y="3622675"/>
            <a:ext cx="8890000" cy="1905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ok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2018</a:t>
            </a:r>
          </a:p>
        </p:txBody>
      </p:sp>
      <p:sp>
        <p:nvSpPr>
          <p:cNvPr id="7" name="Bod"/>
          <p:cNvSpPr/>
          <p:nvPr/>
        </p:nvSpPr>
        <p:spPr>
          <a:xfrm>
            <a:off x="1555750" y="3524250"/>
            <a:ext cx="190500" cy="1905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bg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" name="Název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Veřejné spuštění</a:t>
            </a:r>
          </a:p>
        </p:txBody>
      </p:sp>
      <p:sp>
        <p:nvSpPr>
          <p:cNvPr id="9" name="Popis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Spravovaná ETF portfolia pro každého</a:t>
            </a:r>
          </a:p>
        </p:txBody>
      </p:sp>
      <p:sp>
        <p:nvSpPr>
          <p:cNvPr id="10" name="Rok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2019</a:t>
            </a:r>
          </a:p>
        </p:txBody>
      </p:sp>
      <p:sp>
        <p:nvSpPr>
          <p:cNvPr id="11" name="Bod"/>
          <p:cNvSpPr/>
          <p:nvPr/>
        </p:nvSpPr>
        <p:spPr>
          <a:xfrm>
            <a:off x="3333750" y="3524250"/>
            <a:ext cx="190500" cy="1905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bg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Název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Dětské účty</a:t>
            </a:r>
          </a:p>
        </p:txBody>
      </p:sp>
      <p:sp>
        <p:nvSpPr>
          <p:cNvPr id="13" name="Popis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Investice pro děti a jejich rodiče</a:t>
            </a:r>
          </a:p>
        </p:txBody>
      </p:sp>
      <p:sp>
        <p:nvSpPr>
          <p:cNvPr id="14" name="Rok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2021</a:t>
            </a:r>
          </a:p>
        </p:txBody>
      </p:sp>
      <p:sp>
        <p:nvSpPr>
          <p:cNvPr id="15" name="Bod"/>
          <p:cNvSpPr/>
          <p:nvPr/>
        </p:nvSpPr>
        <p:spPr>
          <a:xfrm>
            <a:off x="5111750" y="3524250"/>
            <a:ext cx="190500" cy="1905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bg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Název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Tematické investice</a:t>
            </a:r>
          </a:p>
        </p:txBody>
      </p:sp>
      <p:sp>
        <p:nvSpPr>
          <p:cNvPr id="17" name="Popis"/>
          <p:cNvSpPr>
            <a:spLocks noGrp="1"/>
          </p:cNvSpPr>
          <p:nvPr>
            <p:ph type="body" idx="10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Sestavte si portfolio podle sebe</a:t>
            </a:r>
          </a:p>
        </p:txBody>
      </p:sp>
      <p:sp>
        <p:nvSpPr>
          <p:cNvPr id="18" name="Rok"/>
          <p:cNvSpPr>
            <a:spLocks noGrp="1"/>
          </p:cNvSpPr>
          <p:nvPr>
            <p:ph type="body" idx="109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2022</a:t>
            </a:r>
          </a:p>
        </p:txBody>
      </p:sp>
      <p:sp>
        <p:nvSpPr>
          <p:cNvPr id="19" name="Bod"/>
          <p:cNvSpPr/>
          <p:nvPr/>
        </p:nvSpPr>
        <p:spPr>
          <a:xfrm>
            <a:off x="6889750" y="3524250"/>
            <a:ext cx="190500" cy="1905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bg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Název"/>
          <p:cNvSpPr>
            <a:spLocks noGrp="1"/>
          </p:cNvSpPr>
          <p:nvPr>
            <p:ph type="body" idx="1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Investiční rezerva</a:t>
            </a:r>
          </a:p>
        </p:txBody>
      </p:sp>
      <p:sp>
        <p:nvSpPr>
          <p:cNvPr id="21" name="Popis"/>
          <p:cNvSpPr>
            <a:spLocks noGrp="1"/>
          </p:cNvSpPr>
          <p:nvPr>
            <p:ph type="body" idx="1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Alternativa spořicího účtu</a:t>
            </a:r>
          </a:p>
        </p:txBody>
      </p:sp>
      <p:sp>
        <p:nvSpPr>
          <p:cNvPr id="22" name="Rok"/>
          <p:cNvSpPr>
            <a:spLocks noGrp="1"/>
          </p:cNvSpPr>
          <p:nvPr>
            <p:ph type="body" idx="1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2024</a:t>
            </a:r>
          </a:p>
        </p:txBody>
      </p:sp>
      <p:sp>
        <p:nvSpPr>
          <p:cNvPr id="23" name="Bod"/>
          <p:cNvSpPr/>
          <p:nvPr/>
        </p:nvSpPr>
        <p:spPr>
          <a:xfrm>
            <a:off x="8667750" y="3524250"/>
            <a:ext cx="190500" cy="1905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bg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Název"/>
          <p:cNvSpPr>
            <a:spLocks noGrp="1"/>
          </p:cNvSpPr>
          <p:nvPr>
            <p:ph type="body" idx="11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DIP</a:t>
            </a:r>
          </a:p>
        </p:txBody>
      </p:sp>
      <p:sp>
        <p:nvSpPr>
          <p:cNvPr id="25" name="Popis"/>
          <p:cNvSpPr>
            <a:spLocks noGrp="1"/>
          </p:cNvSpPr>
          <p:nvPr>
            <p:ph type="body" idx="1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Dlouhodobý investiční produkt</a:t>
            </a:r>
          </a:p>
        </p:txBody>
      </p:sp>
      <p:sp>
        <p:nvSpPr>
          <p:cNvPr id="26" name="Rok"/>
          <p:cNvSpPr>
            <a:spLocks noGrp="1"/>
          </p:cNvSpPr>
          <p:nvPr>
            <p:ph type="body" idx="11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1"/>
                </a:solidFill>
                <a:latin typeface="Rethink Sans SemiBold"/>
                <a:ea typeface="Rethink Sans SemiBold"/>
                <a:cs typeface="Rethink Sans SemiBold"/>
              </a:rPr>
              <a:t>2026</a:t>
            </a:r>
          </a:p>
        </p:txBody>
      </p:sp>
      <p:sp>
        <p:nvSpPr>
          <p:cNvPr id="27" name="Bod"/>
          <p:cNvSpPr/>
          <p:nvPr/>
        </p:nvSpPr>
        <p:spPr>
          <a:xfrm>
            <a:off x="10445750" y="3524250"/>
            <a:ext cx="190500" cy="190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>
            <a:solidFill>
              <a:schemeClr val="bg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Název"/>
          <p:cNvSpPr>
            <a:spLocks noGrp="1"/>
          </p:cNvSpPr>
          <p:nvPr>
            <p:ph type="body" idx="11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Brokerage</a:t>
            </a:r>
          </a:p>
        </p:txBody>
      </p:sp>
      <p:sp>
        <p:nvSpPr>
          <p:cNvPr id="29" name="Popis"/>
          <p:cNvSpPr>
            <a:spLocks noGrp="1"/>
          </p:cNvSpPr>
          <p:nvPr>
            <p:ph type="body" idx="11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Nákup jednotlivých akcií a ETF</a:t>
            </a:r>
          </a:p>
        </p:txBody>
      </p:sp>
      <p:sp>
        <p:nvSpPr>
          <p:cNvPr id="30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 nás ček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ROADMAPA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Co nás čeká</a:t>
            </a:r>
          </a:p>
        </p:txBody>
      </p:sp>
      <p:sp>
        <p:nvSpPr>
          <p:cNvPr id="5" name="Fáze – Teď · Q1 2026"/>
          <p:cNvSpPr/>
          <p:nvPr/>
        </p:nvSpPr>
        <p:spPr>
          <a:xfrm>
            <a:off x="762000" y="2032000"/>
            <a:ext cx="3416300" cy="292100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čka"/>
          <p:cNvSpPr/>
          <p:nvPr/>
        </p:nvSpPr>
        <p:spPr>
          <a:xfrm>
            <a:off x="1066800" y="2381250"/>
            <a:ext cx="76200" cy="76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Fáze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TEĎ · Q1 2026</a:t>
            </a:r>
          </a:p>
        </p:txBody>
      </p:sp>
      <p:sp>
        <p:nvSpPr>
          <p:cNvPr id="8" name="Položka – linka"/>
          <p:cNvSpPr/>
          <p:nvPr/>
        </p:nvSpPr>
        <p:spPr>
          <a:xfrm>
            <a:off x="1066800" y="2628900"/>
            <a:ext cx="28067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oložka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Nový produkt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Krátký popis toho, na čem právě pracujeme.</a:t>
            </a:r>
          </a:p>
        </p:txBody>
      </p:sp>
      <p:sp>
        <p:nvSpPr>
          <p:cNvPr id="10" name="Položka – linka"/>
          <p:cNvSpPr/>
          <p:nvPr/>
        </p:nvSpPr>
        <p:spPr>
          <a:xfrm>
            <a:off x="1066800" y="3638550"/>
            <a:ext cx="28067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oložka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Integrace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Dokončení propojení se stávajícím řešením.</a:t>
            </a:r>
          </a:p>
        </p:txBody>
      </p:sp>
      <p:sp>
        <p:nvSpPr>
          <p:cNvPr id="12" name="Fáze – Příště · Q2–Q3 2026"/>
          <p:cNvSpPr/>
          <p:nvPr/>
        </p:nvSpPr>
        <p:spPr>
          <a:xfrm>
            <a:off x="4381500" y="2032000"/>
            <a:ext cx="3416300" cy="292100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čka"/>
          <p:cNvSpPr/>
          <p:nvPr/>
        </p:nvSpPr>
        <p:spPr>
          <a:xfrm>
            <a:off x="4686300" y="2381250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áze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PŘÍŠTĚ · Q2–Q3 2026</a:t>
            </a:r>
          </a:p>
        </p:txBody>
      </p:sp>
      <p:sp>
        <p:nvSpPr>
          <p:cNvPr id="15" name="Položka – linka"/>
          <p:cNvSpPr/>
          <p:nvPr/>
        </p:nvSpPr>
        <p:spPr>
          <a:xfrm>
            <a:off x="4686300" y="2628900"/>
            <a:ext cx="28067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Položka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Rodinné účty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Výhody podle majetku celé rodiny.</a:t>
            </a:r>
          </a:p>
        </p:txBody>
      </p:sp>
      <p:sp>
        <p:nvSpPr>
          <p:cNvPr id="17" name="Položka – linka"/>
          <p:cNvSpPr/>
          <p:nvPr/>
        </p:nvSpPr>
        <p:spPr>
          <a:xfrm>
            <a:off x="4686300" y="3435350"/>
            <a:ext cx="28067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oložka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Rozšíření nabídky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Další investice pro pokročilé klienty.</a:t>
            </a:r>
          </a:p>
        </p:txBody>
      </p:sp>
      <p:sp>
        <p:nvSpPr>
          <p:cNvPr id="19" name="Fáze – Později · 2027"/>
          <p:cNvSpPr/>
          <p:nvPr/>
        </p:nvSpPr>
        <p:spPr>
          <a:xfrm>
            <a:off x="8001000" y="2032000"/>
            <a:ext cx="3416300" cy="292100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čka"/>
          <p:cNvSpPr/>
          <p:nvPr/>
        </p:nvSpPr>
        <p:spPr>
          <a:xfrm>
            <a:off x="8305800" y="2381250"/>
            <a:ext cx="76200" cy="76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áze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POZDĚJI · 2027</a:t>
            </a:r>
          </a:p>
        </p:txBody>
      </p:sp>
      <p:sp>
        <p:nvSpPr>
          <p:cNvPr id="22" name="Položka – linka"/>
          <p:cNvSpPr/>
          <p:nvPr/>
        </p:nvSpPr>
        <p:spPr>
          <a:xfrm>
            <a:off x="8305800" y="2628900"/>
            <a:ext cx="28067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Položka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AI v poradenství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Personalizace a automatizovaná doporučení.</a:t>
            </a:r>
          </a:p>
        </p:txBody>
      </p:sp>
      <p:sp>
        <p:nvSpPr>
          <p:cNvPr id="24" name="Položka – linka"/>
          <p:cNvSpPr/>
          <p:nvPr/>
        </p:nvSpPr>
        <p:spPr>
          <a:xfrm>
            <a:off x="8305800" y="3638550"/>
            <a:ext cx="28067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Položka"/>
          <p:cNvSpPr>
            <a:spLocks noGrp="1"/>
          </p:cNvSpPr>
          <p:nvPr>
            <p:ph type="body" idx="10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46901" rIns="0" bIns="13970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Výběry v penzi</a:t>
            </a:r>
          </a:p>
          <a:p>
            <a:pPr marL="0" indent="0" algn="l">
              <a:lnSpc>
                <a:spcPts val="16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Postupné snižování rizika a pravidelné výběry.</a:t>
            </a:r>
          </a:p>
        </p:txBody>
      </p:sp>
      <p:sp>
        <p:nvSpPr>
          <p:cNvPr id="26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ituace, problém a řeše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KONTEXT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Situace, problém a řešení</a:t>
            </a:r>
          </a:p>
        </p:txBody>
      </p:sp>
      <p:sp>
        <p:nvSpPr>
          <p:cNvPr id="5" name="Karta – Situace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8219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04927" rIns="291931" bIns="30480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SITUACE</a:t>
            </a:r>
          </a:p>
          <a:p>
            <a:pPr marL="0" indent="0" algn="l">
              <a:lnSpc>
                <a:spcPts val="2100"/>
              </a:lnSpc>
              <a:spcBef>
                <a:spcPts val="8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se děje</a:t>
            </a:r>
          </a:p>
          <a:p>
            <a:pPr marL="0" indent="0" algn="l">
              <a:lnSpc>
                <a:spcPts val="1600"/>
              </a:lnSpc>
              <a:spcBef>
                <a:spcPts val="6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Popište výchozí stav – fakta, čísla, kontext. Např. produkt je mezi klienty oblíbený.</a:t>
            </a:r>
          </a:p>
        </p:txBody>
      </p:sp>
      <p:pic>
        <p:nvPicPr>
          <p:cNvPr id="6" name="Šipk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4072446" y="2933700"/>
            <a:ext cx="304800" cy="304800"/>
          </a:xfrm>
          <a:prstGeom prst="rect">
            <a:avLst/>
          </a:prstGeom>
        </p:spPr>
      </p:pic>
      <p:sp>
        <p:nvSpPr>
          <p:cNvPr id="7" name="Karta – Problém"/>
          <p:cNvSpPr>
            <a:spLocks noGrp="1"/>
          </p:cNvSpPr>
          <p:nvPr>
            <p:ph type="body" idx="101"/>
          </p:nvPr>
        </p:nvSpPr>
        <p:spPr>
          <a:prstGeom prst="roundRect">
            <a:avLst>
              <a:gd name="adj" fmla="val 8219"/>
            </a:avLst>
          </a:prstGeom>
          <a:solidFill>
            <a:srgbClr val="FBE7F0"/>
          </a:solidFill>
          <a:ln>
            <a:noFill/>
          </a:ln>
        </p:spPr>
        <p:txBody>
          <a:bodyPr wrap="square" lIns="304800" tIns="304927" rIns="291931" bIns="30480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D60F69"/>
                </a:solidFill>
                <a:latin typeface="Rethink Sans SemiBold"/>
                <a:ea typeface="Rethink Sans SemiBold"/>
                <a:cs typeface="Rethink Sans SemiBold"/>
              </a:rPr>
              <a:t>PROBLÉM</a:t>
            </a:r>
          </a:p>
          <a:p>
            <a:pPr marL="0" indent="0" algn="l">
              <a:lnSpc>
                <a:spcPts val="2100"/>
              </a:lnSpc>
              <a:spcBef>
                <a:spcPts val="8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nefunguje</a:t>
            </a:r>
          </a:p>
          <a:p>
            <a:pPr marL="0" indent="0" algn="l">
              <a:lnSpc>
                <a:spcPts val="1600"/>
              </a:lnSpc>
              <a:spcBef>
                <a:spcPts val="6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Co brání růstu nebo co klienty trápí. Např. klienti produkt v aplikaci nevidí.</a:t>
            </a:r>
          </a:p>
        </p:txBody>
      </p:sp>
      <p:pic>
        <p:nvPicPr>
          <p:cNvPr id="8" name="Šipk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814754" y="2933700"/>
            <a:ext cx="304800" cy="304800"/>
          </a:xfrm>
          <a:prstGeom prst="rect">
            <a:avLst/>
          </a:prstGeom>
        </p:spPr>
      </p:pic>
      <p:sp>
        <p:nvSpPr>
          <p:cNvPr id="9" name="Karta – Řešení"/>
          <p:cNvSpPr>
            <a:spLocks noGrp="1"/>
          </p:cNvSpPr>
          <p:nvPr>
            <p:ph type="body" idx="102"/>
          </p:nvPr>
        </p:nvSpPr>
        <p:spPr>
          <a:prstGeom prst="roundRect">
            <a:avLst>
              <a:gd name="adj" fmla="val 8219"/>
            </a:avLst>
          </a:prstGeom>
          <a:solidFill>
            <a:srgbClr val="E6F7EC"/>
          </a:solidFill>
          <a:ln>
            <a:noFill/>
          </a:ln>
        </p:spPr>
        <p:txBody>
          <a:bodyPr wrap="square" lIns="304800" tIns="304927" rIns="291931" bIns="30480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ŘEŠENÍ</a:t>
            </a:r>
          </a:p>
          <a:p>
            <a:pPr marL="0" indent="0" algn="l">
              <a:lnSpc>
                <a:spcPts val="2100"/>
              </a:lnSpc>
              <a:spcBef>
                <a:spcPts val="8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navrhujeme</a:t>
            </a:r>
          </a:p>
          <a:p>
            <a:pPr marL="0" indent="0" algn="l">
              <a:lnSpc>
                <a:spcPts val="1600"/>
              </a:lnSpc>
              <a:spcBef>
                <a:spcPts val="6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Konkrétní návrh a jeho přínos. Např. pár nových obrazovek, spuštění do měsíce.</a:t>
            </a:r>
          </a:p>
        </p:txBody>
      </p:sp>
      <p:sp>
        <p:nvSpPr>
          <p:cNvPr id="10" name="Výzva"/>
          <p:cNvSpPr>
            <a:spLocks noGrp="1"/>
          </p:cNvSpPr>
          <p:nvPr>
            <p:ph type="body" idx="103"/>
          </p:nvPr>
        </p:nvSpPr>
        <p:spPr>
          <a:prstGeom prst="roundRect">
            <a:avLst>
              <a:gd name="adj" fmla="val 14493"/>
            </a:avLst>
          </a:prstGeom>
          <a:solidFill>
            <a:srgbClr val="ECEBF8"/>
          </a:solidFill>
          <a:ln>
            <a:noFill/>
          </a:ln>
        </p:spPr>
        <p:txBody>
          <a:bodyPr wrap="square" lIns="304800" tIns="312001" rIns="0" bIns="297599" rtlCol="0" anchor="ctr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Jdete do toho s námi? Navrhujeme spustit pilot do konce Q1.</a:t>
            </a:r>
          </a:p>
        </p:txBody>
      </p:sp>
      <p:sp>
        <p:nvSpPr>
          <p:cNvPr id="11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 umíme a co ještě 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STAV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Co umíme a co ještě ne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Přehled funkcí, výhod a nevýhod nebo plusů a mínusů jednoho řešení.</a:t>
            </a:r>
          </a:p>
        </p:txBody>
      </p:sp>
      <p:sp>
        <p:nvSpPr>
          <p:cNvPr id="6" name="Seznam – Umíme"/>
          <p:cNvSpPr/>
          <p:nvPr/>
        </p:nvSpPr>
        <p:spPr>
          <a:xfrm>
            <a:off x="4699000" y="1866900"/>
            <a:ext cx="3289300" cy="2717800"/>
          </a:xfrm>
          <a:prstGeom prst="roundRect">
            <a:avLst>
              <a:gd name="adj" fmla="val 5607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Nadpis seznamu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Umíme</a:t>
            </a:r>
          </a:p>
        </p:txBody>
      </p:sp>
      <p:pic>
        <p:nvPicPr>
          <p:cNvPr id="8" name="Ikona ano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003800" y="2571750"/>
            <a:ext cx="228600" cy="228600"/>
          </a:xfrm>
          <a:prstGeom prst="rect">
            <a:avLst/>
          </a:prstGeom>
        </p:spPr>
      </p:pic>
      <p:sp>
        <p:nvSpPr>
          <p:cNvPr id="9" name="Text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Kontrola zůstatku</a:t>
            </a:r>
          </a:p>
        </p:txBody>
      </p:sp>
      <p:pic>
        <p:nvPicPr>
          <p:cNvPr id="10" name="Ikona ano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003800" y="2940050"/>
            <a:ext cx="228600" cy="228600"/>
          </a:xfrm>
          <a:prstGeom prst="rect">
            <a:avLst/>
          </a:prstGeom>
        </p:spPr>
      </p:pic>
      <p:sp>
        <p:nvSpPr>
          <p:cNvPr id="11" name="Text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Vklad peněz</a:t>
            </a:r>
          </a:p>
        </p:txBody>
      </p:sp>
      <p:pic>
        <p:nvPicPr>
          <p:cNvPr id="12" name="Ikona ano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003800" y="3308350"/>
            <a:ext cx="228600" cy="228600"/>
          </a:xfrm>
          <a:prstGeom prst="rect">
            <a:avLst/>
          </a:prstGeom>
        </p:spPr>
      </p:pic>
      <p:sp>
        <p:nvSpPr>
          <p:cNvPr id="13" name="Text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Registrace</a:t>
            </a:r>
          </a:p>
        </p:txBody>
      </p:sp>
      <p:pic>
        <p:nvPicPr>
          <p:cNvPr id="14" name="Ikona ano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003800" y="3676650"/>
            <a:ext cx="228600" cy="228600"/>
          </a:xfrm>
          <a:prstGeom prst="rect">
            <a:avLst/>
          </a:prstGeom>
        </p:spPr>
      </p:pic>
      <p:sp>
        <p:nvSpPr>
          <p:cNvPr id="15" name="Text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Založení investice</a:t>
            </a:r>
          </a:p>
        </p:txBody>
      </p:sp>
      <p:pic>
        <p:nvPicPr>
          <p:cNvPr id="16" name="Ikona ano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003800" y="4044950"/>
            <a:ext cx="228600" cy="228600"/>
          </a:xfrm>
          <a:prstGeom prst="rect">
            <a:avLst/>
          </a:prstGeom>
        </p:spPr>
      </p:pic>
      <p:sp>
        <p:nvSpPr>
          <p:cNvPr id="17" name="Text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Převody a výběry</a:t>
            </a:r>
          </a:p>
        </p:txBody>
      </p:sp>
      <p:sp>
        <p:nvSpPr>
          <p:cNvPr id="18" name="Seznam – Zatím neumíme"/>
          <p:cNvSpPr/>
          <p:nvPr/>
        </p:nvSpPr>
        <p:spPr>
          <a:xfrm>
            <a:off x="8140700" y="1866900"/>
            <a:ext cx="3289300" cy="2717800"/>
          </a:xfrm>
          <a:prstGeom prst="roundRect">
            <a:avLst>
              <a:gd name="adj" fmla="val 5607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Nadpis seznamu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rgbClr val="D60F69"/>
                </a:solidFill>
                <a:latin typeface="Rethink Sans SemiBold"/>
                <a:ea typeface="Rethink Sans SemiBold"/>
                <a:cs typeface="Rethink Sans SemiBold"/>
              </a:rPr>
              <a:t>Zatím neumíme</a:t>
            </a:r>
          </a:p>
        </p:txBody>
      </p:sp>
      <p:pic>
        <p:nvPicPr>
          <p:cNvPr id="20" name="Ikona n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445500" y="2571750"/>
            <a:ext cx="228600" cy="228600"/>
          </a:xfrm>
          <a:prstGeom prst="rect">
            <a:avLst/>
          </a:prstGeom>
        </p:spPr>
      </p:pic>
      <p:sp>
        <p:nvSpPr>
          <p:cNvPr id="21" name="Text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Hybridní poradenství</a:t>
            </a:r>
          </a:p>
        </p:txBody>
      </p:sp>
      <p:pic>
        <p:nvPicPr>
          <p:cNvPr id="22" name="Ikona n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445500" y="2940050"/>
            <a:ext cx="228600" cy="228600"/>
          </a:xfrm>
          <a:prstGeom prst="rect">
            <a:avLst/>
          </a:prstGeom>
        </p:spPr>
      </p:pic>
      <p:sp>
        <p:nvSpPr>
          <p:cNvPr id="23" name="Text"/>
          <p:cNvSpPr>
            <a:spLocks noGrp="1"/>
          </p:cNvSpPr>
          <p:nvPr>
            <p:ph type="body" idx="10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Zakládání firemních účtů</a:t>
            </a:r>
          </a:p>
        </p:txBody>
      </p:sp>
      <p:pic>
        <p:nvPicPr>
          <p:cNvPr id="24" name="Ikona n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8445500" y="3308350"/>
            <a:ext cx="228600" cy="228600"/>
          </a:xfrm>
          <a:prstGeom prst="rect">
            <a:avLst/>
          </a:prstGeom>
        </p:spPr>
      </p:pic>
      <p:sp>
        <p:nvSpPr>
          <p:cNvPr id="25" name="Text"/>
          <p:cNvSpPr>
            <a:spLocks noGrp="1"/>
          </p:cNvSpPr>
          <p:nvPr>
            <p:ph type="body" idx="109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Výpověď účtu</a:t>
            </a:r>
          </a:p>
        </p:txBody>
      </p:sp>
      <p:sp>
        <p:nvSpPr>
          <p:cNvPr id="26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likace hraje klíčovou roli v získávání i udržení klient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MOBILNÍ APLIKACE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Aplikace hraje klíčovou roli v získávání i udržení klientů</a:t>
            </a:r>
          </a:p>
        </p:txBody>
      </p:sp>
      <p:sp>
        <p:nvSpPr>
          <p:cNvPr id="5" name="Číslo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9524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87376" bIns="203200" rtlCol="0" anchor="t" anchorCtr="0">
            <a:noAutofit/>
          </a:bodyPr>
          <a:lstStyle/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42 %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přímých registrací</a:t>
            </a:r>
          </a:p>
          <a:p>
            <a:pPr marL="0" indent="0" algn="l">
              <a:lnSpc>
                <a:spcPts val="16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začíná rovnou v aplikaci</a:t>
            </a:r>
          </a:p>
        </p:txBody>
      </p:sp>
      <p:sp>
        <p:nvSpPr>
          <p:cNvPr id="6" name="Číslo"/>
          <p:cNvSpPr>
            <a:spLocks noGrp="1"/>
          </p:cNvSpPr>
          <p:nvPr>
            <p:ph type="body" idx="101"/>
          </p:nvPr>
        </p:nvSpPr>
        <p:spPr>
          <a:prstGeom prst="roundRect">
            <a:avLst>
              <a:gd name="adj" fmla="val 9524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87376" bIns="203200" rtlCol="0" anchor="t" anchorCtr="0">
            <a:noAutofit/>
          </a:bodyPr>
          <a:lstStyle/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300 000+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stažení</a:t>
            </a:r>
          </a:p>
          <a:p>
            <a:pPr marL="0" indent="0" algn="l">
              <a:lnSpc>
                <a:spcPts val="16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celkem iOS a Android</a:t>
            </a:r>
          </a:p>
        </p:txBody>
      </p:sp>
      <p:sp>
        <p:nvSpPr>
          <p:cNvPr id="7" name="Číslo"/>
          <p:cNvSpPr>
            <a:spLocks noGrp="1"/>
          </p:cNvSpPr>
          <p:nvPr>
            <p:ph type="body" idx="102"/>
          </p:nvPr>
        </p:nvSpPr>
        <p:spPr>
          <a:prstGeom prst="roundRect">
            <a:avLst>
              <a:gd name="adj" fmla="val 9524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87376" bIns="203200" rtlCol="0" anchor="t" anchorCtr="0">
            <a:noAutofit/>
          </a:bodyPr>
          <a:lstStyle/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70 000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aktivních uživatelů</a:t>
            </a:r>
          </a:p>
          <a:p>
            <a:pPr marL="0" indent="0" algn="l">
              <a:lnSpc>
                <a:spcPts val="16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každý měsíc</a:t>
            </a:r>
          </a:p>
        </p:txBody>
      </p:sp>
      <p:sp>
        <p:nvSpPr>
          <p:cNvPr id="8" name="Číslo"/>
          <p:cNvSpPr>
            <a:spLocks noGrp="1"/>
          </p:cNvSpPr>
          <p:nvPr>
            <p:ph type="body" idx="103"/>
          </p:nvPr>
        </p:nvSpPr>
        <p:spPr>
          <a:prstGeom prst="roundRect">
            <a:avLst>
              <a:gd name="adj" fmla="val 9524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251866" rIns="87376" bIns="203200" rtlCol="0" anchor="t" anchorCtr="0">
            <a:noAutofit/>
          </a:bodyPr>
          <a:lstStyle/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4,4 / 5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hodnocení v App Store</a:t>
            </a:r>
          </a:p>
          <a:p>
            <a:pPr marL="0" indent="0" algn="l">
              <a:lnSpc>
                <a:spcPts val="16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dlouhodobě vysoká spokojenost</a:t>
            </a:r>
          </a:p>
        </p:txBody>
      </p:sp>
      <p:sp>
        <p:nvSpPr>
          <p:cNvPr id="9" name="Zdroj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Údaje k datu DD. MM. RRRR – před použitím ověřte aktuální čísla.</a:t>
            </a:r>
          </a:p>
        </p:txBody>
      </p:sp>
      <p:sp>
        <p:nvSpPr>
          <p:cNvPr id="10" name="Podklad telefonu"/>
          <p:cNvSpPr/>
          <p:nvPr/>
        </p:nvSpPr>
        <p:spPr>
          <a:xfrm>
            <a:off x="8128000" y="571500"/>
            <a:ext cx="3302000" cy="5461000"/>
          </a:xfrm>
          <a:prstGeom prst="roundRect">
            <a:avLst>
              <a:gd name="adj" fmla="val 6154"/>
            </a:avLst>
          </a:prstGeom>
          <a:solidFill>
            <a:srgbClr val="ECEB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lefon (mockup)"/>
          <p:cNvSpPr/>
          <p:nvPr/>
        </p:nvSpPr>
        <p:spPr>
          <a:xfrm>
            <a:off x="8572500" y="889000"/>
            <a:ext cx="2413000" cy="4959350"/>
          </a:xfrm>
          <a:prstGeom prst="roundRect">
            <a:avLst>
              <a:gd name="adj" fmla="val 17895"/>
            </a:avLst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Obrazovka (Fill → Image)"/>
          <p:cNvSpPr>
            <a:spLocks noGrp="1"/>
          </p:cNvSpPr>
          <p:nvPr>
            <p:ph type="pic" idx="20"/>
          </p:nvPr>
        </p:nvSpPr>
        <p:spPr>
          <a:xfrm>
            <a:off x="8680450" y="996950"/>
            <a:ext cx="2197100" cy="4743450"/>
          </a:xfrm>
          <a:prstGeom prst="roundRect">
            <a:avLst>
              <a:gd name="adj" fmla="val 15318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ak to vypadá v aplika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UKÁZKA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Jak to vypadá v aplikaci</a:t>
            </a:r>
          </a:p>
        </p:txBody>
      </p:sp>
      <p:sp>
        <p:nvSpPr>
          <p:cNvPr id="5" name="Telefon (mockup)"/>
          <p:cNvSpPr/>
          <p:nvPr/>
        </p:nvSpPr>
        <p:spPr>
          <a:xfrm>
            <a:off x="762000" y="1905000"/>
            <a:ext cx="1651000" cy="3390900"/>
          </a:xfrm>
          <a:prstGeom prst="roundRect">
            <a:avLst>
              <a:gd name="adj" fmla="val 17692"/>
            </a:avLst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Obrazovka (Fill → Image)"/>
          <p:cNvSpPr>
            <a:spLocks noGrp="1"/>
          </p:cNvSpPr>
          <p:nvPr>
            <p:ph type="pic" idx="20"/>
          </p:nvPr>
        </p:nvSpPr>
        <p:spPr>
          <a:xfrm>
            <a:off x="838200" y="1981200"/>
            <a:ext cx="1498600" cy="3238500"/>
          </a:xfrm>
          <a:prstGeom prst="roundRect">
            <a:avLst>
              <a:gd name="adj" fmla="val 15254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Popisek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1. Přehled</a:t>
            </a:r>
          </a:p>
          <a:p>
            <a:pPr marL="0" indent="0" algn="ctr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Souhrn všech investic</a:t>
            </a:r>
          </a:p>
        </p:txBody>
      </p:sp>
      <p:sp>
        <p:nvSpPr>
          <p:cNvPr id="8" name="Telefon (mockup)"/>
          <p:cNvSpPr/>
          <p:nvPr/>
        </p:nvSpPr>
        <p:spPr>
          <a:xfrm>
            <a:off x="3767646" y="1905000"/>
            <a:ext cx="1651000" cy="3390900"/>
          </a:xfrm>
          <a:prstGeom prst="roundRect">
            <a:avLst>
              <a:gd name="adj" fmla="val 17692"/>
            </a:avLst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Obrazovka (Fill → Image)"/>
          <p:cNvSpPr>
            <a:spLocks noGrp="1"/>
          </p:cNvSpPr>
          <p:nvPr>
            <p:ph type="pic" idx="21"/>
          </p:nvPr>
        </p:nvSpPr>
        <p:spPr>
          <a:xfrm>
            <a:off x="3843846" y="1981200"/>
            <a:ext cx="1498600" cy="3238500"/>
          </a:xfrm>
          <a:prstGeom prst="roundRect">
            <a:avLst>
              <a:gd name="adj" fmla="val 15254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opisek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2. Detail produktu</a:t>
            </a:r>
          </a:p>
          <a:p>
            <a:pPr marL="0" indent="0" algn="ctr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Výnos a složení</a:t>
            </a:r>
          </a:p>
        </p:txBody>
      </p:sp>
      <p:sp>
        <p:nvSpPr>
          <p:cNvPr id="11" name="Telefon (mockup)"/>
          <p:cNvSpPr/>
          <p:nvPr/>
        </p:nvSpPr>
        <p:spPr>
          <a:xfrm>
            <a:off x="6773354" y="1905000"/>
            <a:ext cx="1651000" cy="3390900"/>
          </a:xfrm>
          <a:prstGeom prst="roundRect">
            <a:avLst>
              <a:gd name="adj" fmla="val 17692"/>
            </a:avLst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Obrazovka (Fill → Image)"/>
          <p:cNvSpPr>
            <a:spLocks noGrp="1"/>
          </p:cNvSpPr>
          <p:nvPr>
            <p:ph type="pic" idx="22"/>
          </p:nvPr>
        </p:nvSpPr>
        <p:spPr>
          <a:xfrm>
            <a:off x="6849554" y="1981200"/>
            <a:ext cx="1498600" cy="3238500"/>
          </a:xfrm>
          <a:prstGeom prst="roundRect">
            <a:avLst>
              <a:gd name="adj" fmla="val 15254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opisek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3. Vklad</a:t>
            </a:r>
          </a:p>
          <a:p>
            <a:pPr marL="0" indent="0" algn="ctr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Platba během pár vteřin</a:t>
            </a:r>
          </a:p>
        </p:txBody>
      </p:sp>
      <p:sp>
        <p:nvSpPr>
          <p:cNvPr id="14" name="Telefon (mockup)"/>
          <p:cNvSpPr/>
          <p:nvPr/>
        </p:nvSpPr>
        <p:spPr>
          <a:xfrm>
            <a:off x="9779000" y="1905000"/>
            <a:ext cx="1651000" cy="3390900"/>
          </a:xfrm>
          <a:prstGeom prst="roundRect">
            <a:avLst>
              <a:gd name="adj" fmla="val 17692"/>
            </a:avLst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Obrazovka (Fill → Image)"/>
          <p:cNvSpPr>
            <a:spLocks noGrp="1"/>
          </p:cNvSpPr>
          <p:nvPr>
            <p:ph type="pic" idx="23"/>
          </p:nvPr>
        </p:nvSpPr>
        <p:spPr>
          <a:xfrm>
            <a:off x="9855200" y="1981200"/>
            <a:ext cx="1498600" cy="3238500"/>
          </a:xfrm>
          <a:prstGeom prst="roundRect">
            <a:avLst>
              <a:gd name="adj" fmla="val 15254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Popisek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4. Potvrzení</a:t>
            </a:r>
          </a:p>
          <a:p>
            <a:pPr marL="0" indent="0" algn="ctr">
              <a:lnSpc>
                <a:spcPts val="16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Hotovo, investujete</a:t>
            </a:r>
          </a:p>
        </p:txBody>
      </p:sp>
      <p:sp>
        <p:nvSpPr>
          <p:cNvPr id="17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 koho je produkt a kam chceme rů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CÍLOVÁ SKUPINA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Pro koho je produkt a kam chceme růst</a:t>
            </a:r>
          </a:p>
        </p:txBody>
      </p:sp>
      <p:sp>
        <p:nvSpPr>
          <p:cNvPr id="5" name="Dnes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4781"/>
            </a:avLst>
          </a:prstGeom>
          <a:solidFill>
            <a:schemeClr val="bg2"/>
          </a:solidFill>
          <a:ln>
            <a:noFill/>
          </a:ln>
        </p:spPr>
        <p:txBody>
          <a:bodyPr wrap="square" lIns="304800" tIns="304927" rIns="290068" bIns="30480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DNES</a:t>
            </a:r>
          </a:p>
          <a:p>
            <a:pPr marL="0" indent="0" algn="l">
              <a:lnSpc>
                <a:spcPts val="2100"/>
              </a:lnSpc>
              <a:spcBef>
                <a:spcPts val="10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Naši současní klienti</a:t>
            </a:r>
          </a:p>
          <a:p>
            <a:pPr marL="0" indent="0" algn="l">
              <a:lnSpc>
                <a:spcPts val="1600"/>
              </a:lnSpc>
              <a:spcBef>
                <a:spcPts val="8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• Vzdělanější a finančně jistější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• Žijí ve větších městech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• Digitálně zdatní early adopteři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• Zkušení investoři, kteří si Portu našli sami</a:t>
            </a:r>
          </a:p>
        </p:txBody>
      </p:sp>
      <p:sp>
        <p:nvSpPr>
          <p:cNvPr id="6" name="Budoucnost"/>
          <p:cNvSpPr/>
          <p:nvPr/>
        </p:nvSpPr>
        <p:spPr>
          <a:xfrm>
            <a:off x="4521200" y="1968500"/>
            <a:ext cx="6908800" cy="3187700"/>
          </a:xfrm>
          <a:prstGeom prst="roundRect">
            <a:avLst>
              <a:gd name="adj" fmla="val 4781"/>
            </a:avLst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Štítek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KAM CHCEME RŮST</a:t>
            </a:r>
          </a:p>
        </p:txBody>
      </p:sp>
      <p:sp>
        <p:nvSpPr>
          <p:cNvPr id="8" name="Název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Širší a běžnější populace</a:t>
            </a:r>
          </a:p>
        </p:txBody>
      </p:sp>
      <p:sp>
        <p:nvSpPr>
          <p:cNvPr id="9" name="Popis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Méně zkušení klienti s nižší finanční jistotou, více žen a rodin s konkrétními potřebami.</a:t>
            </a:r>
          </a:p>
        </p:txBody>
      </p:sp>
      <p:sp>
        <p:nvSpPr>
          <p:cNvPr id="10" name="Co chtějí"/>
          <p:cNvSpPr>
            <a:spLocks noGrp="1"/>
          </p:cNvSpPr>
          <p:nvPr>
            <p:ph type="body" idx="104"/>
          </p:nvPr>
        </p:nvSpPr>
        <p:spPr>
          <a:prstGeom prst="roundRect">
            <a:avLst>
              <a:gd name="adj" fmla="val 683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 wrap="square" lIns="203200" tIns="198895" rIns="189802" bIns="203200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Co chtějí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Důvěryhodného dlouhodobého partnera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Klid, bezpečí a srozumitelnost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Nemuset nic sledovat</a:t>
            </a:r>
          </a:p>
        </p:txBody>
      </p:sp>
      <p:sp>
        <p:nvSpPr>
          <p:cNvPr id="11" name="Čeho se bojí"/>
          <p:cNvSpPr>
            <a:spLocks noGrp="1"/>
          </p:cNvSpPr>
          <p:nvPr>
            <p:ph type="body" idx="105"/>
          </p:nvPr>
        </p:nvSpPr>
        <p:spPr>
          <a:prstGeom prst="roundRect">
            <a:avLst>
              <a:gd name="adj" fmla="val 683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 wrap="square" lIns="203200" tIns="198895" rIns="189802" bIns="203200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Čeho se bojí</a:t>
            </a:r>
          </a:p>
          <a:p>
            <a:pPr marL="0" indent="0" algn="l">
              <a:lnSpc>
                <a:spcPts val="1600"/>
              </a:lnSpc>
              <a:spcBef>
                <a:spcPts val="55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Že udělají chybu nebo naletí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Skrytých poplatků a pastí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• Že na to nemají znalosti</a:t>
            </a:r>
          </a:p>
        </p:txBody>
      </p:sp>
      <p:sp>
        <p:nvSpPr>
          <p:cNvPr id="12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 si navzájem přináší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PARTNERSTVÍ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Co si navzájem přinášíme</a:t>
            </a:r>
          </a:p>
        </p:txBody>
      </p:sp>
      <p:sp>
        <p:nvSpPr>
          <p:cNvPr id="5" name="Co přináší Portu"/>
          <p:cNvSpPr/>
          <p:nvPr/>
        </p:nvSpPr>
        <p:spPr>
          <a:xfrm>
            <a:off x="762000" y="1905000"/>
            <a:ext cx="5003800" cy="2806700"/>
          </a:xfrm>
          <a:prstGeom prst="roundRect">
            <a:avLst>
              <a:gd name="adj" fmla="val 5430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Logo Portu" descr="Portu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066800" y="2209800"/>
            <a:ext cx="899160" cy="304800"/>
          </a:xfrm>
          <a:prstGeom prst="rect">
            <a:avLst/>
          </a:prstGeom>
        </p:spPr>
      </p:pic>
      <p:sp>
        <p:nvSpPr>
          <p:cNvPr id="7" name="Název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přináší Portu</a:t>
            </a:r>
          </a:p>
        </p:txBody>
      </p:sp>
      <p:pic>
        <p:nvPicPr>
          <p:cNvPr id="8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6800" y="3086100"/>
            <a:ext cx="254000" cy="254000"/>
          </a:xfrm>
          <a:prstGeom prst="rect">
            <a:avLst/>
          </a:prstGeom>
        </p:spPr>
      </p:pic>
      <p:sp>
        <p:nvSpPr>
          <p:cNvPr id="9" name="Text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340 000 aktivních retailových klientů</a:t>
            </a:r>
          </a:p>
        </p:txBody>
      </p:sp>
      <p:pic>
        <p:nvPicPr>
          <p:cNvPr id="10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6800" y="3441700"/>
            <a:ext cx="254000" cy="254000"/>
          </a:xfrm>
          <a:prstGeom prst="rect">
            <a:avLst/>
          </a:prstGeom>
        </p:spPr>
      </p:pic>
      <p:sp>
        <p:nvSpPr>
          <p:cNvPr id="11" name="Text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Silná a důvěryhodná spotřebitelská značka</a:t>
            </a:r>
          </a:p>
        </p:txBody>
      </p:sp>
      <p:pic>
        <p:nvPicPr>
          <p:cNvPr id="12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6800" y="3797300"/>
            <a:ext cx="254000" cy="254000"/>
          </a:xfrm>
          <a:prstGeom prst="rect">
            <a:avLst/>
          </a:prstGeom>
        </p:spPr>
      </p:pic>
      <p:sp>
        <p:nvSpPr>
          <p:cNvPr id="13" name="Text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Digitální distribuce a data o chování klientů</a:t>
            </a:r>
          </a:p>
        </p:txBody>
      </p:sp>
      <p:pic>
        <p:nvPicPr>
          <p:cNvPr id="14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6800" y="4152900"/>
            <a:ext cx="254000" cy="254000"/>
          </a:xfrm>
          <a:prstGeom prst="rect">
            <a:avLst/>
          </a:prstGeom>
        </p:spPr>
      </p:pic>
      <p:sp>
        <p:nvSpPr>
          <p:cNvPr id="15" name="Text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Schopnost vysvětlit produkt ve správnou chvíli</a:t>
            </a:r>
          </a:p>
        </p:txBody>
      </p:sp>
      <p:sp>
        <p:nvSpPr>
          <p:cNvPr id="16" name="Plus"/>
          <p:cNvSpPr>
            <a:spLocks noGrp="1"/>
          </p:cNvSpPr>
          <p:nvPr>
            <p:ph type="body" idx="105"/>
          </p:nvPr>
        </p:nvSpPr>
        <p:spPr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none" lIns="0" tIns="7201" rIns="0" bIns="0" rtlCol="0" anchor="ctr" anchorCtr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+</a:t>
            </a:r>
          </a:p>
        </p:txBody>
      </p:sp>
      <p:sp>
        <p:nvSpPr>
          <p:cNvPr id="17" name="Co přináší partner"/>
          <p:cNvSpPr/>
          <p:nvPr/>
        </p:nvSpPr>
        <p:spPr>
          <a:xfrm>
            <a:off x="6426200" y="1905000"/>
            <a:ext cx="5003800" cy="2806700"/>
          </a:xfrm>
          <a:prstGeom prst="roundRect">
            <a:avLst>
              <a:gd name="adj" fmla="val 5430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Logo partnera"/>
          <p:cNvSpPr>
            <a:spLocks noGrp="1"/>
          </p:cNvSpPr>
          <p:nvPr>
            <p:ph type="pic" idx="20"/>
          </p:nvPr>
        </p:nvSpPr>
        <p:spPr>
          <a:xfrm>
            <a:off x="6737350" y="2216150"/>
            <a:ext cx="889000" cy="292100"/>
          </a:xfrm>
          <a:prstGeom prst="roundRect">
            <a:avLst>
              <a:gd name="adj" fmla="val 23913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Název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Co přináší partner</a:t>
            </a:r>
          </a:p>
        </p:txBody>
      </p:sp>
      <p:pic>
        <p:nvPicPr>
          <p:cNvPr id="20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731000" y="3086100"/>
            <a:ext cx="254000" cy="254000"/>
          </a:xfrm>
          <a:prstGeom prst="rect">
            <a:avLst/>
          </a:prstGeom>
        </p:spPr>
      </p:pic>
      <p:sp>
        <p:nvSpPr>
          <p:cNvPr id="21" name="Text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Know-how a hluboká znalost produktu</a:t>
            </a:r>
          </a:p>
        </p:txBody>
      </p:sp>
      <p:pic>
        <p:nvPicPr>
          <p:cNvPr id="22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731000" y="3441700"/>
            <a:ext cx="254000" cy="254000"/>
          </a:xfrm>
          <a:prstGeom prst="rect">
            <a:avLst/>
          </a:prstGeom>
        </p:spPr>
      </p:pic>
      <p:sp>
        <p:nvSpPr>
          <p:cNvPr id="23" name="Text"/>
          <p:cNvSpPr>
            <a:spLocks noGrp="1"/>
          </p:cNvSpPr>
          <p:nvPr>
            <p:ph type="body" idx="10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Důvěryhodnost a silné institucionální zázemí</a:t>
            </a:r>
          </a:p>
        </p:txBody>
      </p:sp>
      <p:pic>
        <p:nvPicPr>
          <p:cNvPr id="24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731000" y="3797300"/>
            <a:ext cx="254000" cy="254000"/>
          </a:xfrm>
          <a:prstGeom prst="rect">
            <a:avLst/>
          </a:prstGeom>
        </p:spPr>
      </p:pic>
      <p:sp>
        <p:nvSpPr>
          <p:cNvPr id="25" name="Text"/>
          <p:cNvSpPr>
            <a:spLocks noGrp="1"/>
          </p:cNvSpPr>
          <p:nvPr>
            <p:ph type="body" idx="109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Unikátní produkty a investiční příležitosti</a:t>
            </a:r>
          </a:p>
        </p:txBody>
      </p:sp>
      <p:pic>
        <p:nvPicPr>
          <p:cNvPr id="26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6731000" y="4152900"/>
            <a:ext cx="254000" cy="254000"/>
          </a:xfrm>
          <a:prstGeom prst="rect">
            <a:avLst/>
          </a:prstGeom>
        </p:spPr>
      </p:pic>
      <p:sp>
        <p:nvSpPr>
          <p:cNvPr id="27" name="Text"/>
          <p:cNvSpPr>
            <a:spLocks noGrp="1"/>
          </p:cNvSpPr>
          <p:nvPr>
            <p:ph type="body" idx="1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Řešení pro náročnější klienty</a:t>
            </a:r>
          </a:p>
        </p:txBody>
      </p:sp>
      <p:sp>
        <p:nvSpPr>
          <p:cNvPr id="28" name="Shrnutí"/>
          <p:cNvSpPr>
            <a:spLocks noGrp="1"/>
          </p:cNvSpPr>
          <p:nvPr>
            <p:ph type="body" idx="111"/>
          </p:nvPr>
        </p:nvSpPr>
        <p:spPr>
          <a:prstGeom prst="roundRect">
            <a:avLst>
              <a:gd name="adj" fmla="val 19608"/>
            </a:avLst>
          </a:prstGeom>
          <a:solidFill>
            <a:srgbClr val="ECEBF8"/>
          </a:solidFill>
          <a:ln>
            <a:noFill/>
          </a:ln>
        </p:spPr>
        <p:txBody>
          <a:bodyPr wrap="square" lIns="203200" tIns="190030" rIns="0" bIns="216370" rtlCol="0" anchor="ctr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Společně nabídneme klientům relevantní řešení ve chvíli, kdy ho potřebují – v prostředí, kterému důvěřují.</a:t>
            </a:r>
          </a:p>
        </p:txBody>
      </p:sp>
      <p:sp>
        <p:nvSpPr>
          <p:cNvPr id="29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Čím víc investujete, tím méně platí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POPLATKY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Čím víc investujete, tím méně platíte</a:t>
            </a:r>
          </a:p>
        </p:txBody>
      </p:sp>
      <p:sp>
        <p:nvSpPr>
          <p:cNvPr id="5" name="Úroveň – Start"/>
          <p:cNvSpPr/>
          <p:nvPr/>
        </p:nvSpPr>
        <p:spPr>
          <a:xfrm>
            <a:off x="762000" y="2032000"/>
            <a:ext cx="2552700" cy="2603500"/>
          </a:xfrm>
          <a:prstGeom prst="roundRect">
            <a:avLst>
              <a:gd name="adj" fmla="val 5970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Záhlaví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ctr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Start</a:t>
            </a:r>
          </a:p>
        </p:txBody>
      </p:sp>
      <p:sp>
        <p:nvSpPr>
          <p:cNvPr id="7" name="Rozsah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 500 000 Kč</a:t>
            </a:r>
          </a:p>
        </p:txBody>
      </p:sp>
      <p:sp>
        <p:nvSpPr>
          <p:cNvPr id="8" name="Poplatek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48666" rIns="0" bIns="0" rtlCol="0" anchor="t" anchorCtr="0">
            <a:noAutofit/>
          </a:bodyPr>
          <a:lstStyle/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1,0 %</a:t>
            </a:r>
          </a:p>
        </p:txBody>
      </p:sp>
      <p:sp>
        <p:nvSpPr>
          <p:cNvPr id="9" name="Jednotka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ročně z objemu majetku</a:t>
            </a:r>
          </a:p>
        </p:txBody>
      </p:sp>
      <p:pic>
        <p:nvPicPr>
          <p:cNvPr id="10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965200" y="3822700"/>
            <a:ext cx="254000" cy="254000"/>
          </a:xfrm>
          <a:prstGeom prst="rect">
            <a:avLst/>
          </a:prstGeom>
        </p:spPr>
      </p:pic>
      <p:sp>
        <p:nvSpPr>
          <p:cNvPr id="11" name="Text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Výhoda úrovně</a:t>
            </a:r>
          </a:p>
        </p:txBody>
      </p:sp>
      <p:pic>
        <p:nvPicPr>
          <p:cNvPr id="12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965200" y="4152900"/>
            <a:ext cx="254000" cy="254000"/>
          </a:xfrm>
          <a:prstGeom prst="rect">
            <a:avLst/>
          </a:prstGeom>
        </p:spPr>
      </p:pic>
      <p:sp>
        <p:nvSpPr>
          <p:cNvPr id="13" name="Text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Další výhoda</a:t>
            </a:r>
          </a:p>
        </p:txBody>
      </p:sp>
      <p:sp>
        <p:nvSpPr>
          <p:cNvPr id="14" name="Úroveň – Standard"/>
          <p:cNvSpPr/>
          <p:nvPr/>
        </p:nvSpPr>
        <p:spPr>
          <a:xfrm>
            <a:off x="3467100" y="2032000"/>
            <a:ext cx="2552700" cy="2603500"/>
          </a:xfrm>
          <a:prstGeom prst="roundRect">
            <a:avLst>
              <a:gd name="adj" fmla="val 5970"/>
            </a:avLst>
          </a:prstGeom>
          <a:gradFill rotWithShape="1">
            <a:gsLst>
              <a:gs pos="0">
                <a:srgbClr val="3F2485"/>
              </a:gs>
              <a:gs pos="14286">
                <a:srgbClr val="3F2485"/>
              </a:gs>
              <a:gs pos="50000">
                <a:srgbClr val="512DAC"/>
              </a:gs>
              <a:gs pos="85714">
                <a:srgbClr val="7A33C4"/>
              </a:gs>
              <a:gs pos="100000">
                <a:srgbClr val="7A33C4"/>
              </a:gs>
            </a:gsLst>
            <a:lin ang="2733868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Název úrovně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Standard</a:t>
            </a:r>
          </a:p>
        </p:txBody>
      </p:sp>
      <p:sp>
        <p:nvSpPr>
          <p:cNvPr id="16" name="Štítek"/>
          <p:cNvSpPr>
            <a:spLocks noGrp="1"/>
          </p:cNvSpPr>
          <p:nvPr>
            <p:ph type="body" idx="107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NEJČASTĚJŠÍ</a:t>
            </a:r>
          </a:p>
        </p:txBody>
      </p:sp>
      <p:sp>
        <p:nvSpPr>
          <p:cNvPr id="17" name="Rozsah"/>
          <p:cNvSpPr>
            <a:spLocks noGrp="1"/>
          </p:cNvSpPr>
          <p:nvPr>
            <p:ph type="body" idx="10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500 000 – 2 mil. Kč</a:t>
            </a:r>
          </a:p>
        </p:txBody>
      </p:sp>
      <p:sp>
        <p:nvSpPr>
          <p:cNvPr id="18" name="Poplatek"/>
          <p:cNvSpPr>
            <a:spLocks noGrp="1"/>
          </p:cNvSpPr>
          <p:nvPr>
            <p:ph type="body" idx="109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48666" rIns="0" bIns="0" rtlCol="0" anchor="t" anchorCtr="0">
            <a:noAutofit/>
          </a:bodyPr>
          <a:lstStyle/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0,9 %</a:t>
            </a:r>
          </a:p>
        </p:txBody>
      </p:sp>
      <p:sp>
        <p:nvSpPr>
          <p:cNvPr id="19" name="Jednotka"/>
          <p:cNvSpPr>
            <a:spLocks noGrp="1"/>
          </p:cNvSpPr>
          <p:nvPr>
            <p:ph type="body" idx="1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bg1">
                    <a:alpha val="70000"/>
                  </a:schemeClr>
                </a:solidFill>
                <a:latin typeface="Rethink Sans"/>
                <a:ea typeface="Rethink Sans"/>
                <a:cs typeface="Rethink Sans"/>
              </a:rPr>
              <a:t>ročně z objemu majetku</a:t>
            </a:r>
          </a:p>
        </p:txBody>
      </p:sp>
      <p:pic>
        <p:nvPicPr>
          <p:cNvPr id="20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3670300" y="3848100"/>
            <a:ext cx="254000" cy="254000"/>
          </a:xfrm>
          <a:prstGeom prst="rect">
            <a:avLst/>
          </a:prstGeom>
        </p:spPr>
      </p:pic>
      <p:sp>
        <p:nvSpPr>
          <p:cNvPr id="21" name="Text"/>
          <p:cNvSpPr>
            <a:spLocks noGrp="1"/>
          </p:cNvSpPr>
          <p:nvPr>
            <p:ph type="body" idx="1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Výhoda úrovně</a:t>
            </a:r>
          </a:p>
        </p:txBody>
      </p:sp>
      <p:pic>
        <p:nvPicPr>
          <p:cNvPr id="22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3670300" y="4178300"/>
            <a:ext cx="254000" cy="254000"/>
          </a:xfrm>
          <a:prstGeom prst="rect">
            <a:avLst/>
          </a:prstGeom>
        </p:spPr>
      </p:pic>
      <p:sp>
        <p:nvSpPr>
          <p:cNvPr id="23" name="Text"/>
          <p:cNvSpPr>
            <a:spLocks noGrp="1"/>
          </p:cNvSpPr>
          <p:nvPr>
            <p:ph type="body" idx="1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Další výhoda</a:t>
            </a:r>
          </a:p>
        </p:txBody>
      </p:sp>
      <p:sp>
        <p:nvSpPr>
          <p:cNvPr id="24" name="Úroveň – Plus"/>
          <p:cNvSpPr/>
          <p:nvPr/>
        </p:nvSpPr>
        <p:spPr>
          <a:xfrm>
            <a:off x="6172200" y="2032000"/>
            <a:ext cx="2552700" cy="2603500"/>
          </a:xfrm>
          <a:prstGeom prst="roundRect">
            <a:avLst>
              <a:gd name="adj" fmla="val 5970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Záhlaví"/>
          <p:cNvSpPr>
            <a:spLocks noGrp="1"/>
          </p:cNvSpPr>
          <p:nvPr>
            <p:ph type="body" idx="11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ctr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Plus</a:t>
            </a:r>
          </a:p>
        </p:txBody>
      </p:sp>
      <p:sp>
        <p:nvSpPr>
          <p:cNvPr id="26" name="Rozsah"/>
          <p:cNvSpPr>
            <a:spLocks noGrp="1"/>
          </p:cNvSpPr>
          <p:nvPr>
            <p:ph type="body" idx="1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2 – 5 mil. Kč</a:t>
            </a:r>
          </a:p>
        </p:txBody>
      </p:sp>
      <p:sp>
        <p:nvSpPr>
          <p:cNvPr id="27" name="Poplatek"/>
          <p:cNvSpPr>
            <a:spLocks noGrp="1"/>
          </p:cNvSpPr>
          <p:nvPr>
            <p:ph type="body" idx="11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48666" rIns="0" bIns="0" rtlCol="0" anchor="t" anchorCtr="0">
            <a:noAutofit/>
          </a:bodyPr>
          <a:lstStyle/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0,8 %</a:t>
            </a:r>
          </a:p>
        </p:txBody>
      </p:sp>
      <p:sp>
        <p:nvSpPr>
          <p:cNvPr id="28" name="Jednotka"/>
          <p:cNvSpPr>
            <a:spLocks noGrp="1"/>
          </p:cNvSpPr>
          <p:nvPr>
            <p:ph type="body" idx="11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ročně z objemu majetku</a:t>
            </a:r>
          </a:p>
        </p:txBody>
      </p:sp>
      <p:pic>
        <p:nvPicPr>
          <p:cNvPr id="29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6375400" y="3822700"/>
            <a:ext cx="254000" cy="254000"/>
          </a:xfrm>
          <a:prstGeom prst="rect">
            <a:avLst/>
          </a:prstGeom>
        </p:spPr>
      </p:pic>
      <p:sp>
        <p:nvSpPr>
          <p:cNvPr id="30" name="Text"/>
          <p:cNvSpPr>
            <a:spLocks noGrp="1"/>
          </p:cNvSpPr>
          <p:nvPr>
            <p:ph type="body" idx="11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Výhoda úrovně</a:t>
            </a:r>
          </a:p>
        </p:txBody>
      </p:sp>
      <p:pic>
        <p:nvPicPr>
          <p:cNvPr id="31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6375400" y="4152900"/>
            <a:ext cx="254000" cy="254000"/>
          </a:xfrm>
          <a:prstGeom prst="rect">
            <a:avLst/>
          </a:prstGeom>
        </p:spPr>
      </p:pic>
      <p:sp>
        <p:nvSpPr>
          <p:cNvPr id="32" name="Text"/>
          <p:cNvSpPr>
            <a:spLocks noGrp="1"/>
          </p:cNvSpPr>
          <p:nvPr>
            <p:ph type="body" idx="11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Další výhoda</a:t>
            </a:r>
          </a:p>
        </p:txBody>
      </p:sp>
      <p:sp>
        <p:nvSpPr>
          <p:cNvPr id="33" name="Úroveň – Premium"/>
          <p:cNvSpPr/>
          <p:nvPr/>
        </p:nvSpPr>
        <p:spPr>
          <a:xfrm>
            <a:off x="8877300" y="2032000"/>
            <a:ext cx="2552700" cy="2603500"/>
          </a:xfrm>
          <a:prstGeom prst="roundRect">
            <a:avLst>
              <a:gd name="adj" fmla="val 5970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Záhlaví"/>
          <p:cNvSpPr>
            <a:spLocks noGrp="1"/>
          </p:cNvSpPr>
          <p:nvPr>
            <p:ph type="body" idx="119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7201" rIns="0" bIns="0" rtlCol="0" anchor="ctr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Premium</a:t>
            </a:r>
          </a:p>
        </p:txBody>
      </p:sp>
      <p:sp>
        <p:nvSpPr>
          <p:cNvPr id="35" name="Rozsah"/>
          <p:cNvSpPr>
            <a:spLocks noGrp="1"/>
          </p:cNvSpPr>
          <p:nvPr>
            <p:ph type="body" idx="12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nad 5 mil. Kč</a:t>
            </a:r>
          </a:p>
        </p:txBody>
      </p:sp>
      <p:sp>
        <p:nvSpPr>
          <p:cNvPr id="36" name="Poplatek"/>
          <p:cNvSpPr>
            <a:spLocks noGrp="1"/>
          </p:cNvSpPr>
          <p:nvPr>
            <p:ph type="body" idx="12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48666" rIns="0" bIns="0" rtlCol="0" anchor="t" anchorCtr="0">
            <a:noAutofit/>
          </a:bodyPr>
          <a:lstStyle/>
          <a:p>
            <a:pPr marL="0" indent="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200" b="1" kern="0" cap="none" spc="-75" dirty="0">
                <a:solidFill>
                  <a:schemeClr val="accent1"/>
                </a:solidFill>
                <a:latin typeface="Rethink Sans"/>
                <a:ea typeface="Rethink Sans"/>
                <a:cs typeface="Rethink Sans"/>
              </a:rPr>
              <a:t>0,6 %</a:t>
            </a:r>
          </a:p>
        </p:txBody>
      </p:sp>
      <p:sp>
        <p:nvSpPr>
          <p:cNvPr id="37" name="Jednotka"/>
          <p:cNvSpPr>
            <a:spLocks noGrp="1"/>
          </p:cNvSpPr>
          <p:nvPr>
            <p:ph type="body" idx="12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ročně z objemu majetku</a:t>
            </a:r>
          </a:p>
        </p:txBody>
      </p:sp>
      <p:pic>
        <p:nvPicPr>
          <p:cNvPr id="38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9080500" y="3822700"/>
            <a:ext cx="254000" cy="254000"/>
          </a:xfrm>
          <a:prstGeom prst="rect">
            <a:avLst/>
          </a:prstGeom>
        </p:spPr>
      </p:pic>
      <p:sp>
        <p:nvSpPr>
          <p:cNvPr id="39" name="Text"/>
          <p:cNvSpPr>
            <a:spLocks noGrp="1"/>
          </p:cNvSpPr>
          <p:nvPr>
            <p:ph type="body" idx="12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Výhoda úrovně</a:t>
            </a:r>
          </a:p>
        </p:txBody>
      </p:sp>
      <p:pic>
        <p:nvPicPr>
          <p:cNvPr id="40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9080500" y="4152900"/>
            <a:ext cx="254000" cy="254000"/>
          </a:xfrm>
          <a:prstGeom prst="rect">
            <a:avLst/>
          </a:prstGeom>
        </p:spPr>
      </p:pic>
      <p:sp>
        <p:nvSpPr>
          <p:cNvPr id="41" name="Text"/>
          <p:cNvSpPr>
            <a:spLocks noGrp="1"/>
          </p:cNvSpPr>
          <p:nvPr>
            <p:ph type="body" idx="12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Další výhoda</a:t>
            </a:r>
          </a:p>
        </p:txBody>
      </p:sp>
      <p:sp>
        <p:nvSpPr>
          <p:cNvPr id="42" name="Poznámka"/>
          <p:cNvSpPr>
            <a:spLocks noGrp="1"/>
          </p:cNvSpPr>
          <p:nvPr>
            <p:ph type="body" idx="12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ceník – nahraďte aktuálními hodnotami. Platný ceník najdete na portu.cz.</a:t>
            </a:r>
          </a:p>
        </p:txBody>
      </p:sp>
      <p:sp>
        <p:nvSpPr>
          <p:cNvPr id="43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olik můžete mít za 30 let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MODELOVÝ VÝPOČET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Kolik můžete mít za 30 let?</a:t>
            </a:r>
          </a:p>
        </p:txBody>
      </p:sp>
      <p:sp>
        <p:nvSpPr>
          <p:cNvPr id="5" name="Vstup – Měsíční investice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1234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192545" rIns="77216" bIns="203200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Měsíční investice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4 000 Kč</a:t>
            </a:r>
          </a:p>
        </p:txBody>
      </p:sp>
      <p:sp>
        <p:nvSpPr>
          <p:cNvPr id="6" name="Vstup – Investiční horizont"/>
          <p:cNvSpPr>
            <a:spLocks noGrp="1"/>
          </p:cNvSpPr>
          <p:nvPr>
            <p:ph type="body" idx="101"/>
          </p:nvPr>
        </p:nvSpPr>
        <p:spPr>
          <a:prstGeom prst="roundRect">
            <a:avLst>
              <a:gd name="adj" fmla="val 1234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192545" rIns="77216" bIns="203200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Investiční horizont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30 let</a:t>
            </a:r>
          </a:p>
        </p:txBody>
      </p:sp>
      <p:sp>
        <p:nvSpPr>
          <p:cNvPr id="7" name="Vstup – Modelové zhodnocení"/>
          <p:cNvSpPr>
            <a:spLocks noGrp="1"/>
          </p:cNvSpPr>
          <p:nvPr>
            <p:ph type="body" idx="102"/>
          </p:nvPr>
        </p:nvSpPr>
        <p:spPr>
          <a:prstGeom prst="roundRect">
            <a:avLst>
              <a:gd name="adj" fmla="val 12346"/>
            </a:avLst>
          </a:prstGeom>
          <a:solidFill>
            <a:schemeClr val="bg2"/>
          </a:solidFill>
          <a:ln>
            <a:noFill/>
          </a:ln>
        </p:spPr>
        <p:txBody>
          <a:bodyPr wrap="square" lIns="203200" tIns="192545" rIns="77216" bIns="203200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Modelové zhodnocení</a:t>
            </a:r>
          </a:p>
          <a:p>
            <a:pPr marL="0" indent="0" algn="l">
              <a:lnSpc>
                <a:spcPts val="2900"/>
              </a:lnSpc>
              <a:spcBef>
                <a:spcPts val="727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9 % p.a.</a:t>
            </a:r>
          </a:p>
        </p:txBody>
      </p:sp>
      <p:sp>
        <p:nvSpPr>
          <p:cNvPr id="8" name="Šipka"/>
          <p:cNvSpPr/>
          <p:nvPr/>
        </p:nvSpPr>
        <p:spPr>
          <a:xfrm>
            <a:off x="4521200" y="3606800"/>
            <a:ext cx="406400" cy="406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" name="šipk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4645025" y="3749675"/>
            <a:ext cx="158750" cy="120650"/>
          </a:xfrm>
          <a:prstGeom prst="rect">
            <a:avLst/>
          </a:prstGeom>
        </p:spPr>
      </p:pic>
      <p:sp>
        <p:nvSpPr>
          <p:cNvPr id="10" name="Výsledek"/>
          <p:cNvSpPr/>
          <p:nvPr/>
        </p:nvSpPr>
        <p:spPr>
          <a:xfrm>
            <a:off x="5130800" y="2032000"/>
            <a:ext cx="6299200" cy="35560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Záře" descr="dekorace"/>
          <p:cNvPicPr>
            <a:picLocks noGrp="1"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30800" y="2540000"/>
            <a:ext cx="4572000" cy="3048000"/>
          </a:xfrm>
          <a:prstGeom prst="rect">
            <a:avLst/>
          </a:prstGeom>
        </p:spPr>
      </p:pic>
      <p:sp>
        <p:nvSpPr>
          <p:cNvPr id="12" name="Obsah výsledku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VÝSLEDNÁ HODNOTA</a:t>
            </a:r>
          </a:p>
          <a:p>
            <a:pPr marL="0" indent="0" algn="l">
              <a:lnSpc>
                <a:spcPts val="4800"/>
              </a:lnSpc>
              <a:spcBef>
                <a:spcPts val="1324"/>
              </a:spcBef>
              <a:spcAft>
                <a:spcPts val="0"/>
              </a:spcAft>
              <a:buNone/>
            </a:pPr>
            <a:r>
              <a:rPr lang="cs-CZ" sz="4800" b="1" kern="0" cap="none" spc="-100" dirty="0">
                <a:gradFill rotWithShape="1">
                  <a:gsLst>
                    <a:gs pos="0">
                      <a:srgbClr val="D8FF15"/>
                    </a:gs>
                    <a:gs pos="100000">
                      <a:srgbClr val="05CB4B"/>
                    </a:gs>
                  </a:gsLst>
                  <a:lin ang="0" scaled="0"/>
                </a:gradFill>
                <a:latin typeface="Rethink Sans"/>
                <a:ea typeface="Rethink Sans"/>
                <a:cs typeface="Rethink Sans"/>
              </a:rPr>
              <a:t>7,3 mil. Kč</a:t>
            </a:r>
          </a:p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>
                    <a:alpha val="90000"/>
                  </a:schemeClr>
                </a:solidFill>
                <a:latin typeface="Rethink Sans"/>
                <a:ea typeface="Rethink Sans"/>
                <a:cs typeface="Rethink Sans"/>
              </a:rPr>
              <a:t>z toho vaše vklady 1,44 mil. Kč, zbytek je zhodnocení</a:t>
            </a:r>
          </a:p>
        </p:txBody>
      </p:sp>
      <p:sp>
        <p:nvSpPr>
          <p:cNvPr id="13" name="Upozornění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Ilustrativní výpočet s měsíčním připisováním výnosu, nezohledňuje poplatky ani daně. Minulé ani modelové výnosy nejsou zárukou budoucích výnosů.</a:t>
            </a:r>
          </a:p>
        </p:txBody>
      </p:sp>
      <p:sp>
        <p:nvSpPr>
          <p:cNvPr id="14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polupracujeme s nejlepší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PARTNEŘI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Spolupracujeme s nejlepšími</a:t>
            </a:r>
          </a:p>
        </p:txBody>
      </p:sp>
      <p:sp>
        <p:nvSpPr>
          <p:cNvPr id="5" name="Pole loga"/>
          <p:cNvSpPr/>
          <p:nvPr/>
        </p:nvSpPr>
        <p:spPr>
          <a:xfrm>
            <a:off x="762000" y="2095500"/>
            <a:ext cx="2011680" cy="114300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Logo partnera"/>
          <p:cNvSpPr>
            <a:spLocks noGrp="1"/>
          </p:cNvSpPr>
          <p:nvPr>
            <p:ph type="pic" idx="20"/>
          </p:nvPr>
        </p:nvSpPr>
        <p:spPr>
          <a:xfrm>
            <a:off x="102489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Pole loga"/>
          <p:cNvSpPr/>
          <p:nvPr/>
        </p:nvSpPr>
        <p:spPr>
          <a:xfrm>
            <a:off x="2926080" y="2095500"/>
            <a:ext cx="2011680" cy="114300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Logo partnera"/>
          <p:cNvSpPr>
            <a:spLocks noGrp="1"/>
          </p:cNvSpPr>
          <p:nvPr>
            <p:ph type="pic" idx="21"/>
          </p:nvPr>
        </p:nvSpPr>
        <p:spPr>
          <a:xfrm>
            <a:off x="318897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ole loga"/>
          <p:cNvSpPr/>
          <p:nvPr/>
        </p:nvSpPr>
        <p:spPr>
          <a:xfrm>
            <a:off x="5090160" y="2095500"/>
            <a:ext cx="2011680" cy="114300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Logo partnera"/>
          <p:cNvSpPr>
            <a:spLocks noGrp="1"/>
          </p:cNvSpPr>
          <p:nvPr>
            <p:ph type="pic" idx="22"/>
          </p:nvPr>
        </p:nvSpPr>
        <p:spPr>
          <a:xfrm>
            <a:off x="535305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ole loga"/>
          <p:cNvSpPr/>
          <p:nvPr/>
        </p:nvSpPr>
        <p:spPr>
          <a:xfrm>
            <a:off x="7254240" y="2095500"/>
            <a:ext cx="2011680" cy="114300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Logo partnera"/>
          <p:cNvSpPr>
            <a:spLocks noGrp="1"/>
          </p:cNvSpPr>
          <p:nvPr>
            <p:ph type="pic" idx="23"/>
          </p:nvPr>
        </p:nvSpPr>
        <p:spPr>
          <a:xfrm>
            <a:off x="751713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ole loga"/>
          <p:cNvSpPr/>
          <p:nvPr/>
        </p:nvSpPr>
        <p:spPr>
          <a:xfrm>
            <a:off x="9418320" y="2095500"/>
            <a:ext cx="2011680" cy="114300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Logo partnera"/>
          <p:cNvSpPr>
            <a:spLocks noGrp="1"/>
          </p:cNvSpPr>
          <p:nvPr>
            <p:ph type="pic" idx="24"/>
          </p:nvPr>
        </p:nvSpPr>
        <p:spPr>
          <a:xfrm>
            <a:off x="9681210" y="24193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ole loga"/>
          <p:cNvSpPr/>
          <p:nvPr/>
        </p:nvSpPr>
        <p:spPr>
          <a:xfrm>
            <a:off x="762000" y="3390900"/>
            <a:ext cx="2011680" cy="114300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Logo partnera"/>
          <p:cNvSpPr>
            <a:spLocks noGrp="1"/>
          </p:cNvSpPr>
          <p:nvPr>
            <p:ph type="pic" idx="25"/>
          </p:nvPr>
        </p:nvSpPr>
        <p:spPr>
          <a:xfrm>
            <a:off x="102489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ole loga"/>
          <p:cNvSpPr/>
          <p:nvPr/>
        </p:nvSpPr>
        <p:spPr>
          <a:xfrm>
            <a:off x="2926080" y="3390900"/>
            <a:ext cx="2011680" cy="114300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Logo partnera"/>
          <p:cNvSpPr>
            <a:spLocks noGrp="1"/>
          </p:cNvSpPr>
          <p:nvPr>
            <p:ph type="pic" idx="26"/>
          </p:nvPr>
        </p:nvSpPr>
        <p:spPr>
          <a:xfrm>
            <a:off x="318897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ole loga"/>
          <p:cNvSpPr/>
          <p:nvPr/>
        </p:nvSpPr>
        <p:spPr>
          <a:xfrm>
            <a:off x="5090160" y="3390900"/>
            <a:ext cx="2011680" cy="114300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Logo partnera"/>
          <p:cNvSpPr>
            <a:spLocks noGrp="1"/>
          </p:cNvSpPr>
          <p:nvPr>
            <p:ph type="pic" idx="27"/>
          </p:nvPr>
        </p:nvSpPr>
        <p:spPr>
          <a:xfrm>
            <a:off x="535305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ole loga"/>
          <p:cNvSpPr/>
          <p:nvPr/>
        </p:nvSpPr>
        <p:spPr>
          <a:xfrm>
            <a:off x="7254240" y="3390900"/>
            <a:ext cx="2011680" cy="114300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Logo partnera"/>
          <p:cNvSpPr>
            <a:spLocks noGrp="1"/>
          </p:cNvSpPr>
          <p:nvPr>
            <p:ph type="pic" idx="28"/>
          </p:nvPr>
        </p:nvSpPr>
        <p:spPr>
          <a:xfrm>
            <a:off x="751713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Pole loga"/>
          <p:cNvSpPr/>
          <p:nvPr/>
        </p:nvSpPr>
        <p:spPr>
          <a:xfrm>
            <a:off x="9418320" y="3390900"/>
            <a:ext cx="2011680" cy="114300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Logo partnera"/>
          <p:cNvSpPr>
            <a:spLocks noGrp="1"/>
          </p:cNvSpPr>
          <p:nvPr>
            <p:ph type="pic" idx="29"/>
          </p:nvPr>
        </p:nvSpPr>
        <p:spPr>
          <a:xfrm>
            <a:off x="9681210" y="3714750"/>
            <a:ext cx="1485900" cy="495300"/>
          </a:xfrm>
          <a:prstGeom prst="roundRect">
            <a:avLst>
              <a:gd name="adj" fmla="val 14103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hrnutí a další kro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SHRNUTÍ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Shrnutí a další kroky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Na čem jsme se dohodli, kdo co udělá a do kdy.</a:t>
            </a:r>
          </a:p>
        </p:txBody>
      </p:sp>
      <p:sp>
        <p:nvSpPr>
          <p:cNvPr id="6" name="Krok 1 – linka"/>
          <p:cNvSpPr/>
          <p:nvPr/>
        </p:nvSpPr>
        <p:spPr>
          <a:xfrm>
            <a:off x="4699000" y="2387600"/>
            <a:ext cx="6731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Číslo"/>
          <p:cNvSpPr>
            <a:spLocks noGrp="1"/>
          </p:cNvSpPr>
          <p:nvPr>
            <p:ph type="body" idx="100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1</a:t>
            </a:r>
          </a:p>
        </p:txBody>
      </p:sp>
      <p:sp>
        <p:nvSpPr>
          <p:cNvPr id="8" name="Text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Připravit návrh smlouvy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Včetně ceníku a podmínek spolupráce.</a:t>
            </a:r>
          </a:p>
        </p:txBody>
      </p:sp>
      <p:sp>
        <p:nvSpPr>
          <p:cNvPr id="9" name="Odpovídá"/>
          <p:cNvSpPr>
            <a:spLocks noGrp="1"/>
          </p:cNvSpPr>
          <p:nvPr>
            <p:ph type="body" idx="102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PORTU</a:t>
            </a:r>
          </a:p>
        </p:txBody>
      </p:sp>
      <p:sp>
        <p:nvSpPr>
          <p:cNvPr id="10" name="Termín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do 15. 2.</a:t>
            </a:r>
          </a:p>
        </p:txBody>
      </p:sp>
      <p:sp>
        <p:nvSpPr>
          <p:cNvPr id="11" name="Krok 2 – linka"/>
          <p:cNvSpPr/>
          <p:nvPr/>
        </p:nvSpPr>
        <p:spPr>
          <a:xfrm>
            <a:off x="4699000" y="3244850"/>
            <a:ext cx="6731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Číslo"/>
          <p:cNvSpPr>
            <a:spLocks noGrp="1"/>
          </p:cNvSpPr>
          <p:nvPr>
            <p:ph type="body" idx="104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2</a:t>
            </a:r>
          </a:p>
        </p:txBody>
      </p:sp>
      <p:sp>
        <p:nvSpPr>
          <p:cNvPr id="13" name="Text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Technická analýza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Posoudit rozsah integrace a náročnost vývoje.</a:t>
            </a:r>
          </a:p>
        </p:txBody>
      </p:sp>
      <p:sp>
        <p:nvSpPr>
          <p:cNvPr id="14" name="Odpovídá"/>
          <p:cNvSpPr>
            <a:spLocks noGrp="1"/>
          </p:cNvSpPr>
          <p:nvPr>
            <p:ph type="body" idx="106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PARTNER</a:t>
            </a:r>
          </a:p>
        </p:txBody>
      </p:sp>
      <p:sp>
        <p:nvSpPr>
          <p:cNvPr id="15" name="Termín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do 28. 2.</a:t>
            </a:r>
          </a:p>
        </p:txBody>
      </p:sp>
      <p:sp>
        <p:nvSpPr>
          <p:cNvPr id="16" name="Krok 3 – linka"/>
          <p:cNvSpPr/>
          <p:nvPr/>
        </p:nvSpPr>
        <p:spPr>
          <a:xfrm>
            <a:off x="4699000" y="4102100"/>
            <a:ext cx="6731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Číslo"/>
          <p:cNvSpPr>
            <a:spLocks noGrp="1"/>
          </p:cNvSpPr>
          <p:nvPr>
            <p:ph type="body" idx="108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3</a:t>
            </a:r>
          </a:p>
        </p:txBody>
      </p:sp>
      <p:sp>
        <p:nvSpPr>
          <p:cNvPr id="18" name="Text"/>
          <p:cNvSpPr>
            <a:spLocks noGrp="1"/>
          </p:cNvSpPr>
          <p:nvPr>
            <p:ph type="body" idx="109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Pilotní spuštění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Omezený okruh klientů, vyhodnocení po 3 měsících.</a:t>
            </a:r>
          </a:p>
        </p:txBody>
      </p:sp>
      <p:sp>
        <p:nvSpPr>
          <p:cNvPr id="19" name="Odpovídá"/>
          <p:cNvSpPr>
            <a:spLocks noGrp="1"/>
          </p:cNvSpPr>
          <p:nvPr>
            <p:ph type="body" idx="110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OBA</a:t>
            </a:r>
          </a:p>
        </p:txBody>
      </p:sp>
      <p:sp>
        <p:nvSpPr>
          <p:cNvPr id="20" name="Termín"/>
          <p:cNvSpPr>
            <a:spLocks noGrp="1"/>
          </p:cNvSpPr>
          <p:nvPr>
            <p:ph type="body" idx="1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Q2 2026</a:t>
            </a:r>
          </a:p>
        </p:txBody>
      </p:sp>
      <p:sp>
        <p:nvSpPr>
          <p:cNvPr id="21" name="Krok 4 – linka"/>
          <p:cNvSpPr/>
          <p:nvPr/>
        </p:nvSpPr>
        <p:spPr>
          <a:xfrm>
            <a:off x="4699000" y="4959350"/>
            <a:ext cx="6731000" cy="6350"/>
          </a:xfrm>
          <a:prstGeom prst="rect">
            <a:avLst/>
          </a:prstGeom>
          <a:solidFill>
            <a:srgbClr val="E1E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Číslo"/>
          <p:cNvSpPr>
            <a:spLocks noGrp="1"/>
          </p:cNvSpPr>
          <p:nvPr>
            <p:ph type="body" idx="112"/>
          </p:nvPr>
        </p:nvSpPr>
        <p:spPr>
          <a:prstGeom prst="roundRect">
            <a:avLst>
              <a:gd name="adj" fmla="val 50000"/>
            </a:avLst>
          </a:prstGeom>
          <a:solidFill>
            <a:srgbClr val="E6F7EC"/>
          </a:solidFill>
          <a:ln>
            <a:noFill/>
          </a:ln>
        </p:spPr>
        <p:txBody>
          <a:bodyPr wrap="none" lIns="0" tIns="0" rIns="0" bIns="8611" rtlCol="0" anchor="ctr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00832E"/>
                </a:solidFill>
                <a:latin typeface="Rethink Sans SemiBold"/>
                <a:ea typeface="Rethink Sans SemiBold"/>
                <a:cs typeface="Rethink Sans SemiBold"/>
              </a:rPr>
              <a:t>4</a:t>
            </a:r>
          </a:p>
        </p:txBody>
      </p:sp>
      <p:sp>
        <p:nvSpPr>
          <p:cNvPr id="23" name="Text"/>
          <p:cNvSpPr>
            <a:spLocks noGrp="1"/>
          </p:cNvSpPr>
          <p:nvPr>
            <p:ph type="body" idx="11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Společná komunikace</a:t>
            </a:r>
          </a:p>
          <a:p>
            <a:pPr marL="0" indent="0" algn="l">
              <a:lnSpc>
                <a:spcPts val="1600"/>
              </a:lnSpc>
              <a:spcBef>
                <a:spcPts val="5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Case study, PR a kampaň v kanálech obou značek.</a:t>
            </a:r>
          </a:p>
        </p:txBody>
      </p:sp>
      <p:sp>
        <p:nvSpPr>
          <p:cNvPr id="24" name="Odpovídá"/>
          <p:cNvSpPr>
            <a:spLocks noGrp="1"/>
          </p:cNvSpPr>
          <p:nvPr>
            <p:ph type="body" idx="114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MARKETING</a:t>
            </a:r>
          </a:p>
        </p:txBody>
      </p:sp>
      <p:sp>
        <p:nvSpPr>
          <p:cNvPr id="25" name="Termín"/>
          <p:cNvSpPr>
            <a:spLocks noGrp="1"/>
          </p:cNvSpPr>
          <p:nvPr>
            <p:ph type="body" idx="11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4305" rtlCol="0" anchor="t" anchorCtr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Q3 2026</a:t>
            </a:r>
          </a:p>
        </p:txBody>
      </p:sp>
      <p:sp>
        <p:nvSpPr>
          <p:cNvPr id="26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tázky a odpověd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Q&amp;A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rmAutofit/>
          </a:bodyPr>
          <a:lstStyle/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Otázky a odpovědi</a:t>
            </a:r>
          </a:p>
        </p:txBody>
      </p:sp>
      <p:sp>
        <p:nvSpPr>
          <p:cNvPr id="5" name="Podtitul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9334" rtlCol="0" anchor="t" anchorCtr="0">
            <a:norm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rPr>
              <a:t>Ptejte se na cokoli – i na to, co jsme nestihli.</a:t>
            </a:r>
          </a:p>
        </p:txBody>
      </p:sp>
      <p:sp>
        <p:nvSpPr>
          <p:cNvPr id="6" name="Otázka"/>
          <p:cNvSpPr/>
          <p:nvPr/>
        </p:nvSpPr>
        <p:spPr>
          <a:xfrm>
            <a:off x="6223000" y="1765300"/>
            <a:ext cx="5207000" cy="666750"/>
          </a:xfrm>
          <a:prstGeom prst="roundRect">
            <a:avLst>
              <a:gd name="adj" fmla="val 1904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Ikona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8" name="Text otázky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Pro koho je tato možnost vhodná?</a:t>
            </a:r>
          </a:p>
        </p:txBody>
      </p:sp>
      <p:sp>
        <p:nvSpPr>
          <p:cNvPr id="9" name="Otázka"/>
          <p:cNvSpPr/>
          <p:nvPr/>
        </p:nvSpPr>
        <p:spPr>
          <a:xfrm>
            <a:off x="6227762" y="1770062"/>
            <a:ext cx="5197475" cy="657225"/>
          </a:xfrm>
          <a:prstGeom prst="roundRect">
            <a:avLst>
              <a:gd name="adj" fmla="val 18599"/>
            </a:avLst>
          </a:prstGeom>
          <a:noFill/>
          <a:ln w="9525">
            <a:solidFill>
              <a:schemeClr val="bg1">
                <a:alpha val="12000"/>
              </a:scheme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Otázka"/>
          <p:cNvSpPr/>
          <p:nvPr/>
        </p:nvSpPr>
        <p:spPr>
          <a:xfrm>
            <a:off x="6223000" y="2559050"/>
            <a:ext cx="5207000" cy="666750"/>
          </a:xfrm>
          <a:prstGeom prst="roundRect">
            <a:avLst>
              <a:gd name="adj" fmla="val 1904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Ikona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12" name="Text otázky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Jaký je rozdíl mezi variantou A a B?</a:t>
            </a:r>
          </a:p>
        </p:txBody>
      </p:sp>
      <p:sp>
        <p:nvSpPr>
          <p:cNvPr id="13" name="Otázka"/>
          <p:cNvSpPr/>
          <p:nvPr/>
        </p:nvSpPr>
        <p:spPr>
          <a:xfrm>
            <a:off x="6227762" y="2563812"/>
            <a:ext cx="5197475" cy="657225"/>
          </a:xfrm>
          <a:prstGeom prst="roundRect">
            <a:avLst>
              <a:gd name="adj" fmla="val 18599"/>
            </a:avLst>
          </a:prstGeom>
          <a:noFill/>
          <a:ln w="9525">
            <a:solidFill>
              <a:schemeClr val="bg1">
                <a:alpha val="12000"/>
              </a:scheme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Otázka"/>
          <p:cNvSpPr/>
          <p:nvPr/>
        </p:nvSpPr>
        <p:spPr>
          <a:xfrm>
            <a:off x="6223000" y="3352800"/>
            <a:ext cx="5207000" cy="666750"/>
          </a:xfrm>
          <a:prstGeom prst="roundRect">
            <a:avLst>
              <a:gd name="adj" fmla="val 1904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Ikona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16" name="Text otázky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Co přesně znamená střednědobý horizont?</a:t>
            </a:r>
          </a:p>
        </p:txBody>
      </p:sp>
      <p:sp>
        <p:nvSpPr>
          <p:cNvPr id="17" name="Otázka"/>
          <p:cNvSpPr/>
          <p:nvPr/>
        </p:nvSpPr>
        <p:spPr>
          <a:xfrm>
            <a:off x="6227762" y="3357562"/>
            <a:ext cx="5197475" cy="657225"/>
          </a:xfrm>
          <a:prstGeom prst="roundRect">
            <a:avLst>
              <a:gd name="adj" fmla="val 18599"/>
            </a:avLst>
          </a:prstGeom>
          <a:noFill/>
          <a:ln w="9525">
            <a:solidFill>
              <a:schemeClr val="bg1">
                <a:alpha val="12000"/>
              </a:scheme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Otázka"/>
          <p:cNvSpPr/>
          <p:nvPr/>
        </p:nvSpPr>
        <p:spPr>
          <a:xfrm>
            <a:off x="6223000" y="4146550"/>
            <a:ext cx="5207000" cy="666750"/>
          </a:xfrm>
          <a:prstGeom prst="roundRect">
            <a:avLst>
              <a:gd name="adj" fmla="val 19048"/>
            </a:avLst>
          </a:prstGeom>
          <a:solidFill>
            <a:schemeClr val="bg1">
              <a:alpha val="8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Ikona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rgbClr val="D8FF15"/>
                </a:solidFill>
                <a:latin typeface="Rethink Sans SemiBold"/>
                <a:ea typeface="Rethink Sans SemiBold"/>
                <a:cs typeface="Rethink Sans SemiBold"/>
              </a:rPr>
              <a:t>?</a:t>
            </a:r>
          </a:p>
        </p:txBody>
      </p:sp>
      <p:sp>
        <p:nvSpPr>
          <p:cNvPr id="20" name="Text otázky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Jak rychle se dostanu ke svým penězům?</a:t>
            </a:r>
          </a:p>
        </p:txBody>
      </p:sp>
      <p:sp>
        <p:nvSpPr>
          <p:cNvPr id="21" name="Otázka"/>
          <p:cNvSpPr/>
          <p:nvPr/>
        </p:nvSpPr>
        <p:spPr>
          <a:xfrm>
            <a:off x="6227762" y="4151312"/>
            <a:ext cx="5197475" cy="657225"/>
          </a:xfrm>
          <a:prstGeom prst="roundRect">
            <a:avLst>
              <a:gd name="adj" fmla="val 18599"/>
            </a:avLst>
          </a:prstGeom>
          <a:noFill/>
          <a:ln w="9525">
            <a:solidFill>
              <a:schemeClr val="bg1">
                <a:alpha val="12000"/>
              </a:schemeClr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pněte si a vyhrajte vstupenky na konferen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90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SOUTĚŽ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Tipněte si a vyhrajte vstupenky na konferenci</a:t>
            </a:r>
          </a:p>
        </p:txBody>
      </p:sp>
      <p:pic>
        <p:nvPicPr>
          <p:cNvPr id="5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2641600"/>
            <a:ext cx="254000" cy="254000"/>
          </a:xfrm>
          <a:prstGeom prst="rect">
            <a:avLst/>
          </a:prstGeom>
        </p:spPr>
      </p:pic>
      <p:sp>
        <p:nvSpPr>
          <p:cNvPr id="6" name="Text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Pošlete svůj tip na e-mail soutez@portu.cz</a:t>
            </a:r>
          </a:p>
        </p:txBody>
      </p:sp>
      <p:pic>
        <p:nvPicPr>
          <p:cNvPr id="7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2997200"/>
            <a:ext cx="254000" cy="254000"/>
          </a:xfrm>
          <a:prstGeom prst="rect">
            <a:avLst/>
          </a:prstGeom>
        </p:spPr>
      </p:pic>
      <p:sp>
        <p:nvSpPr>
          <p:cNvPr id="8" name="Text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Nejpozději do 30. 8. 2026</a:t>
            </a:r>
          </a:p>
        </p:txBody>
      </p:sp>
      <p:pic>
        <p:nvPicPr>
          <p:cNvPr id="9" name="Ikona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62000" y="3352800"/>
            <a:ext cx="254000" cy="254000"/>
          </a:xfrm>
          <a:prstGeom prst="rect">
            <a:avLst/>
          </a:prstGeom>
        </p:spPr>
      </p:pic>
      <p:sp>
        <p:nvSpPr>
          <p:cNvPr id="10" name="Text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bg1"/>
                </a:solidFill>
                <a:latin typeface="Rethink Sans"/>
                <a:ea typeface="Rethink Sans"/>
                <a:cs typeface="Rethink Sans"/>
              </a:rPr>
              <a:t>Tři nejbližší tipy vyhrávají</a:t>
            </a:r>
          </a:p>
        </p:txBody>
      </p:sp>
      <p:sp>
        <p:nvSpPr>
          <p:cNvPr id="11" name="Pravidla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Pravidla soutěže najdete na portu.cz/soutez</a:t>
            </a:r>
          </a:p>
        </p:txBody>
      </p:sp>
      <p:sp>
        <p:nvSpPr>
          <p:cNvPr id="12" name="QR kód"/>
          <p:cNvSpPr/>
          <p:nvPr/>
        </p:nvSpPr>
        <p:spPr>
          <a:xfrm>
            <a:off x="8509000" y="1460500"/>
            <a:ext cx="2895600" cy="3543300"/>
          </a:xfrm>
          <a:prstGeom prst="roundRect">
            <a:avLst>
              <a:gd name="adj" fmla="val 7018"/>
            </a:avLst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QR kód (Fill → Image)"/>
          <p:cNvSpPr>
            <a:spLocks noGrp="1"/>
          </p:cNvSpPr>
          <p:nvPr>
            <p:ph type="pic" idx="20"/>
          </p:nvPr>
        </p:nvSpPr>
        <p:spPr>
          <a:xfrm>
            <a:off x="8813800" y="1765300"/>
            <a:ext cx="2286000" cy="2286000"/>
          </a:xfrm>
          <a:prstGeom prst="roundRect">
            <a:avLst>
              <a:gd name="adj" fmla="val 3333"/>
            </a:avLst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opisek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Naskenujte a zapojte se</a:t>
            </a:r>
          </a:p>
        </p:txBody>
      </p:sp>
      <p:sp>
        <p:nvSpPr>
          <p:cNvPr id="15" name="Odkaz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"/>
                <a:ea typeface="Rethink Sans"/>
                <a:cs typeface="Rethink Sans"/>
              </a:rPr>
              <a:t>portu.cz/soutez</a:t>
            </a:r>
          </a:p>
        </p:txBody>
      </p:sp>
      <p:sp>
        <p:nvSpPr>
          <p:cNvPr id="16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bg1">
                    <a:alpha val="55000"/>
                  </a:schemeClr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ěkujeme za pozorno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sah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Autofit/>
          </a:bodyPr>
          <a:lstStyle/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Děkujeme za pozornost</a:t>
            </a:r>
          </a:p>
          <a:p>
            <a:pPr marL="0" indent="0" algn="l">
              <a:lnSpc>
                <a:spcPts val="2100"/>
              </a:lnSpc>
              <a:spcBef>
                <a:spcPts val="581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rPr>
              <a:t>S konkrétní situací se ozvěte, rádi ji s vámi probereme.</a:t>
            </a:r>
          </a:p>
        </p:txBody>
      </p:sp>
      <p:sp>
        <p:nvSpPr>
          <p:cNvPr id="4" name="E-mail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poradenstvi@portu.cz</a:t>
            </a:r>
          </a:p>
        </p:txBody>
      </p:sp>
      <p:sp>
        <p:nvSpPr>
          <p:cNvPr id="5" name="Telefon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+420 222 096 622</a:t>
            </a:r>
          </a:p>
        </p:txBody>
      </p:sp>
      <p:sp>
        <p:nvSpPr>
          <p:cNvPr id="6" name="Web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WEB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portu.cz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ěkujeme za pozorno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sah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0091" rIns="0" bIns="0" rtlCol="0" anchor="t" anchorCtr="0">
            <a:noAutofit/>
          </a:bodyPr>
          <a:lstStyle/>
          <a:p>
            <a: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600" b="0" kern="0" cap="none" spc="-100" dirty="0">
                <a:gradFill rotWithShape="1">
                  <a:gsLst>
                    <a:gs pos="0">
                      <a:schemeClr val="bg1"/>
                    </a:gs>
                    <a:gs pos="100000">
                      <a:srgbClr val="B597FF"/>
                    </a:gs>
                  </a:gsLst>
                  <a:lin ang="0" scaled="0"/>
                </a:gradFill>
                <a:latin typeface="Rethink Sans SemiBold"/>
                <a:ea typeface="Rethink Sans SemiBold"/>
                <a:cs typeface="Rethink Sans SemiBold"/>
              </a:rPr>
              <a:t>Děkujeme za pozornost</a:t>
            </a:r>
          </a:p>
          <a:p>
            <a:pPr marL="0" indent="0" algn="l">
              <a:lnSpc>
                <a:spcPts val="2100"/>
              </a:lnSpc>
              <a:spcBef>
                <a:spcPts val="581"/>
              </a:spcBef>
              <a:spcAft>
                <a:spcPts val="0"/>
              </a:spcAft>
              <a:buNone/>
            </a:pPr>
            <a:r>
              <a:rPr lang="cs-CZ" sz="1500" b="0" kern="0" cap="none" spc="0" dirty="0">
                <a:solidFill>
                  <a:schemeClr val="bg1">
                    <a:alpha val="70000"/>
                  </a:schemeClr>
                </a:solidFill>
                <a:latin typeface="Rethink Sans Medium"/>
                <a:ea typeface="Rethink Sans Medium"/>
                <a:cs typeface="Rethink Sans Medium"/>
              </a:rPr>
              <a:t>S konkrétní situací se ozvěte, rádi ji s vámi probereme.</a:t>
            </a:r>
          </a:p>
        </p:txBody>
      </p:sp>
      <p:sp>
        <p:nvSpPr>
          <p:cNvPr id="4" name="E-mail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poradenstvi@portu.cz</a:t>
            </a:r>
          </a:p>
        </p:txBody>
      </p:sp>
      <p:sp>
        <p:nvSpPr>
          <p:cNvPr id="5" name="Telefon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+420 222 096 622</a:t>
            </a:r>
          </a:p>
        </p:txBody>
      </p:sp>
      <p:sp>
        <p:nvSpPr>
          <p:cNvPr id="6" name="Web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bg1">
                    <a:alpha val="55000"/>
                  </a:schemeClr>
                </a:solidFill>
                <a:latin typeface="Rethink Sans SemiBold"/>
                <a:ea typeface="Rethink Sans SemiBold"/>
                <a:cs typeface="Rethink Sans SemiBold"/>
              </a:rPr>
              <a:t>WEB</a:t>
            </a:r>
          </a:p>
          <a:p>
            <a:pPr marL="0" indent="0" algn="l">
              <a:lnSpc>
                <a:spcPts val="2100"/>
              </a:lnSpc>
              <a:spcBef>
                <a:spcPts val="456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bg1"/>
                </a:solidFill>
                <a:latin typeface="Rethink Sans SemiBold"/>
                <a:ea typeface="Rethink Sans SemiBold"/>
                <a:cs typeface="Rethink Sans SemiBold"/>
              </a:rPr>
              <a:t>portu.cz</a:t>
            </a:r>
          </a:p>
        </p:txBody>
      </p:sp>
      <p:pic>
        <p:nvPicPr>
          <p:cNvPr id="7" name="Kocour (brise)"/>
          <p:cNvPicPr>
            <a:picLocks noGrp="1"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30950" y="3804351"/>
            <a:ext cx="7054850" cy="393559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ěkujeme!  Máte dotazy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KONTAKT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Děkujeme! </a:t>
            </a:r>
          </a:p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Máte dotazy?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Ozvěte se nám – rádi vše probereme osobně.</a:t>
            </a:r>
          </a:p>
        </p:txBody>
      </p:sp>
      <p:sp>
        <p:nvSpPr>
          <p:cNvPr id="6" name="Kontaktní osoba"/>
          <p:cNvSpPr/>
          <p:nvPr/>
        </p:nvSpPr>
        <p:spPr>
          <a:xfrm>
            <a:off x="6864350" y="1536700"/>
            <a:ext cx="2921000" cy="3429000"/>
          </a:xfrm>
          <a:prstGeom prst="roundRect">
            <a:avLst>
              <a:gd name="adj" fmla="val 6957"/>
            </a:avLst>
          </a:prstGeom>
          <a:solidFill>
            <a:srgbClr val="ECEB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Fotka"/>
          <p:cNvSpPr>
            <a:spLocks noGrp="1"/>
          </p:cNvSpPr>
          <p:nvPr>
            <p:ph type="pic" idx="20"/>
          </p:nvPr>
        </p:nvSpPr>
        <p:spPr>
          <a:xfrm>
            <a:off x="7169150" y="1841500"/>
            <a:ext cx="1016000" cy="10160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Jméno a role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Head of Product</a:t>
            </a:r>
          </a:p>
        </p:txBody>
      </p:sp>
      <p:sp>
        <p:nvSpPr>
          <p:cNvPr id="9" name="E-mail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jmeno.prijmeni@portu.cz</a:t>
            </a:r>
          </a:p>
        </p:txBody>
      </p:sp>
      <p:sp>
        <p:nvSpPr>
          <p:cNvPr id="10" name="Telefon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+420 000 000 000</a:t>
            </a:r>
          </a:p>
        </p:txBody>
      </p:sp>
      <p:sp>
        <p:nvSpPr>
          <p:cNvPr id="11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ěkujeme! Máte dotazy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KONTAKT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Děkujeme! Máte dotazy?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Ozvěte se nám – rádi vše probereme osobně.</a:t>
            </a:r>
          </a:p>
        </p:txBody>
      </p:sp>
      <p:sp>
        <p:nvSpPr>
          <p:cNvPr id="6" name="Kontaktní osoba"/>
          <p:cNvSpPr/>
          <p:nvPr/>
        </p:nvSpPr>
        <p:spPr>
          <a:xfrm>
            <a:off x="762000" y="2603500"/>
            <a:ext cx="3454400" cy="2336800"/>
          </a:xfrm>
          <a:prstGeom prst="roundRect">
            <a:avLst>
              <a:gd name="adj" fmla="val 6522"/>
            </a:avLst>
          </a:prstGeom>
          <a:solidFill>
            <a:srgbClr val="ECEB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Fotka"/>
          <p:cNvSpPr>
            <a:spLocks noGrp="1"/>
          </p:cNvSpPr>
          <p:nvPr>
            <p:ph type="pic" idx="20"/>
          </p:nvPr>
        </p:nvSpPr>
        <p:spPr>
          <a:xfrm>
            <a:off x="1066800" y="2908300"/>
            <a:ext cx="609600" cy="6096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Jméno a role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Head of Product</a:t>
            </a:r>
          </a:p>
        </p:txBody>
      </p:sp>
      <p:sp>
        <p:nvSpPr>
          <p:cNvPr id="9" name="E-mail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jmeno.prijmeni@portu.cz</a:t>
            </a:r>
          </a:p>
        </p:txBody>
      </p:sp>
      <p:sp>
        <p:nvSpPr>
          <p:cNvPr id="10" name="Telefon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+420 000 000 000</a:t>
            </a:r>
          </a:p>
        </p:txBody>
      </p:sp>
      <p:sp>
        <p:nvSpPr>
          <p:cNvPr id="11" name="Kontaktní osoba"/>
          <p:cNvSpPr/>
          <p:nvPr/>
        </p:nvSpPr>
        <p:spPr>
          <a:xfrm>
            <a:off x="4368800" y="2603500"/>
            <a:ext cx="3454400" cy="2336800"/>
          </a:xfrm>
          <a:prstGeom prst="roundRect">
            <a:avLst>
              <a:gd name="adj" fmla="val 6522"/>
            </a:avLst>
          </a:prstGeom>
          <a:solidFill>
            <a:srgbClr val="ECEB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Fotka"/>
          <p:cNvSpPr>
            <a:spLocks noGrp="1"/>
          </p:cNvSpPr>
          <p:nvPr>
            <p:ph type="pic" idx="21"/>
          </p:nvPr>
        </p:nvSpPr>
        <p:spPr>
          <a:xfrm>
            <a:off x="4673600" y="2908300"/>
            <a:ext cx="609600" cy="6096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Jméno a role"/>
          <p:cNvSpPr>
            <a:spLocks noGrp="1"/>
          </p:cNvSpPr>
          <p:nvPr>
            <p:ph type="body" idx="10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Investiční konzultant</a:t>
            </a:r>
          </a:p>
        </p:txBody>
      </p:sp>
      <p:sp>
        <p:nvSpPr>
          <p:cNvPr id="14" name="E-mail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jmeno.prijmeni@portu.cz</a:t>
            </a:r>
          </a:p>
        </p:txBody>
      </p:sp>
      <p:sp>
        <p:nvSpPr>
          <p:cNvPr id="15" name="Telefon"/>
          <p:cNvSpPr>
            <a:spLocks noGrp="1"/>
          </p:cNvSpPr>
          <p:nvPr>
            <p:ph type="body" idx="105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+420 000 000 000</a:t>
            </a:r>
          </a:p>
        </p:txBody>
      </p:sp>
      <p:sp>
        <p:nvSpPr>
          <p:cNvPr id="16" name="Kontaktní osoba"/>
          <p:cNvSpPr/>
          <p:nvPr/>
        </p:nvSpPr>
        <p:spPr>
          <a:xfrm>
            <a:off x="7975600" y="2603500"/>
            <a:ext cx="3454400" cy="2336800"/>
          </a:xfrm>
          <a:prstGeom prst="roundRect">
            <a:avLst>
              <a:gd name="adj" fmla="val 6522"/>
            </a:avLst>
          </a:prstGeom>
          <a:solidFill>
            <a:srgbClr val="ECEB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Fotka"/>
          <p:cNvSpPr>
            <a:spLocks noGrp="1"/>
          </p:cNvSpPr>
          <p:nvPr>
            <p:ph type="pic" idx="22"/>
          </p:nvPr>
        </p:nvSpPr>
        <p:spPr>
          <a:xfrm>
            <a:off x="8280400" y="2908300"/>
            <a:ext cx="609600" cy="609600"/>
          </a:xfrm>
          <a:prstGeom prst="roundRect">
            <a:avLst>
              <a:gd name="adj" fmla="val 5000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Jméno a role"/>
          <p:cNvSpPr>
            <a:spLocks noGrp="1"/>
          </p:cNvSpPr>
          <p:nvPr>
            <p:ph type="body" idx="106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7201" rIns="0" bIns="0" rtlCol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700" b="0" kern="0" cap="none" spc="-2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Jméno Příjmení</a:t>
            </a:r>
          </a:p>
          <a:p>
            <a:pPr marL="0" indent="0" algn="l">
              <a:lnSpc>
                <a:spcPts val="1500"/>
              </a:lnSpc>
              <a:spcBef>
                <a:spcPts val="109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Analytik</a:t>
            </a:r>
          </a:p>
        </p:txBody>
      </p:sp>
      <p:sp>
        <p:nvSpPr>
          <p:cNvPr id="19" name="E-mail"/>
          <p:cNvSpPr>
            <a:spLocks noGrp="1"/>
          </p:cNvSpPr>
          <p:nvPr>
            <p:ph type="body" idx="107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E-MAIL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jmeno.prijmeni@portu.cz</a:t>
            </a:r>
          </a:p>
        </p:txBody>
      </p:sp>
      <p:sp>
        <p:nvSpPr>
          <p:cNvPr id="20" name="Telefon"/>
          <p:cNvSpPr>
            <a:spLocks noGrp="1"/>
          </p:cNvSpPr>
          <p:nvPr>
            <p:ph type="body" idx="108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127" rIns="0" bIns="0" rtlCol="0" anchor="t" anchorCtr="0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6"/>
                </a:solidFill>
                <a:latin typeface="Rethink Sans SemiBold"/>
                <a:ea typeface="Rethink Sans SemiBold"/>
                <a:cs typeface="Rethink Sans SemiBold"/>
              </a:rPr>
              <a:t>TELEFON</a:t>
            </a:r>
          </a:p>
          <a:p>
            <a:pPr marL="0" indent="0" algn="l">
              <a:lnSpc>
                <a:spcPts val="19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tx1"/>
                </a:solidFill>
                <a:latin typeface="Rethink Sans"/>
                <a:ea typeface="Rethink Sans"/>
                <a:cs typeface="Rethink Sans"/>
              </a:rPr>
              <a:t>+420 000 000 000</a:t>
            </a:r>
          </a:p>
        </p:txBody>
      </p:sp>
      <p:sp>
        <p:nvSpPr>
          <p:cNvPr id="21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řílo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PŘÍLOHA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56337" rIns="0" bIns="0" rtlCol="0" anchor="t" anchorCtr="0">
            <a:normAutofit/>
          </a:bodyPr>
          <a:lstStyle/>
          <a:p>
            <a:pPr marL="0" indent="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b="0" kern="0" cap="none" spc="-75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Příloha</a:t>
            </a:r>
          </a:p>
        </p:txBody>
      </p:sp>
      <p:sp>
        <p:nvSpPr>
          <p:cNvPr id="5" name="Popis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3170" rtlCol="0" anchor="t" anchorCtr="0">
            <a:norm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3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Doplňující data, podklady a detaily k prezentaci.</a:t>
            </a:r>
          </a:p>
        </p:txBody>
      </p:sp>
      <p:sp>
        <p:nvSpPr>
          <p:cNvPr id="6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ávní upozorně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Štítek"/>
          <p:cNvSpPr>
            <a:spLocks noGrp="1"/>
          </p:cNvSpPr>
          <p:nvPr>
            <p:ph type="subTitle" idx="13"/>
          </p:nvPr>
        </p:nvSpPr>
        <p:spPr>
          <a:prstGeom prst="roundRect">
            <a:avLst>
              <a:gd name="adj" fmla="val 50000"/>
            </a:avLst>
          </a:prstGeom>
          <a:solidFill>
            <a:srgbClr val="ECEBF8"/>
          </a:solidFill>
          <a:ln>
            <a:noFill/>
          </a:ln>
        </p:spPr>
        <p:txBody>
          <a:bodyPr wrap="none" lIns="139700" tIns="22225" rIns="139700" bIns="22225" rtlCol="0" anchor="ctr" anchorCtr="0">
            <a:sp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000" b="0" kern="0" cap="all" spc="75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DŮLEŽITÉ UPOZORNĚNÍ</a:t>
            </a:r>
          </a:p>
        </p:txBody>
      </p:sp>
      <p:sp>
        <p:nvSpPr>
          <p:cNvPr id="4" name="Nadpis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Právní upozornění</a:t>
            </a:r>
          </a:p>
        </p:txBody>
      </p:sp>
      <p:sp>
        <p:nvSpPr>
          <p:cNvPr id="5" name="Text upozornění"/>
          <p:cNvSpPr>
            <a:spLocks noGrp="1"/>
          </p:cNvSpPr>
          <p:nvPr>
            <p:ph type="body" idx="10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Tento materiál připravila společnost WOOD Retail Investments a.s. na základě historických finančních a statistických dat, aniž by provedla jejich nezávislé ověření. Dokument má pouze informativní charakter, nepředstavuje daňové ani právní poradenství a nejde o investiční doporučení ani nabídku k nákupu či prodeji cenných papírů. Rozhodnutí učiněná na základě tohoto dokumentu činí příjemce na vlastní riziko. Dokument a veškeré informace v něm obsažené jsou přísně důvěrné a nesmí být bez předchozího písemného souhlasu WOOD &amp; Co. reprodukovány, kopírovány, zveřejňovány ani jinak šířeny.</a:t>
            </a: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cs-CZ" sz="1100" b="0" kern="0" cap="none" spc="0" dirty="0">
              <a:solidFill>
                <a:schemeClr val="accent6"/>
              </a:solidFill>
              <a:latin typeface="Rethink Sans"/>
              <a:ea typeface="Rethink Sans"/>
              <a:cs typeface="Rethink Sans"/>
            </a:endParaRPr>
          </a:p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Investování je spojeno s rizikem. Hodnota investice může kolísat a není zaručena návratnost původně investované částky. Minulé výnosy nejsou zárukou budoucích výnosů.</a:t>
            </a:r>
          </a:p>
        </p:txBody>
      </p:sp>
      <p:sp>
        <p:nvSpPr>
          <p:cNvPr id="6" name="Copyright"/>
          <p:cNvSpPr>
            <a:spLocks noGrp="1"/>
          </p:cNvSpPr>
          <p:nvPr>
            <p:ph type="body" idx="10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© 2026 WOOD Retail Investments a.s.</a:t>
            </a:r>
          </a:p>
        </p:txBody>
      </p:sp>
      <p:sp>
        <p:nvSpPr>
          <p:cNvPr id="7" name="Patička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rm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Název prezentace  ·  Datum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ocour – varianty podle produk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ocour – varianty podle produk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Kocour – varianty podle produktu</a:t>
            </a:r>
          </a:p>
        </p:txBody>
      </p:sp>
      <p:sp>
        <p:nvSpPr>
          <p:cNvPr id="4" name="Obrázky mají průhledné pozadí."/>
          <p:cNvSpPr txBox="1"/>
          <p:nvPr/>
        </p:nvSpPr>
        <p:spPr>
          <a:xfrm>
            <a:off x="508000" y="840245"/>
            <a:ext cx="1162304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Obrázky mají průhledné pozadí. Zkopírujte je (⌘C / ⌘V) a nechte je klidně přesahovat přes okraj slidu. Vždy volte variantu k tématu.</a:t>
            </a:r>
          </a:p>
        </p:txBody>
      </p:sp>
      <p:sp>
        <p:nvSpPr>
          <p:cNvPr id="5" name="Podklad"/>
          <p:cNvSpPr/>
          <p:nvPr/>
        </p:nvSpPr>
        <p:spPr>
          <a:xfrm>
            <a:off x="508000" y="1651000"/>
            <a:ext cx="2667000" cy="19050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Kocour – lezici"/>
          <p:cNvPicPr>
            <a:picLocks noGrp="1"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00" y="1854608"/>
            <a:ext cx="2413000" cy="1497784"/>
          </a:xfrm>
          <a:prstGeom prst="rect">
            <a:avLst/>
          </a:prstGeom>
        </p:spPr>
      </p:pic>
      <p:sp>
        <p:nvSpPr>
          <p:cNvPr id="7" name="Label"/>
          <p:cNvSpPr txBox="1"/>
          <p:nvPr/>
        </p:nvSpPr>
        <p:spPr>
          <a:xfrm>
            <a:off x="508000" y="3627895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Ležící s telefonem</a:t>
            </a:r>
          </a:p>
        </p:txBody>
      </p:sp>
      <p:sp>
        <p:nvSpPr>
          <p:cNvPr id="8" name="obecné, aplikace"/>
          <p:cNvSpPr txBox="1"/>
          <p:nvPr/>
        </p:nvSpPr>
        <p:spPr>
          <a:xfrm>
            <a:off x="508000" y="3825342"/>
            <a:ext cx="7937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obecné, aplikace</a:t>
            </a:r>
          </a:p>
        </p:txBody>
      </p:sp>
      <p:sp>
        <p:nvSpPr>
          <p:cNvPr id="9" name="Podklad"/>
          <p:cNvSpPr/>
          <p:nvPr/>
        </p:nvSpPr>
        <p:spPr>
          <a:xfrm>
            <a:off x="3302000" y="1651000"/>
            <a:ext cx="2667000" cy="19050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" name="Kocour – stojici"/>
          <p:cNvPicPr>
            <a:picLocks noGrp="1"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83594" y="1778000"/>
            <a:ext cx="1103811" cy="1651000"/>
          </a:xfrm>
          <a:prstGeom prst="rect">
            <a:avLst/>
          </a:prstGeom>
        </p:spPr>
      </p:pic>
      <p:sp>
        <p:nvSpPr>
          <p:cNvPr id="11" name="Label"/>
          <p:cNvSpPr txBox="1"/>
          <p:nvPr/>
        </p:nvSpPr>
        <p:spPr>
          <a:xfrm>
            <a:off x="3302000" y="362789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Stojící s telefonem</a:t>
            </a:r>
          </a:p>
        </p:txBody>
      </p:sp>
      <p:sp>
        <p:nvSpPr>
          <p:cNvPr id="12" name="titulní slidy, výzva k akci"/>
          <p:cNvSpPr txBox="1"/>
          <p:nvPr/>
        </p:nvSpPr>
        <p:spPr>
          <a:xfrm>
            <a:off x="3302000" y="3825342"/>
            <a:ext cx="1104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titulní slidy, výzva k akci</a:t>
            </a:r>
          </a:p>
        </p:txBody>
      </p:sp>
      <p:sp>
        <p:nvSpPr>
          <p:cNvPr id="13" name="Podklad"/>
          <p:cNvSpPr/>
          <p:nvPr/>
        </p:nvSpPr>
        <p:spPr>
          <a:xfrm>
            <a:off x="6096000" y="1651000"/>
            <a:ext cx="2667000" cy="19050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Kocour – kreslo"/>
          <p:cNvPicPr>
            <a:picLocks noGrp="1"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86195" y="1924050"/>
            <a:ext cx="2286611" cy="1358900"/>
          </a:xfrm>
          <a:prstGeom prst="rect">
            <a:avLst/>
          </a:prstGeom>
        </p:spPr>
      </p:pic>
      <p:sp>
        <p:nvSpPr>
          <p:cNvPr id="15" name="Label"/>
          <p:cNvSpPr txBox="1"/>
          <p:nvPr/>
        </p:nvSpPr>
        <p:spPr>
          <a:xfrm>
            <a:off x="6096000" y="3627895"/>
            <a:ext cx="12001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Rodina na sedačce</a:t>
            </a:r>
          </a:p>
        </p:txBody>
      </p:sp>
      <p:sp>
        <p:nvSpPr>
          <p:cNvPr id="16" name="hero, „Investuj. Nestresuj.“"/>
          <p:cNvSpPr txBox="1"/>
          <p:nvPr/>
        </p:nvSpPr>
        <p:spPr>
          <a:xfrm>
            <a:off x="6096000" y="3825342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dětský účet</a:t>
            </a:r>
          </a:p>
        </p:txBody>
      </p:sp>
      <p:sp>
        <p:nvSpPr>
          <p:cNvPr id="17" name="Podklad"/>
          <p:cNvSpPr/>
          <p:nvPr/>
        </p:nvSpPr>
        <p:spPr>
          <a:xfrm>
            <a:off x="8890000" y="1651000"/>
            <a:ext cx="2667000" cy="19050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8" name="Kocour – dip"/>
          <p:cNvPicPr>
            <a:picLocks noGrp="1"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304089" y="1778000"/>
            <a:ext cx="1838823" cy="1651000"/>
          </a:xfrm>
          <a:prstGeom prst="rect">
            <a:avLst/>
          </a:prstGeom>
        </p:spPr>
      </p:pic>
      <p:sp>
        <p:nvSpPr>
          <p:cNvPr id="19" name="Label"/>
          <p:cNvSpPr txBox="1"/>
          <p:nvPr/>
        </p:nvSpPr>
        <p:spPr>
          <a:xfrm>
            <a:off x="8890000" y="3627895"/>
            <a:ext cx="1282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 křesle s telefonem</a:t>
            </a:r>
          </a:p>
        </p:txBody>
      </p:sp>
      <p:sp>
        <p:nvSpPr>
          <p:cNvPr id="20" name="DIP"/>
          <p:cNvSpPr txBox="1"/>
          <p:nvPr/>
        </p:nvSpPr>
        <p:spPr>
          <a:xfrm>
            <a:off x="8890000" y="3825342"/>
            <a:ext cx="1587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DIP</a:t>
            </a:r>
          </a:p>
        </p:txBody>
      </p:sp>
      <p:sp>
        <p:nvSpPr>
          <p:cNvPr id="21" name="Podklad"/>
          <p:cNvSpPr/>
          <p:nvPr/>
        </p:nvSpPr>
        <p:spPr>
          <a:xfrm>
            <a:off x="508000" y="4127500"/>
            <a:ext cx="2667000" cy="19050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2" name="Kocour – mladi"/>
          <p:cNvPicPr>
            <a:picLocks noGrp="1"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35000" y="4400913"/>
            <a:ext cx="2413000" cy="1358174"/>
          </a:xfrm>
          <a:prstGeom prst="rect">
            <a:avLst/>
          </a:prstGeom>
        </p:spPr>
      </p:pic>
      <p:sp>
        <p:nvSpPr>
          <p:cNvPr id="23" name="Label"/>
          <p:cNvSpPr txBox="1"/>
          <p:nvPr/>
        </p:nvSpPr>
        <p:spPr>
          <a:xfrm>
            <a:off x="508000" y="6104395"/>
            <a:ext cx="6223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Za stolem</a:t>
            </a:r>
          </a:p>
        </p:txBody>
      </p:sp>
      <p:sp>
        <p:nvSpPr>
          <p:cNvPr id="24" name="Portu &lt;26, mladí"/>
          <p:cNvSpPr txBox="1"/>
          <p:nvPr/>
        </p:nvSpPr>
        <p:spPr>
          <a:xfrm>
            <a:off x="508000" y="6301842"/>
            <a:ext cx="7683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Portu &lt;26, mladí</a:t>
            </a:r>
          </a:p>
        </p:txBody>
      </p:sp>
      <p:sp>
        <p:nvSpPr>
          <p:cNvPr id="25" name="Podklad"/>
          <p:cNvSpPr/>
          <p:nvPr/>
        </p:nvSpPr>
        <p:spPr>
          <a:xfrm>
            <a:off x="3302000" y="4127500"/>
            <a:ext cx="2667000" cy="19050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6" name="Kocour – realitni"/>
          <p:cNvPicPr>
            <a:picLocks noGrp="1"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429000" y="4385401"/>
            <a:ext cx="2413000" cy="1389199"/>
          </a:xfrm>
          <a:prstGeom prst="rect">
            <a:avLst/>
          </a:prstGeom>
        </p:spPr>
      </p:pic>
      <p:sp>
        <p:nvSpPr>
          <p:cNvPr id="27" name="Label"/>
          <p:cNvSpPr txBox="1"/>
          <p:nvPr/>
        </p:nvSpPr>
        <p:spPr>
          <a:xfrm>
            <a:off x="3302000" y="6104395"/>
            <a:ext cx="13081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V síti mezi budovami</a:t>
            </a:r>
          </a:p>
        </p:txBody>
      </p:sp>
      <p:sp>
        <p:nvSpPr>
          <p:cNvPr id="28" name="realitní fond"/>
          <p:cNvSpPr txBox="1"/>
          <p:nvPr/>
        </p:nvSpPr>
        <p:spPr>
          <a:xfrm>
            <a:off x="3302000" y="6301842"/>
            <a:ext cx="5651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realitní fond</a:t>
            </a:r>
          </a:p>
        </p:txBody>
      </p:sp>
      <p:sp>
        <p:nvSpPr>
          <p:cNvPr id="29" name="Podklad"/>
          <p:cNvSpPr/>
          <p:nvPr/>
        </p:nvSpPr>
        <p:spPr>
          <a:xfrm>
            <a:off x="6096000" y="4127500"/>
            <a:ext cx="2667000" cy="19050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0" name="Kocour – appka"/>
          <p:cNvPicPr>
            <a:picLocks noGrp="1"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223705" y="4381500"/>
            <a:ext cx="2411591" cy="1397000"/>
          </a:xfrm>
          <a:prstGeom prst="rect">
            <a:avLst/>
          </a:prstGeom>
        </p:spPr>
      </p:pic>
      <p:sp>
        <p:nvSpPr>
          <p:cNvPr id="31" name="Label"/>
          <p:cNvSpPr txBox="1"/>
          <p:nvPr/>
        </p:nvSpPr>
        <p:spPr>
          <a:xfrm>
            <a:off x="6096000" y="6104395"/>
            <a:ext cx="730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 telefonu</a:t>
            </a:r>
          </a:p>
        </p:txBody>
      </p:sp>
      <p:sp>
        <p:nvSpPr>
          <p:cNvPr id="32" name="mobilní aplikace"/>
          <p:cNvSpPr txBox="1"/>
          <p:nvPr/>
        </p:nvSpPr>
        <p:spPr>
          <a:xfrm>
            <a:off x="6096000" y="6301842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mobilní aplikace</a:t>
            </a:r>
          </a:p>
        </p:txBody>
      </p:sp>
      <p:sp>
        <p:nvSpPr>
          <p:cNvPr id="33" name="Podklad"/>
          <p:cNvSpPr/>
          <p:nvPr/>
        </p:nvSpPr>
        <p:spPr>
          <a:xfrm>
            <a:off x="8890000" y="4127500"/>
            <a:ext cx="2667000" cy="19050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4" name="Kocour – brise"/>
          <p:cNvPicPr>
            <a:picLocks noGrp="1"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017000" y="4406945"/>
            <a:ext cx="2413000" cy="1346109"/>
          </a:xfrm>
          <a:prstGeom prst="rect">
            <a:avLst/>
          </a:prstGeom>
        </p:spPr>
      </p:pic>
      <p:sp>
        <p:nvSpPr>
          <p:cNvPr id="35" name="Label"/>
          <p:cNvSpPr txBox="1"/>
          <p:nvPr/>
        </p:nvSpPr>
        <p:spPr>
          <a:xfrm>
            <a:off x="8890000" y="6104395"/>
            <a:ext cx="5270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4305" rtlCol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tx1"/>
                </a:solidFill>
                <a:latin typeface="Rethink Sans SemiBold"/>
                <a:ea typeface="Rethink Sans SemiBold"/>
                <a:cs typeface="Rethink Sans SemiBold"/>
              </a:rPr>
              <a:t>Na břiše</a:t>
            </a:r>
          </a:p>
        </p:txBody>
      </p:sp>
      <p:sp>
        <p:nvSpPr>
          <p:cNvPr id="36" name="hlavní sdělení, poděkování"/>
          <p:cNvSpPr txBox="1"/>
          <p:nvPr/>
        </p:nvSpPr>
        <p:spPr>
          <a:xfrm>
            <a:off x="8890000" y="6301842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10058" rtlCol="0" anchor="t" anchorCtr="0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hlavní sdělení, poděkování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duktové iko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ocour – varianty podle produk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Produktové ikony</a:t>
            </a:r>
          </a:p>
        </p:txBody>
      </p:sp>
      <p:sp>
        <p:nvSpPr>
          <p:cNvPr id="4" name="Obrázky mají průhledné pozadí."/>
          <p:cNvSpPr txBox="1"/>
          <p:nvPr/>
        </p:nvSpPr>
        <p:spPr>
          <a:xfrm>
            <a:off x="508000" y="840245"/>
            <a:ext cx="1162304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Ikony jsou vektorové (SVG). Zkopírujte je (⌘C / ⌘V) do svého slidu; barvu změníte ve Formátu grafiky → Výplň, případně je nejdřív převeďte na tvar.</a:t>
            </a:r>
          </a:p>
        </p:txBody>
      </p:sp>
      <p:pic>
        <p:nvPicPr>
          <p:cNvPr id="5" name="Ikona – portu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219200" y="1905000"/>
            <a:ext cx="609600" cy="609600"/>
          </a:xfrm>
          <a:prstGeom prst="rect">
            <a:avLst/>
          </a:prstGeom>
        </p:spPr>
      </p:pic>
      <p:sp>
        <p:nvSpPr>
          <p:cNvPr id="6" name="Popisek"/>
          <p:cNvSpPr txBox="1"/>
          <p:nvPr/>
        </p:nvSpPr>
        <p:spPr>
          <a:xfrm>
            <a:off x="731520" y="2568042"/>
            <a:ext cx="15849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portu</a:t>
            </a:r>
          </a:p>
        </p:txBody>
      </p:sp>
      <p:pic>
        <p:nvPicPr>
          <p:cNvPr id="7" name="Ikona – boxes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2743200" y="1905000"/>
            <a:ext cx="609600" cy="609600"/>
          </a:xfrm>
          <a:prstGeom prst="rect">
            <a:avLst/>
          </a:prstGeom>
        </p:spPr>
      </p:pic>
      <p:sp>
        <p:nvSpPr>
          <p:cNvPr id="8" name="Popisek"/>
          <p:cNvSpPr txBox="1"/>
          <p:nvPr/>
        </p:nvSpPr>
        <p:spPr>
          <a:xfrm>
            <a:off x="2255520" y="2568042"/>
            <a:ext cx="15849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boxes</a:t>
            </a:r>
          </a:p>
        </p:txBody>
      </p:sp>
      <p:pic>
        <p:nvPicPr>
          <p:cNvPr id="9" name="Ikona – hous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4267200" y="1905000"/>
            <a:ext cx="609600" cy="609600"/>
          </a:xfrm>
          <a:prstGeom prst="rect">
            <a:avLst/>
          </a:prstGeom>
        </p:spPr>
      </p:pic>
      <p:sp>
        <p:nvSpPr>
          <p:cNvPr id="10" name="Popisek"/>
          <p:cNvSpPr txBox="1"/>
          <p:nvPr/>
        </p:nvSpPr>
        <p:spPr>
          <a:xfrm>
            <a:off x="3779520" y="2568042"/>
            <a:ext cx="15849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house</a:t>
            </a:r>
          </a:p>
        </p:txBody>
      </p:sp>
      <p:pic>
        <p:nvPicPr>
          <p:cNvPr id="11" name="Ikona – pig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5791200" y="1905000"/>
            <a:ext cx="609600" cy="609600"/>
          </a:xfrm>
          <a:prstGeom prst="rect">
            <a:avLst/>
          </a:prstGeom>
        </p:spPr>
      </p:pic>
      <p:sp>
        <p:nvSpPr>
          <p:cNvPr id="12" name="Popisek"/>
          <p:cNvSpPr txBox="1"/>
          <p:nvPr/>
        </p:nvSpPr>
        <p:spPr>
          <a:xfrm>
            <a:off x="5303520" y="2568042"/>
            <a:ext cx="15849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pig</a:t>
            </a:r>
          </a:p>
        </p:txBody>
      </p:sp>
      <p:pic>
        <p:nvPicPr>
          <p:cNvPr id="13" name="Ikona – rocket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315200" y="1905000"/>
            <a:ext cx="609600" cy="609600"/>
          </a:xfrm>
          <a:prstGeom prst="rect">
            <a:avLst/>
          </a:prstGeom>
        </p:spPr>
      </p:pic>
      <p:sp>
        <p:nvSpPr>
          <p:cNvPr id="14" name="Popisek"/>
          <p:cNvSpPr txBox="1"/>
          <p:nvPr/>
        </p:nvSpPr>
        <p:spPr>
          <a:xfrm>
            <a:off x="6827520" y="2568042"/>
            <a:ext cx="15849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rocket</a:t>
            </a:r>
          </a:p>
        </p:txBody>
      </p:sp>
      <p:pic>
        <p:nvPicPr>
          <p:cNvPr id="15" name="Ikona – chair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839200" y="1905000"/>
            <a:ext cx="609600" cy="609600"/>
          </a:xfrm>
          <a:prstGeom prst="rect">
            <a:avLst/>
          </a:prstGeom>
        </p:spPr>
      </p:pic>
      <p:sp>
        <p:nvSpPr>
          <p:cNvPr id="16" name="Popisek"/>
          <p:cNvSpPr txBox="1"/>
          <p:nvPr/>
        </p:nvSpPr>
        <p:spPr>
          <a:xfrm>
            <a:off x="8351520" y="2568042"/>
            <a:ext cx="15849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chair</a:t>
            </a:r>
          </a:p>
        </p:txBody>
      </p:sp>
      <p:pic>
        <p:nvPicPr>
          <p:cNvPr id="17" name="Ikona – puzzl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0363200" y="1905000"/>
            <a:ext cx="609600" cy="609600"/>
          </a:xfrm>
          <a:prstGeom prst="rect">
            <a:avLst/>
          </a:prstGeom>
        </p:spPr>
      </p:pic>
      <p:sp>
        <p:nvSpPr>
          <p:cNvPr id="18" name="Popisek"/>
          <p:cNvSpPr txBox="1"/>
          <p:nvPr/>
        </p:nvSpPr>
        <p:spPr>
          <a:xfrm>
            <a:off x="9875520" y="2568042"/>
            <a:ext cx="15849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puzzle</a:t>
            </a:r>
          </a:p>
        </p:txBody>
      </p:sp>
      <p:pic>
        <p:nvPicPr>
          <p:cNvPr id="19" name="Ikona – graph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1219200" y="3175000"/>
            <a:ext cx="609600" cy="609600"/>
          </a:xfrm>
          <a:prstGeom prst="rect">
            <a:avLst/>
          </a:prstGeom>
        </p:spPr>
      </p:pic>
      <p:sp>
        <p:nvSpPr>
          <p:cNvPr id="20" name="Popisek"/>
          <p:cNvSpPr txBox="1"/>
          <p:nvPr/>
        </p:nvSpPr>
        <p:spPr>
          <a:xfrm>
            <a:off x="731520" y="3838042"/>
            <a:ext cx="15849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graph</a:t>
            </a:r>
          </a:p>
        </p:txBody>
      </p:sp>
      <p:pic>
        <p:nvPicPr>
          <p:cNvPr id="21" name="Ikona – files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2743200" y="3175000"/>
            <a:ext cx="609600" cy="609600"/>
          </a:xfrm>
          <a:prstGeom prst="rect">
            <a:avLst/>
          </a:prstGeom>
        </p:spPr>
      </p:pic>
      <p:sp>
        <p:nvSpPr>
          <p:cNvPr id="22" name="Popisek"/>
          <p:cNvSpPr txBox="1"/>
          <p:nvPr/>
        </p:nvSpPr>
        <p:spPr>
          <a:xfrm>
            <a:off x="2255520" y="3838042"/>
            <a:ext cx="15849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files</a:t>
            </a:r>
          </a:p>
        </p:txBody>
      </p:sp>
      <p:pic>
        <p:nvPicPr>
          <p:cNvPr id="23" name="Ikona – suitcas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4267200" y="3175000"/>
            <a:ext cx="609600" cy="609600"/>
          </a:xfrm>
          <a:prstGeom prst="rect">
            <a:avLst/>
          </a:prstGeom>
        </p:spPr>
      </p:pic>
      <p:sp>
        <p:nvSpPr>
          <p:cNvPr id="24" name="Popisek"/>
          <p:cNvSpPr txBox="1"/>
          <p:nvPr/>
        </p:nvSpPr>
        <p:spPr>
          <a:xfrm>
            <a:off x="3779520" y="3838042"/>
            <a:ext cx="15849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suitcase</a:t>
            </a:r>
          </a:p>
        </p:txBody>
      </p:sp>
      <p:pic>
        <p:nvPicPr>
          <p:cNvPr id="25" name="Ikona – wallet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5791200" y="3175000"/>
            <a:ext cx="609600" cy="609600"/>
          </a:xfrm>
          <a:prstGeom prst="rect">
            <a:avLst/>
          </a:prstGeom>
        </p:spPr>
      </p:pic>
      <p:sp>
        <p:nvSpPr>
          <p:cNvPr id="26" name="Popisek"/>
          <p:cNvSpPr txBox="1"/>
          <p:nvPr/>
        </p:nvSpPr>
        <p:spPr>
          <a:xfrm>
            <a:off x="5303520" y="3838042"/>
            <a:ext cx="15849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wallet</a:t>
            </a:r>
          </a:p>
        </p:txBody>
      </p:sp>
      <p:pic>
        <p:nvPicPr>
          <p:cNvPr id="27" name="Ikona – classic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7315200" y="3175000"/>
            <a:ext cx="609600" cy="609600"/>
          </a:xfrm>
          <a:prstGeom prst="rect">
            <a:avLst/>
          </a:prstGeom>
        </p:spPr>
      </p:pic>
      <p:sp>
        <p:nvSpPr>
          <p:cNvPr id="28" name="Popisek"/>
          <p:cNvSpPr txBox="1"/>
          <p:nvPr/>
        </p:nvSpPr>
        <p:spPr>
          <a:xfrm>
            <a:off x="6827520" y="3838042"/>
            <a:ext cx="15849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classic</a:t>
            </a:r>
          </a:p>
        </p:txBody>
      </p:sp>
      <p:pic>
        <p:nvPicPr>
          <p:cNvPr id="29" name="Ikona – chart-candle 1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8839200" y="3175000"/>
            <a:ext cx="609600" cy="609600"/>
          </a:xfrm>
          <a:prstGeom prst="rect">
            <a:avLst/>
          </a:prstGeom>
        </p:spPr>
      </p:pic>
      <p:sp>
        <p:nvSpPr>
          <p:cNvPr id="30" name="Popisek"/>
          <p:cNvSpPr txBox="1"/>
          <p:nvPr/>
        </p:nvSpPr>
        <p:spPr>
          <a:xfrm>
            <a:off x="8351520" y="3838042"/>
            <a:ext cx="158496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chart-candle 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kony rozhra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ocour – varianty podle produk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wrap="none" lIns="0" tIns="30810" rIns="0" bIns="0" rtlCol="0" anchor="t" anchorCtr="0">
            <a:normAutofit/>
          </a:bodyPr>
          <a:lstStyle/>
          <a:p>
            <a:pPr marL="0" indent="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600" b="0" kern="0" cap="none" spc="-50" dirty="0">
                <a:solidFill>
                  <a:schemeClr val="accent2"/>
                </a:solidFill>
                <a:latin typeface="Rethink Sans SemiBold"/>
                <a:ea typeface="Rethink Sans SemiBold"/>
                <a:cs typeface="Rethink Sans SemiBold"/>
              </a:rPr>
              <a:t>Ikony rozhraní</a:t>
            </a:r>
          </a:p>
        </p:txBody>
      </p:sp>
      <p:sp>
        <p:nvSpPr>
          <p:cNvPr id="4" name="Obrázky mají průhledné pozadí."/>
          <p:cNvSpPr txBox="1"/>
          <p:nvPr/>
        </p:nvSpPr>
        <p:spPr>
          <a:xfrm>
            <a:off x="508000" y="840245"/>
            <a:ext cx="1162304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655" rtlCol="0" anchor="t" anchorCtr="0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11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Ikony jsou vektorové (SVG). Zkopírujte je (⌘C / ⌘V) do svého slidu; barvu změníte ve Formátu grafiky → Výplň, případně je nejdřív převeďte na tvar.</a:t>
            </a:r>
          </a:p>
        </p:txBody>
      </p:sp>
      <p:pic>
        <p:nvPicPr>
          <p:cNvPr id="5" name="Ikona – CZ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016000" y="1714500"/>
            <a:ext cx="254000" cy="254000"/>
          </a:xfrm>
          <a:prstGeom prst="rect">
            <a:avLst/>
          </a:prstGeom>
        </p:spPr>
      </p:pic>
      <p:sp>
        <p:nvSpPr>
          <p:cNvPr id="6" name="Popisek"/>
          <p:cNvSpPr txBox="1"/>
          <p:nvPr/>
        </p:nvSpPr>
        <p:spPr>
          <a:xfrm>
            <a:off x="746760" y="2021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CZ</a:t>
            </a:r>
          </a:p>
        </p:txBody>
      </p:sp>
      <p:pic>
        <p:nvPicPr>
          <p:cNvPr id="7" name="Ikona – SK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778000" y="1714500"/>
            <a:ext cx="254000" cy="254000"/>
          </a:xfrm>
          <a:prstGeom prst="rect">
            <a:avLst/>
          </a:prstGeom>
        </p:spPr>
      </p:pic>
      <p:sp>
        <p:nvSpPr>
          <p:cNvPr id="8" name="Popisek"/>
          <p:cNvSpPr txBox="1"/>
          <p:nvPr/>
        </p:nvSpPr>
        <p:spPr>
          <a:xfrm>
            <a:off x="1508760" y="2021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SK</a:t>
            </a:r>
          </a:p>
        </p:txBody>
      </p:sp>
      <p:pic>
        <p:nvPicPr>
          <p:cNvPr id="9" name="Ikona – PL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2540000" y="1714500"/>
            <a:ext cx="254000" cy="254000"/>
          </a:xfrm>
          <a:prstGeom prst="rect">
            <a:avLst/>
          </a:prstGeom>
        </p:spPr>
      </p:pic>
      <p:sp>
        <p:nvSpPr>
          <p:cNvPr id="10" name="Popisek"/>
          <p:cNvSpPr txBox="1"/>
          <p:nvPr/>
        </p:nvSpPr>
        <p:spPr>
          <a:xfrm>
            <a:off x="2270760" y="2021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PL</a:t>
            </a:r>
          </a:p>
        </p:txBody>
      </p:sp>
      <p:pic>
        <p:nvPicPr>
          <p:cNvPr id="11" name="Ikona – Cub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3302000" y="1714500"/>
            <a:ext cx="254000" cy="254000"/>
          </a:xfrm>
          <a:prstGeom prst="rect">
            <a:avLst/>
          </a:prstGeom>
        </p:spPr>
      </p:pic>
      <p:sp>
        <p:nvSpPr>
          <p:cNvPr id="12" name="Popisek"/>
          <p:cNvSpPr txBox="1"/>
          <p:nvPr/>
        </p:nvSpPr>
        <p:spPr>
          <a:xfrm>
            <a:off x="3032760" y="2021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Cube</a:t>
            </a:r>
          </a:p>
        </p:txBody>
      </p:sp>
      <p:pic>
        <p:nvPicPr>
          <p:cNvPr id="13" name="Ikona – facebook-2 1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4064000" y="1714500"/>
            <a:ext cx="254000" cy="254000"/>
          </a:xfrm>
          <a:prstGeom prst="rect">
            <a:avLst/>
          </a:prstGeom>
        </p:spPr>
      </p:pic>
      <p:sp>
        <p:nvSpPr>
          <p:cNvPr id="14" name="Popisek"/>
          <p:cNvSpPr txBox="1"/>
          <p:nvPr/>
        </p:nvSpPr>
        <p:spPr>
          <a:xfrm>
            <a:off x="3794760" y="2021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facebook-2 1</a:t>
            </a:r>
          </a:p>
        </p:txBody>
      </p:sp>
      <p:pic>
        <p:nvPicPr>
          <p:cNvPr id="15" name="Ikona – LinkedIn 1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4826000" y="1714500"/>
            <a:ext cx="254000" cy="254000"/>
          </a:xfrm>
          <a:prstGeom prst="rect">
            <a:avLst/>
          </a:prstGeom>
        </p:spPr>
      </p:pic>
      <p:sp>
        <p:nvSpPr>
          <p:cNvPr id="16" name="Popisek"/>
          <p:cNvSpPr txBox="1"/>
          <p:nvPr/>
        </p:nvSpPr>
        <p:spPr>
          <a:xfrm>
            <a:off x="4556760" y="2021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LinkedIn 1</a:t>
            </a:r>
          </a:p>
        </p:txBody>
      </p:sp>
      <p:pic>
        <p:nvPicPr>
          <p:cNvPr id="17" name="Ikona – Instagram 1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588000" y="1714500"/>
            <a:ext cx="254000" cy="254000"/>
          </a:xfrm>
          <a:prstGeom prst="rect">
            <a:avLst/>
          </a:prstGeom>
        </p:spPr>
      </p:pic>
      <p:sp>
        <p:nvSpPr>
          <p:cNvPr id="18" name="Popisek"/>
          <p:cNvSpPr txBox="1"/>
          <p:nvPr/>
        </p:nvSpPr>
        <p:spPr>
          <a:xfrm>
            <a:off x="5318760" y="2021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Instagram 1</a:t>
            </a:r>
          </a:p>
        </p:txBody>
      </p:sp>
      <p:pic>
        <p:nvPicPr>
          <p:cNvPr id="19" name="Ikona – YouTube 1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6350000" y="1714500"/>
            <a:ext cx="254000" cy="254000"/>
          </a:xfrm>
          <a:prstGeom prst="rect">
            <a:avLst/>
          </a:prstGeom>
        </p:spPr>
      </p:pic>
      <p:sp>
        <p:nvSpPr>
          <p:cNvPr id="20" name="Popisek"/>
          <p:cNvSpPr txBox="1"/>
          <p:nvPr/>
        </p:nvSpPr>
        <p:spPr>
          <a:xfrm>
            <a:off x="6080760" y="2021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YouTube 1</a:t>
            </a:r>
          </a:p>
        </p:txBody>
      </p:sp>
      <p:pic>
        <p:nvPicPr>
          <p:cNvPr id="21" name="Ikona – Spotify 1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7112000" y="1714500"/>
            <a:ext cx="254000" cy="254000"/>
          </a:xfrm>
          <a:prstGeom prst="rect">
            <a:avLst/>
          </a:prstGeom>
        </p:spPr>
      </p:pic>
      <p:sp>
        <p:nvSpPr>
          <p:cNvPr id="22" name="Popisek"/>
          <p:cNvSpPr txBox="1"/>
          <p:nvPr/>
        </p:nvSpPr>
        <p:spPr>
          <a:xfrm>
            <a:off x="6842760" y="2021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Spotify 1</a:t>
            </a:r>
          </a:p>
        </p:txBody>
      </p:sp>
      <p:pic>
        <p:nvPicPr>
          <p:cNvPr id="23" name="Ikona – star fill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7874000" y="1714500"/>
            <a:ext cx="254000" cy="254000"/>
          </a:xfrm>
          <a:prstGeom prst="rect">
            <a:avLst/>
          </a:prstGeom>
        </p:spPr>
      </p:pic>
      <p:sp>
        <p:nvSpPr>
          <p:cNvPr id="24" name="Popisek"/>
          <p:cNvSpPr txBox="1"/>
          <p:nvPr/>
        </p:nvSpPr>
        <p:spPr>
          <a:xfrm>
            <a:off x="7604760" y="2021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star fill</a:t>
            </a:r>
          </a:p>
        </p:txBody>
      </p:sp>
      <p:pic>
        <p:nvPicPr>
          <p:cNvPr id="25" name="Ikona – arrow fill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8636000" y="1714500"/>
            <a:ext cx="254000" cy="254000"/>
          </a:xfrm>
          <a:prstGeom prst="rect">
            <a:avLst/>
          </a:prstGeom>
        </p:spPr>
      </p:pic>
      <p:sp>
        <p:nvSpPr>
          <p:cNvPr id="26" name="Popisek"/>
          <p:cNvSpPr txBox="1"/>
          <p:nvPr/>
        </p:nvSpPr>
        <p:spPr>
          <a:xfrm>
            <a:off x="8366760" y="2021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arrow fill</a:t>
            </a:r>
          </a:p>
        </p:txBody>
      </p:sp>
      <p:pic>
        <p:nvPicPr>
          <p:cNvPr id="27" name="Ikona – chevron-down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9398000" y="1714500"/>
            <a:ext cx="254000" cy="254000"/>
          </a:xfrm>
          <a:prstGeom prst="rect">
            <a:avLst/>
          </a:prstGeom>
        </p:spPr>
      </p:pic>
      <p:sp>
        <p:nvSpPr>
          <p:cNvPr id="28" name="Popisek"/>
          <p:cNvSpPr txBox="1"/>
          <p:nvPr/>
        </p:nvSpPr>
        <p:spPr>
          <a:xfrm>
            <a:off x="9128760" y="2021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chevron-down</a:t>
            </a:r>
          </a:p>
        </p:txBody>
      </p:sp>
      <p:pic>
        <p:nvPicPr>
          <p:cNvPr id="29" name="Ikona – chevron-up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10160000" y="1714500"/>
            <a:ext cx="254000" cy="254000"/>
          </a:xfrm>
          <a:prstGeom prst="rect">
            <a:avLst/>
          </a:prstGeom>
        </p:spPr>
      </p:pic>
      <p:sp>
        <p:nvSpPr>
          <p:cNvPr id="30" name="Popisek"/>
          <p:cNvSpPr txBox="1"/>
          <p:nvPr/>
        </p:nvSpPr>
        <p:spPr>
          <a:xfrm>
            <a:off x="9890760" y="2021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chevron-up</a:t>
            </a:r>
          </a:p>
        </p:txBody>
      </p:sp>
      <p:pic>
        <p:nvPicPr>
          <p:cNvPr id="31" name="Ikona – chevron-left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0922000" y="1714500"/>
            <a:ext cx="254000" cy="254000"/>
          </a:xfrm>
          <a:prstGeom prst="rect">
            <a:avLst/>
          </a:prstGeom>
        </p:spPr>
      </p:pic>
      <p:sp>
        <p:nvSpPr>
          <p:cNvPr id="32" name="Popisek"/>
          <p:cNvSpPr txBox="1"/>
          <p:nvPr/>
        </p:nvSpPr>
        <p:spPr>
          <a:xfrm>
            <a:off x="10652760" y="2021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chevron-left</a:t>
            </a:r>
          </a:p>
        </p:txBody>
      </p:sp>
      <p:pic>
        <p:nvPicPr>
          <p:cNvPr id="33" name="Ikona – chevron-right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016000" y="2425700"/>
            <a:ext cx="254000" cy="254000"/>
          </a:xfrm>
          <a:prstGeom prst="rect">
            <a:avLst/>
          </a:prstGeom>
        </p:spPr>
      </p:pic>
      <p:sp>
        <p:nvSpPr>
          <p:cNvPr id="34" name="Popisek"/>
          <p:cNvSpPr txBox="1"/>
          <p:nvPr/>
        </p:nvSpPr>
        <p:spPr>
          <a:xfrm>
            <a:off x="746760" y="27331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chevron-right</a:t>
            </a:r>
          </a:p>
        </p:txBody>
      </p:sp>
      <p:pic>
        <p:nvPicPr>
          <p:cNvPr id="35" name="Ikona – arrow mor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1778000" y="2425700"/>
            <a:ext cx="254000" cy="254000"/>
          </a:xfrm>
          <a:prstGeom prst="rect">
            <a:avLst/>
          </a:prstGeom>
        </p:spPr>
      </p:pic>
      <p:sp>
        <p:nvSpPr>
          <p:cNvPr id="36" name="Popisek"/>
          <p:cNvSpPr txBox="1"/>
          <p:nvPr/>
        </p:nvSpPr>
        <p:spPr>
          <a:xfrm>
            <a:off x="1508760" y="27331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arrow more</a:t>
            </a:r>
          </a:p>
        </p:txBody>
      </p:sp>
      <p:pic>
        <p:nvPicPr>
          <p:cNvPr id="37" name="Ikona – Arrow classic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2540000" y="2425700"/>
            <a:ext cx="254000" cy="254000"/>
          </a:xfrm>
          <a:prstGeom prst="rect">
            <a:avLst/>
          </a:prstGeom>
        </p:spPr>
      </p:pic>
      <p:sp>
        <p:nvSpPr>
          <p:cNvPr id="38" name="Popisek"/>
          <p:cNvSpPr txBox="1"/>
          <p:nvPr/>
        </p:nvSpPr>
        <p:spPr>
          <a:xfrm>
            <a:off x="2270760" y="27331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Arrow classic</a:t>
            </a:r>
          </a:p>
        </p:txBody>
      </p:sp>
      <p:pic>
        <p:nvPicPr>
          <p:cNvPr id="39" name="Ikona – check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3302000" y="2425700"/>
            <a:ext cx="254000" cy="254000"/>
          </a:xfrm>
          <a:prstGeom prst="rect">
            <a:avLst/>
          </a:prstGeom>
        </p:spPr>
      </p:pic>
      <p:sp>
        <p:nvSpPr>
          <p:cNvPr id="40" name="Popisek"/>
          <p:cNvSpPr txBox="1"/>
          <p:nvPr/>
        </p:nvSpPr>
        <p:spPr>
          <a:xfrm>
            <a:off x="3032760" y="27331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check</a:t>
            </a:r>
          </a:p>
        </p:txBody>
      </p:sp>
      <p:pic>
        <p:nvPicPr>
          <p:cNvPr id="41" name="Ikona – clos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>
          <a:xfrm>
            <a:off x="4064000" y="2425700"/>
            <a:ext cx="254000" cy="254000"/>
          </a:xfrm>
          <a:prstGeom prst="rect">
            <a:avLst/>
          </a:prstGeom>
        </p:spPr>
      </p:pic>
      <p:sp>
        <p:nvSpPr>
          <p:cNvPr id="42" name="Popisek"/>
          <p:cNvSpPr txBox="1"/>
          <p:nvPr/>
        </p:nvSpPr>
        <p:spPr>
          <a:xfrm>
            <a:off x="3794760" y="27331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close</a:t>
            </a:r>
          </a:p>
        </p:txBody>
      </p:sp>
      <p:pic>
        <p:nvPicPr>
          <p:cNvPr id="43" name="Ikona – portu box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4826000" y="2425700"/>
            <a:ext cx="254000" cy="254000"/>
          </a:xfrm>
          <a:prstGeom prst="rect">
            <a:avLst/>
          </a:prstGeom>
        </p:spPr>
      </p:pic>
      <p:sp>
        <p:nvSpPr>
          <p:cNvPr id="44" name="Popisek"/>
          <p:cNvSpPr txBox="1"/>
          <p:nvPr/>
        </p:nvSpPr>
        <p:spPr>
          <a:xfrm>
            <a:off x="4556760" y="27331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portu box</a:t>
            </a:r>
          </a:p>
        </p:txBody>
      </p:sp>
      <p:pic>
        <p:nvPicPr>
          <p:cNvPr id="45" name="Ikona – hous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5588000" y="2425700"/>
            <a:ext cx="254000" cy="254000"/>
          </a:xfrm>
          <a:prstGeom prst="rect">
            <a:avLst/>
          </a:prstGeom>
        </p:spPr>
      </p:pic>
      <p:sp>
        <p:nvSpPr>
          <p:cNvPr id="46" name="Popisek"/>
          <p:cNvSpPr txBox="1"/>
          <p:nvPr/>
        </p:nvSpPr>
        <p:spPr>
          <a:xfrm>
            <a:off x="5318760" y="27331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house</a:t>
            </a:r>
          </a:p>
        </p:txBody>
      </p:sp>
      <p:pic>
        <p:nvPicPr>
          <p:cNvPr id="47" name="Ikona – shield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6350000" y="2425700"/>
            <a:ext cx="254000" cy="254000"/>
          </a:xfrm>
          <a:prstGeom prst="rect">
            <a:avLst/>
          </a:prstGeom>
        </p:spPr>
      </p:pic>
      <p:sp>
        <p:nvSpPr>
          <p:cNvPr id="48" name="Popisek"/>
          <p:cNvSpPr txBox="1"/>
          <p:nvPr/>
        </p:nvSpPr>
        <p:spPr>
          <a:xfrm>
            <a:off x="6080760" y="27331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shield</a:t>
            </a:r>
          </a:p>
        </p:txBody>
      </p:sp>
      <p:pic>
        <p:nvPicPr>
          <p:cNvPr id="49" name="Ikona – top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7112000" y="2425700"/>
            <a:ext cx="254000" cy="254000"/>
          </a:xfrm>
          <a:prstGeom prst="rect">
            <a:avLst/>
          </a:prstGeom>
        </p:spPr>
      </p:pic>
      <p:sp>
        <p:nvSpPr>
          <p:cNvPr id="50" name="Popisek"/>
          <p:cNvSpPr txBox="1"/>
          <p:nvPr/>
        </p:nvSpPr>
        <p:spPr>
          <a:xfrm>
            <a:off x="6842760" y="27331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top</a:t>
            </a:r>
          </a:p>
        </p:txBody>
      </p:sp>
      <p:pic>
        <p:nvPicPr>
          <p:cNvPr id="51" name="Ikona – connection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7874000" y="2425700"/>
            <a:ext cx="254000" cy="254000"/>
          </a:xfrm>
          <a:prstGeom prst="rect">
            <a:avLst/>
          </a:prstGeom>
        </p:spPr>
      </p:pic>
      <p:sp>
        <p:nvSpPr>
          <p:cNvPr id="52" name="Popisek"/>
          <p:cNvSpPr txBox="1"/>
          <p:nvPr/>
        </p:nvSpPr>
        <p:spPr>
          <a:xfrm>
            <a:off x="7604760" y="27331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connection</a:t>
            </a:r>
          </a:p>
        </p:txBody>
      </p:sp>
      <p:pic>
        <p:nvPicPr>
          <p:cNvPr id="53" name="Ikona – graph down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8636000" y="2425700"/>
            <a:ext cx="254000" cy="254000"/>
          </a:xfrm>
          <a:prstGeom prst="rect">
            <a:avLst/>
          </a:prstGeom>
        </p:spPr>
      </p:pic>
      <p:sp>
        <p:nvSpPr>
          <p:cNvPr id="54" name="Popisek"/>
          <p:cNvSpPr txBox="1"/>
          <p:nvPr/>
        </p:nvSpPr>
        <p:spPr>
          <a:xfrm>
            <a:off x="8366760" y="27331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graph down</a:t>
            </a:r>
          </a:p>
        </p:txBody>
      </p:sp>
      <p:pic>
        <p:nvPicPr>
          <p:cNvPr id="55" name="Ikona – plus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9398000" y="2425700"/>
            <a:ext cx="254000" cy="254000"/>
          </a:xfrm>
          <a:prstGeom prst="rect">
            <a:avLst/>
          </a:prstGeom>
        </p:spPr>
      </p:pic>
      <p:sp>
        <p:nvSpPr>
          <p:cNvPr id="56" name="Popisek"/>
          <p:cNvSpPr txBox="1"/>
          <p:nvPr/>
        </p:nvSpPr>
        <p:spPr>
          <a:xfrm>
            <a:off x="9128760" y="27331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plus</a:t>
            </a:r>
          </a:p>
        </p:txBody>
      </p:sp>
      <p:pic>
        <p:nvPicPr>
          <p:cNvPr id="57" name="Ikona – minus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10160000" y="2425700"/>
            <a:ext cx="254000" cy="254000"/>
          </a:xfrm>
          <a:prstGeom prst="rect">
            <a:avLst/>
          </a:prstGeom>
        </p:spPr>
      </p:pic>
      <p:sp>
        <p:nvSpPr>
          <p:cNvPr id="58" name="Popisek"/>
          <p:cNvSpPr txBox="1"/>
          <p:nvPr/>
        </p:nvSpPr>
        <p:spPr>
          <a:xfrm>
            <a:off x="9890760" y="27331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minus</a:t>
            </a:r>
          </a:p>
        </p:txBody>
      </p:sp>
      <p:pic>
        <p:nvPicPr>
          <p:cNvPr id="59" name="Ikona – phon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10922000" y="2425700"/>
            <a:ext cx="254000" cy="254000"/>
          </a:xfrm>
          <a:prstGeom prst="rect">
            <a:avLst/>
          </a:prstGeom>
        </p:spPr>
      </p:pic>
      <p:sp>
        <p:nvSpPr>
          <p:cNvPr id="60" name="Popisek"/>
          <p:cNvSpPr txBox="1"/>
          <p:nvPr/>
        </p:nvSpPr>
        <p:spPr>
          <a:xfrm>
            <a:off x="10652760" y="27331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phone</a:t>
            </a:r>
          </a:p>
        </p:txBody>
      </p:sp>
      <p:pic>
        <p:nvPicPr>
          <p:cNvPr id="61" name="Ikona – messag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1016000" y="3136900"/>
            <a:ext cx="254000" cy="254000"/>
          </a:xfrm>
          <a:prstGeom prst="rect">
            <a:avLst/>
          </a:prstGeom>
        </p:spPr>
      </p:pic>
      <p:sp>
        <p:nvSpPr>
          <p:cNvPr id="62" name="Popisek"/>
          <p:cNvSpPr txBox="1"/>
          <p:nvPr/>
        </p:nvSpPr>
        <p:spPr>
          <a:xfrm>
            <a:off x="746760" y="34443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message</a:t>
            </a:r>
          </a:p>
        </p:txBody>
      </p:sp>
      <p:pic>
        <p:nvPicPr>
          <p:cNvPr id="63" name="Ikona – calendar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1778000" y="3136900"/>
            <a:ext cx="254000" cy="254000"/>
          </a:xfrm>
          <a:prstGeom prst="rect">
            <a:avLst/>
          </a:prstGeom>
        </p:spPr>
      </p:pic>
      <p:sp>
        <p:nvSpPr>
          <p:cNvPr id="64" name="Popisek"/>
          <p:cNvSpPr txBox="1"/>
          <p:nvPr/>
        </p:nvSpPr>
        <p:spPr>
          <a:xfrm>
            <a:off x="1508760" y="34443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calendar</a:t>
            </a:r>
          </a:p>
        </p:txBody>
      </p:sp>
      <p:pic>
        <p:nvPicPr>
          <p:cNvPr id="65" name="Ikona – chat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2540000" y="3136900"/>
            <a:ext cx="254000" cy="254000"/>
          </a:xfrm>
          <a:prstGeom prst="rect">
            <a:avLst/>
          </a:prstGeom>
        </p:spPr>
      </p:pic>
      <p:sp>
        <p:nvSpPr>
          <p:cNvPr id="66" name="Popisek"/>
          <p:cNvSpPr txBox="1"/>
          <p:nvPr/>
        </p:nvSpPr>
        <p:spPr>
          <a:xfrm>
            <a:off x="2270760" y="34443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chat</a:t>
            </a:r>
          </a:p>
        </p:txBody>
      </p:sp>
      <p:pic>
        <p:nvPicPr>
          <p:cNvPr id="67" name="Ikona – info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>
            <a:fillRect/>
          </a:stretch>
        </p:blipFill>
        <p:spPr>
          <a:xfrm>
            <a:off x="3302000" y="3136900"/>
            <a:ext cx="254000" cy="254000"/>
          </a:xfrm>
          <a:prstGeom prst="rect">
            <a:avLst/>
          </a:prstGeom>
        </p:spPr>
      </p:pic>
      <p:sp>
        <p:nvSpPr>
          <p:cNvPr id="68" name="Popisek"/>
          <p:cNvSpPr txBox="1"/>
          <p:nvPr/>
        </p:nvSpPr>
        <p:spPr>
          <a:xfrm>
            <a:off x="3032760" y="34443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info</a:t>
            </a:r>
          </a:p>
        </p:txBody>
      </p:sp>
      <p:pic>
        <p:nvPicPr>
          <p:cNvPr id="69" name="Ikona – faq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>
          <a:xfrm>
            <a:off x="4064000" y="3136900"/>
            <a:ext cx="254000" cy="254000"/>
          </a:xfrm>
          <a:prstGeom prst="rect">
            <a:avLst/>
          </a:prstGeom>
        </p:spPr>
      </p:pic>
      <p:sp>
        <p:nvSpPr>
          <p:cNvPr id="70" name="Popisek"/>
          <p:cNvSpPr txBox="1"/>
          <p:nvPr/>
        </p:nvSpPr>
        <p:spPr>
          <a:xfrm>
            <a:off x="3794760" y="34443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faq</a:t>
            </a:r>
          </a:p>
        </p:txBody>
      </p:sp>
      <p:pic>
        <p:nvPicPr>
          <p:cNvPr id="71" name="Ikona – coin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4826000" y="3136900"/>
            <a:ext cx="254000" cy="254000"/>
          </a:xfrm>
          <a:prstGeom prst="rect">
            <a:avLst/>
          </a:prstGeom>
        </p:spPr>
      </p:pic>
      <p:sp>
        <p:nvSpPr>
          <p:cNvPr id="72" name="Popisek"/>
          <p:cNvSpPr txBox="1"/>
          <p:nvPr/>
        </p:nvSpPr>
        <p:spPr>
          <a:xfrm>
            <a:off x="4556760" y="34443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coin</a:t>
            </a:r>
          </a:p>
        </p:txBody>
      </p:sp>
      <p:pic>
        <p:nvPicPr>
          <p:cNvPr id="73" name="Ikona – diversi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>
          <a:xfrm>
            <a:off x="5588000" y="3136900"/>
            <a:ext cx="254000" cy="254000"/>
          </a:xfrm>
          <a:prstGeom prst="rect">
            <a:avLst/>
          </a:prstGeom>
        </p:spPr>
      </p:pic>
      <p:sp>
        <p:nvSpPr>
          <p:cNvPr id="74" name="Popisek"/>
          <p:cNvSpPr txBox="1"/>
          <p:nvPr/>
        </p:nvSpPr>
        <p:spPr>
          <a:xfrm>
            <a:off x="5318760" y="34443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diversi</a:t>
            </a:r>
          </a:p>
        </p:txBody>
      </p:sp>
      <p:pic>
        <p:nvPicPr>
          <p:cNvPr id="75" name="Ikona – invest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>
            <a:fillRect/>
          </a:stretch>
        </p:blipFill>
        <p:spPr>
          <a:xfrm>
            <a:off x="6350000" y="3136900"/>
            <a:ext cx="254000" cy="254000"/>
          </a:xfrm>
          <a:prstGeom prst="rect">
            <a:avLst/>
          </a:prstGeom>
        </p:spPr>
      </p:pic>
      <p:sp>
        <p:nvSpPr>
          <p:cNvPr id="76" name="Popisek"/>
          <p:cNvSpPr txBox="1"/>
          <p:nvPr/>
        </p:nvSpPr>
        <p:spPr>
          <a:xfrm>
            <a:off x="6080760" y="34443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invest</a:t>
            </a:r>
          </a:p>
        </p:txBody>
      </p:sp>
      <p:pic>
        <p:nvPicPr>
          <p:cNvPr id="77" name="Ikona – stars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>
            <a:fillRect/>
          </a:stretch>
        </p:blipFill>
        <p:spPr>
          <a:xfrm>
            <a:off x="7112000" y="3136900"/>
            <a:ext cx="254000" cy="254000"/>
          </a:xfrm>
          <a:prstGeom prst="rect">
            <a:avLst/>
          </a:prstGeom>
        </p:spPr>
      </p:pic>
      <p:sp>
        <p:nvSpPr>
          <p:cNvPr id="78" name="Popisek"/>
          <p:cNvSpPr txBox="1"/>
          <p:nvPr/>
        </p:nvSpPr>
        <p:spPr>
          <a:xfrm>
            <a:off x="6842760" y="34443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stars</a:t>
            </a:r>
          </a:p>
        </p:txBody>
      </p:sp>
      <p:pic>
        <p:nvPicPr>
          <p:cNvPr id="79" name="Ikona – user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7874000" y="3136900"/>
            <a:ext cx="254000" cy="254000"/>
          </a:xfrm>
          <a:prstGeom prst="rect">
            <a:avLst/>
          </a:prstGeom>
        </p:spPr>
      </p:pic>
      <p:sp>
        <p:nvSpPr>
          <p:cNvPr id="80" name="Popisek"/>
          <p:cNvSpPr txBox="1"/>
          <p:nvPr/>
        </p:nvSpPr>
        <p:spPr>
          <a:xfrm>
            <a:off x="7604760" y="34443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user</a:t>
            </a:r>
          </a:p>
        </p:txBody>
      </p:sp>
      <p:pic>
        <p:nvPicPr>
          <p:cNvPr id="81" name="Ikona – users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>
            <a:fillRect/>
          </a:stretch>
        </p:blipFill>
        <p:spPr>
          <a:xfrm>
            <a:off x="8636000" y="3136900"/>
            <a:ext cx="254000" cy="254000"/>
          </a:xfrm>
          <a:prstGeom prst="rect">
            <a:avLst/>
          </a:prstGeom>
        </p:spPr>
      </p:pic>
      <p:sp>
        <p:nvSpPr>
          <p:cNvPr id="82" name="Popisek"/>
          <p:cNvSpPr txBox="1"/>
          <p:nvPr/>
        </p:nvSpPr>
        <p:spPr>
          <a:xfrm>
            <a:off x="8366760" y="34443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users</a:t>
            </a:r>
          </a:p>
        </p:txBody>
      </p:sp>
      <p:pic>
        <p:nvPicPr>
          <p:cNvPr id="83" name="Ikona – Loup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9398000" y="3136900"/>
            <a:ext cx="254000" cy="254000"/>
          </a:xfrm>
          <a:prstGeom prst="rect">
            <a:avLst/>
          </a:prstGeom>
        </p:spPr>
      </p:pic>
      <p:sp>
        <p:nvSpPr>
          <p:cNvPr id="84" name="Popisek"/>
          <p:cNvSpPr txBox="1"/>
          <p:nvPr/>
        </p:nvSpPr>
        <p:spPr>
          <a:xfrm>
            <a:off x="9128760" y="34443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Loupe</a:t>
            </a:r>
          </a:p>
        </p:txBody>
      </p:sp>
      <p:pic>
        <p:nvPicPr>
          <p:cNvPr id="85" name="Ikona – medal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>
          <a:xfrm>
            <a:off x="10160000" y="3136900"/>
            <a:ext cx="254000" cy="254000"/>
          </a:xfrm>
          <a:prstGeom prst="rect">
            <a:avLst/>
          </a:prstGeom>
        </p:spPr>
      </p:pic>
      <p:sp>
        <p:nvSpPr>
          <p:cNvPr id="86" name="Popisek"/>
          <p:cNvSpPr txBox="1"/>
          <p:nvPr/>
        </p:nvSpPr>
        <p:spPr>
          <a:xfrm>
            <a:off x="9890760" y="34443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medal</a:t>
            </a:r>
          </a:p>
        </p:txBody>
      </p:sp>
      <p:pic>
        <p:nvPicPr>
          <p:cNvPr id="87" name="Ikona – download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10922000" y="3136900"/>
            <a:ext cx="254000" cy="254000"/>
          </a:xfrm>
          <a:prstGeom prst="rect">
            <a:avLst/>
          </a:prstGeom>
        </p:spPr>
      </p:pic>
      <p:sp>
        <p:nvSpPr>
          <p:cNvPr id="88" name="Popisek"/>
          <p:cNvSpPr txBox="1"/>
          <p:nvPr/>
        </p:nvSpPr>
        <p:spPr>
          <a:xfrm>
            <a:off x="10652760" y="34443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download</a:t>
            </a:r>
          </a:p>
        </p:txBody>
      </p:sp>
      <p:pic>
        <p:nvPicPr>
          <p:cNvPr id="89" name="Ikona – chang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>
          <a:xfrm>
            <a:off x="1016000" y="3848100"/>
            <a:ext cx="254000" cy="254000"/>
          </a:xfrm>
          <a:prstGeom prst="rect">
            <a:avLst/>
          </a:prstGeom>
        </p:spPr>
      </p:pic>
      <p:sp>
        <p:nvSpPr>
          <p:cNvPr id="90" name="Popisek"/>
          <p:cNvSpPr txBox="1"/>
          <p:nvPr/>
        </p:nvSpPr>
        <p:spPr>
          <a:xfrm>
            <a:off x="746760" y="41555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change</a:t>
            </a:r>
          </a:p>
        </p:txBody>
      </p:sp>
      <p:pic>
        <p:nvPicPr>
          <p:cNvPr id="91" name="Ikona – set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>
          <a:xfrm>
            <a:off x="1778000" y="3848100"/>
            <a:ext cx="254000" cy="254000"/>
          </a:xfrm>
          <a:prstGeom prst="rect">
            <a:avLst/>
          </a:prstGeom>
        </p:spPr>
      </p:pic>
      <p:sp>
        <p:nvSpPr>
          <p:cNvPr id="92" name="Popisek"/>
          <p:cNvSpPr txBox="1"/>
          <p:nvPr/>
        </p:nvSpPr>
        <p:spPr>
          <a:xfrm>
            <a:off x="1508760" y="41555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set</a:t>
            </a:r>
          </a:p>
        </p:txBody>
      </p:sp>
      <p:pic>
        <p:nvPicPr>
          <p:cNvPr id="93" name="Ikona – cpu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>
          <a:xfrm>
            <a:off x="2540000" y="3848100"/>
            <a:ext cx="254000" cy="254000"/>
          </a:xfrm>
          <a:prstGeom prst="rect">
            <a:avLst/>
          </a:prstGeom>
        </p:spPr>
      </p:pic>
      <p:sp>
        <p:nvSpPr>
          <p:cNvPr id="94" name="Popisek"/>
          <p:cNvSpPr txBox="1"/>
          <p:nvPr/>
        </p:nvSpPr>
        <p:spPr>
          <a:xfrm>
            <a:off x="2270760" y="41555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cpu</a:t>
            </a:r>
          </a:p>
        </p:txBody>
      </p:sp>
      <p:pic>
        <p:nvPicPr>
          <p:cNvPr id="95" name="Ikona – money 2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>
            <a:fillRect/>
          </a:stretch>
        </p:blipFill>
        <p:spPr>
          <a:xfrm>
            <a:off x="3302000" y="3848100"/>
            <a:ext cx="254000" cy="254000"/>
          </a:xfrm>
          <a:prstGeom prst="rect">
            <a:avLst/>
          </a:prstGeom>
        </p:spPr>
      </p:pic>
      <p:sp>
        <p:nvSpPr>
          <p:cNvPr id="96" name="Popisek"/>
          <p:cNvSpPr txBox="1"/>
          <p:nvPr/>
        </p:nvSpPr>
        <p:spPr>
          <a:xfrm>
            <a:off x="3032760" y="41555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money 2</a:t>
            </a:r>
          </a:p>
        </p:txBody>
      </p:sp>
      <p:pic>
        <p:nvPicPr>
          <p:cNvPr id="97" name="Ikona – money3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>
          <a:xfrm>
            <a:off x="4064000" y="3848100"/>
            <a:ext cx="254000" cy="254000"/>
          </a:xfrm>
          <a:prstGeom prst="rect">
            <a:avLst/>
          </a:prstGeom>
        </p:spPr>
      </p:pic>
      <p:sp>
        <p:nvSpPr>
          <p:cNvPr id="98" name="Popisek"/>
          <p:cNvSpPr txBox="1"/>
          <p:nvPr/>
        </p:nvSpPr>
        <p:spPr>
          <a:xfrm>
            <a:off x="3794760" y="41555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money3</a:t>
            </a:r>
          </a:p>
        </p:txBody>
      </p:sp>
      <p:pic>
        <p:nvPicPr>
          <p:cNvPr id="99" name="Ikona – speed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>
            <a:fillRect/>
          </a:stretch>
        </p:blipFill>
        <p:spPr>
          <a:xfrm>
            <a:off x="4826000" y="3848100"/>
            <a:ext cx="254000" cy="254000"/>
          </a:xfrm>
          <a:prstGeom prst="rect">
            <a:avLst/>
          </a:prstGeom>
        </p:spPr>
      </p:pic>
      <p:sp>
        <p:nvSpPr>
          <p:cNvPr id="100" name="Popisek"/>
          <p:cNvSpPr txBox="1"/>
          <p:nvPr/>
        </p:nvSpPr>
        <p:spPr>
          <a:xfrm>
            <a:off x="4556760" y="41555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speed</a:t>
            </a:r>
          </a:p>
        </p:txBody>
      </p:sp>
      <p:pic>
        <p:nvPicPr>
          <p:cNvPr id="101" name="Ikona – graph 4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>
          <a:xfrm>
            <a:off x="5588000" y="3848100"/>
            <a:ext cx="254000" cy="254000"/>
          </a:xfrm>
          <a:prstGeom prst="rect">
            <a:avLst/>
          </a:prstGeom>
        </p:spPr>
      </p:pic>
      <p:sp>
        <p:nvSpPr>
          <p:cNvPr id="102" name="Popisek"/>
          <p:cNvSpPr txBox="1"/>
          <p:nvPr/>
        </p:nvSpPr>
        <p:spPr>
          <a:xfrm>
            <a:off x="5318760" y="41555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graph 4</a:t>
            </a:r>
          </a:p>
        </p:txBody>
      </p:sp>
      <p:pic>
        <p:nvPicPr>
          <p:cNvPr id="103" name="Ikona – saf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>
          <a:xfrm>
            <a:off x="6350000" y="3848100"/>
            <a:ext cx="254000" cy="254000"/>
          </a:xfrm>
          <a:prstGeom prst="rect">
            <a:avLst/>
          </a:prstGeom>
        </p:spPr>
      </p:pic>
      <p:sp>
        <p:nvSpPr>
          <p:cNvPr id="104" name="Popisek"/>
          <p:cNvSpPr txBox="1"/>
          <p:nvPr/>
        </p:nvSpPr>
        <p:spPr>
          <a:xfrm>
            <a:off x="6080760" y="41555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safe</a:t>
            </a:r>
          </a:p>
        </p:txBody>
      </p:sp>
      <p:pic>
        <p:nvPicPr>
          <p:cNvPr id="105" name="Ikona – clock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>
            <a:fillRect/>
          </a:stretch>
        </p:blipFill>
        <p:spPr>
          <a:xfrm>
            <a:off x="7112000" y="3848100"/>
            <a:ext cx="254000" cy="254000"/>
          </a:xfrm>
          <a:prstGeom prst="rect">
            <a:avLst/>
          </a:prstGeom>
        </p:spPr>
      </p:pic>
      <p:sp>
        <p:nvSpPr>
          <p:cNvPr id="106" name="Popisek"/>
          <p:cNvSpPr txBox="1"/>
          <p:nvPr/>
        </p:nvSpPr>
        <p:spPr>
          <a:xfrm>
            <a:off x="6842760" y="41555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clock</a:t>
            </a:r>
          </a:p>
        </p:txBody>
      </p:sp>
      <p:pic>
        <p:nvPicPr>
          <p:cNvPr id="107" name="Ikona – atom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>
          <a:xfrm>
            <a:off x="7874000" y="3848100"/>
            <a:ext cx="254000" cy="254000"/>
          </a:xfrm>
          <a:prstGeom prst="rect">
            <a:avLst/>
          </a:prstGeom>
        </p:spPr>
      </p:pic>
      <p:sp>
        <p:nvSpPr>
          <p:cNvPr id="108" name="Popisek"/>
          <p:cNvSpPr txBox="1"/>
          <p:nvPr/>
        </p:nvSpPr>
        <p:spPr>
          <a:xfrm>
            <a:off x="7604760" y="41555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atom</a:t>
            </a:r>
          </a:p>
        </p:txBody>
      </p:sp>
      <p:pic>
        <p:nvPicPr>
          <p:cNvPr id="109" name="Ikona – percent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>
          <a:xfrm>
            <a:off x="8636000" y="3848100"/>
            <a:ext cx="254000" cy="254000"/>
          </a:xfrm>
          <a:prstGeom prst="rect">
            <a:avLst/>
          </a:prstGeom>
        </p:spPr>
      </p:pic>
      <p:sp>
        <p:nvSpPr>
          <p:cNvPr id="110" name="Popisek"/>
          <p:cNvSpPr txBox="1"/>
          <p:nvPr/>
        </p:nvSpPr>
        <p:spPr>
          <a:xfrm>
            <a:off x="8366760" y="41555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percent</a:t>
            </a:r>
          </a:p>
        </p:txBody>
      </p:sp>
      <p:pic>
        <p:nvPicPr>
          <p:cNvPr id="111" name="Ikona – eur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>
          <a:xfrm>
            <a:off x="9398000" y="3848100"/>
            <a:ext cx="254000" cy="254000"/>
          </a:xfrm>
          <a:prstGeom prst="rect">
            <a:avLst/>
          </a:prstGeom>
        </p:spPr>
      </p:pic>
      <p:sp>
        <p:nvSpPr>
          <p:cNvPr id="112" name="Popisek"/>
          <p:cNvSpPr txBox="1"/>
          <p:nvPr/>
        </p:nvSpPr>
        <p:spPr>
          <a:xfrm>
            <a:off x="9128760" y="41555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eur</a:t>
            </a:r>
          </a:p>
        </p:txBody>
      </p:sp>
      <p:pic>
        <p:nvPicPr>
          <p:cNvPr id="113" name="Ikona – company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>
            <a:fillRect/>
          </a:stretch>
        </p:blipFill>
        <p:spPr>
          <a:xfrm>
            <a:off x="10160000" y="3848100"/>
            <a:ext cx="254000" cy="254000"/>
          </a:xfrm>
          <a:prstGeom prst="rect">
            <a:avLst/>
          </a:prstGeom>
        </p:spPr>
      </p:pic>
      <p:sp>
        <p:nvSpPr>
          <p:cNvPr id="114" name="Popisek"/>
          <p:cNvSpPr txBox="1"/>
          <p:nvPr/>
        </p:nvSpPr>
        <p:spPr>
          <a:xfrm>
            <a:off x="9890760" y="41555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company</a:t>
            </a:r>
          </a:p>
        </p:txBody>
      </p:sp>
      <p:pic>
        <p:nvPicPr>
          <p:cNvPr id="115" name="Ikona – Quote solid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>
            <a:fillRect/>
          </a:stretch>
        </p:blipFill>
        <p:spPr>
          <a:xfrm>
            <a:off x="10922000" y="3848100"/>
            <a:ext cx="254000" cy="254000"/>
          </a:xfrm>
          <a:prstGeom prst="rect">
            <a:avLst/>
          </a:prstGeom>
        </p:spPr>
      </p:pic>
      <p:sp>
        <p:nvSpPr>
          <p:cNvPr id="116" name="Popisek"/>
          <p:cNvSpPr txBox="1"/>
          <p:nvPr/>
        </p:nvSpPr>
        <p:spPr>
          <a:xfrm>
            <a:off x="10652760" y="41555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Quote solid</a:t>
            </a:r>
          </a:p>
        </p:txBody>
      </p:sp>
      <p:pic>
        <p:nvPicPr>
          <p:cNvPr id="117" name="Ikona – question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>
            <a:fillRect/>
          </a:stretch>
        </p:blipFill>
        <p:spPr>
          <a:xfrm>
            <a:off x="1016000" y="4559300"/>
            <a:ext cx="254000" cy="254000"/>
          </a:xfrm>
          <a:prstGeom prst="rect">
            <a:avLst/>
          </a:prstGeom>
        </p:spPr>
      </p:pic>
      <p:sp>
        <p:nvSpPr>
          <p:cNvPr id="118" name="Popisek"/>
          <p:cNvSpPr txBox="1"/>
          <p:nvPr/>
        </p:nvSpPr>
        <p:spPr>
          <a:xfrm>
            <a:off x="746760" y="48667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question</a:t>
            </a:r>
          </a:p>
        </p:txBody>
      </p:sp>
      <p:pic>
        <p:nvPicPr>
          <p:cNvPr id="119" name="Ikona – logout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>
            <a:fillRect/>
          </a:stretch>
        </p:blipFill>
        <p:spPr>
          <a:xfrm>
            <a:off x="1778000" y="4559300"/>
            <a:ext cx="254000" cy="254000"/>
          </a:xfrm>
          <a:prstGeom prst="rect">
            <a:avLst/>
          </a:prstGeom>
        </p:spPr>
      </p:pic>
      <p:sp>
        <p:nvSpPr>
          <p:cNvPr id="120" name="Popisek"/>
          <p:cNvSpPr txBox="1"/>
          <p:nvPr/>
        </p:nvSpPr>
        <p:spPr>
          <a:xfrm>
            <a:off x="1508760" y="48667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logout</a:t>
            </a:r>
          </a:p>
        </p:txBody>
      </p:sp>
      <p:pic>
        <p:nvPicPr>
          <p:cNvPr id="121" name="Ikona – Ey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>
            <a:fillRect/>
          </a:stretch>
        </p:blipFill>
        <p:spPr>
          <a:xfrm>
            <a:off x="2540000" y="4559300"/>
            <a:ext cx="254000" cy="254000"/>
          </a:xfrm>
          <a:prstGeom prst="rect">
            <a:avLst/>
          </a:prstGeom>
        </p:spPr>
      </p:pic>
      <p:sp>
        <p:nvSpPr>
          <p:cNvPr id="122" name="Popisek"/>
          <p:cNvSpPr txBox="1"/>
          <p:nvPr/>
        </p:nvSpPr>
        <p:spPr>
          <a:xfrm>
            <a:off x="2270760" y="48667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Eye</a:t>
            </a:r>
          </a:p>
        </p:txBody>
      </p:sp>
      <p:pic>
        <p:nvPicPr>
          <p:cNvPr id="123" name="Ikona – baby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>
            <a:fillRect/>
          </a:stretch>
        </p:blipFill>
        <p:spPr>
          <a:xfrm>
            <a:off x="3302000" y="4559300"/>
            <a:ext cx="254000" cy="254000"/>
          </a:xfrm>
          <a:prstGeom prst="rect">
            <a:avLst/>
          </a:prstGeom>
        </p:spPr>
      </p:pic>
      <p:sp>
        <p:nvSpPr>
          <p:cNvPr id="124" name="Popisek"/>
          <p:cNvSpPr txBox="1"/>
          <p:nvPr/>
        </p:nvSpPr>
        <p:spPr>
          <a:xfrm>
            <a:off x="3032760" y="48667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baby</a:t>
            </a:r>
          </a:p>
        </p:txBody>
      </p:sp>
      <p:pic>
        <p:nvPicPr>
          <p:cNvPr id="125" name="Ikona – chat-question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>
            <a:fillRect/>
          </a:stretch>
        </p:blipFill>
        <p:spPr>
          <a:xfrm>
            <a:off x="4064000" y="4559300"/>
            <a:ext cx="254000" cy="254000"/>
          </a:xfrm>
          <a:prstGeom prst="rect">
            <a:avLst/>
          </a:prstGeom>
        </p:spPr>
      </p:pic>
      <p:sp>
        <p:nvSpPr>
          <p:cNvPr id="126" name="Popisek"/>
          <p:cNvSpPr txBox="1"/>
          <p:nvPr/>
        </p:nvSpPr>
        <p:spPr>
          <a:xfrm>
            <a:off x="3794760" y="48667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chat-question</a:t>
            </a:r>
          </a:p>
        </p:txBody>
      </p:sp>
      <p:pic>
        <p:nvPicPr>
          <p:cNvPr id="127" name="Ikona – circle-check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>
            <a:fillRect/>
          </a:stretch>
        </p:blipFill>
        <p:spPr>
          <a:xfrm>
            <a:off x="4826000" y="4559300"/>
            <a:ext cx="254000" cy="254000"/>
          </a:xfrm>
          <a:prstGeom prst="rect">
            <a:avLst/>
          </a:prstGeom>
        </p:spPr>
      </p:pic>
      <p:sp>
        <p:nvSpPr>
          <p:cNvPr id="128" name="Popisek"/>
          <p:cNvSpPr txBox="1"/>
          <p:nvPr/>
        </p:nvSpPr>
        <p:spPr>
          <a:xfrm>
            <a:off x="4556760" y="48667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circle-check</a:t>
            </a:r>
          </a:p>
        </p:txBody>
      </p:sp>
      <p:pic>
        <p:nvPicPr>
          <p:cNvPr id="129" name="Ikona – error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>
            <a:fillRect/>
          </a:stretch>
        </p:blipFill>
        <p:spPr>
          <a:xfrm>
            <a:off x="5588000" y="4559300"/>
            <a:ext cx="254000" cy="254000"/>
          </a:xfrm>
          <a:prstGeom prst="rect">
            <a:avLst/>
          </a:prstGeom>
        </p:spPr>
      </p:pic>
      <p:sp>
        <p:nvSpPr>
          <p:cNvPr id="130" name="Popisek"/>
          <p:cNvSpPr txBox="1"/>
          <p:nvPr/>
        </p:nvSpPr>
        <p:spPr>
          <a:xfrm>
            <a:off x="5318760" y="48667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error</a:t>
            </a:r>
          </a:p>
        </p:txBody>
      </p:sp>
      <p:pic>
        <p:nvPicPr>
          <p:cNvPr id="131" name="Ikona – download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>
            <a:fillRect/>
          </a:stretch>
        </p:blipFill>
        <p:spPr>
          <a:xfrm>
            <a:off x="6350000" y="4559300"/>
            <a:ext cx="254000" cy="254000"/>
          </a:xfrm>
          <a:prstGeom prst="rect">
            <a:avLst/>
          </a:prstGeom>
        </p:spPr>
      </p:pic>
      <p:sp>
        <p:nvSpPr>
          <p:cNvPr id="132" name="Popisek"/>
          <p:cNvSpPr txBox="1"/>
          <p:nvPr/>
        </p:nvSpPr>
        <p:spPr>
          <a:xfrm>
            <a:off x="6080760" y="48667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download</a:t>
            </a:r>
          </a:p>
        </p:txBody>
      </p:sp>
      <p:pic>
        <p:nvPicPr>
          <p:cNvPr id="133" name="Ikona – graph up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>
            <a:fillRect/>
          </a:stretch>
        </p:blipFill>
        <p:spPr>
          <a:xfrm>
            <a:off x="7112000" y="4559300"/>
            <a:ext cx="254000" cy="254000"/>
          </a:xfrm>
          <a:prstGeom prst="rect">
            <a:avLst/>
          </a:prstGeom>
        </p:spPr>
      </p:pic>
      <p:sp>
        <p:nvSpPr>
          <p:cNvPr id="134" name="Popisek"/>
          <p:cNvSpPr txBox="1"/>
          <p:nvPr/>
        </p:nvSpPr>
        <p:spPr>
          <a:xfrm>
            <a:off x="6842760" y="48667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graph up</a:t>
            </a:r>
          </a:p>
        </p:txBody>
      </p:sp>
      <p:pic>
        <p:nvPicPr>
          <p:cNvPr id="135" name="Ikona – pdf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>
            <a:fillRect/>
          </a:stretch>
        </p:blipFill>
        <p:spPr>
          <a:xfrm>
            <a:off x="7874000" y="4559300"/>
            <a:ext cx="254000" cy="254000"/>
          </a:xfrm>
          <a:prstGeom prst="rect">
            <a:avLst/>
          </a:prstGeom>
        </p:spPr>
      </p:pic>
      <p:sp>
        <p:nvSpPr>
          <p:cNvPr id="136" name="Popisek"/>
          <p:cNvSpPr txBox="1"/>
          <p:nvPr/>
        </p:nvSpPr>
        <p:spPr>
          <a:xfrm>
            <a:off x="7604760" y="48667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pdf</a:t>
            </a:r>
          </a:p>
        </p:txBody>
      </p:sp>
      <p:pic>
        <p:nvPicPr>
          <p:cNvPr id="137" name="Ikona – external-link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>
            <a:fillRect/>
          </a:stretch>
        </p:blipFill>
        <p:spPr>
          <a:xfrm>
            <a:off x="8636000" y="4559300"/>
            <a:ext cx="254000" cy="254000"/>
          </a:xfrm>
          <a:prstGeom prst="rect">
            <a:avLst/>
          </a:prstGeom>
        </p:spPr>
      </p:pic>
      <p:sp>
        <p:nvSpPr>
          <p:cNvPr id="138" name="Popisek"/>
          <p:cNvSpPr txBox="1"/>
          <p:nvPr/>
        </p:nvSpPr>
        <p:spPr>
          <a:xfrm>
            <a:off x="8366760" y="48667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external-link</a:t>
            </a:r>
          </a:p>
        </p:txBody>
      </p:sp>
      <p:pic>
        <p:nvPicPr>
          <p:cNvPr id="139" name="Ikona – file 02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>
            <a:fillRect/>
          </a:stretch>
        </p:blipFill>
        <p:spPr>
          <a:xfrm>
            <a:off x="9398000" y="4559300"/>
            <a:ext cx="254000" cy="254000"/>
          </a:xfrm>
          <a:prstGeom prst="rect">
            <a:avLst/>
          </a:prstGeom>
        </p:spPr>
      </p:pic>
      <p:sp>
        <p:nvSpPr>
          <p:cNvPr id="140" name="Popisek"/>
          <p:cNvSpPr txBox="1"/>
          <p:nvPr/>
        </p:nvSpPr>
        <p:spPr>
          <a:xfrm>
            <a:off x="9128760" y="48667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file 02</a:t>
            </a:r>
          </a:p>
        </p:txBody>
      </p:sp>
      <p:pic>
        <p:nvPicPr>
          <p:cNvPr id="141" name="Ikona – eye off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>
            <a:fillRect/>
          </a:stretch>
        </p:blipFill>
        <p:spPr>
          <a:xfrm>
            <a:off x="10160000" y="4559300"/>
            <a:ext cx="254000" cy="254000"/>
          </a:xfrm>
          <a:prstGeom prst="rect">
            <a:avLst/>
          </a:prstGeom>
        </p:spPr>
      </p:pic>
      <p:sp>
        <p:nvSpPr>
          <p:cNvPr id="142" name="Popisek"/>
          <p:cNvSpPr txBox="1"/>
          <p:nvPr/>
        </p:nvSpPr>
        <p:spPr>
          <a:xfrm>
            <a:off x="9890760" y="48667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eye off</a:t>
            </a:r>
          </a:p>
        </p:txBody>
      </p:sp>
      <p:pic>
        <p:nvPicPr>
          <p:cNvPr id="143" name="Ikona – leaf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>
            <a:fillRect/>
          </a:stretch>
        </p:blipFill>
        <p:spPr>
          <a:xfrm>
            <a:off x="10922000" y="4559300"/>
            <a:ext cx="254000" cy="254000"/>
          </a:xfrm>
          <a:prstGeom prst="rect">
            <a:avLst/>
          </a:prstGeom>
        </p:spPr>
      </p:pic>
      <p:sp>
        <p:nvSpPr>
          <p:cNvPr id="144" name="Popisek"/>
          <p:cNvSpPr txBox="1"/>
          <p:nvPr/>
        </p:nvSpPr>
        <p:spPr>
          <a:xfrm>
            <a:off x="10652760" y="48667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leaf</a:t>
            </a:r>
          </a:p>
        </p:txBody>
      </p:sp>
      <p:pic>
        <p:nvPicPr>
          <p:cNvPr id="145" name="Ikona – arrow-right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>
            <a:fillRect/>
          </a:stretch>
        </p:blipFill>
        <p:spPr>
          <a:xfrm>
            <a:off x="1016000" y="5270500"/>
            <a:ext cx="254000" cy="254000"/>
          </a:xfrm>
          <a:prstGeom prst="rect">
            <a:avLst/>
          </a:prstGeom>
        </p:spPr>
      </p:pic>
      <p:sp>
        <p:nvSpPr>
          <p:cNvPr id="146" name="Popisek"/>
          <p:cNvSpPr txBox="1"/>
          <p:nvPr/>
        </p:nvSpPr>
        <p:spPr>
          <a:xfrm>
            <a:off x="746760" y="5577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arrow-right</a:t>
            </a:r>
          </a:p>
        </p:txBody>
      </p:sp>
      <p:pic>
        <p:nvPicPr>
          <p:cNvPr id="147" name="Ikona – arrow-left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>
            <a:fillRect/>
          </a:stretch>
        </p:blipFill>
        <p:spPr>
          <a:xfrm>
            <a:off x="1778000" y="5270500"/>
            <a:ext cx="254000" cy="254000"/>
          </a:xfrm>
          <a:prstGeom prst="rect">
            <a:avLst/>
          </a:prstGeom>
        </p:spPr>
      </p:pic>
      <p:sp>
        <p:nvSpPr>
          <p:cNvPr id="148" name="Popisek"/>
          <p:cNvSpPr txBox="1"/>
          <p:nvPr/>
        </p:nvSpPr>
        <p:spPr>
          <a:xfrm>
            <a:off x="1508760" y="5577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arrow-left</a:t>
            </a:r>
          </a:p>
        </p:txBody>
      </p:sp>
      <p:pic>
        <p:nvPicPr>
          <p:cNvPr id="149" name="Ikona – arrow-down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>
            <a:fillRect/>
          </a:stretch>
        </p:blipFill>
        <p:spPr>
          <a:xfrm>
            <a:off x="2540000" y="5270500"/>
            <a:ext cx="254000" cy="254000"/>
          </a:xfrm>
          <a:prstGeom prst="rect">
            <a:avLst/>
          </a:prstGeom>
        </p:spPr>
      </p:pic>
      <p:sp>
        <p:nvSpPr>
          <p:cNvPr id="150" name="Popisek"/>
          <p:cNvSpPr txBox="1"/>
          <p:nvPr/>
        </p:nvSpPr>
        <p:spPr>
          <a:xfrm>
            <a:off x="2270760" y="5577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arrow-down</a:t>
            </a:r>
          </a:p>
        </p:txBody>
      </p:sp>
      <p:pic>
        <p:nvPicPr>
          <p:cNvPr id="151" name="Ikona – arrow-up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>
            <a:fillRect/>
          </a:stretch>
        </p:blipFill>
        <p:spPr>
          <a:xfrm>
            <a:off x="3302000" y="5270500"/>
            <a:ext cx="254000" cy="254000"/>
          </a:xfrm>
          <a:prstGeom prst="rect">
            <a:avLst/>
          </a:prstGeom>
        </p:spPr>
      </p:pic>
      <p:sp>
        <p:nvSpPr>
          <p:cNvPr id="152" name="Popisek"/>
          <p:cNvSpPr txBox="1"/>
          <p:nvPr/>
        </p:nvSpPr>
        <p:spPr>
          <a:xfrm>
            <a:off x="3032760" y="5577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arrow-up</a:t>
            </a:r>
          </a:p>
        </p:txBody>
      </p:sp>
      <p:pic>
        <p:nvPicPr>
          <p:cNvPr id="153" name="Ikona – x-circl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>
            <a:fillRect/>
          </a:stretch>
        </p:blipFill>
        <p:spPr>
          <a:xfrm>
            <a:off x="4064000" y="5270500"/>
            <a:ext cx="254000" cy="254000"/>
          </a:xfrm>
          <a:prstGeom prst="rect">
            <a:avLst/>
          </a:prstGeom>
        </p:spPr>
      </p:pic>
      <p:sp>
        <p:nvSpPr>
          <p:cNvPr id="154" name="Popisek"/>
          <p:cNvSpPr txBox="1"/>
          <p:nvPr/>
        </p:nvSpPr>
        <p:spPr>
          <a:xfrm>
            <a:off x="3794760" y="5577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x-circle</a:t>
            </a:r>
          </a:p>
        </p:txBody>
      </p:sp>
      <p:pic>
        <p:nvPicPr>
          <p:cNvPr id="155" name="Ikona – 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>
            <a:fillRect/>
          </a:stretch>
        </p:blipFill>
        <p:spPr>
          <a:xfrm>
            <a:off x="4826000" y="5270500"/>
            <a:ext cx="254000" cy="254000"/>
          </a:xfrm>
          <a:prstGeom prst="rect">
            <a:avLst/>
          </a:prstGeom>
        </p:spPr>
      </p:pic>
      <p:sp>
        <p:nvSpPr>
          <p:cNvPr id="156" name="Popisek"/>
          <p:cNvSpPr txBox="1"/>
          <p:nvPr/>
        </p:nvSpPr>
        <p:spPr>
          <a:xfrm>
            <a:off x="4556760" y="5577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E</a:t>
            </a:r>
          </a:p>
        </p:txBody>
      </p:sp>
      <p:pic>
        <p:nvPicPr>
          <p:cNvPr id="157" name="Ikona – E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rcRect/>
          <a:stretch>
            <a:fillRect/>
          </a:stretch>
        </p:blipFill>
        <p:spPr>
          <a:xfrm>
            <a:off x="5588000" y="5270500"/>
            <a:ext cx="254000" cy="254000"/>
          </a:xfrm>
          <a:prstGeom prst="rect">
            <a:avLst/>
          </a:prstGeom>
        </p:spPr>
      </p:pic>
      <p:sp>
        <p:nvSpPr>
          <p:cNvPr id="158" name="Popisek"/>
          <p:cNvSpPr txBox="1"/>
          <p:nvPr/>
        </p:nvSpPr>
        <p:spPr>
          <a:xfrm>
            <a:off x="5318760" y="5577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E</a:t>
            </a:r>
          </a:p>
        </p:txBody>
      </p:sp>
      <p:pic>
        <p:nvPicPr>
          <p:cNvPr id="159" name="Ikona – G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>
            <a:fillRect/>
          </a:stretch>
        </p:blipFill>
        <p:spPr>
          <a:xfrm>
            <a:off x="6350000" y="5270500"/>
            <a:ext cx="254000" cy="254000"/>
          </a:xfrm>
          <a:prstGeom prst="rect">
            <a:avLst/>
          </a:prstGeom>
        </p:spPr>
      </p:pic>
      <p:sp>
        <p:nvSpPr>
          <p:cNvPr id="160" name="Popisek"/>
          <p:cNvSpPr txBox="1"/>
          <p:nvPr/>
        </p:nvSpPr>
        <p:spPr>
          <a:xfrm>
            <a:off x="6080760" y="5577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G</a:t>
            </a:r>
          </a:p>
        </p:txBody>
      </p:sp>
      <p:pic>
        <p:nvPicPr>
          <p:cNvPr id="161" name="Ikona – lightbulb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rcRect/>
          <a:stretch>
            <a:fillRect/>
          </a:stretch>
        </p:blipFill>
        <p:spPr>
          <a:xfrm>
            <a:off x="7112000" y="5270500"/>
            <a:ext cx="254000" cy="254000"/>
          </a:xfrm>
          <a:prstGeom prst="rect">
            <a:avLst/>
          </a:prstGeom>
        </p:spPr>
      </p:pic>
      <p:sp>
        <p:nvSpPr>
          <p:cNvPr id="162" name="Popisek"/>
          <p:cNvSpPr txBox="1"/>
          <p:nvPr/>
        </p:nvSpPr>
        <p:spPr>
          <a:xfrm>
            <a:off x="6842760" y="5577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lightbulb</a:t>
            </a:r>
          </a:p>
        </p:txBody>
      </p:sp>
      <p:pic>
        <p:nvPicPr>
          <p:cNvPr id="163" name="Ikona – rotate-cw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>
            <a:fillRect/>
          </a:stretch>
        </p:blipFill>
        <p:spPr>
          <a:xfrm>
            <a:off x="7874000" y="5270500"/>
            <a:ext cx="254000" cy="254000"/>
          </a:xfrm>
          <a:prstGeom prst="rect">
            <a:avLst/>
          </a:prstGeom>
        </p:spPr>
      </p:pic>
      <p:sp>
        <p:nvSpPr>
          <p:cNvPr id="164" name="Popisek"/>
          <p:cNvSpPr txBox="1"/>
          <p:nvPr/>
        </p:nvSpPr>
        <p:spPr>
          <a:xfrm>
            <a:off x="7604760" y="5577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rotate-cw</a:t>
            </a:r>
          </a:p>
        </p:txBody>
      </p:sp>
      <p:pic>
        <p:nvPicPr>
          <p:cNvPr id="165" name="Ikona – Filter"/>
          <p:cNvPicPr>
            <a:picLocks noGrp="1"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/>
          <a:stretch>
            <a:fillRect/>
          </a:stretch>
        </p:blipFill>
        <p:spPr>
          <a:xfrm>
            <a:off x="8636000" y="5270500"/>
            <a:ext cx="254000" cy="254000"/>
          </a:xfrm>
          <a:prstGeom prst="rect">
            <a:avLst/>
          </a:prstGeom>
        </p:spPr>
      </p:pic>
      <p:sp>
        <p:nvSpPr>
          <p:cNvPr id="166" name="Popisek"/>
          <p:cNvSpPr txBox="1"/>
          <p:nvPr/>
        </p:nvSpPr>
        <p:spPr>
          <a:xfrm>
            <a:off x="8366760" y="5577942"/>
            <a:ext cx="79248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10058" rtlCol="0" anchor="t" anchorCtr="0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b="0" kern="0" cap="none" spc="0" dirty="0">
                <a:solidFill>
                  <a:schemeClr val="accent6"/>
                </a:solidFill>
                <a:latin typeface="Rethink Sans"/>
                <a:ea typeface="Rethink Sans"/>
                <a:cs typeface="Rethink Sans"/>
              </a:rPr>
              <a:t>Filter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u">
  <a:themeElements>
    <a:clrScheme name="Portu">
      <a:dk1>
        <a:srgbClr val="252525"/>
      </a:dk1>
      <a:lt1>
        <a:srgbClr val="FFFFFF"/>
      </a:lt1>
      <a:dk2>
        <a:srgbClr val="1C0F3C"/>
      </a:dk2>
      <a:lt2>
        <a:srgbClr val="F3F5F8"/>
      </a:lt2>
      <a:accent1>
        <a:srgbClr val="00AA3C"/>
      </a:accent1>
      <a:accent2>
        <a:srgbClr val="4840BB"/>
      </a:accent2>
      <a:accent3>
        <a:srgbClr val="25747D"/>
      </a:accent3>
      <a:accent4>
        <a:srgbClr val="A232CB"/>
      </a:accent4>
      <a:accent5>
        <a:srgbClr val="C69F41"/>
      </a:accent5>
      <a:accent6>
        <a:srgbClr val="666E7F"/>
      </a:accent6>
      <a:hlink>
        <a:srgbClr val="4840BB"/>
      </a:hlink>
      <a:folHlink>
        <a:srgbClr val="512DAC"/>
      </a:folHlink>
    </a:clrScheme>
    <a:fontScheme name="Portu">
      <a:majorFont>
        <a:latin typeface="Rethink Sans SemiBold"/>
        <a:ea typeface=""/>
        <a:cs typeface=""/>
      </a:majorFont>
      <a:minorFont>
        <a:latin typeface="Rethink Sans"/>
        <a:ea typeface=""/>
        <a:cs typeface=""/>
      </a:minorFont>
    </a:fontScheme>
    <a:fmtScheme name="Port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>
          <a:lnSpc>
            <a:spcPct val="100000"/>
          </a:lnSpc>
          <a:defRPr sz="1100">
            <a:latin typeface="+mn-lt"/>
          </a:defRPr>
        </a:defPPr>
      </a:lstStyle>
      <a:style>
        <a:lnRef idx="0">
          <a:schemeClr val="accent2"/>
        </a:lnRef>
        <a:fillRef idx="1">
          <a:schemeClr val="bg2"/>
        </a:fillRef>
        <a:effectRef idx="0">
          <a:schemeClr val="accent2"/>
        </a:effectRef>
        <a:fontRef idx="minor">
          <a:schemeClr val="tx1"/>
        </a:fontRef>
      </a:style>
    </a:spDef>
    <a:lnDef>
      <a:spPr>
        <a:ln w="12700">
          <a:solidFill>
            <a:srgbClr val="E1E3E8"/>
          </a:solidFill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ts val="1600"/>
          </a:lnSpc>
          <a:defRPr sz="1100">
            <a:solidFill>
              <a:schemeClr val="tx1"/>
            </a:solidFill>
            <a:latin typeface="+mn-lt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Portu-sablona</Template>
  <TotalTime>0</TotalTime>
  <Words>3759</Words>
  <Application>Microsoft Office PowerPoint</Application>
  <PresentationFormat>Širokoúhlá obrazovka</PresentationFormat>
  <Paragraphs>846</Paragraphs>
  <Slides>55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55</vt:i4>
      </vt:variant>
    </vt:vector>
  </HeadingPairs>
  <TitlesOfParts>
    <vt:vector size="60" baseType="lpstr">
      <vt:lpstr>Arial</vt:lpstr>
      <vt:lpstr>Rethink Sans</vt:lpstr>
      <vt:lpstr>Rethink Sans Medium</vt:lpstr>
      <vt:lpstr>Rethink Sans SemiBold</vt:lpstr>
      <vt:lpstr>Portu</vt:lpstr>
      <vt:lpstr>Název prezentace, klidně i na dva řádky</vt:lpstr>
      <vt:lpstr>Název prezentace, klidně i na dva řádky</vt:lpstr>
      <vt:lpstr>Název přednášky</vt:lpstr>
      <vt:lpstr>Název prezentace</vt:lpstr>
      <vt:lpstr>Portu × Partner</vt:lpstr>
      <vt:lpstr>Kdo vás dnes provede</vt:lpstr>
      <vt:lpstr>Technické problémy? Ozvěte se!</vt:lpstr>
      <vt:lpstr>Co vás dnes čeká</vt:lpstr>
      <vt:lpstr>Obsah prezentace</vt:lpstr>
      <vt:lpstr>Pár vět o Portu</vt:lpstr>
      <vt:lpstr>Prezentace aplikace PowerPoint</vt:lpstr>
      <vt:lpstr>Prezentace aplikace PowerPoint</vt:lpstr>
      <vt:lpstr>Prezentace aplikace PowerPoint</vt:lpstr>
      <vt:lpstr>Nadpis slidu na jeden až dva řádky</vt:lpstr>
      <vt:lpstr>Dvě skupiny bodů vedle sebe</vt:lpstr>
      <vt:lpstr>Shrnutí podle oblastí</vt:lpstr>
      <vt:lpstr>Když je potřeba víc vysvětlit</vt:lpstr>
      <vt:lpstr>Když je potřeba víc vysvětlit</vt:lpstr>
      <vt:lpstr>Čtyři skupiny bodů v mřížce</vt:lpstr>
      <vt:lpstr>Dvě varianty vedle sebe</vt:lpstr>
      <vt:lpstr>Varianta A, nebo varianta B?</vt:lpstr>
      <vt:lpstr>Tři karty vedle sebe</vt:lpstr>
      <vt:lpstr>Klíčová čísla na jednom místě</vt:lpstr>
      <vt:lpstr>Jedno číslo, které si publikum zapamatuje</vt:lpstr>
      <vt:lpstr>Jak začít během pár minut</vt:lpstr>
      <vt:lpstr>Kam s penězi na 3 až 8 let</vt:lpstr>
      <vt:lpstr>Čas je největší přítel investora</vt:lpstr>
      <vt:lpstr>Noví klienti a nové DIP účty</vt:lpstr>
      <vt:lpstr>Průměrný roční výnos podle typu investice</vt:lpstr>
      <vt:lpstr>Složení ukázkového portfolia</vt:lpstr>
      <vt:lpstr>Investice vs. spořicí účet</vt:lpstr>
      <vt:lpstr>Citace klienta nebo odborníka – jedna silná věta, která shrne hlavní myšlenku.</vt:lpstr>
      <vt:lpstr>Jak jsme se vyvíjeli</vt:lpstr>
      <vt:lpstr>Co nás čeká</vt:lpstr>
      <vt:lpstr>Situace, problém a řešení</vt:lpstr>
      <vt:lpstr>Co umíme a co ještě ne</vt:lpstr>
      <vt:lpstr>Aplikace hraje klíčovou roli v získávání i udržení klientů</vt:lpstr>
      <vt:lpstr>Jak to vypadá v aplikaci</vt:lpstr>
      <vt:lpstr>Pro koho je produkt a kam chceme růst</vt:lpstr>
      <vt:lpstr>Co si navzájem přinášíme</vt:lpstr>
      <vt:lpstr>Čím víc investujete, tím méně platíte</vt:lpstr>
      <vt:lpstr>Kolik můžete mít za 30 let?</vt:lpstr>
      <vt:lpstr>Spolupracujeme s nejlepšími</vt:lpstr>
      <vt:lpstr>Shrnutí a další kroky</vt:lpstr>
      <vt:lpstr>Otázky a odpovědi</vt:lpstr>
      <vt:lpstr>Tipněte si a vyhrajte vstupenky na konferenci</vt:lpstr>
      <vt:lpstr>Prezentace aplikace PowerPoint</vt:lpstr>
      <vt:lpstr>Prezentace aplikace PowerPoint</vt:lpstr>
      <vt:lpstr>Děkujeme!  Máte dotazy?</vt:lpstr>
      <vt:lpstr>Děkujeme! Máte dotazy?</vt:lpstr>
      <vt:lpstr>Příloha</vt:lpstr>
      <vt:lpstr>Právní upozornění</vt:lpstr>
      <vt:lpstr>Kocour – varianty podle produktu</vt:lpstr>
      <vt:lpstr>Produktové ikony</vt:lpstr>
      <vt:lpstr>Ikony rozhraní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Marek Pokorny, Portu.cz</dc:creator>
  <cp:keywords/>
  <dc:description>generated using python-pptx</dc:description>
  <cp:lastModifiedBy>Marek Pokorny, Portu.cz</cp:lastModifiedBy>
  <cp:revision>1</cp:revision>
  <dcterms:created xsi:type="dcterms:W3CDTF">2026-10-26T18:57:35Z</dcterms:created>
  <dcterms:modified xsi:type="dcterms:W3CDTF">2026-10-26T18:58:07Z</dcterms:modified>
  <cp:category/>
</cp:coreProperties>
</file>